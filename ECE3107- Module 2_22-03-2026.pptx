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1"/>
  </p:notesMasterIdLst>
  <p:handoutMasterIdLst>
    <p:handoutMasterId r:id="rId102"/>
  </p:handoutMasterIdLst>
  <p:sldIdLst>
    <p:sldId id="256" r:id="rId2"/>
    <p:sldId id="258" r:id="rId3"/>
    <p:sldId id="654" r:id="rId4"/>
    <p:sldId id="690" r:id="rId5"/>
    <p:sldId id="691" r:id="rId6"/>
    <p:sldId id="692" r:id="rId7"/>
    <p:sldId id="693" r:id="rId8"/>
    <p:sldId id="694" r:id="rId9"/>
    <p:sldId id="695" r:id="rId10"/>
    <p:sldId id="696" r:id="rId11"/>
    <p:sldId id="697" r:id="rId12"/>
    <p:sldId id="698" r:id="rId13"/>
    <p:sldId id="699" r:id="rId14"/>
    <p:sldId id="700" r:id="rId15"/>
    <p:sldId id="703" r:id="rId16"/>
    <p:sldId id="704" r:id="rId17"/>
    <p:sldId id="705" r:id="rId18"/>
    <p:sldId id="715" r:id="rId19"/>
    <p:sldId id="708" r:id="rId20"/>
    <p:sldId id="709" r:id="rId21"/>
    <p:sldId id="710" r:id="rId22"/>
    <p:sldId id="711" r:id="rId23"/>
    <p:sldId id="712" r:id="rId24"/>
    <p:sldId id="713" r:id="rId25"/>
    <p:sldId id="707" r:id="rId26"/>
    <p:sldId id="716" r:id="rId27"/>
    <p:sldId id="717" r:id="rId28"/>
    <p:sldId id="718" r:id="rId29"/>
    <p:sldId id="719" r:id="rId30"/>
    <p:sldId id="720" r:id="rId31"/>
    <p:sldId id="721" r:id="rId32"/>
    <p:sldId id="722" r:id="rId33"/>
    <p:sldId id="723" r:id="rId34"/>
    <p:sldId id="724" r:id="rId35"/>
    <p:sldId id="725" r:id="rId36"/>
    <p:sldId id="726" r:id="rId37"/>
    <p:sldId id="727" r:id="rId38"/>
    <p:sldId id="728" r:id="rId39"/>
    <p:sldId id="729" r:id="rId40"/>
    <p:sldId id="730" r:id="rId41"/>
    <p:sldId id="731" r:id="rId42"/>
    <p:sldId id="732" r:id="rId43"/>
    <p:sldId id="733" r:id="rId44"/>
    <p:sldId id="734" r:id="rId45"/>
    <p:sldId id="735" r:id="rId46"/>
    <p:sldId id="736" r:id="rId47"/>
    <p:sldId id="737" r:id="rId48"/>
    <p:sldId id="738" r:id="rId49"/>
    <p:sldId id="739" r:id="rId50"/>
    <p:sldId id="740" r:id="rId51"/>
    <p:sldId id="741" r:id="rId52"/>
    <p:sldId id="742" r:id="rId53"/>
    <p:sldId id="743" r:id="rId54"/>
    <p:sldId id="744" r:id="rId55"/>
    <p:sldId id="745" r:id="rId56"/>
    <p:sldId id="746" r:id="rId57"/>
    <p:sldId id="747" r:id="rId58"/>
    <p:sldId id="748" r:id="rId59"/>
    <p:sldId id="749" r:id="rId60"/>
    <p:sldId id="750" r:id="rId61"/>
    <p:sldId id="751" r:id="rId62"/>
    <p:sldId id="752" r:id="rId63"/>
    <p:sldId id="753" r:id="rId64"/>
    <p:sldId id="754" r:id="rId65"/>
    <p:sldId id="762" r:id="rId66"/>
    <p:sldId id="755" r:id="rId67"/>
    <p:sldId id="756" r:id="rId68"/>
    <p:sldId id="757" r:id="rId69"/>
    <p:sldId id="763" r:id="rId70"/>
    <p:sldId id="758" r:id="rId71"/>
    <p:sldId id="760" r:id="rId72"/>
    <p:sldId id="764" r:id="rId73"/>
    <p:sldId id="765" r:id="rId74"/>
    <p:sldId id="766" r:id="rId75"/>
    <p:sldId id="767" r:id="rId76"/>
    <p:sldId id="768" r:id="rId77"/>
    <p:sldId id="769" r:id="rId78"/>
    <p:sldId id="770" r:id="rId79"/>
    <p:sldId id="771" r:id="rId80"/>
    <p:sldId id="774" r:id="rId81"/>
    <p:sldId id="775" r:id="rId82"/>
    <p:sldId id="776" r:id="rId83"/>
    <p:sldId id="777" r:id="rId84"/>
    <p:sldId id="778" r:id="rId85"/>
    <p:sldId id="779" r:id="rId86"/>
    <p:sldId id="780" r:id="rId87"/>
    <p:sldId id="781" r:id="rId88"/>
    <p:sldId id="782" r:id="rId89"/>
    <p:sldId id="783" r:id="rId90"/>
    <p:sldId id="784" r:id="rId91"/>
    <p:sldId id="785" r:id="rId92"/>
    <p:sldId id="786" r:id="rId93"/>
    <p:sldId id="788" r:id="rId94"/>
    <p:sldId id="789" r:id="rId95"/>
    <p:sldId id="790" r:id="rId96"/>
    <p:sldId id="791" r:id="rId97"/>
    <p:sldId id="787" r:id="rId98"/>
    <p:sldId id="792" r:id="rId99"/>
    <p:sldId id="793" r:id="rId10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0A2F"/>
    <a:srgbClr val="FF0000"/>
    <a:srgbClr val="FF66CC"/>
    <a:srgbClr val="545C57"/>
    <a:srgbClr val="0073B6"/>
    <a:srgbClr val="FFF2CC"/>
    <a:srgbClr val="FFFFFF"/>
    <a:srgbClr val="FBE5D6"/>
    <a:srgbClr val="F4B183"/>
    <a:srgbClr val="DEEB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BCE"/>
          </a:solidFill>
        </a:fill>
      </a:tcStyle>
    </a:wholeTbl>
    <a:band2H>
      <a:tcTxStyle/>
      <a:tcStyle>
        <a:tcBdr/>
        <a:fill>
          <a:solidFill>
            <a:srgbClr val="E6E7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DD6"/>
          </a:solidFill>
        </a:fill>
      </a:tcStyle>
    </a:wholeTbl>
    <a:band2H>
      <a:tcTxStyle/>
      <a:tcStyle>
        <a:tcBdr/>
        <a:fill>
          <a:solidFill>
            <a:srgbClr val="E6E8EC"/>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CFCA"/>
          </a:solidFill>
        </a:fill>
      </a:tcStyle>
    </a:wholeTbl>
    <a:band2H>
      <a:tcTxStyle/>
      <a:tcStyle>
        <a:tcBdr/>
        <a:fill>
          <a:solidFill>
            <a:srgbClr val="FFE8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90" autoAdjust="0"/>
    <p:restoredTop sz="94684" autoAdjust="0"/>
  </p:normalViewPr>
  <p:slideViewPr>
    <p:cSldViewPr snapToGrid="0">
      <p:cViewPr varScale="1">
        <p:scale>
          <a:sx n="37" d="100"/>
          <a:sy n="37" d="100"/>
        </p:scale>
        <p:origin x="52" y="4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6D1AABF-18CB-382E-298C-8196D3F69D3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1BC5E6A1-C4EE-6883-D5AC-98939827ED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92C540-6F18-412D-936D-4A210F23E2F3}" type="datetimeFigureOut">
              <a:rPr lang="en-IN" smtClean="0"/>
              <a:t>22-03-2026</a:t>
            </a:fld>
            <a:endParaRPr lang="en-IN"/>
          </a:p>
        </p:txBody>
      </p:sp>
      <p:sp>
        <p:nvSpPr>
          <p:cNvPr id="4" name="Footer Placeholder 3">
            <a:extLst>
              <a:ext uri="{FF2B5EF4-FFF2-40B4-BE49-F238E27FC236}">
                <a16:creationId xmlns:a16="http://schemas.microsoft.com/office/drawing/2014/main" id="{B27A6ECF-AA02-CE6E-7EF4-0ADC2665A8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C153CF1-B111-3020-C6D2-F4F873E19E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1A82B2-859D-43C2-B70A-113A1480D004}" type="slidenum">
              <a:rPr lang="en-IN" smtClean="0"/>
              <a:t>‹#›</a:t>
            </a:fld>
            <a:endParaRPr lang="en-IN"/>
          </a:p>
        </p:txBody>
      </p:sp>
    </p:spTree>
    <p:extLst>
      <p:ext uri="{BB962C8B-B14F-4D97-AF65-F5344CB8AC3E}">
        <p14:creationId xmlns:p14="http://schemas.microsoft.com/office/powerpoint/2010/main" val="89010000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latinLnBrk="0">
      <a:defRPr sz="1200">
        <a:latin typeface="+mn-lt"/>
        <a:ea typeface="+mn-ea"/>
        <a:cs typeface="+mn-cs"/>
        <a:sym typeface="Segoe UI"/>
      </a:defRPr>
    </a:lvl1pPr>
    <a:lvl2pPr indent="228600" latinLnBrk="0">
      <a:defRPr sz="1200">
        <a:latin typeface="+mn-lt"/>
        <a:ea typeface="+mn-ea"/>
        <a:cs typeface="+mn-cs"/>
        <a:sym typeface="Segoe UI"/>
      </a:defRPr>
    </a:lvl2pPr>
    <a:lvl3pPr indent="457200" latinLnBrk="0">
      <a:defRPr sz="1200">
        <a:latin typeface="+mn-lt"/>
        <a:ea typeface="+mn-ea"/>
        <a:cs typeface="+mn-cs"/>
        <a:sym typeface="Segoe UI"/>
      </a:defRPr>
    </a:lvl3pPr>
    <a:lvl4pPr indent="685800" latinLnBrk="0">
      <a:defRPr sz="1200">
        <a:latin typeface="+mn-lt"/>
        <a:ea typeface="+mn-ea"/>
        <a:cs typeface="+mn-cs"/>
        <a:sym typeface="Segoe UI"/>
      </a:defRPr>
    </a:lvl4pPr>
    <a:lvl5pPr indent="914400" latinLnBrk="0">
      <a:defRPr sz="1200">
        <a:latin typeface="+mn-lt"/>
        <a:ea typeface="+mn-ea"/>
        <a:cs typeface="+mn-cs"/>
        <a:sym typeface="Segoe UI"/>
      </a:defRPr>
    </a:lvl5pPr>
    <a:lvl6pPr indent="1143000" latinLnBrk="0">
      <a:defRPr sz="1200">
        <a:latin typeface="+mn-lt"/>
        <a:ea typeface="+mn-ea"/>
        <a:cs typeface="+mn-cs"/>
        <a:sym typeface="Segoe UI"/>
      </a:defRPr>
    </a:lvl6pPr>
    <a:lvl7pPr indent="1371600" latinLnBrk="0">
      <a:defRPr sz="1200">
        <a:latin typeface="+mn-lt"/>
        <a:ea typeface="+mn-ea"/>
        <a:cs typeface="+mn-cs"/>
        <a:sym typeface="Segoe UI"/>
      </a:defRPr>
    </a:lvl7pPr>
    <a:lvl8pPr indent="1600200" latinLnBrk="0">
      <a:defRPr sz="1200">
        <a:latin typeface="+mn-lt"/>
        <a:ea typeface="+mn-ea"/>
        <a:cs typeface="+mn-cs"/>
        <a:sym typeface="Segoe UI"/>
      </a:defRPr>
    </a:lvl8pPr>
    <a:lvl9pPr indent="1828800" latinLnBrk="0">
      <a:defRPr sz="1200">
        <a:latin typeface="+mn-lt"/>
        <a:ea typeface="+mn-ea"/>
        <a:cs typeface="+mn-cs"/>
        <a:sym typeface="Segoe UI"/>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pic>
        <p:nvPicPr>
          <p:cNvPr id="5" name="object 3">
            <a:extLst>
              <a:ext uri="{FF2B5EF4-FFF2-40B4-BE49-F238E27FC236}">
                <a16:creationId xmlns:a16="http://schemas.microsoft.com/office/drawing/2014/main" id="{98774FEE-27E5-DCEB-8DB4-6052E39BAE0E}"/>
              </a:ext>
            </a:extLst>
          </p:cNvPr>
          <p:cNvPicPr/>
          <p:nvPr userDrawn="1"/>
        </p:nvPicPr>
        <p:blipFill>
          <a:blip r:embed="rId2" cstate="print"/>
          <a:srcRect t="91915"/>
          <a:stretch>
            <a:fillRect/>
          </a:stretch>
        </p:blipFill>
        <p:spPr>
          <a:xfrm>
            <a:off x="0" y="6303523"/>
            <a:ext cx="12191999" cy="554474"/>
          </a:xfrm>
          <a:prstGeom prst="rect">
            <a:avLst/>
          </a:prstGeom>
        </p:spPr>
      </p:pic>
      <p:sp>
        <p:nvSpPr>
          <p:cNvPr id="6" name="Slide Number"/>
          <p:cNvSpPr txBox="1">
            <a:spLocks noGrp="1"/>
          </p:cNvSpPr>
          <p:nvPr>
            <p:ph type="sldNum" sz="quarter" idx="2"/>
          </p:nvPr>
        </p:nvSpPr>
        <p:spPr>
          <a:xfrm>
            <a:off x="11314137" y="416058"/>
            <a:ext cx="245404" cy="243841"/>
          </a:xfrm>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Rectangle 2"/>
          <p:cNvSpPr/>
          <p:nvPr/>
        </p:nvSpPr>
        <p:spPr>
          <a:xfrm>
            <a:off x="609600" y="423632"/>
            <a:ext cx="45719" cy="262170"/>
          </a:xfrm>
          <a:prstGeom prst="rect">
            <a:avLst/>
          </a:prstGeom>
          <a:solidFill>
            <a:srgbClr val="F39000"/>
          </a:solidFill>
          <a:ln w="12700">
            <a:miter lim="400000"/>
          </a:ln>
        </p:spPr>
        <p:txBody>
          <a:bodyPr lIns="45719" rIns="45719" anchor="ctr"/>
          <a:lstStyle/>
          <a:p>
            <a:pPr algn="ctr">
              <a:defRPr>
                <a:solidFill>
                  <a:srgbClr val="FFFFFF"/>
                </a:solidFill>
              </a:defRPr>
            </a:pPr>
            <a:endParaRPr/>
          </a:p>
        </p:txBody>
      </p:sp>
      <p:sp>
        <p:nvSpPr>
          <p:cNvPr id="5" name="Slide Number"/>
          <p:cNvSpPr txBox="1">
            <a:spLocks noGrp="1"/>
          </p:cNvSpPr>
          <p:nvPr>
            <p:ph type="sldNum" sz="quarter" idx="2"/>
          </p:nvPr>
        </p:nvSpPr>
        <p:spPr>
          <a:xfrm>
            <a:off x="11314137" y="454968"/>
            <a:ext cx="245404" cy="243841"/>
          </a:xfrm>
          <a:prstGeom prst="rect">
            <a:avLst/>
          </a:prstGeom>
          <a:ln w="12700">
            <a:miter lim="400000"/>
          </a:ln>
        </p:spPr>
        <p:txBody>
          <a:bodyPr wrap="none" lIns="45719" rIns="45719">
            <a:spAutoFit/>
          </a:bodyPr>
          <a:lstStyle>
            <a:lvl1pPr algn="r">
              <a:defRPr sz="1000" b="1">
                <a:solidFill>
                  <a:schemeClr val="accent3">
                    <a:alpha val="64999"/>
                  </a:schemeClr>
                </a:solidFill>
                <a:latin typeface="+mj-lt"/>
                <a:ea typeface="+mj-ea"/>
                <a:cs typeface="+mj-cs"/>
                <a:sym typeface="Helvetica"/>
              </a:defRPr>
            </a:lvl1pPr>
          </a:lstStyle>
          <a:p>
            <a:fld id="{86CB4B4D-7CA3-9044-876B-883B54F8677D}" type="slidenum">
              <a:t>‹#›</a:t>
            </a:fld>
            <a:endParaRPr/>
          </a:p>
        </p:txBody>
      </p:sp>
      <p:sp>
        <p:nvSpPr>
          <p:cNvPr id="6" name="Title Text"/>
          <p:cNvSpPr txBox="1">
            <a:spLocks noGrp="1"/>
          </p:cNvSpPr>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p>
            <a:r>
              <a:t>Title Text</a:t>
            </a:r>
          </a:p>
        </p:txBody>
      </p:sp>
      <p:sp>
        <p:nvSpPr>
          <p:cNvPr id="7"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pic>
        <p:nvPicPr>
          <p:cNvPr id="8" name="Picture 7">
            <a:extLst>
              <a:ext uri="{FF2B5EF4-FFF2-40B4-BE49-F238E27FC236}">
                <a16:creationId xmlns:a16="http://schemas.microsoft.com/office/drawing/2014/main" id="{87CD046F-B34F-1446-0826-53E04B5FF5C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6991" y="423631"/>
            <a:ext cx="1209596" cy="2621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transition spd="med"/>
  <p:hf hdr="0" ftr="0" dt="0"/>
  <p:txStyles>
    <p:titleStyle>
      <a:lvl1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1pPr>
      <a:lvl2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2pPr>
      <a:lvl3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3pPr>
      <a:lvl4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4pPr>
      <a:lvl5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5pPr>
      <a:lvl6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6pPr>
      <a:lvl7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7pPr>
      <a:lvl8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8pPr>
      <a:lvl9pPr marL="0" marR="0" indent="0" algn="l" defTabSz="914400" rtl="0" latinLnBrk="0">
        <a:lnSpc>
          <a:spcPct val="90000"/>
        </a:lnSpc>
        <a:spcBef>
          <a:spcPts val="0"/>
        </a:spcBef>
        <a:spcAft>
          <a:spcPts val="0"/>
        </a:spcAft>
        <a:buClrTx/>
        <a:buSzTx/>
        <a:buFontTx/>
        <a:buNone/>
        <a:tabLst/>
        <a:defRPr sz="4400" b="1" i="0" u="none" strike="noStrike" cap="none" spc="0" baseline="0">
          <a:solidFill>
            <a:srgbClr val="000000"/>
          </a:solidFill>
          <a:uFillTx/>
          <a:latin typeface="+mj-lt"/>
          <a:ea typeface="+mj-ea"/>
          <a:cs typeface="+mj-cs"/>
          <a:sym typeface="Helvetic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p:bodyStyle>
    <p:otherStyle>
      <a:lvl1pPr marL="0" marR="0" indent="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1pPr>
      <a:lvl2pPr marL="0" marR="0" indent="457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2pPr>
      <a:lvl3pPr marL="0" marR="0" indent="914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3pPr>
      <a:lvl4pPr marL="0" marR="0" indent="1371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4pPr>
      <a:lvl5pPr marL="0" marR="0" indent="18288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5pPr>
      <a:lvl6pPr marL="0" marR="0" indent="22860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6pPr>
      <a:lvl7pPr marL="0" marR="0" indent="27432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7pPr>
      <a:lvl8pPr marL="0" marR="0" indent="32004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8pPr>
      <a:lvl9pPr marL="0" marR="0" indent="3657600" algn="r" defTabSz="914400" rtl="0" latinLnBrk="0">
        <a:lnSpc>
          <a:spcPct val="100000"/>
        </a:lnSpc>
        <a:spcBef>
          <a:spcPts val="0"/>
        </a:spcBef>
        <a:spcAft>
          <a:spcPts val="0"/>
        </a:spcAft>
        <a:buClrTx/>
        <a:buSzTx/>
        <a:buFontTx/>
        <a:buNone/>
        <a:tabLst/>
        <a:defRPr sz="1000" b="1" i="0" u="none" strike="noStrike" cap="none" spc="0" baseline="0">
          <a:solidFill>
            <a:schemeClr val="tx1"/>
          </a:solidFill>
          <a:uFillTx/>
          <a:latin typeface="+mn-lt"/>
          <a:ea typeface="+mn-ea"/>
          <a:cs typeface="+mn-cs"/>
          <a:sym typeface="Helvetica"/>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 Id="rId4" Type="http://schemas.openxmlformats.org/officeDocument/2006/relationships/image" Target="../media/image36.png"/></Relationships>
</file>

<file path=ppt/slides/_rels/slide9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511BAA27-C0F4-A466-A09B-15D5201C288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01" name="Rectangle 1"/>
          <p:cNvSpPr/>
          <p:nvPr/>
        </p:nvSpPr>
        <p:spPr>
          <a:xfrm>
            <a:off x="-1" y="0"/>
            <a:ext cx="12192000" cy="6966857"/>
          </a:xfrm>
          <a:prstGeom prst="rect">
            <a:avLst/>
          </a:prstGeom>
          <a:solidFill>
            <a:srgbClr val="002F5E">
              <a:alpha val="74902"/>
            </a:srgbClr>
          </a:solidFill>
          <a:ln w="12700">
            <a:miter lim="400000"/>
          </a:ln>
        </p:spPr>
        <p:txBody>
          <a:bodyPr lIns="45719" rIns="45719" anchor="ctr"/>
          <a:lstStyle/>
          <a:p>
            <a:pPr algn="ctr">
              <a:defRPr>
                <a:solidFill>
                  <a:srgbClr val="FFFFFF"/>
                </a:solidFill>
              </a:defRPr>
            </a:pPr>
            <a:endParaRPr>
              <a:latin typeface="+mj-lt"/>
            </a:endParaRPr>
          </a:p>
        </p:txBody>
      </p:sp>
      <p:sp>
        <p:nvSpPr>
          <p:cNvPr id="202" name="TextBox 2"/>
          <p:cNvSpPr txBox="1"/>
          <p:nvPr/>
        </p:nvSpPr>
        <p:spPr>
          <a:xfrm>
            <a:off x="567271" y="2277410"/>
            <a:ext cx="11390486" cy="1862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7300" b="1">
                <a:solidFill>
                  <a:srgbClr val="188CFF">
                    <a:alpha val="15000"/>
                  </a:srgbClr>
                </a:solidFill>
                <a:effectLst>
                  <a:outerShdw blurRad="127000" rotWithShape="0">
                    <a:srgbClr val="000000">
                      <a:alpha val="10000"/>
                    </a:srgbClr>
                  </a:outerShdw>
                </a:effectLst>
                <a:latin typeface="Manrope ExtraBold"/>
                <a:ea typeface="Manrope ExtraBold"/>
                <a:cs typeface="Manrope ExtraBold"/>
                <a:sym typeface="Manrope ExtraBold"/>
              </a:defRPr>
            </a:lvl1pPr>
          </a:lstStyle>
          <a:p>
            <a:r>
              <a:rPr lang="en-IN" sz="11500" dirty="0">
                <a:latin typeface="+mj-lt"/>
              </a:rPr>
              <a:t>Presidency</a:t>
            </a:r>
            <a:endParaRPr sz="13800" dirty="0">
              <a:latin typeface="+mj-lt"/>
            </a:endParaRPr>
          </a:p>
        </p:txBody>
      </p:sp>
      <p:sp>
        <p:nvSpPr>
          <p:cNvPr id="203" name="TextBox 3"/>
          <p:cNvSpPr txBox="1"/>
          <p:nvPr/>
        </p:nvSpPr>
        <p:spPr>
          <a:xfrm>
            <a:off x="3070953" y="3757878"/>
            <a:ext cx="6050093" cy="6588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a:lnSpc>
                <a:spcPct val="150000"/>
              </a:lnSpc>
              <a:defRPr sz="1600" spc="300">
                <a:solidFill>
                  <a:srgbClr val="FFFFFF"/>
                </a:solidFill>
              </a:defRPr>
            </a:lvl1pPr>
          </a:lstStyle>
          <a:p>
            <a:r>
              <a:rPr lang="en-IN" sz="2800" b="1" dirty="0">
                <a:latin typeface="+mj-lt"/>
              </a:rPr>
              <a:t>School of Engineering</a:t>
            </a:r>
            <a:endParaRPr sz="2800" b="1" dirty="0">
              <a:latin typeface="+mj-lt"/>
            </a:endParaRPr>
          </a:p>
        </p:txBody>
      </p:sp>
      <p:sp>
        <p:nvSpPr>
          <p:cNvPr id="205" name="Rectangle 11"/>
          <p:cNvSpPr/>
          <p:nvPr/>
        </p:nvSpPr>
        <p:spPr>
          <a:xfrm>
            <a:off x="609600" y="380240"/>
            <a:ext cx="45719" cy="305561"/>
          </a:xfrm>
          <a:prstGeom prst="rect">
            <a:avLst/>
          </a:prstGeom>
          <a:solidFill>
            <a:srgbClr val="F39000"/>
          </a:solidFill>
          <a:ln w="12700">
            <a:miter lim="400000"/>
          </a:ln>
        </p:spPr>
        <p:txBody>
          <a:bodyPr lIns="45719" rIns="45719" anchor="ctr"/>
          <a:lstStyle/>
          <a:p>
            <a:pPr algn="ctr">
              <a:defRPr>
                <a:solidFill>
                  <a:srgbClr val="FFFFFF"/>
                </a:solidFill>
              </a:defRPr>
            </a:pPr>
            <a:endParaRPr>
              <a:latin typeface="+mj-lt"/>
            </a:endParaRPr>
          </a:p>
        </p:txBody>
      </p:sp>
      <p:sp>
        <p:nvSpPr>
          <p:cNvPr id="208" name="TextBox 14"/>
          <p:cNvSpPr txBox="1"/>
          <p:nvPr/>
        </p:nvSpPr>
        <p:spPr>
          <a:xfrm>
            <a:off x="11350956" y="454968"/>
            <a:ext cx="162863" cy="24622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lgn="r">
              <a:defRPr sz="1000" b="1">
                <a:solidFill>
                  <a:srgbClr val="FFFFFF">
                    <a:alpha val="60000"/>
                  </a:srgbClr>
                </a:solidFill>
                <a:latin typeface="+mj-lt"/>
                <a:ea typeface="+mj-ea"/>
                <a:cs typeface="+mj-cs"/>
                <a:sym typeface="Helvetica"/>
              </a:defRPr>
            </a:lvl1pPr>
          </a:lstStyle>
          <a:p>
            <a:r>
              <a:t>1</a:t>
            </a:r>
          </a:p>
        </p:txBody>
      </p:sp>
      <p:pic>
        <p:nvPicPr>
          <p:cNvPr id="3" name="Picture 2">
            <a:extLst>
              <a:ext uri="{FF2B5EF4-FFF2-40B4-BE49-F238E27FC236}">
                <a16:creationId xmlns:a16="http://schemas.microsoft.com/office/drawing/2014/main" id="{99BBA17B-3BC2-6BF3-E9AA-D4BFBC2AD5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6283" y="380240"/>
            <a:ext cx="1378341" cy="298744"/>
          </a:xfrm>
          <a:prstGeom prst="rect">
            <a:avLst/>
          </a:prstGeom>
        </p:spPr>
      </p:pic>
      <p:pic>
        <p:nvPicPr>
          <p:cNvPr id="5" name="Picture 4">
            <a:extLst>
              <a:ext uri="{FF2B5EF4-FFF2-40B4-BE49-F238E27FC236}">
                <a16:creationId xmlns:a16="http://schemas.microsoft.com/office/drawing/2014/main" id="{EF546ABE-E94D-3667-ECB3-72C0D85515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481411"/>
            <a:ext cx="12192000" cy="469900"/>
          </a:xfrm>
          <a:prstGeom prst="rect">
            <a:avLst/>
          </a:prstGeom>
        </p:spPr>
      </p:pic>
      <p:sp>
        <p:nvSpPr>
          <p:cNvPr id="13" name="TextBox 5"/>
          <p:cNvSpPr txBox="1"/>
          <p:nvPr/>
        </p:nvSpPr>
        <p:spPr>
          <a:xfrm>
            <a:off x="2034614" y="2277410"/>
            <a:ext cx="8295781" cy="163121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gn="ctr">
              <a:defRPr sz="10000" b="1">
                <a:solidFill>
                  <a:srgbClr val="FFFFFF"/>
                </a:solidFill>
                <a:latin typeface="Manrope ExtraBold"/>
                <a:ea typeface="Manrope ExtraBold"/>
                <a:cs typeface="Manrope ExtraBold"/>
                <a:sym typeface="Manrope ExtraBold"/>
              </a:defRPr>
            </a:lvl1pPr>
          </a:lstStyle>
          <a:p>
            <a:r>
              <a:rPr lang="en-IN" dirty="0">
                <a:latin typeface="+mj-lt"/>
              </a:rPr>
              <a:t>Presidency</a:t>
            </a:r>
            <a:endParaRPr dirty="0">
              <a:latin typeface="+mj-lt"/>
            </a:endParaRPr>
          </a:p>
        </p:txBody>
      </p:sp>
      <p:pic>
        <p:nvPicPr>
          <p:cNvPr id="4" name="Picture 3">
            <a:extLst>
              <a:ext uri="{FF2B5EF4-FFF2-40B4-BE49-F238E27FC236}">
                <a16:creationId xmlns:a16="http://schemas.microsoft.com/office/drawing/2014/main" id="{73A40FF4-89C1-E9E6-5D7A-021F33E69862}"/>
              </a:ext>
            </a:extLst>
          </p:cNvPr>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6486546"/>
            <a:ext cx="12191999" cy="619125"/>
          </a:xfrm>
          <a:prstGeom prst="rect">
            <a:avLst/>
          </a:prstGeom>
        </p:spPr>
      </p:pic>
      <p:sp>
        <p:nvSpPr>
          <p:cNvPr id="2" name="Slide Number Placeholder 1"/>
          <p:cNvSpPr>
            <a:spLocks noGrp="1"/>
          </p:cNvSpPr>
          <p:nvPr>
            <p:ph type="sldNum" sz="quarter" idx="2"/>
          </p:nvPr>
        </p:nvSpPr>
        <p:spPr/>
        <p:txBody>
          <a:bodyPr/>
          <a:lstStyle/>
          <a:p>
            <a:fld id="{86CB4B4D-7CA3-9044-876B-883B54F8677D}" type="slidenum">
              <a:rPr lang="en-US" smtClean="0"/>
              <a:t>1</a:t>
            </a:fld>
            <a:endParaRPr lang="en-US"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a:extLst>
              <a:ext uri="{FF2B5EF4-FFF2-40B4-BE49-F238E27FC236}">
                <a16:creationId xmlns:a16="http://schemas.microsoft.com/office/drawing/2014/main" id="{6860DEDE-8776-0046-048C-E6DE43CC37B5}"/>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a:t>
            </a:fld>
            <a:endParaRPr dirty="0"/>
          </a:p>
        </p:txBody>
      </p:sp>
      <p:sp>
        <p:nvSpPr>
          <p:cNvPr id="3" name="Rectangle 1">
            <a:extLst>
              <a:ext uri="{FF2B5EF4-FFF2-40B4-BE49-F238E27FC236}">
                <a16:creationId xmlns:a16="http://schemas.microsoft.com/office/drawing/2014/main" id="{E4602A46-9DC8-21BB-8665-CFE4F8DD9EAE}"/>
              </a:ext>
            </a:extLst>
          </p:cNvPr>
          <p:cNvSpPr>
            <a:spLocks noChangeArrowheads="1"/>
          </p:cNvSpPr>
          <p:nvPr/>
        </p:nvSpPr>
        <p:spPr bwMode="auto">
          <a:xfrm>
            <a:off x="152400" y="1828562"/>
            <a:ext cx="11887200" cy="160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000" b="1" dirty="0">
                <a:solidFill>
                  <a:srgbClr val="002060"/>
                </a:solidFill>
                <a:latin typeface="Arial" panose="020B0604020202020204" pitchFamily="34" charset="0"/>
              </a:rPr>
              <a:t>Department of </a:t>
            </a:r>
          </a:p>
          <a:p>
            <a:pPr algn="ctr" eaLnBrk="1" hangingPunct="1">
              <a:lnSpc>
                <a:spcPct val="100000"/>
              </a:lnSpc>
              <a:spcBef>
                <a:spcPct val="0"/>
              </a:spcBef>
              <a:buFontTx/>
              <a:buNone/>
            </a:pPr>
            <a:endParaRPr lang="en-US" altLang="en-US" sz="1800" b="1" dirty="0">
              <a:solidFill>
                <a:srgbClr val="002060"/>
              </a:solidFill>
              <a:latin typeface="Arial" panose="020B0604020202020204" pitchFamily="34" charset="0"/>
            </a:endParaRPr>
          </a:p>
          <a:p>
            <a:pPr algn="ctr" eaLnBrk="1" hangingPunct="1">
              <a:lnSpc>
                <a:spcPct val="100000"/>
              </a:lnSpc>
              <a:spcBef>
                <a:spcPct val="0"/>
              </a:spcBef>
              <a:buFontTx/>
              <a:buNone/>
            </a:pPr>
            <a:r>
              <a:rPr lang="en-US" altLang="en-US" sz="4000" b="1" dirty="0" smtClean="0">
                <a:solidFill>
                  <a:srgbClr val="002060"/>
                </a:solidFill>
                <a:latin typeface="Arial" panose="020B0604020202020204" pitchFamily="34" charset="0"/>
              </a:rPr>
              <a:t>Electronics and Communication </a:t>
            </a:r>
            <a:r>
              <a:rPr lang="en-US" altLang="en-US" sz="4000" b="1" dirty="0">
                <a:solidFill>
                  <a:srgbClr val="002060"/>
                </a:solidFill>
                <a:latin typeface="Arial" panose="020B0604020202020204" pitchFamily="34" charset="0"/>
              </a:rPr>
              <a:t>Engineering </a:t>
            </a:r>
          </a:p>
        </p:txBody>
      </p:sp>
    </p:spTree>
    <p:extLst>
      <p:ext uri="{BB962C8B-B14F-4D97-AF65-F5344CB8AC3E}">
        <p14:creationId xmlns:p14="http://schemas.microsoft.com/office/powerpoint/2010/main" val="2633618040"/>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4FF99-1426-541C-5B7F-ED61BE610776}"/>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B9ABBC70-7E27-455C-83CC-7C52E96151B2}"/>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a:t>
            </a:fld>
            <a:endParaRPr dirty="0"/>
          </a:p>
        </p:txBody>
      </p:sp>
      <p:sp>
        <p:nvSpPr>
          <p:cNvPr id="5" name="Rectangle 4">
            <a:extLst>
              <a:ext uri="{FF2B5EF4-FFF2-40B4-BE49-F238E27FC236}">
                <a16:creationId xmlns:a16="http://schemas.microsoft.com/office/drawing/2014/main" id="{A25341BC-113B-C132-C3D1-EDFC0CE55EF4}"/>
              </a:ext>
            </a:extLst>
          </p:cNvPr>
          <p:cNvSpPr/>
          <p:nvPr/>
        </p:nvSpPr>
        <p:spPr>
          <a:xfrm>
            <a:off x="845820" y="805488"/>
            <a:ext cx="11144250" cy="2246769"/>
          </a:xfrm>
          <a:prstGeom prst="rect">
            <a:avLst/>
          </a:prstGeom>
        </p:spPr>
        <p:txBody>
          <a:bodyPr wrap="square">
            <a:spAutoFit/>
          </a:bodyPr>
          <a:lstStyle/>
          <a:p>
            <a:pPr algn="ctr"/>
            <a:r>
              <a:rPr lang="en-US" sz="4000" b="1" dirty="0">
                <a:solidFill>
                  <a:srgbClr val="FF0000"/>
                </a:solidFill>
              </a:rPr>
              <a:t>Basics of </a:t>
            </a:r>
            <a:r>
              <a:rPr lang="en-US" sz="4000" b="1" dirty="0" smtClean="0">
                <a:solidFill>
                  <a:srgbClr val="FF0000"/>
                </a:solidFill>
              </a:rPr>
              <a:t>Electronics and Communication </a:t>
            </a:r>
            <a:r>
              <a:rPr lang="en-US" sz="4000" b="1" dirty="0">
                <a:solidFill>
                  <a:srgbClr val="FF0000"/>
                </a:solidFill>
              </a:rPr>
              <a:t>Engineering (</a:t>
            </a:r>
            <a:r>
              <a:rPr lang="en-US" sz="4000" b="1" dirty="0" smtClean="0">
                <a:solidFill>
                  <a:srgbClr val="FF0000"/>
                </a:solidFill>
              </a:rPr>
              <a:t>ECE3107)</a:t>
            </a:r>
            <a:endParaRPr lang="en-US" sz="4000" b="1" dirty="0">
              <a:solidFill>
                <a:srgbClr val="FF0000"/>
              </a:solidFill>
            </a:endParaRPr>
          </a:p>
          <a:p>
            <a:pPr algn="ctr">
              <a:lnSpc>
                <a:spcPct val="150000"/>
              </a:lnSpc>
            </a:pPr>
            <a:r>
              <a:rPr lang="en-US" sz="4000" b="1" dirty="0">
                <a:solidFill>
                  <a:schemeClr val="accent1">
                    <a:lumMod val="90000"/>
                    <a:lumOff val="10000"/>
                  </a:schemeClr>
                </a:solidFill>
              </a:rPr>
              <a:t>L-T-P-C: 3-0-0-3</a:t>
            </a:r>
          </a:p>
        </p:txBody>
      </p:sp>
      <p:sp>
        <p:nvSpPr>
          <p:cNvPr id="3" name="TextBox 2">
            <a:extLst>
              <a:ext uri="{FF2B5EF4-FFF2-40B4-BE49-F238E27FC236}">
                <a16:creationId xmlns:a16="http://schemas.microsoft.com/office/drawing/2014/main" id="{26BDAB2D-57D1-041B-8526-944C33E338CA}"/>
              </a:ext>
            </a:extLst>
          </p:cNvPr>
          <p:cNvSpPr txBox="1"/>
          <p:nvPr/>
        </p:nvSpPr>
        <p:spPr>
          <a:xfrm>
            <a:off x="2455545" y="3999220"/>
            <a:ext cx="7029450" cy="2400657"/>
          </a:xfrm>
          <a:prstGeom prst="rect">
            <a:avLst/>
          </a:prstGeom>
          <a:noFill/>
        </p:spPr>
        <p:txBody>
          <a:bodyPr wrap="square" rtlCol="0">
            <a:spAutoFit/>
          </a:bodyPr>
          <a:lstStyle/>
          <a:p>
            <a:pPr algn="ctr"/>
            <a:r>
              <a:rPr lang="en-US" sz="2500" dirty="0">
                <a:solidFill>
                  <a:srgbClr val="002060"/>
                </a:solidFill>
                <a:latin typeface="Times New Roman" pitchFamily="18" charset="0"/>
                <a:cs typeface="Times New Roman" pitchFamily="18" charset="0"/>
              </a:rPr>
              <a:t>By</a:t>
            </a:r>
          </a:p>
          <a:p>
            <a:pPr algn="ctr"/>
            <a:r>
              <a:rPr lang="en-US" sz="2500" b="1" dirty="0">
                <a:solidFill>
                  <a:srgbClr val="002060"/>
                </a:solidFill>
                <a:latin typeface="Times New Roman" pitchFamily="18" charset="0"/>
                <a:cs typeface="Times New Roman" pitchFamily="18" charset="0"/>
              </a:rPr>
              <a:t>Dr. </a:t>
            </a:r>
            <a:r>
              <a:rPr lang="en-US" sz="2500" b="1" dirty="0" smtClean="0">
                <a:solidFill>
                  <a:srgbClr val="002060"/>
                </a:solidFill>
                <a:latin typeface="Times New Roman" pitchFamily="18" charset="0"/>
                <a:cs typeface="Times New Roman" pitchFamily="18" charset="0"/>
              </a:rPr>
              <a:t>K. </a:t>
            </a:r>
            <a:r>
              <a:rPr lang="en-US" sz="2500" b="1" dirty="0" err="1" smtClean="0">
                <a:solidFill>
                  <a:srgbClr val="002060"/>
                </a:solidFill>
                <a:latin typeface="Times New Roman" pitchFamily="18" charset="0"/>
                <a:cs typeface="Times New Roman" pitchFamily="18" charset="0"/>
              </a:rPr>
              <a:t>Gowri</a:t>
            </a:r>
            <a:endParaRPr lang="en-US" sz="2500" b="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Assistant Professor – Senior Scale</a:t>
            </a:r>
          </a:p>
          <a:p>
            <a:pPr algn="ctr"/>
            <a:r>
              <a:rPr lang="en-US" sz="2500" i="1" dirty="0">
                <a:solidFill>
                  <a:srgbClr val="002060"/>
                </a:solidFill>
                <a:latin typeface="Times New Roman" pitchFamily="18" charset="0"/>
                <a:cs typeface="Times New Roman" pitchFamily="18" charset="0"/>
              </a:rPr>
              <a:t>Department of </a:t>
            </a:r>
            <a:r>
              <a:rPr lang="en-US" sz="2500" i="1" dirty="0" smtClean="0">
                <a:solidFill>
                  <a:srgbClr val="002060"/>
                </a:solidFill>
                <a:latin typeface="Times New Roman" pitchFamily="18" charset="0"/>
                <a:cs typeface="Times New Roman" pitchFamily="18" charset="0"/>
              </a:rPr>
              <a:t>Electronics and Communication Engineering</a:t>
            </a:r>
            <a:endParaRPr lang="en-US" sz="2500" i="1" dirty="0">
              <a:solidFill>
                <a:srgbClr val="002060"/>
              </a:solidFill>
              <a:latin typeface="Times New Roman" pitchFamily="18" charset="0"/>
              <a:cs typeface="Times New Roman" pitchFamily="18" charset="0"/>
            </a:endParaRPr>
          </a:p>
          <a:p>
            <a:pPr algn="ctr"/>
            <a:r>
              <a:rPr lang="en-US" sz="2500" i="1" dirty="0">
                <a:solidFill>
                  <a:srgbClr val="002060"/>
                </a:solidFill>
                <a:latin typeface="Times New Roman" pitchFamily="18" charset="0"/>
                <a:cs typeface="Times New Roman" pitchFamily="18" charset="0"/>
              </a:rPr>
              <a:t>Presidency University, Bengaluru</a:t>
            </a:r>
          </a:p>
        </p:txBody>
      </p:sp>
    </p:spTree>
    <p:extLst>
      <p:ext uri="{BB962C8B-B14F-4D97-AF65-F5344CB8AC3E}">
        <p14:creationId xmlns:p14="http://schemas.microsoft.com/office/powerpoint/2010/main" val="3306176095"/>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4000" b="1" i="0" u="none" strike="noStrike" cap="none" spc="0" normalizeH="0" baseline="0" dirty="0" smtClean="0">
                <a:ln>
                  <a:noFill/>
                </a:ln>
                <a:solidFill>
                  <a:srgbClr val="000000"/>
                </a:solidFill>
                <a:effectLst/>
                <a:uFillTx/>
                <a:latin typeface="+mn-lt"/>
                <a:ea typeface="+mn-ea"/>
                <a:cs typeface="+mn-cs"/>
                <a:sym typeface="Segoe UI"/>
              </a:rPr>
              <a:t>MODULE</a:t>
            </a:r>
            <a:r>
              <a:rPr kumimoji="0" lang="en-US" sz="4000" b="1" i="0" u="none" strike="noStrike" cap="none" spc="0" normalizeH="0" dirty="0" smtClean="0">
                <a:ln>
                  <a:noFill/>
                </a:ln>
                <a:solidFill>
                  <a:srgbClr val="000000"/>
                </a:solidFill>
                <a:effectLst/>
                <a:uFillTx/>
                <a:latin typeface="+mn-lt"/>
                <a:ea typeface="+mn-ea"/>
                <a:cs typeface="+mn-cs"/>
                <a:sym typeface="Segoe UI"/>
              </a:rPr>
              <a:t> 2</a:t>
            </a:r>
            <a:endParaRPr kumimoji="0" lang="en-US" sz="4000" b="1" i="0" u="none" strike="noStrike" cap="none" spc="0" normalizeH="0" baseline="0" dirty="0">
              <a:ln>
                <a:noFill/>
              </a:ln>
              <a:solidFill>
                <a:srgbClr val="000000"/>
              </a:solidFill>
              <a:effectLst/>
              <a:uFillTx/>
              <a:latin typeface="+mn-lt"/>
              <a:ea typeface="+mn-ea"/>
              <a:cs typeface="+mn-cs"/>
              <a:sym typeface="Segoe UI"/>
            </a:endParaRPr>
          </a:p>
        </p:txBody>
      </p:sp>
      <p:sp>
        <p:nvSpPr>
          <p:cNvPr id="9" name="Rectangle 8"/>
          <p:cNvSpPr/>
          <p:nvPr/>
        </p:nvSpPr>
        <p:spPr>
          <a:xfrm>
            <a:off x="476077" y="1503680"/>
            <a:ext cx="11407140" cy="4339650"/>
          </a:xfrm>
          <a:prstGeom prst="rect">
            <a:avLst/>
          </a:prstGeom>
        </p:spPr>
        <p:txBody>
          <a:bodyPr wrap="square">
            <a:spAutoFit/>
          </a:bodyPr>
          <a:lstStyle/>
          <a:p>
            <a:r>
              <a:rPr lang="en-US" sz="3200" b="1" dirty="0">
                <a:solidFill>
                  <a:srgbClr val="FF0000"/>
                </a:solidFill>
              </a:rPr>
              <a:t>Vision algorithms and applications: </a:t>
            </a:r>
            <a:r>
              <a:rPr lang="en-US" sz="3200" dirty="0">
                <a:solidFill>
                  <a:srgbClr val="FF0000"/>
                </a:solidFill>
              </a:rPr>
              <a:t>	</a:t>
            </a:r>
          </a:p>
          <a:p>
            <a:pPr algn="just"/>
            <a:r>
              <a:rPr lang="en-US" sz="3600" dirty="0"/>
              <a:t>Transforming sensor reading, Mapping Sonar Data, aligning laser scan measurements - Vision and Tracking: Following the road, Iconic image processing, Multiscale image processing </a:t>
            </a:r>
          </a:p>
          <a:p>
            <a:pPr algn="just"/>
            <a:r>
              <a:rPr lang="en-US" sz="3600" dirty="0"/>
              <a:t>Video Tracking - Learning landmarks: Landmark </a:t>
            </a:r>
            <a:r>
              <a:rPr lang="en-US" sz="3600" dirty="0" err="1"/>
              <a:t>spatiograms</a:t>
            </a:r>
            <a:r>
              <a:rPr lang="en-US" sz="3600" dirty="0"/>
              <a:t>, K-means Clustering, EM Clustering. 	</a:t>
            </a:r>
            <a:r>
              <a:rPr lang="en-US" sz="3600" dirty="0" smtClean="0"/>
              <a:t> </a:t>
            </a:r>
            <a:r>
              <a:rPr lang="en-US" sz="3600" dirty="0"/>
              <a:t>	</a:t>
            </a:r>
          </a:p>
          <a:p>
            <a:pPr algn="just"/>
            <a:endParaRPr lang="en-IN" sz="28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2613663"/>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4000" b="1" dirty="0" smtClean="0">
                <a:solidFill>
                  <a:schemeClr val="accent3">
                    <a:lumMod val="60000"/>
                    <a:lumOff val="40000"/>
                  </a:schemeClr>
                </a:solidFill>
                <a:latin typeface="Times New Roman" panose="02020603050405020304" pitchFamily="18" charset="0"/>
                <a:ea typeface="Times New Roman" panose="02020603050405020304" pitchFamily="18" charset="0"/>
              </a:rPr>
              <a:t>Introduction: </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 </a:t>
            </a:r>
            <a:r>
              <a:rPr lang="en-US" sz="3200" dirty="0">
                <a:latin typeface="Times New Roman" panose="02020603050405020304" pitchFamily="18" charset="0"/>
                <a:ea typeface="Times New Roman" panose="02020603050405020304" pitchFamily="18" charset="0"/>
              </a:rPr>
              <a:t>presence of sensors in the ubiquitous environment has led to the production of an enormous amount of data</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These </a:t>
            </a:r>
            <a:r>
              <a:rPr lang="en-US" sz="3200" dirty="0">
                <a:latin typeface="Times New Roman" panose="02020603050405020304" pitchFamily="18" charset="0"/>
                <a:ea typeface="Times New Roman" panose="02020603050405020304" pitchFamily="18" charset="0"/>
              </a:rPr>
              <a:t>sensors belong to</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diverse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categories including </a:t>
            </a:r>
            <a:r>
              <a:rPr lang="en-US" sz="3200" b="1" dirty="0">
                <a:latin typeface="Times New Roman" panose="02020603050405020304" pitchFamily="18" charset="0"/>
                <a:ea typeface="Times New Roman" panose="02020603050405020304" pitchFamily="18" charset="0"/>
              </a:rPr>
              <a:t>planar pressure, thermal, optical, acoustic, and proximity </a:t>
            </a:r>
            <a:r>
              <a:rPr lang="en-US" sz="3200" b="1" dirty="0" smtClean="0">
                <a:latin typeface="Times New Roman" panose="02020603050405020304" pitchFamily="18" charset="0"/>
                <a:ea typeface="Times New Roman" panose="02020603050405020304" pitchFamily="18" charset="0"/>
              </a:rPr>
              <a:t>modalities</a:t>
            </a:r>
            <a:r>
              <a:rPr lang="en-US" sz="3200" b="1" dirty="0">
                <a:latin typeface="Times New Roman" panose="02020603050405020304" pitchFamily="18" charset="0"/>
                <a:ea typeface="Times New Roman" panose="02020603050405020304" pitchFamily="18" charset="0"/>
              </a:rPr>
              <a:t>. </a:t>
            </a:r>
            <a:endParaRPr lang="en-US" sz="3200" b="1"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They provide information for activity recognition and context-aware models that could be used for a wide range of applications such as </a:t>
            </a:r>
            <a:r>
              <a:rPr lang="en-US" sz="3200" b="1" dirty="0">
                <a:solidFill>
                  <a:srgbClr val="FF0000"/>
                </a:solidFill>
                <a:latin typeface="Times New Roman" panose="02020603050405020304" pitchFamily="18" charset="0"/>
                <a:ea typeface="Times New Roman" panose="02020603050405020304" pitchFamily="18" charset="0"/>
              </a:rPr>
              <a:t>automatic monitoring in the smart </a:t>
            </a:r>
            <a:r>
              <a:rPr lang="en-US" sz="3200" b="1" spc="-20" dirty="0">
                <a:solidFill>
                  <a:srgbClr val="FF0000"/>
                </a:solidFill>
                <a:latin typeface="Times New Roman" panose="02020603050405020304" pitchFamily="18" charset="0"/>
                <a:ea typeface="Times New Roman" panose="02020603050405020304" pitchFamily="18" charset="0"/>
              </a:rPr>
              <a:t>environment</a:t>
            </a:r>
            <a:r>
              <a:rPr lang="en-US" sz="3200" b="1" spc="-50"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and</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wellness</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scene,</a:t>
            </a:r>
            <a:r>
              <a:rPr lang="en-US" sz="3200" b="1" spc="-45" dirty="0">
                <a:solidFill>
                  <a:srgbClr val="FF0000"/>
                </a:solidFill>
                <a:latin typeface="Times New Roman" panose="02020603050405020304" pitchFamily="18" charset="0"/>
                <a:ea typeface="Times New Roman" panose="02020603050405020304" pitchFamily="18" charset="0"/>
              </a:rPr>
              <a:t> </a:t>
            </a:r>
            <a:r>
              <a:rPr lang="en-US" sz="3200" b="1" spc="-20" dirty="0">
                <a:solidFill>
                  <a:srgbClr val="FF0000"/>
                </a:solidFill>
                <a:latin typeface="Times New Roman" panose="02020603050405020304" pitchFamily="18" charset="0"/>
                <a:ea typeface="Times New Roman" panose="02020603050405020304" pitchFamily="18" charset="0"/>
              </a:rPr>
              <a:t>computer-human-interaction, </a:t>
            </a:r>
            <a:r>
              <a:rPr lang="en-US" sz="3200" b="1" dirty="0">
                <a:solidFill>
                  <a:srgbClr val="FF0000"/>
                </a:solidFill>
                <a:latin typeface="Times New Roman" panose="02020603050405020304" pitchFamily="18" charset="0"/>
                <a:ea typeface="Times New Roman" panose="02020603050405020304" pitchFamily="18" charset="0"/>
              </a:rPr>
              <a:t>user experience, </a:t>
            </a:r>
            <a:r>
              <a:rPr lang="en-US" sz="3200" dirty="0">
                <a:latin typeface="Times New Roman" panose="02020603050405020304" pitchFamily="18" charset="0"/>
                <a:ea typeface="Times New Roman" panose="02020603050405020304" pitchFamily="18" charset="0"/>
              </a:rPr>
              <a:t>etc</a:t>
            </a:r>
            <a:r>
              <a:rPr lang="en-US" sz="3200" dirty="0" smtClean="0">
                <a:latin typeface="Times New Roman" panose="02020603050405020304" pitchFamily="18" charset="0"/>
                <a:ea typeface="Times New Roman" panose="02020603050405020304" pitchFamily="18" charset="0"/>
              </a:rPr>
              <a: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1499399"/>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There has been extensive research on wearable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pervasive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which</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record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in the context of </a:t>
            </a:r>
            <a:r>
              <a:rPr lang="en-US" sz="3200" b="1" dirty="0">
                <a:latin typeface="Times New Roman" panose="02020603050405020304" pitchFamily="18" charset="0"/>
                <a:ea typeface="Times New Roman" panose="02020603050405020304" pitchFamily="18" charset="0"/>
              </a:rPr>
              <a:t>human activities;</a:t>
            </a:r>
            <a:r>
              <a:rPr lang="en-US" sz="3200" dirty="0">
                <a:latin typeface="Times New Roman" panose="02020603050405020304" pitchFamily="18" charset="0"/>
                <a:ea typeface="Times New Roman" panose="02020603050405020304" pitchFamily="18" charset="0"/>
              </a:rPr>
              <a:t> ranging from physical </a:t>
            </a:r>
            <a:r>
              <a:rPr lang="en-US" sz="3200" spc="-20" dirty="0">
                <a:latin typeface="Times New Roman" panose="02020603050405020304" pitchFamily="18" charset="0"/>
                <a:ea typeface="Times New Roman" panose="02020603050405020304" pitchFamily="18" charset="0"/>
              </a:rPr>
              <a:t>activities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(running,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sleeping,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walking,</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45"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monitoring </a:t>
            </a:r>
            <a:r>
              <a:rPr lang="en-US" sz="3200" b="1" dirty="0">
                <a:latin typeface="Times New Roman" panose="02020603050405020304" pitchFamily="18" charset="0"/>
                <a:ea typeface="Times New Roman" panose="02020603050405020304" pitchFamily="18" charset="0"/>
              </a:rPr>
              <a:t>gym</a:t>
            </a:r>
            <a:r>
              <a:rPr lang="en-US" sz="3200" b="1" spc="-5"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exercises</a:t>
            </a:r>
            <a:r>
              <a:rPr lang="en-US" sz="3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analyzing gait </a:t>
            </a:r>
            <a:r>
              <a:rPr lang="en-US" sz="3200" b="1" dirty="0" smtClean="0">
                <a:latin typeface="Times New Roman" panose="02020603050405020304" pitchFamily="18" charset="0"/>
                <a:ea typeface="Times New Roman" panose="02020603050405020304" pitchFamily="18" charset="0"/>
              </a:rPr>
              <a:t>patterns, </a:t>
            </a:r>
            <a:r>
              <a:rPr lang="en-US" sz="3200" b="1" dirty="0">
                <a:latin typeface="Times New Roman" panose="02020603050405020304" pitchFamily="18" charset="0"/>
                <a:ea typeface="Times New Roman" panose="02020603050405020304" pitchFamily="18" charset="0"/>
              </a:rPr>
              <a:t>to biological </a:t>
            </a:r>
            <a:r>
              <a:rPr lang="en-US" sz="3200" b="1" spc="-10" dirty="0">
                <a:latin typeface="Times New Roman" panose="02020603050405020304" pitchFamily="18" charset="0"/>
                <a:ea typeface="Times New Roman" panose="02020603050405020304" pitchFamily="18" charset="0"/>
              </a:rPr>
              <a:t>activities</a:t>
            </a:r>
            <a:r>
              <a:rPr lang="en-US" sz="3200" spc="-10" dirty="0">
                <a:latin typeface="Times New Roman" panose="02020603050405020304" pitchFamily="18" charset="0"/>
                <a:ea typeface="Times New Roman" panose="02020603050405020304" pitchFamily="18" charset="0"/>
              </a:rPr>
              <a:t> (breathing, eating,</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etc.),</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breathing</a:t>
            </a:r>
            <a:r>
              <a:rPr lang="en-US" sz="3200" spc="-30"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detection</a:t>
            </a:r>
            <a:r>
              <a:rPr lang="en-US" sz="3200" dirty="0" smtClean="0">
                <a:latin typeface="Times New Roman" panose="02020603050405020304" pitchFamily="18" charset="0"/>
                <a:ea typeface="Times New Roman" panose="02020603050405020304" pitchFamily="18" charset="0"/>
              </a:rPr>
              <a:t>, eating </a:t>
            </a:r>
            <a:r>
              <a:rPr lang="en-US" sz="3200" dirty="0">
                <a:latin typeface="Times New Roman" panose="02020603050405020304" pitchFamily="18" charset="0"/>
                <a:ea typeface="Times New Roman" panose="02020603050405020304" pitchFamily="18" charset="0"/>
              </a:rPr>
              <a:t>and drinking arm gesture </a:t>
            </a:r>
            <a:r>
              <a:rPr lang="en-US" sz="3200" dirty="0" smtClean="0">
                <a:latin typeface="Times New Roman" panose="02020603050405020304" pitchFamily="18" charset="0"/>
                <a:ea typeface="Times New Roman" panose="02020603050405020304" pitchFamily="18" charset="0"/>
              </a:rPr>
              <a:t>detection.</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The </a:t>
            </a:r>
            <a:r>
              <a:rPr lang="en-US" sz="3200" spc="-10" dirty="0">
                <a:latin typeface="Times New Roman" panose="02020603050405020304" pitchFamily="18" charset="0"/>
                <a:ea typeface="Times New Roman" panose="02020603050405020304" pitchFamily="18" charset="0"/>
              </a:rPr>
              <a:t>task</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extracting</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useful</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sensor</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 </a:t>
            </a:r>
            <a:r>
              <a:rPr lang="en-US" sz="3200" dirty="0">
                <a:latin typeface="Times New Roman" panose="02020603050405020304" pitchFamily="18" charset="0"/>
                <a:ea typeface="Times New Roman" panose="02020603050405020304" pitchFamily="18" charset="0"/>
              </a:rPr>
              <a:t>has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been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various</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machine</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learning</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and</a:t>
            </a:r>
            <a:r>
              <a:rPr lang="en-US" sz="3200" b="1" spc="-65" dirty="0">
                <a:solidFill>
                  <a:srgbClr val="FF0000"/>
                </a:solidFill>
                <a:latin typeface="Times New Roman" panose="02020603050405020304" pitchFamily="18" charset="0"/>
                <a:ea typeface="Times New Roman" panose="02020603050405020304" pitchFamily="18" charset="0"/>
              </a:rPr>
              <a:t> </a:t>
            </a:r>
            <a:r>
              <a:rPr lang="en-US" sz="3200" b="1" dirty="0">
                <a:solidFill>
                  <a:srgbClr val="FF0000"/>
                </a:solidFill>
                <a:latin typeface="Times New Roman" panose="02020603050405020304" pitchFamily="18" charset="0"/>
                <a:ea typeface="Times New Roman" panose="02020603050405020304" pitchFamily="18" charset="0"/>
              </a:rPr>
              <a:t>data mining</a:t>
            </a:r>
            <a:r>
              <a:rPr lang="en-US" sz="3200" b="1" spc="-20" dirty="0">
                <a:solidFill>
                  <a:srgbClr val="FF0000"/>
                </a:solidFill>
                <a:latin typeface="Times New Roman" panose="02020603050405020304" pitchFamily="18" charset="0"/>
                <a:ea typeface="Times New Roman" panose="02020603050405020304" pitchFamily="18" charset="0"/>
              </a:rPr>
              <a:t> </a:t>
            </a:r>
            <a:r>
              <a:rPr lang="en-US" sz="3200" b="1" dirty="0" smtClean="0">
                <a:solidFill>
                  <a:srgbClr val="FF0000"/>
                </a:solidFill>
                <a:latin typeface="Times New Roman" panose="02020603050405020304" pitchFamily="18" charset="0"/>
                <a:ea typeface="Times New Roman" panose="02020603050405020304" pitchFamily="18" charset="0"/>
              </a:rPr>
              <a:t>techniques</a:t>
            </a:r>
            <a:r>
              <a:rPr lang="en-US" sz="3200" dirty="0" smtClean="0">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654861844"/>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Usually, when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raw</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sensor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concerned,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feature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extraction is</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using</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statistical</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methods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involving</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calculation</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mean,</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standard</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deviation,</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maximum</a:t>
            </a:r>
            <a:r>
              <a:rPr lang="en-US" sz="3200" spc="-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minimum</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values</a:t>
            </a:r>
            <a:r>
              <a:rPr lang="en-US" sz="3200" spc="-2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These features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have</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proven 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be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quite</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reliable in tasks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related </a:t>
            </a:r>
            <a:r>
              <a:rPr lang="en-US" sz="3200" dirty="0">
                <a:latin typeface="Times New Roman" panose="02020603050405020304" pitchFamily="18" charset="0"/>
                <a:ea typeface="Times New Roman" panose="02020603050405020304" pitchFamily="18" charset="0"/>
              </a:rPr>
              <a:t>to</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classification,</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a:t>
            </a:r>
            <a:r>
              <a:rPr lang="en-US" sz="3200" spc="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 </a:t>
            </a:r>
            <a:r>
              <a:rPr lang="en-US" sz="3200" dirty="0" smtClean="0">
                <a:latin typeface="Times New Roman" panose="02020603050405020304" pitchFamily="18" charset="0"/>
                <a:ea typeface="Times New Roman" panose="02020603050405020304" pitchFamily="18" charset="0"/>
              </a:rPr>
              <a:t>segmentation</a:t>
            </a:r>
            <a:r>
              <a:rPr lang="en-US" sz="3200" spc="6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latin typeface="Times New Roman" panose="02020603050405020304" pitchFamily="18" charset="0"/>
                <a:ea typeface="Times New Roman" panose="02020603050405020304" pitchFamily="18" charset="0"/>
              </a:rPr>
              <a:t>Deep </a:t>
            </a:r>
            <a:r>
              <a:rPr lang="en-US" sz="3200" b="1" dirty="0" smtClean="0">
                <a:latin typeface="Times New Roman" panose="02020603050405020304" pitchFamily="18" charset="0"/>
                <a:ea typeface="Times New Roman" panose="02020603050405020304" pitchFamily="18" charset="0"/>
              </a:rPr>
              <a:t>learning, </a:t>
            </a:r>
            <a:r>
              <a:rPr lang="en-US" sz="3200" b="1" spc="-20" dirty="0">
                <a:latin typeface="Times New Roman" panose="02020603050405020304" pitchFamily="18" charset="0"/>
                <a:ea typeface="Times New Roman" panose="02020603050405020304" pitchFamily="18" charset="0"/>
              </a:rPr>
              <a:t>Convolutional</a:t>
            </a:r>
            <a:r>
              <a:rPr lang="en-US" sz="3200" b="1" spc="40" dirty="0">
                <a:latin typeface="Times New Roman" panose="02020603050405020304" pitchFamily="18" charset="0"/>
                <a:ea typeface="Times New Roman" panose="02020603050405020304" pitchFamily="18" charset="0"/>
              </a:rPr>
              <a:t> </a:t>
            </a:r>
            <a:r>
              <a:rPr lang="en-US" sz="3200" b="1" spc="-20" dirty="0">
                <a:latin typeface="Times New Roman" panose="02020603050405020304" pitchFamily="18" charset="0"/>
                <a:ea typeface="Times New Roman" panose="02020603050405020304" pitchFamily="18" charset="0"/>
              </a:rPr>
              <a:t>neural networks </a:t>
            </a:r>
            <a:r>
              <a:rPr lang="en-US" sz="3200" b="1" spc="-20" dirty="0" smtClean="0">
                <a:latin typeface="Times New Roman" panose="02020603050405020304" pitchFamily="18" charset="0"/>
                <a:ea typeface="Times New Roman" panose="02020603050405020304" pitchFamily="18" charset="0"/>
              </a:rPr>
              <a:t>(CNN), </a:t>
            </a:r>
            <a:r>
              <a:rPr lang="en-US" sz="3200" b="1" spc="-10" dirty="0">
                <a:latin typeface="Times New Roman" panose="02020603050405020304" pitchFamily="18" charset="0"/>
                <a:ea typeface="Times New Roman" panose="02020603050405020304" pitchFamily="18" charset="0"/>
              </a:rPr>
              <a:t>Recurrent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neural</a:t>
            </a:r>
            <a:r>
              <a:rPr lang="en-US" sz="3200" b="1" spc="-4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networks</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(RNN</a:t>
            </a:r>
            <a:r>
              <a:rPr lang="en-US" sz="3200" b="1" spc="-10" dirty="0" smtClean="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popular in</a:t>
            </a:r>
            <a:r>
              <a:rPr lang="en-US" sz="3200" spc="-3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achieving</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superhuman accuracy on</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image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classification </a:t>
            </a:r>
            <a:r>
              <a:rPr lang="en-US" sz="3200" spc="-10" dirty="0" smtClean="0">
                <a:latin typeface="Times New Roman" panose="02020603050405020304" pitchFamily="18" charset="0"/>
                <a:ea typeface="Times New Roman" panose="02020603050405020304" pitchFamily="18" charset="0"/>
              </a:rPr>
              <a:t>tasks.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98804553"/>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00581"/>
          </a:xfrm>
          <a:prstGeom prst="rect">
            <a:avLst/>
          </a:prstGeom>
        </p:spPr>
        <p:txBody>
          <a:bodyPr wrap="square">
            <a:spAutoFit/>
          </a:bodyPr>
          <a:lstStyle/>
          <a:p>
            <a:pPr marL="577850" marR="163195" indent="-457200" algn="just">
              <a:lnSpc>
                <a:spcPct val="98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Both, CNN and RNN have been used in combination to create systems which are</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capable</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 understanding images, and to provide temporal</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context to</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these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individual</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images</a:t>
            </a:r>
            <a:r>
              <a:rPr lang="en-US" sz="3200" dirty="0" smtClean="0">
                <a:latin typeface="Times New Roman" panose="02020603050405020304" pitchFamily="18" charset="0"/>
                <a:ea typeface="Times New Roman" panose="02020603050405020304" pitchFamily="18" charset="0"/>
              </a:rPr>
              <a:t>.</a:t>
            </a:r>
          </a:p>
          <a:p>
            <a:pPr marL="577850" marR="163195" indent="-457200" algn="just">
              <a:lnSpc>
                <a:spcPct val="98000"/>
              </a:lnSpc>
              <a:buFont typeface="Arial" panose="020B0604020202020204" pitchFamily="34" charset="0"/>
              <a:buChar char="•"/>
            </a:pPr>
            <a:r>
              <a:rPr lang="en-US" sz="3200" b="1" dirty="0" smtClean="0">
                <a:solidFill>
                  <a:srgbClr val="FF0000"/>
                </a:solidFill>
                <a:latin typeface="Times New Roman" panose="02020603050405020304" pitchFamily="18" charset="0"/>
                <a:ea typeface="Times New Roman" panose="02020603050405020304" pitchFamily="18" charset="0"/>
              </a:rPr>
              <a:t>Limitations: </a:t>
            </a:r>
            <a:r>
              <a:rPr lang="en-US" sz="3200" spc="-30" dirty="0">
                <a:latin typeface="Times New Roman" panose="02020603050405020304" pitchFamily="18" charset="0"/>
                <a:ea typeface="Times New Roman" panose="02020603050405020304" pitchFamily="18" charset="0"/>
              </a:rPr>
              <a:t>requirement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amounts</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a:t>
            </a:r>
            <a:r>
              <a:rPr lang="en-US" sz="3200" spc="1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 facilitate</a:t>
            </a:r>
            <a:r>
              <a:rPr lang="en-US" sz="3200" spc="1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 training of these very deep </a:t>
            </a:r>
            <a:r>
              <a:rPr lang="en-US" sz="3200" dirty="0" smtClean="0">
                <a:latin typeface="Times New Roman" panose="02020603050405020304" pitchFamily="18" charset="0"/>
                <a:ea typeface="Times New Roman" panose="02020603050405020304" pitchFamily="18" charset="0"/>
              </a:rPr>
              <a:t>networks.</a:t>
            </a:r>
          </a:p>
          <a:p>
            <a:pPr marL="577850" marR="163195" indent="-457200" algn="just">
              <a:lnSpc>
                <a:spcPct val="98000"/>
              </a:lnSpc>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While </a:t>
            </a:r>
            <a:r>
              <a:rPr lang="en-US" sz="3200" dirty="0">
                <a:latin typeface="Times New Roman" panose="02020603050405020304" pitchFamily="18" charset="0"/>
                <a:ea typeface="Times New Roman" panose="02020603050405020304" pitchFamily="18" charset="0"/>
              </a:rPr>
              <a:t>the computer vision </a:t>
            </a:r>
            <a:r>
              <a:rPr lang="en-US" sz="3200" spc="-10" dirty="0">
                <a:latin typeface="Times New Roman" panose="02020603050405020304" pitchFamily="18" charset="0"/>
                <a:ea typeface="Times New Roman" panose="02020603050405020304" pitchFamily="18" charset="0"/>
              </a:rPr>
              <a:t>community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has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facilitated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requirement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large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labeled </a:t>
            </a:r>
            <a:r>
              <a:rPr lang="en-US" sz="3200" dirty="0">
                <a:latin typeface="Times New Roman" panose="02020603050405020304" pitchFamily="18" charset="0"/>
                <a:ea typeface="Times New Roman" panose="02020603050405020304" pitchFamily="18" charset="0"/>
              </a:rPr>
              <a:t>datasets, such as, the ImageNet </a:t>
            </a:r>
            <a:r>
              <a:rPr lang="en-US" sz="3200" dirty="0" smtClean="0">
                <a:latin typeface="Times New Roman" panose="02020603050405020304" pitchFamily="18" charset="0"/>
                <a:ea typeface="Times New Roman" panose="02020603050405020304" pitchFamily="18" charset="0"/>
              </a:rPr>
              <a:t>and MS-COCO </a:t>
            </a:r>
            <a:r>
              <a:rPr lang="en-US" sz="3200" dirty="0">
                <a:latin typeface="Times New Roman" panose="02020603050405020304" pitchFamily="18" charset="0"/>
                <a:ea typeface="Times New Roman" panose="02020603050405020304" pitchFamily="18" charset="0"/>
              </a:rPr>
              <a:t>datasets for</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object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recognition, classification,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detection and captioning;</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various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tasks</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not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many</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labeled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datasets </a:t>
            </a:r>
            <a:r>
              <a:rPr lang="en-US" sz="3200" spc="-10" dirty="0">
                <a:latin typeface="Times New Roman" panose="02020603050405020304" pitchFamily="18" charset="0"/>
                <a:ea typeface="Times New Roman" panose="02020603050405020304" pitchFamily="18" charset="0"/>
              </a:rPr>
              <a:t>exist.</a:t>
            </a:r>
            <a:endParaRPr lang="en-US" sz="3200" dirty="0">
              <a:latin typeface="Times New Roman" panose="02020603050405020304" pitchFamily="18" charset="0"/>
              <a:ea typeface="Times New Roman" panose="02020603050405020304" pitchFamily="18" charset="0"/>
            </a:endParaRPr>
          </a:p>
          <a:p>
            <a:pPr marL="577850" marR="163195" indent="-457200" algn="just">
              <a:lnSpc>
                <a:spcPct val="98000"/>
              </a:lnSpc>
              <a:buFont typeface="Arial" panose="020B0604020202020204" pitchFamily="34" charset="0"/>
              <a:buChar char="•"/>
            </a:pPr>
            <a:endParaRPr lang="en-US" sz="32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514284513"/>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above-mentioned </a:t>
            </a:r>
            <a:r>
              <a:rPr lang="en-US" sz="3200" dirty="0">
                <a:latin typeface="Times New Roman" panose="02020603050405020304" pitchFamily="18" charset="0"/>
                <a:ea typeface="Times New Roman" panose="02020603050405020304" pitchFamily="18" charset="0"/>
              </a:rPr>
              <a:t>limitation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bypassed</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performing</a:t>
            </a:r>
            <a:r>
              <a:rPr lang="en-US" sz="3200" spc="-4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transfer</a:t>
            </a:r>
            <a:r>
              <a:rPr lang="en-US" sz="3200" b="1" spc="-55"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learning,</a:t>
            </a:r>
            <a:r>
              <a:rPr lang="en-US" sz="3200" dirty="0">
                <a:latin typeface="Times New Roman" panose="02020603050405020304" pitchFamily="18" charset="0"/>
                <a:ea typeface="Times New Roman" panose="02020603050405020304" pitchFamily="18" charset="0"/>
              </a:rPr>
              <a:t> i.e., using labeled data from one domain and transferring</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learned knowledge</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target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5" dirty="0">
                <a:latin typeface="Times New Roman" panose="02020603050405020304" pitchFamily="18" charset="0"/>
                <a:ea typeface="Times New Roman" panose="02020603050405020304" pitchFamily="18" charset="0"/>
              </a:rPr>
              <a:t> </a:t>
            </a:r>
            <a:r>
              <a:rPr lang="en-IN" sz="3200" dirty="0" smtClean="0">
                <a:ea typeface="Calibri" panose="020F0502020204030204" pitchFamily="34" charset="0"/>
                <a:cs typeface="Calibri" panose="020F0502020204030204" pitchFamily="34" charset="0"/>
              </a:rPr>
              <a:t> </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Transfer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learning involves using the knowledge acquired on a specific task,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adapting this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knowledge to</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different, but related </a:t>
            </a:r>
            <a:r>
              <a:rPr lang="en-US" sz="3200" dirty="0" smtClean="0">
                <a:latin typeface="Times New Roman" panose="02020603050405020304" pitchFamily="18" charset="0"/>
                <a:ea typeface="Times New Roman" panose="02020603050405020304" pitchFamily="18" charset="0"/>
              </a:rPr>
              <a:t>task.</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common</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scenario</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 </a:t>
            </a:r>
            <a:r>
              <a:rPr lang="en-US" sz="3200" spc="-30" dirty="0">
                <a:latin typeface="Times New Roman" panose="02020603050405020304" pitchFamily="18" charset="0"/>
                <a:ea typeface="Times New Roman" panose="02020603050405020304" pitchFamily="18" charset="0"/>
              </a:rPr>
              <a:t>transfer</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learning involves using a</a:t>
            </a:r>
            <a:r>
              <a:rPr lang="en-US" sz="3200" spc="-4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convolutional</a:t>
            </a:r>
            <a:r>
              <a:rPr lang="en-US" sz="3200" spc="8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neural</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network </a:t>
            </a:r>
            <a:r>
              <a:rPr lang="en-US" sz="3200" dirty="0">
                <a:latin typeface="Times New Roman" panose="02020603050405020304" pitchFamily="18" charset="0"/>
                <a:ea typeface="Times New Roman" panose="02020603050405020304" pitchFamily="18" charset="0"/>
              </a:rPr>
              <a:t>trained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very</a:t>
            </a:r>
            <a:r>
              <a:rPr lang="en-US" sz="3200" spc="1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large</a:t>
            </a:r>
            <a:r>
              <a:rPr lang="en-US" sz="3200" spc="1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dataset,</a:t>
            </a:r>
            <a:r>
              <a:rPr lang="en-US" sz="3200" spc="17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1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then</a:t>
            </a:r>
            <a:r>
              <a:rPr lang="en-US" sz="3200" spc="1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fine-tuning </a:t>
            </a:r>
            <a:r>
              <a:rPr lang="en-US" sz="3200" dirty="0">
                <a:latin typeface="Times New Roman" panose="02020603050405020304" pitchFamily="18" charset="0"/>
                <a:ea typeface="Times New Roman" panose="02020603050405020304" pitchFamily="18" charset="0"/>
              </a:rPr>
              <a:t>it on the target dataset which is relatively small in size.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9097774"/>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10</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076133"/>
          </a:xfrm>
          <a:prstGeom prst="rect">
            <a:avLst/>
          </a:prstGeom>
        </p:spPr>
        <p:txBody>
          <a:bodyPr wrap="square">
            <a:spAutoFit/>
          </a:bodyPr>
          <a:lstStyle/>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A</a:t>
            </a:r>
            <a:r>
              <a:rPr lang="en-US" sz="3200" spc="1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domain</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is</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said</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be</a:t>
            </a:r>
            <a:r>
              <a:rPr lang="en-US" sz="3200"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easily</a:t>
            </a:r>
            <a:r>
              <a:rPr lang="en-US" sz="3200" b="1" spc="20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visually</a:t>
            </a:r>
            <a:r>
              <a:rPr lang="en-US" sz="3200" b="1" spc="200" dirty="0">
                <a:latin typeface="Times New Roman" panose="02020603050405020304" pitchFamily="18" charset="0"/>
                <a:ea typeface="Times New Roman" panose="02020603050405020304" pitchFamily="18" charset="0"/>
              </a:rPr>
              <a:t> </a:t>
            </a:r>
            <a:r>
              <a:rPr lang="en-US" sz="3200" b="1" dirty="0" smtClean="0">
                <a:latin typeface="Times New Roman" panose="02020603050405020304" pitchFamily="18" charset="0"/>
                <a:ea typeface="Times New Roman" panose="02020603050405020304" pitchFamily="18" charset="0"/>
              </a:rPr>
              <a:t>interpretable</a:t>
            </a:r>
            <a:r>
              <a:rPr lang="en-US" sz="3200" b="1" spc="14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if 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looking</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at</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its</a:t>
            </a:r>
            <a:r>
              <a:rPr lang="en-US" sz="3200" spc="-55"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visual</a:t>
            </a:r>
            <a:r>
              <a:rPr lang="en-US" sz="3200" spc="-3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human</a:t>
            </a:r>
            <a:r>
              <a:rPr lang="en-US" sz="3200" spc="-5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extract </a:t>
            </a:r>
            <a:r>
              <a:rPr lang="en-US" sz="3200" spc="-10" dirty="0">
                <a:latin typeface="Times New Roman" panose="02020603050405020304" pitchFamily="18" charset="0"/>
                <a:ea typeface="Times New Roman" panose="02020603050405020304" pitchFamily="18" charset="0"/>
              </a:rPr>
              <a:t>relevant</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information</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spc="-10" dirty="0" smtClean="0">
                <a:latin typeface="Times New Roman" panose="02020603050405020304" pitchFamily="18" charset="0"/>
                <a:ea typeface="Times New Roman" panose="02020603050405020304" pitchFamily="18" charset="0"/>
              </a:rPr>
              <a:t>sense</a:t>
            </a:r>
            <a:r>
              <a:rPr lang="en-US" sz="3200" spc="2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meaning</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it</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conveys</a:t>
            </a:r>
            <a:r>
              <a:rPr lang="en-US" sz="3200" spc="-1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For</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example,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images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of</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everyday</a:t>
            </a:r>
            <a:r>
              <a:rPr lang="en-US" sz="3200" spc="-1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objects such</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automobiles, </a:t>
            </a:r>
            <a:r>
              <a:rPr lang="en-US" sz="3200" dirty="0">
                <a:latin typeface="Times New Roman" panose="02020603050405020304" pitchFamily="18" charset="0"/>
                <a:ea typeface="Times New Roman" panose="02020603050405020304" pitchFamily="18" charset="0"/>
              </a:rPr>
              <a:t>animals, landscapes; documents, X-ray, and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scan</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data all belong to the category of easily visually interpretable images</a:t>
            </a:r>
            <a:r>
              <a:rPr lang="en-US" sz="3200" dirty="0" smtClean="0">
                <a:latin typeface="Times New Roman" panose="02020603050405020304" pitchFamily="18" charset="0"/>
                <a:ea typeface="Times New Roman" panose="02020603050405020304" pitchFamily="18" charset="0"/>
              </a:rPr>
              <a:t>.</a:t>
            </a:r>
          </a:p>
          <a:p>
            <a:pPr marL="847725" marR="2540" indent="-457200" algn="just">
              <a:lnSpc>
                <a:spcPct val="92000"/>
              </a:lnSpc>
              <a:buFont typeface="Arial" panose="020B0604020202020204" pitchFamily="34" charset="0"/>
              <a:buChar char="•"/>
            </a:pPr>
            <a:r>
              <a:rPr lang="en-US" sz="3200" b="1" dirty="0" smtClean="0">
                <a:latin typeface="Times New Roman" panose="02020603050405020304" pitchFamily="18" charset="0"/>
                <a:ea typeface="Times New Roman" panose="02020603050405020304" pitchFamily="18" charset="0"/>
              </a:rPr>
              <a:t>An</a:t>
            </a:r>
            <a:r>
              <a:rPr lang="en-US" sz="3200" b="1" spc="-40" dirty="0" smtClean="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average</a:t>
            </a:r>
            <a:r>
              <a:rPr lang="en-US" sz="3200" b="1" spc="-30" dirty="0">
                <a:latin typeface="Times New Roman" panose="02020603050405020304" pitchFamily="18" charset="0"/>
                <a:ea typeface="Times New Roman" panose="02020603050405020304" pitchFamily="18" charset="0"/>
              </a:rPr>
              <a:t> </a:t>
            </a:r>
            <a:r>
              <a:rPr lang="en-US" sz="3200" b="1" dirty="0">
                <a:latin typeface="Times New Roman" panose="02020603050405020304" pitchFamily="18" charset="0"/>
                <a:ea typeface="Times New Roman" panose="02020603050405020304" pitchFamily="18" charset="0"/>
              </a:rPr>
              <a:t>human </a:t>
            </a:r>
            <a:r>
              <a:rPr lang="en-US" sz="3200" b="1" spc="-10" dirty="0">
                <a:latin typeface="Times New Roman" panose="02020603050405020304" pitchFamily="18" charset="0"/>
                <a:ea typeface="Times New Roman" panose="02020603050405020304" pitchFamily="18" charset="0"/>
              </a:rPr>
              <a:t>can</a:t>
            </a:r>
            <a:r>
              <a:rPr lang="en-US" sz="3200" b="1" spc="-30"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easily</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learn</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to</a:t>
            </a:r>
            <a:r>
              <a:rPr lang="en-US" sz="3200" b="1" spc="-5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distinguish between different</a:t>
            </a:r>
            <a:r>
              <a:rPr lang="en-US" sz="3200" b="1" spc="-15" dirty="0">
                <a:latin typeface="Times New Roman" panose="02020603050405020304" pitchFamily="18" charset="0"/>
                <a:ea typeface="Times New Roman" panose="02020603050405020304" pitchFamily="18" charset="0"/>
              </a:rPr>
              <a:t> </a:t>
            </a:r>
            <a:r>
              <a:rPr lang="en-US" sz="3200" b="1" spc="-10" dirty="0">
                <a:latin typeface="Times New Roman" panose="02020603050405020304" pitchFamily="18" charset="0"/>
                <a:ea typeface="Times New Roman" panose="02020603050405020304" pitchFamily="18" charset="0"/>
              </a:rPr>
              <a:t>classes</a:t>
            </a:r>
            <a:r>
              <a:rPr lang="en-US" sz="3200" spc="-10" dirty="0">
                <a:latin typeface="Times New Roman" panose="02020603050405020304" pitchFamily="18" charset="0"/>
                <a:ea typeface="Times New Roman" panose="02020603050405020304" pitchFamily="18" charset="0"/>
              </a:rPr>
              <a:t>,</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e.g., </a:t>
            </a:r>
            <a:r>
              <a:rPr lang="en-US" sz="3200" spc="-20" dirty="0">
                <a:latin typeface="Times New Roman" panose="02020603050405020304" pitchFamily="18" charset="0"/>
                <a:ea typeface="Times New Roman" panose="02020603050405020304" pitchFamily="18" charset="0"/>
              </a:rPr>
              <a:t>several</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sub-species of </a:t>
            </a:r>
            <a:r>
              <a:rPr lang="en-US" sz="3200" spc="-20" dirty="0" smtClean="0">
                <a:latin typeface="Times New Roman" panose="02020603050405020304" pitchFamily="18" charset="0"/>
                <a:ea typeface="Times New Roman" panose="02020603050405020304" pitchFamily="18" charset="0"/>
              </a:rPr>
              <a:t>animals,</a:t>
            </a:r>
            <a:r>
              <a:rPr lang="en-US" sz="3200" spc="-20" dirty="0">
                <a:latin typeface="Times New Roman" panose="02020603050405020304" pitchFamily="18" charset="0"/>
                <a:ea typeface="Times New Roman" panose="02020603050405020304" pitchFamily="18" charset="0"/>
              </a:rPr>
              <a:t> or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several models </a:t>
            </a:r>
            <a:r>
              <a:rPr lang="en-US" sz="3200" dirty="0">
                <a:latin typeface="Times New Roman" panose="02020603050405020304" pitchFamily="18" charset="0"/>
                <a:ea typeface="Times New Roman" panose="02020603050405020304" pitchFamily="18" charset="0"/>
              </a:rPr>
              <a:t>of </a:t>
            </a:r>
            <a:r>
              <a:rPr lang="en-US" sz="3200" dirty="0" smtClean="0">
                <a:latin typeface="Times New Roman" panose="02020603050405020304" pitchFamily="18" charset="0"/>
                <a:ea typeface="Times New Roman" panose="02020603050405020304" pitchFamily="18" charset="0"/>
              </a:rPr>
              <a:t>automobiles.</a:t>
            </a:r>
          </a:p>
          <a:p>
            <a:pPr marL="847725" marR="2540" indent="-457200" algn="just">
              <a:lnSpc>
                <a:spcPct val="92000"/>
              </a:lnSpc>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Doctors</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radiologists analyze and</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interpret MRI</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X-ray data</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to</a:t>
            </a:r>
            <a:r>
              <a:rPr lang="en-US" sz="3200" spc="-2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 </a:t>
            </a:r>
            <a:r>
              <a:rPr lang="en-US" sz="3200" spc="-10" dirty="0">
                <a:latin typeface="Times New Roman" panose="02020603050405020304" pitchFamily="18" charset="0"/>
                <a:ea typeface="Times New Roman" panose="02020603050405020304" pitchFamily="18" charset="0"/>
              </a:rPr>
              <a:t>irregularities</a:t>
            </a:r>
            <a:r>
              <a:rPr lang="en-US" sz="3200" spc="10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1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healthy</a:t>
            </a:r>
            <a:r>
              <a:rPr lang="en-US" sz="3200" spc="1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organs.</a:t>
            </a:r>
            <a:r>
              <a:rPr lang="en-US" sz="3200" spc="165" dirty="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 </a:t>
            </a:r>
            <a:endParaRPr lang="en-US" sz="36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552042564"/>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spc="-10" dirty="0">
                <a:latin typeface="Times New Roman" panose="02020603050405020304" pitchFamily="18" charset="0"/>
                <a:ea typeface="Times New Roman" panose="02020603050405020304" pitchFamily="18" charset="0"/>
              </a:rPr>
              <a:t>The</a:t>
            </a:r>
            <a:r>
              <a:rPr lang="en-US" sz="3000" spc="1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application</a:t>
            </a:r>
            <a:r>
              <a:rPr lang="en-US" sz="3000" spc="19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of</a:t>
            </a:r>
            <a:r>
              <a:rPr lang="en-US" sz="3000" spc="18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transfer </a:t>
            </a:r>
            <a:r>
              <a:rPr lang="en-US" sz="3000" dirty="0" smtClean="0">
                <a:latin typeface="Times New Roman" panose="02020603050405020304" pitchFamily="18" charset="0"/>
                <a:ea typeface="Times New Roman" panose="02020603050405020304" pitchFamily="18" charset="0"/>
              </a:rPr>
              <a:t>learning </a:t>
            </a:r>
            <a:r>
              <a:rPr lang="en-US" sz="3000" dirty="0">
                <a:latin typeface="Times New Roman" panose="02020603050405020304" pitchFamily="18" charset="0"/>
                <a:ea typeface="Times New Roman" panose="02020603050405020304" pitchFamily="18" charset="0"/>
              </a:rPr>
              <a:t>on such images is</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feasible for mainly </a:t>
            </a:r>
            <a:r>
              <a:rPr lang="en-US" sz="3000" b="1" dirty="0">
                <a:latin typeface="Times New Roman" panose="02020603050405020304" pitchFamily="18" charset="0"/>
                <a:ea typeface="Times New Roman" panose="02020603050405020304" pitchFamily="18" charset="0"/>
              </a:rPr>
              <a:t>two</a:t>
            </a:r>
            <a:r>
              <a:rPr lang="en-US" sz="3000" b="1" spc="-15" dirty="0">
                <a:latin typeface="Times New Roman" panose="02020603050405020304" pitchFamily="18" charset="0"/>
                <a:ea typeface="Times New Roman" panose="02020603050405020304" pitchFamily="18" charset="0"/>
              </a:rPr>
              <a:t> </a:t>
            </a:r>
            <a:r>
              <a:rPr lang="en-US" sz="3000" b="1" dirty="0">
                <a:latin typeface="Times New Roman" panose="02020603050405020304" pitchFamily="18" charset="0"/>
                <a:ea typeface="Times New Roman" panose="02020603050405020304" pitchFamily="18" charset="0"/>
              </a:rPr>
              <a:t>reasons</a:t>
            </a:r>
            <a:r>
              <a:rPr lang="en-US" sz="3000" dirty="0">
                <a:latin typeface="Times New Roman" panose="02020603050405020304" pitchFamily="18" charset="0"/>
                <a:ea typeface="Times New Roman" panose="02020603050405020304" pitchFamily="18" charset="0"/>
              </a:rPr>
              <a:t>. </a:t>
            </a:r>
            <a:r>
              <a:rPr lang="en-US" sz="3000" spc="-25" dirty="0" smtClean="0">
                <a:latin typeface="Times New Roman" panose="02020603050405020304" pitchFamily="18" charset="0"/>
                <a:ea typeface="Times New Roman" panose="02020603050405020304" pitchFamily="18" charset="0"/>
              </a:rPr>
              <a:t>  </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It </a:t>
            </a:r>
            <a:r>
              <a:rPr lang="en-US" sz="3000" dirty="0">
                <a:latin typeface="Times New Roman" panose="02020603050405020304" pitchFamily="18" charset="0"/>
                <a:ea typeface="Times New Roman" panose="02020603050405020304" pitchFamily="18" charset="0"/>
              </a:rPr>
              <a:t>is possible due to their nature of being visually </a:t>
            </a:r>
            <a:r>
              <a:rPr lang="en-US" sz="3000" dirty="0" smtClean="0">
                <a:latin typeface="Times New Roman" panose="02020603050405020304" pitchFamily="18" charset="0"/>
                <a:ea typeface="Times New Roman" panose="02020603050405020304" pitchFamily="18" charset="0"/>
              </a:rPr>
              <a:t>meaningful.</a:t>
            </a:r>
          </a:p>
          <a:p>
            <a:pPr marL="514350" indent="106363" algn="just">
              <a:buAutoNum type="arabicPeriod"/>
            </a:pPr>
            <a:r>
              <a:rPr lang="en-US" sz="3000" dirty="0" smtClean="0">
                <a:latin typeface="Times New Roman" panose="02020603050405020304" pitchFamily="18" charset="0"/>
                <a:ea typeface="Times New Roman" panose="02020603050405020304" pitchFamily="18" charset="0"/>
              </a:rPr>
              <a:t> There </a:t>
            </a:r>
            <a:r>
              <a:rPr lang="en-US" sz="3000" dirty="0">
                <a:latin typeface="Times New Roman" panose="02020603050405020304" pitchFamily="18" charset="0"/>
                <a:ea typeface="Times New Roman" panose="02020603050405020304" pitchFamily="18" charset="0"/>
              </a:rPr>
              <a:t>are large datasets from the </a:t>
            </a:r>
            <a:r>
              <a:rPr lang="en-US" sz="3000" spc="-10" dirty="0">
                <a:latin typeface="Times New Roman" panose="02020603050405020304" pitchFamily="18" charset="0"/>
                <a:ea typeface="Times New Roman" panose="02020603050405020304" pitchFamily="18" charset="0"/>
              </a:rPr>
              <a:t>same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domain</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available</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within</a:t>
            </a:r>
            <a:r>
              <a:rPr lang="en-US" sz="3000" spc="-4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community</a:t>
            </a:r>
            <a:r>
              <a:rPr lang="en-US" sz="300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to</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carry</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out</a:t>
            </a:r>
            <a:r>
              <a:rPr lang="en-US" sz="3000" spc="-5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dirty="0">
                <a:latin typeface="Times New Roman" panose="02020603050405020304" pitchFamily="18" charset="0"/>
                <a:ea typeface="Times New Roman" panose="02020603050405020304" pitchFamily="18" charset="0"/>
              </a:rPr>
              <a:t>transfer learning</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tasks</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However, there exists types of data, such as sensor data, which</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are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not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easily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interpretable,</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and</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it</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is</a:t>
            </a:r>
            <a:r>
              <a:rPr lang="en-US" sz="3000" spc="-7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unclear</a:t>
            </a:r>
            <a:r>
              <a:rPr lang="en-US" sz="3000" spc="-6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if it</a:t>
            </a:r>
            <a:r>
              <a:rPr lang="en-US" sz="3000" spc="-3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would be</a:t>
            </a:r>
            <a:r>
              <a:rPr lang="en-US" sz="3000" spc="-2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possible to</a:t>
            </a:r>
            <a:r>
              <a:rPr lang="en-US" sz="3000" spc="-3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them</a:t>
            </a:r>
            <a:r>
              <a:rPr lang="en-US" sz="30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Not</a:t>
            </a:r>
            <a:r>
              <a:rPr lang="en-US" sz="3000" spc="-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visually interpretable data can be, for example, position updates of </a:t>
            </a:r>
            <a:r>
              <a:rPr lang="en-US" sz="3000" spc="-10" dirty="0">
                <a:latin typeface="Times New Roman" panose="02020603050405020304" pitchFamily="18" charset="0"/>
                <a:ea typeface="Times New Roman" panose="02020603050405020304" pitchFamily="18" charset="0"/>
              </a:rPr>
              <a:t>moving</a:t>
            </a:r>
            <a:r>
              <a:rPr lang="en-US" sz="3000" spc="-2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objects</a:t>
            </a:r>
            <a:r>
              <a:rPr lang="en-US" sz="3000" spc="-3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in</a:t>
            </a:r>
            <a:r>
              <a:rPr lang="en-US" sz="3000" spc="-6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location-based</a:t>
            </a:r>
            <a:r>
              <a:rPr lang="en-US" sz="3000" spc="-45"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services,</a:t>
            </a:r>
            <a:r>
              <a:rPr lang="en-US" sz="3000" spc="-2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fluctuations in</a:t>
            </a:r>
            <a:r>
              <a:rPr lang="en-US" sz="3000" spc="-30" dirty="0">
                <a:latin typeface="Times New Roman" panose="02020603050405020304" pitchFamily="18" charset="0"/>
                <a:ea typeface="Times New Roman" panose="02020603050405020304" pitchFamily="18" charset="0"/>
              </a:rPr>
              <a:t> </a:t>
            </a:r>
            <a:r>
              <a:rPr lang="en-US" sz="3000" spc="-10" dirty="0">
                <a:latin typeface="Times New Roman" panose="02020603050405020304" pitchFamily="18" charset="0"/>
                <a:ea typeface="Times New Roman" panose="02020603050405020304" pitchFamily="18" charset="0"/>
              </a:rPr>
              <a:t>the </a:t>
            </a:r>
            <a:r>
              <a:rPr lang="en-US" sz="3000" spc="-20" dirty="0">
                <a:latin typeface="Times New Roman" panose="02020603050405020304" pitchFamily="18" charset="0"/>
                <a:ea typeface="Times New Roman" panose="02020603050405020304" pitchFamily="18" charset="0"/>
              </a:rPr>
              <a:t>stock</a:t>
            </a:r>
            <a:r>
              <a:rPr lang="en-US" sz="3000" spc="-50"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market,</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medical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experimental</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observations,</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or</a:t>
            </a:r>
            <a:r>
              <a:rPr lang="en-US" sz="3000" spc="-45" dirty="0">
                <a:latin typeface="Times New Roman" panose="02020603050405020304" pitchFamily="18" charset="0"/>
                <a:ea typeface="Times New Roman" panose="02020603050405020304" pitchFamily="18" charset="0"/>
              </a:rPr>
              <a:t> </a:t>
            </a:r>
            <a:r>
              <a:rPr lang="en-US" sz="3000" spc="-20" dirty="0">
                <a:latin typeface="Times New Roman" panose="02020603050405020304" pitchFamily="18" charset="0"/>
                <a:ea typeface="Times New Roman" panose="02020603050405020304" pitchFamily="18" charset="0"/>
              </a:rPr>
              <a:t>streaming </a:t>
            </a:r>
            <a:r>
              <a:rPr lang="en-US" sz="3000" dirty="0">
                <a:latin typeface="Times New Roman" panose="02020603050405020304" pitchFamily="18" charset="0"/>
                <a:ea typeface="Times New Roman" panose="02020603050405020304" pitchFamily="18" charset="0"/>
              </a:rPr>
              <a:t>sensor data. </a:t>
            </a:r>
          </a:p>
        </p:txBody>
      </p:sp>
    </p:spTree>
    <p:extLst>
      <p:ext uri="{BB962C8B-B14F-4D97-AF65-F5344CB8AC3E}">
        <p14:creationId xmlns:p14="http://schemas.microsoft.com/office/powerpoint/2010/main" val="1585349059"/>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478423"/>
          </a:xfrm>
          <a:prstGeom prst="rect">
            <a:avLst/>
          </a:prstGeom>
        </p:spPr>
        <p:txBody>
          <a:bodyPr wrap="square">
            <a:spAutoFit/>
          </a:bodyPr>
          <a:lstStyle/>
          <a:p>
            <a:pPr algn="just"/>
            <a:r>
              <a:rPr lang="en-IN" sz="4000" b="1" dirty="0" smtClean="0">
                <a:solidFill>
                  <a:schemeClr val="accent3">
                    <a:lumMod val="60000"/>
                    <a:lumOff val="40000"/>
                  </a:schemeClr>
                </a:solidFill>
                <a:ea typeface="Calibri" panose="020F0502020204030204" pitchFamily="34" charset="0"/>
                <a:cs typeface="Calibri" panose="020F0502020204030204" pitchFamily="34" charset="0"/>
              </a:rPr>
              <a:t>Sensors:</a:t>
            </a:r>
          </a:p>
          <a:p>
            <a:pPr marL="571500" indent="-571500" algn="just">
              <a:buFont typeface="Arial" panose="020B0604020202020204" pitchFamily="34" charset="0"/>
              <a:buChar char="•"/>
            </a:pPr>
            <a:r>
              <a:rPr lang="en-US" sz="3100" dirty="0">
                <a:solidFill>
                  <a:srgbClr val="333333"/>
                </a:solidFill>
                <a:latin typeface="Roboto"/>
              </a:rPr>
              <a:t>Over the past decades, the availability of sensors has increased substantially and enabled makers and designers to prototype interactive objects rapidly and at low cost</a:t>
            </a:r>
            <a:r>
              <a:rPr lang="en-US" sz="3100" dirty="0" smtClean="0">
                <a:solidFill>
                  <a:srgbClr val="333333"/>
                </a:solidFill>
                <a:latin typeface="Roboto"/>
              </a:rPr>
              <a:t>.</a:t>
            </a:r>
          </a:p>
          <a:p>
            <a:pPr marL="571500" indent="-571500" algn="just">
              <a:buFont typeface="Arial" panose="020B0604020202020204" pitchFamily="34" charset="0"/>
              <a:buChar char="•"/>
            </a:pPr>
            <a:r>
              <a:rPr lang="en-US" sz="3100" dirty="0" smtClean="0">
                <a:solidFill>
                  <a:srgbClr val="333333"/>
                </a:solidFill>
                <a:latin typeface="Roboto"/>
              </a:rPr>
              <a:t>However</a:t>
            </a:r>
            <a:r>
              <a:rPr lang="en-US" sz="3100" dirty="0">
                <a:solidFill>
                  <a:srgbClr val="333333"/>
                </a:solidFill>
                <a:latin typeface="Roboto"/>
              </a:rPr>
              <a:t>, this large variety of components also comes with the challenge of selecting the right sensor from many similar components to </a:t>
            </a:r>
            <a:r>
              <a:rPr lang="en-US" sz="3100" dirty="0" smtClean="0">
                <a:solidFill>
                  <a:srgbClr val="333333"/>
                </a:solidFill>
                <a:latin typeface="Roboto"/>
              </a:rPr>
              <a:t>find </a:t>
            </a:r>
            <a:r>
              <a:rPr lang="en-US" sz="3100" dirty="0">
                <a:solidFill>
                  <a:srgbClr val="333333"/>
                </a:solidFill>
                <a:latin typeface="Roboto"/>
              </a:rPr>
              <a:t>the one that best </a:t>
            </a:r>
            <a:r>
              <a:rPr lang="en-US" sz="3100" dirty="0" smtClean="0">
                <a:solidFill>
                  <a:srgbClr val="333333"/>
                </a:solidFill>
                <a:latin typeface="Roboto"/>
              </a:rPr>
              <a:t>fits </a:t>
            </a:r>
            <a:r>
              <a:rPr lang="en-US" sz="3100" dirty="0">
                <a:solidFill>
                  <a:srgbClr val="333333"/>
                </a:solidFill>
                <a:latin typeface="Roboto"/>
              </a:rPr>
              <a:t>the use case at hand. </a:t>
            </a:r>
            <a:endParaRPr lang="en-US" sz="3100" dirty="0" smtClean="0">
              <a:solidFill>
                <a:srgbClr val="333333"/>
              </a:solidFill>
              <a:latin typeface="Roboto"/>
            </a:endParaRPr>
          </a:p>
          <a:p>
            <a:pPr marL="571500" indent="-571500" algn="just">
              <a:buFont typeface="Arial" panose="020B0604020202020204" pitchFamily="34" charset="0"/>
              <a:buChar char="•"/>
            </a:pPr>
            <a:r>
              <a:rPr lang="en-US" sz="3100" dirty="0" smtClean="0">
                <a:solidFill>
                  <a:srgbClr val="333333"/>
                </a:solidFill>
                <a:latin typeface="Roboto"/>
              </a:rPr>
              <a:t>Since </a:t>
            </a:r>
            <a:r>
              <a:rPr lang="en-US" sz="3100" dirty="0">
                <a:solidFill>
                  <a:srgbClr val="333333"/>
                </a:solidFill>
                <a:latin typeface="Roboto"/>
              </a:rPr>
              <a:t>each sensor has its own </a:t>
            </a:r>
            <a:r>
              <a:rPr lang="en-US" sz="3100" dirty="0" smtClean="0">
                <a:solidFill>
                  <a:srgbClr val="333333"/>
                </a:solidFill>
                <a:latin typeface="Roboto"/>
              </a:rPr>
              <a:t>specification</a:t>
            </a:r>
            <a:r>
              <a:rPr lang="en-US" sz="3100" dirty="0">
                <a:solidFill>
                  <a:srgbClr val="333333"/>
                </a:solidFill>
                <a:latin typeface="Roboto"/>
              </a:rPr>
              <a:t>, understanding what each sensor can sense and how it will work on a prototype can be a time-consuming process.</a:t>
            </a:r>
            <a:endParaRPr lang="en-IN" sz="31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2422269"/>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13</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IN" sz="4400" b="1" dirty="0" smtClean="0">
                <a:solidFill>
                  <a:srgbClr val="C00000"/>
                </a:solidFill>
                <a:ea typeface="Calibri" panose="020F0502020204030204" pitchFamily="34" charset="0"/>
                <a:cs typeface="Calibri" panose="020F0502020204030204" pitchFamily="34" charset="0"/>
              </a:rPr>
              <a:t>Limitations of reading sensor data:</a:t>
            </a:r>
          </a:p>
          <a:p>
            <a:pPr marL="571500" indent="-571500" algn="just">
              <a:buFont typeface="+mj-lt"/>
              <a:buAutoNum type="arabicPeriod"/>
            </a:pPr>
            <a:r>
              <a:rPr lang="en-US" sz="3200" dirty="0" smtClean="0">
                <a:solidFill>
                  <a:srgbClr val="333333"/>
                </a:solidFill>
                <a:latin typeface="Roboto"/>
              </a:rPr>
              <a:t>Extracting </a:t>
            </a:r>
            <a:r>
              <a:rPr lang="en-US" sz="3200" dirty="0">
                <a:solidFill>
                  <a:srgbClr val="333333"/>
                </a:solidFill>
                <a:latin typeface="Roboto"/>
              </a:rPr>
              <a:t>information from a datasheet can be cumbersome and confusing since the sensing information may be buried among the chip design, schematic, and other technical aspects</a:t>
            </a:r>
            <a:r>
              <a:rPr lang="en-US" sz="3200" dirty="0" smtClean="0">
                <a:solidFill>
                  <a:srgbClr val="333333"/>
                </a:solidFill>
                <a:latin typeface="Roboto"/>
              </a:rPr>
              <a:t>.</a:t>
            </a:r>
          </a:p>
          <a:p>
            <a:pPr marL="571500" indent="-571500" algn="just">
              <a:buFont typeface="+mj-lt"/>
              <a:buAutoNum type="arabicPeriod"/>
            </a:pPr>
            <a:r>
              <a:rPr lang="en-US" sz="3200" dirty="0" smtClean="0">
                <a:solidFill>
                  <a:srgbClr val="333333"/>
                </a:solidFill>
                <a:latin typeface="Roboto"/>
              </a:rPr>
              <a:t>Datasheets </a:t>
            </a:r>
            <a:r>
              <a:rPr lang="en-US" sz="3200" dirty="0">
                <a:solidFill>
                  <a:srgbClr val="333333"/>
                </a:solidFill>
                <a:latin typeface="Roboto"/>
              </a:rPr>
              <a:t>are not standardized, which makes comparing sensors with each other a </a:t>
            </a:r>
            <a:r>
              <a:rPr lang="en-US" sz="3200" dirty="0" smtClean="0">
                <a:solidFill>
                  <a:srgbClr val="333333"/>
                </a:solidFill>
                <a:latin typeface="Roboto"/>
              </a:rPr>
              <a:t>difficult </a:t>
            </a:r>
            <a:r>
              <a:rPr lang="en-US" sz="3200" dirty="0">
                <a:solidFill>
                  <a:srgbClr val="333333"/>
                </a:solidFill>
                <a:latin typeface="Roboto"/>
              </a:rPr>
              <a:t>task. </a:t>
            </a:r>
            <a:endParaRPr lang="en-US" sz="3200" dirty="0" smtClean="0">
              <a:solidFill>
                <a:srgbClr val="333333"/>
              </a:solidFill>
              <a:latin typeface="Roboto"/>
            </a:endParaRPr>
          </a:p>
          <a:p>
            <a:pPr marL="571500" indent="-571500" algn="just">
              <a:buFont typeface="+mj-lt"/>
              <a:buAutoNum type="arabicPeriod"/>
            </a:pPr>
            <a:r>
              <a:rPr lang="en-US" sz="3200" dirty="0" smtClean="0">
                <a:solidFill>
                  <a:srgbClr val="333333"/>
                </a:solidFill>
                <a:latin typeface="Roboto"/>
              </a:rPr>
              <a:t>Since </a:t>
            </a:r>
            <a:r>
              <a:rPr lang="en-US" sz="3200" dirty="0">
                <a:solidFill>
                  <a:srgbClr val="333333"/>
                </a:solidFill>
                <a:latin typeface="Roboto"/>
              </a:rPr>
              <a:t>datasheets are text documents, it can be hard to picture what sensors can sense when placed on a prototype.</a:t>
            </a:r>
            <a:endParaRPr lang="en-IN" sz="3200" b="1" dirty="0">
              <a:solidFill>
                <a:srgbClr val="C00000"/>
              </a:solidFill>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99969642"/>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152401" y="2046056"/>
            <a:ext cx="11407140" cy="2185214"/>
          </a:xfrm>
          <a:prstGeom prst="rect">
            <a:avLst/>
          </a:prstGeom>
        </p:spPr>
        <p:txBody>
          <a:bodyPr wrap="square">
            <a:spAutoFit/>
          </a:bodyPr>
          <a:lstStyle/>
          <a:p>
            <a:pPr algn="just"/>
            <a:r>
              <a:rPr lang="en-US" sz="4000" b="1" dirty="0" smtClean="0">
                <a:solidFill>
                  <a:srgbClr val="C00000"/>
                </a:solidFill>
                <a:latin typeface="Roboto"/>
              </a:rPr>
              <a:t>Different </a:t>
            </a:r>
            <a:r>
              <a:rPr lang="en-US" sz="4000" b="1" dirty="0">
                <a:solidFill>
                  <a:srgbClr val="C00000"/>
                </a:solidFill>
                <a:latin typeface="Roboto"/>
              </a:rPr>
              <a:t>Stages of Prototyping with </a:t>
            </a:r>
            <a:r>
              <a:rPr lang="en-US" sz="4000" b="1" dirty="0" smtClean="0">
                <a:solidFill>
                  <a:srgbClr val="C00000"/>
                </a:solidFill>
                <a:latin typeface="Roboto"/>
              </a:rPr>
              <a:t>Sensors</a:t>
            </a:r>
          </a:p>
          <a:p>
            <a:pPr marL="571500" indent="-571500" algn="just">
              <a:buFont typeface="+mj-lt"/>
              <a:buAutoNum type="arabicPeriod"/>
            </a:pPr>
            <a:r>
              <a:rPr lang="en-US" sz="3200" dirty="0">
                <a:solidFill>
                  <a:srgbClr val="333333"/>
                </a:solidFill>
                <a:latin typeface="Roboto"/>
              </a:rPr>
              <a:t>Sensor </a:t>
            </a:r>
            <a:r>
              <a:rPr lang="en-US" sz="3200" dirty="0" smtClean="0">
                <a:solidFill>
                  <a:srgbClr val="333333"/>
                </a:solidFill>
                <a:latin typeface="Roboto"/>
              </a:rPr>
              <a:t>Specifications </a:t>
            </a:r>
            <a:r>
              <a:rPr lang="en-US" sz="3200" dirty="0">
                <a:solidFill>
                  <a:srgbClr val="333333"/>
                </a:solidFill>
                <a:latin typeface="Roboto"/>
              </a:rPr>
              <a:t>from </a:t>
            </a:r>
            <a:r>
              <a:rPr lang="en-US" sz="3200" dirty="0" smtClean="0">
                <a:solidFill>
                  <a:srgbClr val="333333"/>
                </a:solidFill>
                <a:latin typeface="Roboto"/>
              </a:rPr>
              <a:t>Datasheet</a:t>
            </a:r>
          </a:p>
          <a:p>
            <a:pPr marL="571500" indent="-571500" algn="just">
              <a:buFont typeface="+mj-lt"/>
              <a:buAutoNum type="arabicPeriod"/>
            </a:pPr>
            <a:r>
              <a:rPr lang="en-US" sz="3200" dirty="0">
                <a:solidFill>
                  <a:srgbClr val="333333"/>
                </a:solidFill>
                <a:latin typeface="Roboto"/>
              </a:rPr>
              <a:t>Sensor Data Overlay over the Physical Prototype via </a:t>
            </a:r>
            <a:r>
              <a:rPr lang="en-US" sz="3200" dirty="0" smtClean="0">
                <a:solidFill>
                  <a:srgbClr val="333333"/>
                </a:solidFill>
                <a:latin typeface="Roboto"/>
              </a:rPr>
              <a:t>AR</a:t>
            </a:r>
          </a:p>
          <a:p>
            <a:pPr marL="571500" indent="-571500" algn="just">
              <a:buFont typeface="+mj-lt"/>
              <a:buAutoNum type="arabicPeriod"/>
            </a:pPr>
            <a:r>
              <a:rPr lang="en-US" sz="3200" dirty="0">
                <a:solidFill>
                  <a:srgbClr val="333333"/>
                </a:solidFill>
                <a:latin typeface="Roboto"/>
              </a:rPr>
              <a:t>Live and Recorded Sensor Data </a:t>
            </a:r>
            <a:r>
              <a:rPr lang="en-US" sz="3200" dirty="0" smtClean="0">
                <a:solidFill>
                  <a:srgbClr val="333333"/>
                </a:solidFill>
                <a:latin typeface="Roboto"/>
              </a:rPr>
              <a:t>Visualization</a:t>
            </a:r>
            <a:r>
              <a:rPr lang="en-US" sz="3200" dirty="0">
                <a:solidFill>
                  <a:srgbClr val="333333"/>
                </a:solidFill>
                <a:latin typeface="Roboto"/>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8005117"/>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329007" y="222946"/>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930830"/>
            <a:ext cx="11407140" cy="4154984"/>
          </a:xfrm>
          <a:prstGeom prst="rect">
            <a:avLst/>
          </a:prstGeom>
        </p:spPr>
        <p:txBody>
          <a:bodyPr wrap="square">
            <a:spAutoFit/>
          </a:bodyPr>
          <a:lstStyle/>
          <a:p>
            <a:pPr algn="just"/>
            <a:r>
              <a:rPr lang="en-IN" sz="4000" b="1" dirty="0">
                <a:solidFill>
                  <a:srgbClr val="C00000"/>
                </a:solidFill>
                <a:ea typeface="Calibri" panose="020F0502020204030204" pitchFamily="34" charset="0"/>
                <a:cs typeface="Calibri" panose="020F0502020204030204" pitchFamily="34" charset="0"/>
              </a:rPr>
              <a:t>Library of visualization primitives:</a:t>
            </a:r>
          </a:p>
          <a:p>
            <a:pPr algn="just"/>
            <a:r>
              <a:rPr lang="en-US" sz="3200" b="1" dirty="0" smtClean="0">
                <a:solidFill>
                  <a:srgbClr val="7030A0"/>
                </a:solidFill>
                <a:latin typeface="Roboto"/>
              </a:rPr>
              <a:t>Dimensionality</a:t>
            </a:r>
            <a:r>
              <a:rPr lang="en-US" sz="3200" b="1" dirty="0">
                <a:solidFill>
                  <a:srgbClr val="7030A0"/>
                </a:solidFill>
                <a:latin typeface="Roboto"/>
              </a:rPr>
              <a:t>: </a:t>
            </a:r>
            <a:endParaRPr lang="en-US" sz="3200" b="1" dirty="0" smtClean="0">
              <a:solidFill>
                <a:srgbClr val="7030A0"/>
              </a:solidFill>
              <a:latin typeface="Roboto"/>
            </a:endParaRP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discrete data as a point and continuous data as a bar. </a:t>
            </a:r>
          </a:p>
          <a:p>
            <a:pPr marL="457200" indent="-4572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represent directional data as bars in </a:t>
            </a:r>
            <a:r>
              <a:rPr lang="en-US" sz="3200" dirty="0" smtClean="0">
                <a:solidFill>
                  <a:srgbClr val="333333"/>
                </a:solidFill>
                <a:latin typeface="Roboto"/>
              </a:rPr>
              <a:t>different directions.</a:t>
            </a:r>
          </a:p>
          <a:p>
            <a:pPr marL="457200" indent="-4572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volumetric data, we display the data as a 3D volumetric shape (e.g., a cone or hemisphere). Dimensional information is rendered as a black outline with no </a:t>
            </a:r>
            <a:r>
              <a:rPr lang="en-US" sz="3200" dirty="0" smtClean="0">
                <a:solidFill>
                  <a:srgbClr val="333333"/>
                </a:solidFill>
                <a:latin typeface="Roboto"/>
              </a:rPr>
              <a:t>infill</a:t>
            </a:r>
            <a:r>
              <a:rPr lang="en-US" sz="3200" dirty="0">
                <a:solidFill>
                  <a:srgbClr val="333333"/>
                </a:solidFill>
                <a:latin typeface="Roboto"/>
              </a:rPr>
              <a: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892354" y="5036355"/>
            <a:ext cx="8326012" cy="1514686"/>
          </a:xfrm>
          <a:prstGeom prst="rect">
            <a:avLst/>
          </a:prstGeom>
          <a:ln w="28575">
            <a:solidFill>
              <a:schemeClr val="tx1"/>
            </a:solidFill>
          </a:ln>
        </p:spPr>
      </p:pic>
    </p:spTree>
    <p:extLst>
      <p:ext uri="{BB962C8B-B14F-4D97-AF65-F5344CB8AC3E}">
        <p14:creationId xmlns:p14="http://schemas.microsoft.com/office/powerpoint/2010/main" val="1867670330"/>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16</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201424"/>
          </a:xfrm>
          <a:prstGeom prst="rect">
            <a:avLst/>
          </a:prstGeom>
        </p:spPr>
        <p:txBody>
          <a:bodyPr wrap="square">
            <a:spAutoFit/>
          </a:bodyPr>
          <a:lstStyle/>
          <a:p>
            <a:pPr algn="just"/>
            <a:r>
              <a:rPr lang="en-US" sz="3000" b="1" dirty="0" smtClean="0">
                <a:solidFill>
                  <a:srgbClr val="7030A0"/>
                </a:solidFill>
                <a:latin typeface="Roboto"/>
              </a:rPr>
              <a:t>Range</a:t>
            </a:r>
          </a:p>
          <a:p>
            <a:pPr marL="571500" indent="-571500" algn="just">
              <a:buFont typeface="Arial" panose="020B0604020202020204" pitchFamily="34" charset="0"/>
              <a:buChar char="•"/>
            </a:pPr>
            <a:r>
              <a:rPr lang="en-US" sz="3000" dirty="0" smtClean="0">
                <a:solidFill>
                  <a:srgbClr val="333333"/>
                </a:solidFill>
                <a:latin typeface="Roboto"/>
              </a:rPr>
              <a:t>To </a:t>
            </a:r>
            <a:r>
              <a:rPr lang="en-US" sz="3000" dirty="0">
                <a:solidFill>
                  <a:srgbClr val="333333"/>
                </a:solidFill>
                <a:latin typeface="Roboto"/>
              </a:rPr>
              <a:t>visualize the range of a sensor, we use the min/max values from the datasheet as the bounds of the visualization.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smtClean="0">
                <a:solidFill>
                  <a:srgbClr val="333333"/>
                </a:solidFill>
                <a:latin typeface="Roboto"/>
              </a:rPr>
              <a:t>For </a:t>
            </a:r>
            <a:r>
              <a:rPr lang="en-US" sz="3000" dirty="0">
                <a:solidFill>
                  <a:srgbClr val="333333"/>
                </a:solidFill>
                <a:latin typeface="Roboto"/>
              </a:rPr>
              <a:t>continuous non-spatial and directional data, we </a:t>
            </a:r>
            <a:r>
              <a:rPr lang="en-US" sz="3000" dirty="0" smtClean="0">
                <a:solidFill>
                  <a:srgbClr val="333333"/>
                </a:solidFill>
                <a:latin typeface="Roboto"/>
              </a:rPr>
              <a:t>define </a:t>
            </a:r>
            <a:r>
              <a:rPr lang="en-US" sz="3000" dirty="0">
                <a:solidFill>
                  <a:srgbClr val="333333"/>
                </a:solidFill>
                <a:latin typeface="Roboto"/>
              </a:rPr>
              <a:t>the lower bound of the visualization to be equal to the minimum value and the upper bound of the visualization to be equal to the maximum value </a:t>
            </a:r>
            <a:r>
              <a:rPr lang="en-US" sz="3000" dirty="0" smtClean="0">
                <a:solidFill>
                  <a:srgbClr val="333333"/>
                </a:solidFill>
                <a:latin typeface="Roboto"/>
              </a:rPr>
              <a:t>specified </a:t>
            </a:r>
            <a:r>
              <a:rPr lang="en-US" sz="3000" dirty="0">
                <a:solidFill>
                  <a:srgbClr val="333333"/>
                </a:solidFill>
                <a:latin typeface="Roboto"/>
              </a:rPr>
              <a:t>in the datasheet. </a:t>
            </a:r>
            <a:endParaRPr lang="en-US" sz="3000" dirty="0" smtClean="0">
              <a:solidFill>
                <a:srgbClr val="333333"/>
              </a:solidFill>
              <a:latin typeface="Roboto"/>
            </a:endParaRPr>
          </a:p>
          <a:p>
            <a:pPr marL="571500" indent="-571500" algn="just">
              <a:buFont typeface="Arial" panose="020B0604020202020204" pitchFamily="34" charset="0"/>
              <a:buChar char="•"/>
            </a:pPr>
            <a:r>
              <a:rPr lang="en-US" sz="3000" dirty="0">
                <a:solidFill>
                  <a:srgbClr val="333333"/>
                </a:solidFill>
                <a:latin typeface="Roboto"/>
              </a:rPr>
              <a:t>For spatial data, the visualization shows the lower and upper bounds of the sensing volume in the size as </a:t>
            </a:r>
            <a:r>
              <a:rPr lang="en-US" sz="3000" dirty="0" smtClean="0">
                <a:solidFill>
                  <a:srgbClr val="333333"/>
                </a:solidFill>
                <a:latin typeface="Roboto"/>
              </a:rPr>
              <a:t>specified </a:t>
            </a:r>
            <a:r>
              <a:rPr lang="en-US" sz="3000" dirty="0">
                <a:solidFill>
                  <a:srgbClr val="333333"/>
                </a:solidFill>
                <a:latin typeface="Roboto"/>
              </a:rPr>
              <a:t>in the datasheet.</a:t>
            </a:r>
            <a:endParaRPr lang="en-US" sz="3000" dirty="0" smtClean="0">
              <a:solidFill>
                <a:srgbClr val="333333"/>
              </a:solidFill>
              <a:latin typeface="Roboto"/>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20874503"/>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17</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3046988"/>
          </a:xfrm>
          <a:prstGeom prst="rect">
            <a:avLst/>
          </a:prstGeom>
        </p:spPr>
        <p:txBody>
          <a:bodyPr wrap="square">
            <a:spAutoFit/>
          </a:bodyPr>
          <a:lstStyle/>
          <a:p>
            <a:pPr algn="just"/>
            <a:r>
              <a:rPr lang="en-US" sz="3200" b="1" dirty="0">
                <a:solidFill>
                  <a:srgbClr val="7030A0"/>
                </a:solidFill>
                <a:latin typeface="Roboto"/>
              </a:rPr>
              <a:t>Resolution: </a:t>
            </a:r>
            <a:endParaRPr lang="en-US" sz="3200" b="1" dirty="0" smtClean="0">
              <a:solidFill>
                <a:srgbClr val="7030A0"/>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resolution by splitting the bar or volume into segments, with smaller segments representing higher sensor resolutions than larger segments.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compute the segment size by dividing the sensor’s output bit resolution by the range of the sensor. </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690322" y="4209840"/>
            <a:ext cx="8730076" cy="2394897"/>
          </a:xfrm>
          <a:prstGeom prst="rect">
            <a:avLst/>
          </a:prstGeom>
          <a:ln w="28575">
            <a:solidFill>
              <a:schemeClr val="tx1"/>
            </a:solidFill>
          </a:ln>
        </p:spPr>
      </p:pic>
    </p:spTree>
    <p:extLst>
      <p:ext uri="{BB962C8B-B14F-4D97-AF65-F5344CB8AC3E}">
        <p14:creationId xmlns:p14="http://schemas.microsoft.com/office/powerpoint/2010/main" val="1941559167"/>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sz="1000" b="1" i="0" u="none" strike="noStrike" kern="0" cap="none" spc="0" normalizeH="0" baseline="0" noProof="0">
                <a:ln>
                  <a:noFill/>
                </a:ln>
                <a:solidFill>
                  <a:srgbClr val="003F7D">
                    <a:alpha val="64999"/>
                  </a:srgbClr>
                </a:solidFill>
                <a:effectLst/>
                <a:uLnTx/>
                <a:uFillTx/>
                <a:latin typeface="Helvetica"/>
                <a:cs typeface="Helvetica"/>
                <a:sym typeface="Helvetica"/>
              </a:rPr>
              <a:pPr marL="0" marR="0" lvl="0" indent="0" algn="r" defTabSz="914400" rtl="0" eaLnBrk="1" fontAlgn="auto" latinLnBrk="0" hangingPunct="0">
                <a:lnSpc>
                  <a:spcPct val="100000"/>
                </a:lnSpc>
                <a:spcBef>
                  <a:spcPts val="0"/>
                </a:spcBef>
                <a:spcAft>
                  <a:spcPts val="0"/>
                </a:spcAft>
                <a:buClrTx/>
                <a:buSzTx/>
                <a:buFontTx/>
                <a:buNone/>
                <a:tabLst/>
                <a:defRPr/>
              </a:pPr>
              <a:t>18</a:t>
            </a:fld>
            <a:endParaRPr kumimoji="0" sz="1000" b="1" i="0" u="none" strike="noStrike" kern="0" cap="none" spc="0" normalizeH="0" baseline="0" noProof="0" dirty="0">
              <a:ln>
                <a:noFill/>
              </a:ln>
              <a:solidFill>
                <a:srgbClr val="003F7D">
                  <a:alpha val="64999"/>
                </a:srgbClr>
              </a:solidFill>
              <a:effectLst/>
              <a:uLnTx/>
              <a:uFillTx/>
              <a:latin typeface="Helvetica"/>
              <a:cs typeface="Helvetica"/>
              <a:sym typeface="Helvetica"/>
            </a:endParaRPr>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marL="228600" marR="0" lvl="0" indent="-228600" algn="just" defTabSz="914400" rtl="0" eaLnBrk="0" fontAlgn="auto" latinLnBrk="0" hangingPunct="1">
              <a:lnSpc>
                <a:spcPct val="150000"/>
              </a:lnSpc>
              <a:spcBef>
                <a:spcPts val="1000"/>
              </a:spcBef>
              <a:spcAft>
                <a:spcPts val="0"/>
              </a:spcAft>
              <a:buClrTx/>
              <a:buSzPct val="100000"/>
              <a:buFont typeface="Arial" panose="020B0604020202020204" pitchFamily="34" charset="0"/>
              <a:buChar char="•"/>
              <a:tabLst/>
              <a:defRPr/>
            </a:pPr>
            <a:endParaRPr kumimoji="0" lang="en-US" altLang="en-US" sz="2500" b="1" i="0" u="none" strike="noStrike" kern="0" cap="none" spc="0" normalizeH="0" baseline="0" noProof="0" dirty="0">
              <a:ln>
                <a:noFill/>
              </a:ln>
              <a:solidFill>
                <a:srgbClr val="00B050"/>
              </a:solidFill>
              <a:effectLst/>
              <a:uLnTx/>
              <a:uFillTx/>
              <a:latin typeface="Calibri"/>
              <a:cs typeface="Segoe UI"/>
              <a:sym typeface="Segoe UI"/>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2.1 Transforming </a:t>
            </a:r>
            <a:r>
              <a:rPr kumimoji="0" lang="en-US" sz="4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rPr>
              <a:t>sensor </a:t>
            </a:r>
            <a:r>
              <a:rPr kumimoji="0" lang="en-US" sz="4000" b="0" i="0" u="none" strike="noStrike" kern="0" cap="none" spc="0" normalizeH="0" baseline="0" noProof="0" dirty="0" smtClean="0">
                <a:ln>
                  <a:noFill/>
                </a:ln>
                <a:solidFill>
                  <a:srgbClr val="000000"/>
                </a:solidFill>
                <a:effectLst/>
                <a:uLnTx/>
                <a:uFillTx/>
                <a:latin typeface="Times New Roman" panose="02020603050405020304" pitchFamily="18" charset="0"/>
                <a:cs typeface="Times New Roman" panose="02020603050405020304" pitchFamily="18" charset="0"/>
                <a:sym typeface="Segoe UI"/>
              </a:rPr>
              <a:t>reading</a:t>
            </a:r>
            <a:endParaRPr kumimoji="0" lang="en-US" sz="4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509200"/>
          </a:xfrm>
          <a:prstGeom prst="rect">
            <a:avLst/>
          </a:prstGeom>
        </p:spPr>
        <p:txBody>
          <a:bodyPr wrap="square">
            <a:spAutoFit/>
          </a:bodyPr>
          <a:lstStyle/>
          <a:p>
            <a:pPr lvl="0" algn="just"/>
            <a:r>
              <a:rPr lang="en-US" sz="3200" b="1" dirty="0">
                <a:solidFill>
                  <a:srgbClr val="7030A0"/>
                </a:solidFill>
                <a:latin typeface="Roboto"/>
              </a:rPr>
              <a:t>Sensor </a:t>
            </a:r>
            <a:r>
              <a:rPr lang="en-US" sz="3200" b="1" dirty="0" smtClean="0">
                <a:solidFill>
                  <a:srgbClr val="7030A0"/>
                </a:solidFill>
                <a:latin typeface="Roboto"/>
              </a:rPr>
              <a:t>Values</a:t>
            </a:r>
          </a:p>
          <a:p>
            <a:pPr marL="571500" lvl="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visualize live sensor values by </a:t>
            </a:r>
            <a:r>
              <a:rPr lang="en-US" sz="3200" dirty="0" smtClean="0">
                <a:solidFill>
                  <a:srgbClr val="333333"/>
                </a:solidFill>
                <a:latin typeface="Roboto"/>
              </a:rPr>
              <a:t>filling </a:t>
            </a:r>
            <a:r>
              <a:rPr lang="en-US" sz="3200" dirty="0">
                <a:solidFill>
                  <a:srgbClr val="333333"/>
                </a:solidFill>
                <a:latin typeface="Roboto"/>
              </a:rPr>
              <a:t>in the point, bar, or volume.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discrete values, if a ’zero’ is read, the point is rendered in 0% opacity and if a ’one’ is read, it is rendered in 100% opacity.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a:t>
            </a:r>
            <a:r>
              <a:rPr lang="en-US" sz="3200" dirty="0" smtClean="0">
                <a:solidFill>
                  <a:srgbClr val="333333"/>
                </a:solidFill>
                <a:latin typeface="Roboto"/>
              </a:rPr>
              <a:t>differentiate </a:t>
            </a:r>
            <a:r>
              <a:rPr lang="en-US" sz="3200" dirty="0">
                <a:solidFill>
                  <a:srgbClr val="333333"/>
                </a:solidFill>
                <a:latin typeface="Roboto"/>
              </a:rPr>
              <a:t>between a ’zero’ reading and ’no data’ using the text label that shows the current value. </a:t>
            </a:r>
            <a:endParaRPr lang="en-US" sz="3200" dirty="0" smtClean="0">
              <a:solidFill>
                <a:srgbClr val="333333"/>
              </a:solidFill>
              <a:latin typeface="Roboto"/>
            </a:endParaRPr>
          </a:p>
          <a:p>
            <a:pPr marL="571500" lvl="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continuous values, the larger the received sensor values, the more of the bar or the volume is rendered in 100% opacity.</a:t>
            </a:r>
            <a:endParaRPr kumimoji="0" lang="en-IN" sz="3200" b="0" i="0" u="none" strike="noStrike" kern="0" cap="none" spc="0" normalizeH="0" baseline="0" noProof="0" dirty="0">
              <a:ln>
                <a:noFill/>
              </a:ln>
              <a:solidFill>
                <a:srgbClr val="000000"/>
              </a:solidFill>
              <a:effectLst/>
              <a:uLnTx/>
              <a:uFillTx/>
              <a:latin typeface="Calibri"/>
              <a:ea typeface="Calibri" panose="020F0502020204030204" pitchFamily="34" charset="0"/>
              <a:cs typeface="Calibri" panose="020F0502020204030204" pitchFamily="34" charset="0"/>
              <a:sym typeface="Segoe UI"/>
            </a:endParaRPr>
          </a:p>
        </p:txBody>
      </p:sp>
    </p:spTree>
    <p:extLst>
      <p:ext uri="{BB962C8B-B14F-4D97-AF65-F5344CB8AC3E}">
        <p14:creationId xmlns:p14="http://schemas.microsoft.com/office/powerpoint/2010/main" val="1390636030"/>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19</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031873"/>
          </a:xfrm>
          <a:prstGeom prst="rect">
            <a:avLst/>
          </a:prstGeom>
        </p:spPr>
        <p:txBody>
          <a:bodyPr wrap="square">
            <a:spAutoFit/>
          </a:bodyPr>
          <a:lstStyle/>
          <a:p>
            <a:pPr algn="just"/>
            <a:r>
              <a:rPr lang="en-US" sz="3200" b="1" dirty="0">
                <a:solidFill>
                  <a:srgbClr val="7030A0"/>
                </a:solidFill>
                <a:latin typeface="Roboto"/>
              </a:rPr>
              <a:t>Textual </a:t>
            </a:r>
            <a:r>
              <a:rPr lang="en-US" sz="3200" b="1" dirty="0" smtClean="0">
                <a:solidFill>
                  <a:srgbClr val="7030A0"/>
                </a:solidFill>
                <a:latin typeface="Roboto"/>
              </a:rPr>
              <a:t>information</a:t>
            </a:r>
          </a:p>
          <a:p>
            <a:pPr marL="571500" indent="-571500" algn="just">
              <a:buFont typeface="Arial" panose="020B0604020202020204" pitchFamily="34" charset="0"/>
              <a:buChar char="•"/>
            </a:pPr>
            <a:r>
              <a:rPr lang="en-US" sz="3200" dirty="0" smtClean="0">
                <a:solidFill>
                  <a:srgbClr val="333333"/>
                </a:solidFill>
                <a:latin typeface="Roboto"/>
              </a:rPr>
              <a:t>We </a:t>
            </a:r>
            <a:r>
              <a:rPr lang="en-US" sz="3200" dirty="0">
                <a:solidFill>
                  <a:srgbClr val="333333"/>
                </a:solidFill>
                <a:latin typeface="Roboto"/>
              </a:rPr>
              <a:t>use labels to display the range (min/max), the resolution, and the current sensor value.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For </a:t>
            </a:r>
            <a:r>
              <a:rPr lang="en-US" sz="3200" dirty="0">
                <a:solidFill>
                  <a:srgbClr val="333333"/>
                </a:solidFill>
                <a:latin typeface="Roboto"/>
              </a:rPr>
              <a:t>directional data, we also label the axes information, and for volumetric data, we label the angle of the </a:t>
            </a:r>
            <a:r>
              <a:rPr lang="en-US" sz="3200" dirty="0" err="1">
                <a:solidFill>
                  <a:srgbClr val="333333"/>
                </a:solidFill>
                <a:latin typeface="Roboto"/>
              </a:rPr>
              <a:t>feld</a:t>
            </a:r>
            <a:r>
              <a:rPr lang="en-US" sz="3200" dirty="0">
                <a:solidFill>
                  <a:srgbClr val="333333"/>
                </a:solidFill>
                <a:latin typeface="Roboto"/>
              </a:rPr>
              <a:t> of view. </a:t>
            </a:r>
            <a:endParaRPr lang="en-US" sz="3200" dirty="0" smtClean="0">
              <a:solidFill>
                <a:srgbClr val="333333"/>
              </a:solidFill>
              <a:latin typeface="Roboto"/>
            </a:endParaRPr>
          </a:p>
          <a:p>
            <a:pPr marL="571500" indent="-571500" algn="just">
              <a:buFont typeface="Arial" panose="020B0604020202020204" pitchFamily="34" charset="0"/>
              <a:buChar char="•"/>
            </a:pPr>
            <a:r>
              <a:rPr lang="en-US" sz="3200" dirty="0" smtClean="0">
                <a:solidFill>
                  <a:srgbClr val="333333"/>
                </a:solidFill>
                <a:latin typeface="Roboto"/>
              </a:rPr>
              <a:t>Makers </a:t>
            </a:r>
            <a:r>
              <a:rPr lang="en-US" sz="3200" dirty="0">
                <a:solidFill>
                  <a:srgbClr val="333333"/>
                </a:solidFill>
                <a:latin typeface="Roboto"/>
              </a:rPr>
              <a:t>can choose in the user interface which information they want to display.</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0947490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20</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45088" y="1762117"/>
            <a:ext cx="11148348" cy="3073017"/>
          </a:xfrm>
          <a:prstGeom prst="rect">
            <a:avLst/>
          </a:prstGeom>
          <a:ln w="28575">
            <a:solidFill>
              <a:schemeClr val="tx1"/>
            </a:solidFill>
          </a:ln>
        </p:spPr>
      </p:pic>
    </p:spTree>
    <p:extLst>
      <p:ext uri="{BB962C8B-B14F-4D97-AF65-F5344CB8AC3E}">
        <p14:creationId xmlns:p14="http://schemas.microsoft.com/office/powerpoint/2010/main" val="3845610285"/>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21</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b="1" dirty="0">
                <a:solidFill>
                  <a:srgbClr val="7030A0"/>
                </a:solidFill>
                <a:latin typeface="Roboto"/>
              </a:rPr>
              <a:t>Additional Visualizations </a:t>
            </a:r>
            <a:r>
              <a:rPr lang="en-US" sz="3200" b="1" dirty="0" smtClean="0">
                <a:solidFill>
                  <a:srgbClr val="7030A0"/>
                </a:solidFill>
                <a:latin typeface="Roboto"/>
              </a:rPr>
              <a:t>Attributes:</a:t>
            </a:r>
          </a:p>
        </p:txBody>
      </p:sp>
      <p:pic>
        <p:nvPicPr>
          <p:cNvPr id="3" name="Picture 2"/>
          <p:cNvPicPr>
            <a:picLocks noChangeAspect="1"/>
          </p:cNvPicPr>
          <p:nvPr/>
        </p:nvPicPr>
        <p:blipFill>
          <a:blip r:embed="rId2"/>
          <a:stretch>
            <a:fillRect/>
          </a:stretch>
        </p:blipFill>
        <p:spPr>
          <a:xfrm>
            <a:off x="3229876" y="1843348"/>
            <a:ext cx="6113019" cy="4601376"/>
          </a:xfrm>
          <a:prstGeom prst="rect">
            <a:avLst/>
          </a:prstGeom>
          <a:ln w="28575">
            <a:solidFill>
              <a:schemeClr val="tx1"/>
            </a:solidFill>
          </a:ln>
        </p:spPr>
      </p:pic>
    </p:spTree>
    <p:extLst>
      <p:ext uri="{BB962C8B-B14F-4D97-AF65-F5344CB8AC3E}">
        <p14:creationId xmlns:p14="http://schemas.microsoft.com/office/powerpoint/2010/main" val="3878508155"/>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22</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pic>
        <p:nvPicPr>
          <p:cNvPr id="3" name="Picture 2"/>
          <p:cNvPicPr>
            <a:picLocks noChangeAspect="1"/>
          </p:cNvPicPr>
          <p:nvPr/>
        </p:nvPicPr>
        <p:blipFill>
          <a:blip r:embed="rId2"/>
          <a:stretch>
            <a:fillRect/>
          </a:stretch>
        </p:blipFill>
        <p:spPr>
          <a:xfrm>
            <a:off x="556000" y="1879063"/>
            <a:ext cx="10880564" cy="3590085"/>
          </a:xfrm>
          <a:prstGeom prst="rect">
            <a:avLst/>
          </a:prstGeom>
          <a:ln w="28575">
            <a:solidFill>
              <a:schemeClr val="tx1"/>
            </a:solidFill>
          </a:ln>
        </p:spPr>
      </p:pic>
    </p:spTree>
    <p:extLst>
      <p:ext uri="{BB962C8B-B14F-4D97-AF65-F5344CB8AC3E}">
        <p14:creationId xmlns:p14="http://schemas.microsoft.com/office/powerpoint/2010/main" val="4111425394"/>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23</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2.1 Transforming </a:t>
            </a:r>
            <a:r>
              <a:rPr lang="en-US" sz="4000" dirty="0">
                <a:latin typeface="Times New Roman" panose="02020603050405020304" pitchFamily="18" charset="0"/>
                <a:cs typeface="Times New Roman" panose="02020603050405020304" pitchFamily="18" charset="0"/>
              </a:rPr>
              <a:t>sensor </a:t>
            </a:r>
            <a:r>
              <a:rPr lang="en-US" sz="4000" dirty="0" smtClean="0">
                <a:latin typeface="Times New Roman" panose="02020603050405020304" pitchFamily="18" charset="0"/>
                <a:cs typeface="Times New Roman" panose="02020603050405020304" pitchFamily="18" charset="0"/>
              </a:rPr>
              <a:t>reading</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4278094"/>
          </a:xfrm>
          <a:prstGeom prst="rect">
            <a:avLst/>
          </a:prstGeom>
        </p:spPr>
        <p:txBody>
          <a:bodyPr wrap="square">
            <a:spAutoFit/>
          </a:bodyPr>
          <a:lstStyle/>
          <a:p>
            <a:pPr algn="just"/>
            <a:r>
              <a:rPr lang="en-US" sz="4000" b="1" dirty="0" smtClean="0">
                <a:solidFill>
                  <a:srgbClr val="00B050"/>
                </a:solidFill>
                <a:latin typeface="Lato"/>
              </a:rPr>
              <a:t>Steps to transform sensor reading:</a:t>
            </a:r>
          </a:p>
          <a:p>
            <a:pPr algn="just"/>
            <a:endParaRPr lang="en-US" sz="4000" b="1" dirty="0" smtClean="0">
              <a:solidFill>
                <a:srgbClr val="00B050"/>
              </a:solidFill>
              <a:latin typeface="Lato"/>
            </a:endParaRPr>
          </a:p>
          <a:p>
            <a:pPr marL="571500" indent="-571500" algn="just">
              <a:buFont typeface="+mj-lt"/>
              <a:buAutoNum type="arabicPeriod"/>
            </a:pPr>
            <a:r>
              <a:rPr lang="en-US" sz="3200" b="1" dirty="0">
                <a:solidFill>
                  <a:srgbClr val="333333"/>
                </a:solidFill>
                <a:latin typeface="Roboto"/>
              </a:rPr>
              <a:t>Loading Sensor Information from Sensor </a:t>
            </a:r>
            <a:r>
              <a:rPr lang="en-US" sz="3200" b="1" dirty="0" smtClean="0">
                <a:solidFill>
                  <a:srgbClr val="333333"/>
                </a:solidFill>
                <a:latin typeface="Roboto"/>
              </a:rPr>
              <a:t>Database</a:t>
            </a:r>
          </a:p>
          <a:p>
            <a:pPr marL="571500" indent="-571500" algn="just">
              <a:buFont typeface="+mj-lt"/>
              <a:buAutoNum type="arabicPeriod"/>
            </a:pPr>
            <a:r>
              <a:rPr lang="en-US" sz="3200" b="1" dirty="0">
                <a:solidFill>
                  <a:srgbClr val="333333"/>
                </a:solidFill>
                <a:latin typeface="Roboto"/>
              </a:rPr>
              <a:t>Visualizing Sensor </a:t>
            </a:r>
            <a:r>
              <a:rPr lang="en-US" sz="3200" b="1" dirty="0" smtClean="0">
                <a:solidFill>
                  <a:srgbClr val="333333"/>
                </a:solidFill>
                <a:latin typeface="Roboto"/>
              </a:rPr>
              <a:t>Data</a:t>
            </a:r>
          </a:p>
          <a:p>
            <a:pPr marL="571500" indent="-571500" algn="just">
              <a:buFont typeface="+mj-lt"/>
              <a:buAutoNum type="arabicPeriod"/>
            </a:pPr>
            <a:r>
              <a:rPr lang="en-US" sz="3200" b="1" dirty="0" smtClean="0">
                <a:solidFill>
                  <a:srgbClr val="333333"/>
                </a:solidFill>
                <a:latin typeface="Roboto"/>
              </a:rPr>
              <a:t>Augmented Reality visualization</a:t>
            </a:r>
          </a:p>
          <a:p>
            <a:pPr marL="571500" indent="-571500" algn="just">
              <a:buFont typeface="+mj-lt"/>
              <a:buAutoNum type="arabicPeriod"/>
            </a:pPr>
            <a:r>
              <a:rPr lang="en-US" sz="3200" b="1" dirty="0">
                <a:solidFill>
                  <a:srgbClr val="333333"/>
                </a:solidFill>
                <a:latin typeface="Roboto"/>
              </a:rPr>
              <a:t>Reading Live Sensor </a:t>
            </a:r>
            <a:r>
              <a:rPr lang="en-US" sz="3200" b="1" dirty="0" smtClean="0">
                <a:solidFill>
                  <a:srgbClr val="333333"/>
                </a:solidFill>
                <a:latin typeface="Roboto"/>
              </a:rPr>
              <a:t>Values</a:t>
            </a:r>
            <a:endParaRPr lang="en-US" sz="3200" b="1" dirty="0">
              <a:solidFill>
                <a:srgbClr val="333333"/>
              </a:solidFill>
              <a:latin typeface="Roboto"/>
            </a:endParaRPr>
          </a:p>
          <a:p>
            <a:pPr marL="571500" indent="-571500" algn="just">
              <a:buFont typeface="+mj-lt"/>
              <a:buAutoNum type="arabicPeriod"/>
            </a:pPr>
            <a:r>
              <a:rPr lang="en-US" sz="3200" b="1" dirty="0">
                <a:solidFill>
                  <a:srgbClr val="333333"/>
                </a:solidFill>
                <a:latin typeface="Roboto"/>
              </a:rPr>
              <a:t>Recording Sensing </a:t>
            </a:r>
            <a:r>
              <a:rPr lang="en-US" sz="3200" b="1" dirty="0" smtClean="0">
                <a:solidFill>
                  <a:srgbClr val="333333"/>
                </a:solidFill>
                <a:latin typeface="Roboto"/>
              </a:rPr>
              <a:t>Data</a:t>
            </a:r>
          </a:p>
          <a:p>
            <a:pPr marL="571500" indent="-571500" algn="just">
              <a:buFont typeface="+mj-lt"/>
              <a:buAutoNum type="arabicPeriod"/>
            </a:pPr>
            <a:r>
              <a:rPr lang="en-US" sz="3200" b="1" dirty="0">
                <a:solidFill>
                  <a:srgbClr val="333333"/>
                </a:solidFill>
                <a:latin typeface="Roboto"/>
              </a:rPr>
              <a:t>Sensing Area </a:t>
            </a:r>
            <a:r>
              <a:rPr lang="en-US" sz="3200" b="1" dirty="0" smtClean="0">
                <a:solidFill>
                  <a:srgbClr val="333333"/>
                </a:solidFill>
                <a:latin typeface="Roboto"/>
              </a:rPr>
              <a:t>Overlap</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093759"/>
      </p:ext>
    </p:extLst>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24</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2.2 Mapping SONAR Data</a:t>
            </a:r>
            <a:endParaRPr kumimoji="0" lang="en-US" sz="4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Segoe UI"/>
            </a:endParaRPr>
          </a:p>
        </p:txBody>
      </p:sp>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Advances in technology have since enabled the deployment of Remotely Operated Vehicles (ROVs) and Autonomous Underwater Vehicles (AUVs), which have revolutionized ocean exploration by automating complex tasks and reducing dependence on human </a:t>
            </a:r>
            <a:r>
              <a:rPr lang="en-US" sz="3000" dirty="0" smtClean="0">
                <a:latin typeface="Times New Roman" panose="02020603050405020304" pitchFamily="18" charset="0"/>
                <a:ea typeface="Times New Roman" panose="02020603050405020304" pitchFamily="18" charset="0"/>
              </a:rPr>
              <a:t>operators.</a:t>
            </a: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Despite these technological advancements,</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underwater</a:t>
            </a:r>
            <a:r>
              <a:rPr lang="en-US" sz="3000" spc="20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navigation and object detection remain challenging due to the limitations of optical sensors. </a:t>
            </a:r>
            <a:endParaRPr lang="en-US" sz="30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Times New Roman" panose="02020603050405020304" pitchFamily="18" charset="0"/>
              </a:rPr>
              <a:t>Water turbidity, light attenuation, and scattering severely degrade visual data quality,</a:t>
            </a:r>
            <a:r>
              <a:rPr lang="en-US" sz="3000" spc="18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making</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camera-based</a:t>
            </a:r>
            <a:r>
              <a:rPr lang="en-US" sz="3000" spc="19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imaging</a:t>
            </a:r>
            <a:r>
              <a:rPr lang="en-US" sz="3000" spc="21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unreliable</a:t>
            </a:r>
            <a:r>
              <a:rPr lang="en-US" sz="3000" spc="19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in</a:t>
            </a:r>
            <a:r>
              <a:rPr lang="en-US" sz="3000" spc="160"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most</a:t>
            </a:r>
            <a:r>
              <a:rPr lang="en-US" sz="3000" spc="155" dirty="0">
                <a:latin typeface="Times New Roman" panose="02020603050405020304" pitchFamily="18" charset="0"/>
                <a:ea typeface="Times New Roman" panose="02020603050405020304" pitchFamily="18" charset="0"/>
              </a:rPr>
              <a:t> </a:t>
            </a:r>
            <a:r>
              <a:rPr lang="en-US" sz="3000" dirty="0">
                <a:latin typeface="Times New Roman" panose="02020603050405020304" pitchFamily="18" charset="0"/>
                <a:ea typeface="Times New Roman" panose="02020603050405020304" pitchFamily="18" charset="0"/>
              </a:rPr>
              <a:t>sub-sea</a:t>
            </a:r>
            <a:r>
              <a:rPr lang="en-US" sz="3000" spc="140" dirty="0">
                <a:latin typeface="Times New Roman" panose="02020603050405020304" pitchFamily="18" charset="0"/>
                <a:ea typeface="Times New Roman" panose="02020603050405020304" pitchFamily="18" charset="0"/>
              </a:rPr>
              <a:t> </a:t>
            </a:r>
            <a:r>
              <a:rPr lang="en-US" sz="3000" dirty="0" smtClean="0">
                <a:latin typeface="Times New Roman" panose="02020603050405020304" pitchFamily="18" charset="0"/>
                <a:ea typeface="Times New Roman" panose="02020603050405020304" pitchFamily="18" charset="0"/>
              </a:rPr>
              <a:t>operations</a:t>
            </a:r>
            <a:r>
              <a:rPr lang="en-US" sz="3000" spc="180" dirty="0" smtClean="0">
                <a:latin typeface="Times New Roman" panose="02020603050405020304" pitchFamily="18" charset="0"/>
                <a:ea typeface="Times New Roman" panose="02020603050405020304" pitchFamily="18" charset="0"/>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1389373"/>
      </p:ext>
    </p:extLst>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25</a:t>
            </a:fld>
            <a:endParaRPr dirty="0"/>
          </a:p>
        </p:txBody>
      </p:sp>
      <p:sp>
        <p:nvSpPr>
          <p:cNvPr id="6" name="Content Placeholder 2">
            <a:extLst>
              <a:ext uri="{FF2B5EF4-FFF2-40B4-BE49-F238E27FC236}">
                <a16:creationId xmlns:a16="http://schemas.microsoft.com/office/drawing/2014/main" id="{F09161A3-12A6-D71A-658B-FAA0AFBC9830}"/>
              </a:ext>
            </a:extLst>
          </p:cNvPr>
          <p:cNvSpPr txBox="1">
            <a:spLocks/>
          </p:cNvSpPr>
          <p:nvPr/>
        </p:nvSpPr>
        <p:spPr>
          <a:xfrm>
            <a:off x="476077" y="2674620"/>
            <a:ext cx="11407140" cy="3770104"/>
          </a:xfrm>
          <a:prstGeom prst="rect">
            <a:avLst/>
          </a:prstGeom>
        </p:spPr>
        <p:txBody>
          <a:bodyPr>
            <a:normAutofit/>
          </a:bodyPr>
          <a:lstStyle>
            <a:lvl1pPr marL="228600" marR="0" indent="-228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1pPr>
            <a:lvl2pPr marL="723900" marR="0" indent="-2667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2pPr>
            <a:lvl3pPr marL="1234439" marR="0" indent="-320039"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3pPr>
            <a:lvl4pPr marL="1727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4pPr>
            <a:lvl5pPr marL="21844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5pPr>
            <a:lvl6pPr marL="26416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6pPr>
            <a:lvl7pPr marL="30988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7pPr>
            <a:lvl8pPr marL="35560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8pPr>
            <a:lvl9pPr marL="4013200" marR="0" indent="-355600" algn="l" defTabSz="914400"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n-lt"/>
                <a:ea typeface="+mn-ea"/>
                <a:cs typeface="+mn-cs"/>
                <a:sym typeface="Segoe UI"/>
              </a:defRPr>
            </a:lvl9pPr>
          </a:lstStyle>
          <a:p>
            <a:pPr lvl="0" algn="just" eaLnBrk="0" hangingPunct="1">
              <a:lnSpc>
                <a:spcPct val="150000"/>
              </a:lnSpc>
              <a:buFont typeface="Arial" panose="020B0604020202020204" pitchFamily="34" charset="0"/>
              <a:buChar char="•"/>
              <a:defRPr/>
            </a:pPr>
            <a:endParaRPr lang="en-US" altLang="en-US" sz="2500" b="1" dirty="0">
              <a:solidFill>
                <a:srgbClr val="00B050"/>
              </a:solidFill>
            </a:endParaRPr>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a:t>
            </a:r>
            <a:r>
              <a:rPr lang="en-US" sz="4000" dirty="0" smtClean="0">
                <a:latin typeface="Times New Roman" panose="02020603050405020304" pitchFamily="18" charset="0"/>
                <a:cs typeface="Times New Roman" panose="02020603050405020304" pitchFamily="18" charset="0"/>
              </a:rPr>
              <a:t>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i="1" dirty="0">
                <a:latin typeface="Times New Roman" panose="02020603050405020304" pitchFamily="18" charset="0"/>
                <a:ea typeface="Times New Roman" panose="02020603050405020304" pitchFamily="18" charset="0"/>
              </a:rPr>
              <a:t>single-beam </a:t>
            </a:r>
            <a:r>
              <a:rPr lang="en-US" sz="3200" dirty="0">
                <a:latin typeface="Times New Roman" panose="02020603050405020304" pitchFamily="18" charset="0"/>
                <a:ea typeface="Times New Roman" panose="02020603050405020304" pitchFamily="18" charset="0"/>
              </a:rPr>
              <a:t>and </a:t>
            </a:r>
            <a:r>
              <a:rPr lang="en-US" sz="3200" i="1" dirty="0">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Multi-beam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p:txBody>
      </p:sp>
    </p:spTree>
    <p:extLst>
      <p:ext uri="{BB962C8B-B14F-4D97-AF65-F5344CB8AC3E}">
        <p14:creationId xmlns:p14="http://schemas.microsoft.com/office/powerpoint/2010/main" val="1883460215"/>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26</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 technology has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emerged as a viable solution for underwater detection and navigation, as</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it</a:t>
            </a:r>
            <a:r>
              <a:rPr lang="en-US" sz="3200" spc="-2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operates using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acoustic waves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that</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can penetrate murky waters and function</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independently </a:t>
            </a:r>
            <a:r>
              <a:rPr lang="en-US" sz="3200" dirty="0" smtClean="0">
                <a:latin typeface="Times New Roman" panose="02020603050405020304" pitchFamily="18" charset="0"/>
                <a:ea typeface="Times New Roman" panose="02020603050405020304" pitchFamily="18" charset="0"/>
              </a:rPr>
              <a:t>at</a:t>
            </a:r>
            <a:r>
              <a:rPr lang="en-US" sz="3200" i="1" spc="-10"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ambient lighting</a:t>
            </a:r>
            <a:r>
              <a:rPr lang="en-US" sz="3200" spc="-1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conditions.</a:t>
            </a:r>
          </a:p>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Sonar</a:t>
            </a:r>
            <a:r>
              <a:rPr lang="en-US" sz="3200" spc="-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systems</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are</a:t>
            </a:r>
            <a:r>
              <a:rPr lang="en-US" sz="3200" spc="-6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generally </a:t>
            </a:r>
            <a:r>
              <a:rPr lang="en-US" sz="3200" dirty="0">
                <a:latin typeface="Times New Roman" panose="02020603050405020304" pitchFamily="18" charset="0"/>
                <a:ea typeface="Times New Roman" panose="02020603050405020304" pitchFamily="18" charset="0"/>
              </a:rPr>
              <a:t>categorized into </a:t>
            </a:r>
            <a:r>
              <a:rPr lang="en-US" sz="3200" b="1" i="1" dirty="0">
                <a:solidFill>
                  <a:srgbClr val="00B050"/>
                </a:solidFill>
                <a:latin typeface="Times New Roman" panose="02020603050405020304" pitchFamily="18" charset="0"/>
                <a:ea typeface="Times New Roman" panose="02020603050405020304" pitchFamily="18" charset="0"/>
              </a:rPr>
              <a:t>single-beam </a:t>
            </a:r>
            <a:r>
              <a:rPr lang="en-US" sz="3200" b="1" dirty="0">
                <a:solidFill>
                  <a:srgbClr val="00B050"/>
                </a:solidFill>
                <a:latin typeface="Times New Roman" panose="02020603050405020304" pitchFamily="18" charset="0"/>
                <a:ea typeface="Times New Roman" panose="02020603050405020304" pitchFamily="18" charset="0"/>
              </a:rPr>
              <a:t>and </a:t>
            </a:r>
            <a:r>
              <a:rPr lang="en-US" sz="3200" b="1" i="1" dirty="0">
                <a:solidFill>
                  <a:srgbClr val="00B050"/>
                </a:solidFill>
                <a:latin typeface="Times New Roman" panose="02020603050405020304" pitchFamily="18" charset="0"/>
                <a:ea typeface="Times New Roman" panose="02020603050405020304" pitchFamily="18" charset="0"/>
              </a:rPr>
              <a:t>multi-beam </a:t>
            </a:r>
            <a:r>
              <a:rPr lang="en-US" sz="3200" dirty="0">
                <a:latin typeface="Times New Roman" panose="02020603050405020304" pitchFamily="18" charset="0"/>
                <a:ea typeface="Times New Roman" panose="02020603050405020304" pitchFamily="18" charset="0"/>
              </a:rPr>
              <a:t>types</a:t>
            </a:r>
            <a:r>
              <a:rPr lang="en-US" sz="320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b="1" dirty="0">
                <a:solidFill>
                  <a:srgbClr val="00B050"/>
                </a:solidFill>
                <a:latin typeface="Times New Roman" panose="02020603050405020304" pitchFamily="18" charset="0"/>
                <a:ea typeface="Times New Roman" panose="02020603050405020304" pitchFamily="18" charset="0"/>
              </a:rPr>
              <a:t>Multi-beam</a:t>
            </a:r>
            <a:r>
              <a:rPr lang="en-US" sz="3200" dirty="0">
                <a:latin typeface="Times New Roman" panose="02020603050405020304" pitchFamily="18" charset="0"/>
                <a:ea typeface="Times New Roman" panose="02020603050405020304" pitchFamily="18" charset="0"/>
              </a:rPr>
              <a:t> sonars </a:t>
            </a:r>
            <a:r>
              <a:rPr lang="en-US" sz="3200" dirty="0" smtClean="0">
                <a:latin typeface="Times New Roman" panose="02020603050405020304" pitchFamily="18" charset="0"/>
                <a:ea typeface="Times New Roman" panose="02020603050405020304" pitchFamily="18" charset="0"/>
              </a:rPr>
              <a:t>provide </a:t>
            </a:r>
            <a:r>
              <a:rPr lang="en-US" sz="3200" dirty="0">
                <a:latin typeface="Times New Roman" panose="02020603050405020304" pitchFamily="18" charset="0"/>
                <a:ea typeface="Times New Roman" panose="02020603050405020304" pitchFamily="18" charset="0"/>
              </a:rPr>
              <a:t>extensive spatial coverage and high-resolution 3D reconstructions, but their cost</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and</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complexity limit</a:t>
            </a:r>
            <a:r>
              <a:rPr lang="en-US" sz="3200" spc="-4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accessibility</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for</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smaller</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research or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commercial</a:t>
            </a:r>
            <a:r>
              <a:rPr lang="en-US" sz="3200" spc="30" dirty="0">
                <a:latin typeface="Times New Roman" panose="02020603050405020304" pitchFamily="18" charset="0"/>
                <a:ea typeface="Times New Roman" panose="02020603050405020304" pitchFamily="18" charset="0"/>
              </a:rPr>
              <a:t> </a:t>
            </a:r>
            <a:r>
              <a:rPr lang="en-US" sz="3200" dirty="0" smtClean="0">
                <a:latin typeface="Times New Roman" panose="02020603050405020304" pitchFamily="18" charset="0"/>
                <a:ea typeface="Times New Roman" panose="02020603050405020304" pitchFamily="18" charset="0"/>
              </a:rPr>
              <a:t>platforms.</a:t>
            </a: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4319044"/>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27</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Times New Roman" panose="02020603050405020304" pitchFamily="18" charset="0"/>
              </a:rPr>
              <a:t>Single-beam</a:t>
            </a:r>
            <a:r>
              <a:rPr lang="en-US" sz="3200" spc="115" dirty="0" smtClean="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sonars—such</a:t>
            </a:r>
            <a:r>
              <a:rPr lang="en-US" sz="3200" spc="1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as the Blue Robotics Ping360—employ</a:t>
            </a:r>
            <a:r>
              <a:rPr lang="en-US" sz="3200" spc="20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mechanically rotating transducer to</a:t>
            </a:r>
            <a:r>
              <a:rPr lang="en-US" sz="3200" spc="-3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sweep across</a:t>
            </a:r>
            <a:r>
              <a:rPr lang="en-US" sz="3200" spc="-2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a</a:t>
            </a:r>
            <a:r>
              <a:rPr lang="en-US" sz="3200" spc="-3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specified range,</a:t>
            </a:r>
            <a:r>
              <a:rPr lang="en-US" sz="3200" spc="-1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generating 2D polar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representations</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surrounding</a:t>
            </a:r>
            <a:r>
              <a:rPr lang="en-US" sz="3200" spc="-1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environment.</a:t>
            </a:r>
            <a:r>
              <a:rPr lang="en-US" sz="3200" spc="-40" dirty="0">
                <a:latin typeface="Times New Roman" panose="02020603050405020304" pitchFamily="18" charset="0"/>
                <a:ea typeface="Times New Roman" panose="02020603050405020304" pitchFamily="18" charset="0"/>
              </a:rPr>
              <a:t> </a:t>
            </a:r>
            <a:endParaRPr lang="en-US" sz="320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scanned</a:t>
            </a:r>
            <a:r>
              <a:rPr lang="en-US" sz="3200" spc="1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 environment</a:t>
            </a:r>
            <a:r>
              <a:rPr lang="en-US" sz="3200" spc="1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incrementally,</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recording</a:t>
            </a:r>
            <a:r>
              <a:rPr lang="en-US" sz="3200" spc="9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intensity</a:t>
            </a:r>
            <a:r>
              <a:rPr lang="en-US" sz="3200" spc="1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within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 range</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0-255 at each angular</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position. </a:t>
            </a:r>
            <a:endParaRPr lang="en-US" sz="3200" spc="-1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These </a:t>
            </a:r>
            <a:r>
              <a:rPr lang="en-US" sz="3200" spc="-1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values represent the</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strength</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acoustic</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reflections</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field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view.</a:t>
            </a:r>
            <a:r>
              <a:rPr lang="en-US" sz="3200" spc="-20" dirty="0">
                <a:latin typeface="Times New Roman" panose="02020603050405020304" pitchFamily="18" charset="0"/>
                <a:ea typeface="Times New Roman" panose="02020603050405020304" pitchFamily="18" charset="0"/>
              </a:rPr>
              <a:t>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15"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raw Ping360</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sonar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output</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inherently</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represented</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1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versus bearing).</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26698771"/>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28</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Each</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corresponds</a:t>
            </a:r>
            <a:r>
              <a:rPr lang="en-US" sz="3200" spc="7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2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specific</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bearing</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angle,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and</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each</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range</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bin </a:t>
            </a:r>
            <a:r>
              <a:rPr lang="en-US" sz="3200" spc="-20" dirty="0">
                <a:latin typeface="Times New Roman" panose="02020603050405020304" pitchFamily="18" charset="0"/>
                <a:ea typeface="Times New Roman" panose="02020603050405020304" pitchFamily="18" charset="0"/>
              </a:rPr>
              <a:t>encodes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 reflected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amplitude. </a:t>
            </a:r>
            <a:endParaRPr lang="en-US" sz="3200" spc="-20"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For</a:t>
            </a:r>
            <a:r>
              <a:rPr lang="en-US" sz="3200" spc="-25"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interpretability and machine learning analysis, these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polar</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are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converted</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into</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Cartesian</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occupancy</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maps,</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where both axes</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rep- </a:t>
            </a:r>
            <a:r>
              <a:rPr lang="en-US" sz="3200" spc="-10" dirty="0">
                <a:latin typeface="Times New Roman" panose="02020603050405020304" pitchFamily="18" charset="0"/>
                <a:ea typeface="Times New Roman" panose="02020603050405020304" pitchFamily="18" charset="0"/>
              </a:rPr>
              <a:t>resent</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spatial</a:t>
            </a:r>
            <a:r>
              <a:rPr lang="en-US" sz="3200" spc="6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distance</a:t>
            </a:r>
            <a:r>
              <a:rPr lang="en-US" sz="3200" spc="-1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20" dirty="0" smtClean="0">
                <a:latin typeface="Times New Roman" panose="02020603050405020304" pitchFamily="18" charset="0"/>
                <a:ea typeface="Times New Roman" panose="02020603050405020304" pitchFamily="18" charset="0"/>
              </a:rPr>
              <a:t>Signal filtering</a:t>
            </a:r>
            <a:r>
              <a:rPr lang="en-US" sz="3200" spc="-45" dirty="0" smtClean="0">
                <a:latin typeface="Times New Roman" panose="02020603050405020304" pitchFamily="18" charset="0"/>
                <a:ea typeface="Times New Roman" panose="02020603050405020304" pitchFamily="18" charset="0"/>
              </a:rPr>
              <a:t> </a:t>
            </a:r>
            <a:r>
              <a:rPr lang="en-US" sz="3200" spc="-20" dirty="0" smtClean="0">
                <a:latin typeface="Times New Roman" panose="02020603050405020304" pitchFamily="18" charset="0"/>
                <a:ea typeface="Times New Roman" panose="02020603050405020304" pitchFamily="18" charset="0"/>
              </a:rPr>
              <a:t>is used to ensure only</a:t>
            </a:r>
            <a:r>
              <a:rPr lang="en-US" sz="3200" spc="-30" dirty="0" smtClean="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valid</a:t>
            </a:r>
            <a:r>
              <a:rPr lang="en-US" sz="3200" spc="-4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data</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points</a:t>
            </a:r>
            <a:r>
              <a:rPr lang="en-US" sz="3200" spc="-2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within</a:t>
            </a:r>
            <a:r>
              <a:rPr lang="en-US" sz="3200" spc="-1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the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useful</a:t>
            </a:r>
            <a:r>
              <a:rPr lang="en-US" sz="3200" spc="-3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scanning range</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were</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retained</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for</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analysis.</a:t>
            </a:r>
            <a:r>
              <a:rPr lang="en-US" sz="3200" spc="-45" dirty="0">
                <a:latin typeface="Times New Roman" panose="02020603050405020304" pitchFamily="18" charset="0"/>
                <a:ea typeface="Times New Roman" panose="02020603050405020304" pitchFamily="18" charset="0"/>
              </a:rPr>
              <a:t> </a:t>
            </a:r>
            <a:endParaRPr lang="en-US" sz="3200" spc="-45" dirty="0" smtClean="0">
              <a:latin typeface="Times New Roman" panose="02020603050405020304" pitchFamily="18" charset="0"/>
              <a:ea typeface="Times New Roman" panose="02020603050405020304" pitchFamily="18" charset="0"/>
            </a:endParaRPr>
          </a:p>
          <a:p>
            <a:pPr marL="571500" indent="-571500" algn="just">
              <a:buFont typeface="Arial" panose="020B0604020202020204" pitchFamily="34" charset="0"/>
              <a:buChar char="•"/>
            </a:pPr>
            <a:r>
              <a:rPr lang="en-US" sz="3200" spc="-20" dirty="0">
                <a:latin typeface="Times New Roman" panose="02020603050405020304" pitchFamily="18" charset="0"/>
                <a:ea typeface="Times New Roman" panose="02020603050405020304" pitchFamily="18" charset="0"/>
              </a:rPr>
              <a:t>Following this,</a:t>
            </a:r>
            <a:r>
              <a:rPr lang="en-US" sz="3200" spc="-5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a</a:t>
            </a:r>
            <a:r>
              <a:rPr lang="en-US" sz="3200" spc="-45"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statistical threshold approach</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was </a:t>
            </a:r>
            <a:r>
              <a:rPr lang="en-US" sz="3200" dirty="0">
                <a:latin typeface="Times New Roman" panose="02020603050405020304" pitchFamily="18" charset="0"/>
                <a:ea typeface="Times New Roman" panose="02020603050405020304" pitchFamily="18" charset="0"/>
              </a:rPr>
              <a:t>applied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to</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further</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refine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region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of</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interest</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(ROI)</a:t>
            </a:r>
            <a:r>
              <a:rPr lang="en-US" sz="3200" spc="-70" dirty="0">
                <a:latin typeface="Times New Roman" panose="02020603050405020304" pitchFamily="18" charset="0"/>
                <a:ea typeface="Times New Roman" panose="02020603050405020304" pitchFamily="18" charset="0"/>
              </a:rPr>
              <a:t> </a:t>
            </a:r>
            <a:r>
              <a:rPr lang="en-US" sz="3200" spc="-70" dirty="0" smtClean="0">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200" spc="-30" dirty="0">
                <a:latin typeface="Times New Roman" panose="02020603050405020304" pitchFamily="18" charset="0"/>
                <a:ea typeface="Times New Roman" panose="02020603050405020304" pitchFamily="18" charset="0"/>
              </a:rPr>
              <a:t>This</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approach</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ensured</a:t>
            </a:r>
            <a:r>
              <a:rPr lang="en-US" sz="3200"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the</a:t>
            </a:r>
            <a:r>
              <a:rPr lang="en-US" sz="3200" spc="-3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removal</a:t>
            </a:r>
            <a:r>
              <a:rPr lang="en-US" sz="3200" spc="-5" dirty="0">
                <a:latin typeface="Times New Roman" panose="02020603050405020304" pitchFamily="18" charset="0"/>
                <a:ea typeface="Times New Roman" panose="02020603050405020304" pitchFamily="18" charset="0"/>
              </a:rPr>
              <a:t> </a:t>
            </a:r>
            <a:r>
              <a:rPr lang="en-US" sz="3200" spc="-30" dirty="0">
                <a:latin typeface="Times New Roman" panose="02020603050405020304" pitchFamily="18" charset="0"/>
                <a:ea typeface="Times New Roman" panose="02020603050405020304" pitchFamily="18" charset="0"/>
              </a:rPr>
              <a:t>of </a:t>
            </a:r>
            <a:r>
              <a:rPr lang="en-US" sz="3200" spc="-20" dirty="0">
                <a:latin typeface="Times New Roman" panose="02020603050405020304" pitchFamily="18" charset="0"/>
                <a:ea typeface="Times New Roman" panose="02020603050405020304" pitchFamily="18" charset="0"/>
              </a:rPr>
              <a:t>noise while preserving</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significant</a:t>
            </a:r>
            <a:r>
              <a:rPr lang="en-US" sz="3200" dirty="0">
                <a:latin typeface="Times New Roman" panose="02020603050405020304" pitchFamily="18" charset="0"/>
                <a:ea typeface="Times New Roman" panose="02020603050405020304" pitchFamily="18" charset="0"/>
              </a:rPr>
              <a:t> </a:t>
            </a:r>
            <a:r>
              <a:rPr lang="en-US" sz="3200" spc="-20" dirty="0">
                <a:latin typeface="Times New Roman" panose="02020603050405020304" pitchFamily="18" charset="0"/>
                <a:ea typeface="Times New Roman" panose="02020603050405020304" pitchFamily="18" charset="0"/>
              </a:rPr>
              <a:t>reflections from </a:t>
            </a:r>
            <a:r>
              <a:rPr lang="en-US" sz="3200" spc="-20" dirty="0" smtClean="0">
                <a:latin typeface="Times New Roman" panose="02020603050405020304" pitchFamily="18" charset="0"/>
                <a:ea typeface="Times New Roman" panose="02020603050405020304" pitchFamily="18" charset="0"/>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21132056"/>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29</a:t>
            </a:fld>
            <a:endParaRPr dirty="0"/>
          </a:p>
        </p:txBody>
      </p:sp>
      <p:sp>
        <p:nvSpPr>
          <p:cNvPr id="4" name="TextBox 3"/>
          <p:cNvSpPr txBox="1"/>
          <p:nvPr/>
        </p:nvSpPr>
        <p:spPr>
          <a:xfrm>
            <a:off x="2204720" y="454968"/>
            <a:ext cx="770128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2.2 Mapping SONAR Data</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571500" indent="-571500" algn="just">
              <a:buFont typeface="Arial" panose="020B0604020202020204" pitchFamily="34" charset="0"/>
              <a:buChar char="•"/>
            </a:pPr>
            <a:r>
              <a:rPr lang="en-US" sz="3200" spc="-10" dirty="0" smtClean="0">
                <a:latin typeface="Times New Roman" panose="02020603050405020304" pitchFamily="18" charset="0"/>
                <a:ea typeface="Times New Roman" panose="02020603050405020304" pitchFamily="18" charset="0"/>
              </a:rPr>
              <a:t>The</a:t>
            </a:r>
            <a:r>
              <a:rPr lang="en-US" sz="3200" spc="-50" dirty="0" smtClean="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data</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is</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manually inspected and</a:t>
            </a:r>
            <a:r>
              <a:rPr lang="en-US" sz="3200" spc="-2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transformed into</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polar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coordinates and</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converted</a:t>
            </a:r>
            <a:r>
              <a:rPr lang="en-US" sz="3200" spc="-1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into</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a</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grayscale image</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format</a:t>
            </a:r>
            <a:r>
              <a:rPr lang="en-US" sz="3200" spc="-3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for</a:t>
            </a:r>
            <a:r>
              <a:rPr lang="en-US" sz="3200" spc="-3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training the </a:t>
            </a:r>
            <a:r>
              <a:rPr lang="en-US" sz="3200" spc="-10" dirty="0" smtClean="0">
                <a:latin typeface="Times New Roman" panose="02020603050405020304" pitchFamily="18" charset="0"/>
                <a:ea typeface="Times New Roman" panose="02020603050405020304" pitchFamily="18" charset="0"/>
              </a:rPr>
              <a:t>deep learning networks.</a:t>
            </a:r>
          </a:p>
          <a:p>
            <a:pPr marL="571500" indent="-571500" algn="just">
              <a:buFont typeface="Arial" panose="020B0604020202020204" pitchFamily="34" charset="0"/>
              <a:buChar char="•"/>
            </a:pPr>
            <a:r>
              <a:rPr lang="en-US" sz="3200" spc="-10" dirty="0">
                <a:latin typeface="Times New Roman" panose="02020603050405020304" pitchFamily="18" charset="0"/>
                <a:ea typeface="Times New Roman" panose="02020603050405020304" pitchFamily="18" charset="0"/>
              </a:rPr>
              <a:t>With</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this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types</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of</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input,</a:t>
            </a:r>
            <a:r>
              <a:rPr lang="en-US" sz="3200" spc="-5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model</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learns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to</a:t>
            </a:r>
            <a:r>
              <a:rPr lang="en-US" sz="3200" spc="-5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separate</a:t>
            </a:r>
            <a:r>
              <a:rPr lang="en-US" sz="3200" spc="-45"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objects</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from</a:t>
            </a:r>
            <a:r>
              <a:rPr lang="en-US" sz="3200" spc="-4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the</a:t>
            </a:r>
            <a:r>
              <a:rPr lang="en-US" sz="3200" spc="-60" dirty="0">
                <a:latin typeface="Times New Roman" panose="02020603050405020304" pitchFamily="18" charset="0"/>
                <a:ea typeface="Times New Roman" panose="02020603050405020304" pitchFamily="18" charset="0"/>
              </a:rPr>
              <a:t> </a:t>
            </a:r>
            <a:r>
              <a:rPr lang="en-US" sz="3200" spc="-10" dirty="0">
                <a:latin typeface="Times New Roman" panose="02020603050405020304" pitchFamily="18" charset="0"/>
                <a:ea typeface="Times New Roman" panose="02020603050405020304" pitchFamily="18" charset="0"/>
              </a:rPr>
              <a:t>back- </a:t>
            </a:r>
            <a:r>
              <a:rPr lang="en-US" sz="3200" dirty="0">
                <a:latin typeface="Times New Roman" panose="02020603050405020304" pitchFamily="18" charset="0"/>
                <a:ea typeface="Times New Roman" panose="02020603050405020304" pitchFamily="18" charset="0"/>
              </a:rPr>
              <a:t>ground</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based</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on</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intensity</a:t>
            </a:r>
            <a:r>
              <a:rPr lang="en-US" sz="3200" spc="-6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variations</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detected</a:t>
            </a:r>
            <a:r>
              <a:rPr lang="en-US" sz="3200" spc="-5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by</a:t>
            </a:r>
            <a:r>
              <a:rPr lang="en-US" sz="3200" spc="-70"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the</a:t>
            </a:r>
            <a:r>
              <a:rPr lang="en-US" sz="3200" spc="-65" dirty="0">
                <a:latin typeface="Times New Roman" panose="02020603050405020304" pitchFamily="18" charset="0"/>
                <a:ea typeface="Times New Roman" panose="02020603050405020304" pitchFamily="18" charset="0"/>
              </a:rPr>
              <a:t> </a:t>
            </a:r>
            <a:r>
              <a:rPr lang="en-US" sz="3200" dirty="0">
                <a:latin typeface="Times New Roman" panose="02020603050405020304" pitchFamily="18" charset="0"/>
                <a:ea typeface="Times New Roman" panose="02020603050405020304" pitchFamily="18" charset="0"/>
              </a:rPr>
              <a:t>sonar.</a:t>
            </a:r>
            <a:r>
              <a:rPr lang="en-US" sz="3200" spc="-65" dirty="0">
                <a:latin typeface="Times New Roman" panose="02020603050405020304" pitchFamily="18" charset="0"/>
                <a:ea typeface="Times New Roman" panose="02020603050405020304" pitchFamily="18" charset="0"/>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34053625"/>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30</a:t>
            </a:fld>
            <a:endParaRPr dirty="0"/>
          </a:p>
        </p:txBody>
      </p:sp>
      <p:sp>
        <p:nvSpPr>
          <p:cNvPr id="4" name="TextBox 3"/>
          <p:cNvSpPr txBox="1"/>
          <p:nvPr/>
        </p:nvSpPr>
        <p:spPr>
          <a:xfrm>
            <a:off x="2204720" y="454968"/>
            <a:ext cx="980325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smtClean="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139869"/>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Precise</a:t>
            </a:r>
            <a:r>
              <a:rPr lang="en-US" sz="3200" spc="2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prerequisite</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for</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many</a:t>
            </a:r>
            <a:r>
              <a:rPr lang="en-US" sz="3200" spc="200"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autonomous </a:t>
            </a:r>
            <a:r>
              <a:rPr lang="en-US" sz="3200" dirty="0">
                <a:solidFill>
                  <a:srgbClr val="231F20"/>
                </a:solidFill>
                <a:latin typeface="Times New Roman" panose="02020603050405020304" pitchFamily="18" charset="0"/>
                <a:ea typeface="Times New Roman" panose="02020603050405020304" pitchFamily="18" charset="0"/>
              </a:rPr>
              <a:t>systems, such as robotics, unmanned aerial </a:t>
            </a:r>
            <a:r>
              <a:rPr lang="en-US" sz="3200" dirty="0" smtClean="0">
                <a:solidFill>
                  <a:srgbClr val="231F20"/>
                </a:solidFill>
                <a:latin typeface="Times New Roman" panose="02020603050405020304" pitchFamily="18" charset="0"/>
                <a:ea typeface="Times New Roman" panose="02020603050405020304" pitchFamily="18" charset="0"/>
              </a:rPr>
              <a:t>vehicles</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etc.</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Also</a:t>
            </a:r>
            <a:r>
              <a:rPr lang="en-US" sz="3200" dirty="0">
                <a:solidFill>
                  <a:srgbClr val="231F20"/>
                </a:solidFill>
                <a:latin typeface="Times New Roman" panose="02020603050405020304" pitchFamily="18" charset="0"/>
                <a:ea typeface="Times New Roman" panose="02020603050405020304" pitchFamily="18" charset="0"/>
              </a:rPr>
              <a:t>,</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is</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especially</a:t>
            </a:r>
            <a:r>
              <a:rPr lang="en-US" sz="3200" spc="-6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challenging problem,</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where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localization</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cannot</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achieved</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by</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GPS</a:t>
            </a:r>
            <a:r>
              <a:rPr lang="en-US" sz="3200" spc="9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due to</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satellite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signal</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being</a:t>
            </a:r>
            <a:r>
              <a:rPr lang="en-US" sz="3200" spc="1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greatly</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attenuated.</a:t>
            </a: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rPr>
              <a:t>While</a:t>
            </a:r>
            <a:r>
              <a:rPr lang="en-US" sz="3200" spc="10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the</a:t>
            </a:r>
            <a:r>
              <a:rPr lang="en-US" sz="3200" spc="10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traditional</a:t>
            </a:r>
            <a:r>
              <a:rPr lang="en-US" sz="3200" spc="100"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radio-based</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indoor</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positioning</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technologies,</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such</a:t>
            </a:r>
            <a:r>
              <a:rPr lang="en-US" sz="3200" spc="10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as Bluetooth,</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Wi-Fi,</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Radio-frequency</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Identification</a:t>
            </a:r>
            <a:r>
              <a:rPr lang="en-US" sz="3200" spc="7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(RFID)</a:t>
            </a:r>
            <a:r>
              <a:rPr lang="en-US" sz="3200" spc="6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and ultra-wideband</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(UWB),</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still</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have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some</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disadvantages</a:t>
            </a:r>
            <a:r>
              <a:rPr lang="en-US" sz="3200" spc="-3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a:t>
            </a:r>
            <a:r>
              <a:rPr lang="en-US" sz="3200" spc="-4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terms of</a:t>
            </a:r>
            <a:r>
              <a:rPr lang="en-US" sz="3200" spc="-1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low</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accuracy,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high</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latency,</a:t>
            </a:r>
            <a:r>
              <a:rPr lang="en-US" sz="3200" spc="-5"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electromagnetic</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interference</a:t>
            </a:r>
            <a:r>
              <a:rPr lang="en-US" sz="3200" spc="-10" dirty="0">
                <a:solidFill>
                  <a:srgbClr val="231F20"/>
                </a:solidFill>
                <a:latin typeface="Times New Roman" panose="02020603050405020304" pitchFamily="18" charset="0"/>
                <a:ea typeface="Times New Roman" panose="02020603050405020304" pitchFamily="18" charset="0"/>
              </a:rPr>
              <a:t> </a:t>
            </a:r>
            <a:r>
              <a:rPr lang="en-US" sz="3200" spc="-25" dirty="0" smtClean="0">
                <a:solidFill>
                  <a:srgbClr val="231F20"/>
                </a:solidFill>
                <a:latin typeface="Times New Roman" panose="02020603050405020304" pitchFamily="18" charset="0"/>
                <a:ea typeface="Times New Roman" panose="02020603050405020304" pitchFamily="18" charset="0"/>
              </a:rPr>
              <a:t>or </a:t>
            </a:r>
            <a:r>
              <a:rPr lang="en-US" sz="3200" dirty="0" smtClean="0">
                <a:solidFill>
                  <a:srgbClr val="231F20"/>
                </a:solidFill>
                <a:latin typeface="Times New Roman" panose="02020603050405020304" pitchFamily="18" charset="0"/>
                <a:ea typeface="Times New Roman" panose="02020603050405020304" pitchFamily="18" charset="0"/>
              </a:rPr>
              <a:t>high</a:t>
            </a:r>
            <a:r>
              <a:rPr lang="en-US" sz="3200" spc="-55" dirty="0" smtClean="0">
                <a:solidFill>
                  <a:srgbClr val="231F20"/>
                </a:solidFill>
                <a:latin typeface="Times New Roman" panose="02020603050405020304" pitchFamily="18" charset="0"/>
                <a:ea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rPr>
              <a:t>hardware</a:t>
            </a:r>
            <a:r>
              <a:rPr lang="en-US" sz="3200" spc="-55" dirty="0">
                <a:solidFill>
                  <a:srgbClr val="231F20"/>
                </a:solidFill>
                <a:latin typeface="Times New Roman" panose="02020603050405020304" pitchFamily="18" charset="0"/>
                <a:ea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rPr>
              <a:t>cost.</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94927475"/>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300874"/>
            <a:ext cx="11407140" cy="4708981"/>
          </a:xfrm>
          <a:prstGeom prst="rect">
            <a:avLst/>
          </a:prstGeom>
        </p:spPr>
        <p:txBody>
          <a:bodyPr wrap="square">
            <a:spAutoFit/>
          </a:bodyPr>
          <a:lstStyle/>
          <a:p>
            <a:pPr marL="571500" indent="-571500" algn="just">
              <a:buFont typeface="Arial" panose="020B0604020202020204" pitchFamily="34" charset="0"/>
              <a:buChar char="•"/>
            </a:pPr>
            <a:r>
              <a:rPr lang="en-US" sz="3000" dirty="0" smtClean="0">
                <a:solidFill>
                  <a:srgbClr val="231F20"/>
                </a:solidFill>
                <a:latin typeface="Times New Roman" panose="02020603050405020304" pitchFamily="18" charset="0"/>
                <a:ea typeface="Times New Roman" panose="02020603050405020304" pitchFamily="18" charset="0"/>
              </a:rPr>
              <a:t>The </a:t>
            </a:r>
            <a:r>
              <a:rPr lang="en-US" sz="3000" dirty="0">
                <a:solidFill>
                  <a:srgbClr val="231F20"/>
                </a:solidFill>
                <a:latin typeface="Times New Roman" panose="02020603050405020304" pitchFamily="18" charset="0"/>
                <a:ea typeface="Times New Roman" panose="02020603050405020304" pitchFamily="18" charset="0"/>
              </a:rPr>
              <a:t>localization technology based on visible light communication (VLC), which is referred as visible light positioning (VLP), has attracted intensive attention as it can </a:t>
            </a:r>
            <a:r>
              <a:rPr lang="en-US" sz="3000" spc="-10" dirty="0">
                <a:solidFill>
                  <a:srgbClr val="231F20"/>
                </a:solidFill>
                <a:latin typeface="Times New Roman" panose="02020603050405020304" pitchFamily="18" charset="0"/>
                <a:ea typeface="Times New Roman" panose="02020603050405020304" pitchFamily="18" charset="0"/>
              </a:rPr>
              <a:t>provide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high</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accuracy</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positioning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based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on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the</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existing</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spc="-10" dirty="0">
                <a:solidFill>
                  <a:srgbClr val="231F20"/>
                </a:solidFill>
                <a:latin typeface="Times New Roman" panose="02020603050405020304" pitchFamily="18" charset="0"/>
                <a:ea typeface="Times New Roman" panose="02020603050405020304" pitchFamily="18" charset="0"/>
              </a:rPr>
              <a:t>lighting </a:t>
            </a:r>
            <a:r>
              <a:rPr lang="en-US" sz="3000" dirty="0">
                <a:solidFill>
                  <a:srgbClr val="231F20"/>
                </a:solidFill>
                <a:latin typeface="Times New Roman" panose="02020603050405020304" pitchFamily="18" charset="0"/>
                <a:ea typeface="Times New Roman" panose="02020603050405020304" pitchFamily="18" charset="0"/>
              </a:rPr>
              <a:t>infrastructure</a:t>
            </a:r>
            <a:r>
              <a:rPr lang="en-US" sz="3000" dirty="0" smtClean="0">
                <a:solidFill>
                  <a:srgbClr val="231F20"/>
                </a:solidFill>
                <a:latin typeface="Times New Roman" panose="02020603050405020304" pitchFamily="18" charset="0"/>
                <a:ea typeface="Times New Roman" panose="02020603050405020304" pitchFamily="18" charset="0"/>
              </a:rPr>
              <a:t>.</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modulated</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broadcasts</a:t>
            </a:r>
            <a:r>
              <a:rPr lang="en-US" sz="3000" spc="-4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its</a:t>
            </a:r>
            <a:r>
              <a:rPr lang="en-US" sz="3000" spc="-4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unique identity (ID) via switching at a high frequency imperceptible to</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human</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eye,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but</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which</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recognized</a:t>
            </a:r>
            <a:r>
              <a:rPr lang="en-US" sz="3000" spc="-2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by</a:t>
            </a:r>
            <a:r>
              <a:rPr lang="en-US" sz="3000" spc="-30"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photodiodes (PD) </a:t>
            </a:r>
            <a:r>
              <a:rPr lang="en-US" sz="3000" dirty="0" smtClean="0">
                <a:solidFill>
                  <a:srgbClr val="231F20"/>
                </a:solidFill>
                <a:latin typeface="Times New Roman" panose="02020603050405020304" pitchFamily="18" charset="0"/>
                <a:ea typeface="Times New Roman" panose="02020603050405020304" pitchFamily="18" charset="0"/>
              </a:rPr>
              <a:t>and </a:t>
            </a:r>
            <a:r>
              <a:rPr lang="en-US" sz="3000" dirty="0">
                <a:solidFill>
                  <a:srgbClr val="231F20"/>
                </a:solidFill>
                <a:latin typeface="Times New Roman" panose="02020603050405020304" pitchFamily="18" charset="0"/>
                <a:ea typeface="Times New Roman" panose="02020603050405020304" pitchFamily="18" charset="0"/>
              </a:rPr>
              <a:t>rolling shutter effect (RSE) </a:t>
            </a:r>
            <a:r>
              <a:rPr lang="en-US" sz="3000" dirty="0" smtClean="0">
                <a:solidFill>
                  <a:srgbClr val="231F20"/>
                </a:solidFill>
                <a:latin typeface="Times New Roman" panose="02020603050405020304" pitchFamily="18" charset="0"/>
                <a:ea typeface="Times New Roman" panose="02020603050405020304" pitchFamily="18" charset="0"/>
              </a:rPr>
              <a:t>cameras.</a:t>
            </a:r>
          </a:p>
          <a:p>
            <a:pPr marL="571500" indent="-571500" algn="just">
              <a:buFont typeface="Arial" panose="020B0604020202020204" pitchFamily="34" charset="0"/>
              <a:buChar char="•"/>
            </a:pPr>
            <a:r>
              <a:rPr lang="en-US" sz="3000" dirty="0">
                <a:solidFill>
                  <a:srgbClr val="231F20"/>
                </a:solidFill>
                <a:latin typeface="Times New Roman" panose="02020603050405020304" pitchFamily="18" charset="0"/>
                <a:ea typeface="Times New Roman" panose="02020603050405020304" pitchFamily="18" charset="0"/>
              </a:rPr>
              <a:t>The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LED-ID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can</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be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mapped/modulated</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once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for</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all</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since</a:t>
            </a:r>
            <a:r>
              <a:rPr lang="en-US" sz="3000" spc="-5" dirty="0">
                <a:solidFill>
                  <a:srgbClr val="231F20"/>
                </a:solidFill>
                <a:latin typeface="Times New Roman" panose="02020603050405020304" pitchFamily="18" charset="0"/>
                <a:ea typeface="Times New Roman" panose="02020603050405020304" pitchFamily="18" charset="0"/>
              </a:rPr>
              <a:t> </a:t>
            </a:r>
            <a:r>
              <a:rPr lang="en-US" sz="3000" dirty="0">
                <a:solidFill>
                  <a:srgbClr val="231F20"/>
                </a:solidFill>
                <a:latin typeface="Times New Roman" panose="02020603050405020304" pitchFamily="18" charset="0"/>
                <a:ea typeface="Times New Roman" panose="02020603050405020304" pitchFamily="18" charset="0"/>
              </a:rPr>
              <a:t>they are normally fixed and not easily vulnerable to environmental changes.</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2302748"/>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32</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Sensors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 imperfect, and their measurements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are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prone</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4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errors.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Sensors </a:t>
            </a:r>
            <a:r>
              <a:rPr lang="en-US" sz="3200" dirty="0">
                <a:solidFill>
                  <a:srgbClr val="333333"/>
                </a:solidFill>
                <a:latin typeface="Times New Roman" panose="02020603050405020304" pitchFamily="18" charset="0"/>
                <a:cs typeface="Times New Roman" panose="02020603050405020304" pitchFamily="18" charset="0"/>
              </a:rPr>
              <a:t>should be carefully mounted and aligned in order for your application to receive optimum results.</a:t>
            </a:r>
            <a:endParaRPr lang="en-US" sz="3200" spc="-5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Navigation</a:t>
            </a:r>
            <a:r>
              <a:rPr lang="en-US" sz="3200" baseline="300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denotes</a:t>
            </a:r>
            <a:r>
              <a:rPr lang="en-US" sz="3200" spc="-6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a:t>
            </a:r>
            <a:r>
              <a:rPr lang="en-US" sz="3200" spc="-6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robot’s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ability</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determine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own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position</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in</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its</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frame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of</a:t>
            </a:r>
            <a:r>
              <a:rPr lang="en-US" sz="3200" spc="-5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reference</a:t>
            </a:r>
            <a:r>
              <a:rPr lang="en-US" sz="3200" spc="-55"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spc="-1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and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then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plan</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a</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path</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towards</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some</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goal</a:t>
            </a:r>
            <a:r>
              <a:rPr lang="en-US" sz="3200" spc="-60" dirty="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3200" dirty="0" smtClean="0">
                <a:solidFill>
                  <a:srgbClr val="231F20"/>
                </a:solidFill>
                <a:latin typeface="Times New Roman" panose="02020603050405020304" pitchFamily="18" charset="0"/>
                <a:ea typeface="Times New Roman" panose="02020603050405020304" pitchFamily="18" charset="0"/>
                <a:cs typeface="Times New Roman" panose="02020603050405020304" pitchFamily="18" charset="0"/>
              </a:rPr>
              <a:t>location.</a:t>
            </a:r>
          </a:p>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most important consideration to reduce measurement error is aligning the sensor beam so that it is parallel to the dimension to be measured</a:t>
            </a:r>
            <a:r>
              <a:rPr lang="en-US" sz="3200" dirty="0" smtClean="0">
                <a:solidFill>
                  <a:srgbClr val="333333"/>
                </a:solidFill>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7345969"/>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easiest example to describe is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we want to </a:t>
            </a:r>
            <a:r>
              <a:rPr lang="en-US" sz="3200" dirty="0">
                <a:solidFill>
                  <a:srgbClr val="333333"/>
                </a:solidFill>
                <a:latin typeface="Times New Roman" panose="02020603050405020304" pitchFamily="18" charset="0"/>
                <a:cs typeface="Times New Roman" panose="02020603050405020304" pitchFamily="18" charset="0"/>
              </a:rPr>
              <a:t>measure the height of an object with a ruler, you would want that ruler to be perfectly up and down.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If </a:t>
            </a:r>
            <a:r>
              <a:rPr lang="en-US" sz="3200" dirty="0">
                <a:solidFill>
                  <a:srgbClr val="333333"/>
                </a:solidFill>
                <a:latin typeface="Times New Roman" panose="02020603050405020304" pitchFamily="18" charset="0"/>
                <a:cs typeface="Times New Roman" panose="02020603050405020304" pitchFamily="18" charset="0"/>
              </a:rPr>
              <a:t>the ruler weren’t perfectly up and down, </a:t>
            </a: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expect an error with your measurement.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It’s </a:t>
            </a:r>
            <a:r>
              <a:rPr lang="en-US" sz="3200" dirty="0">
                <a:solidFill>
                  <a:srgbClr val="333333"/>
                </a:solidFill>
                <a:latin typeface="Times New Roman" panose="02020603050405020304" pitchFamily="18" charset="0"/>
                <a:cs typeface="Times New Roman" panose="02020603050405020304" pitchFamily="18" charset="0"/>
              </a:rPr>
              <a:t>the same with the laser beam on our sensors.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We’d </a:t>
            </a:r>
            <a:r>
              <a:rPr lang="en-US" sz="3200" dirty="0">
                <a:solidFill>
                  <a:srgbClr val="333333"/>
                </a:solidFill>
                <a:latin typeface="Times New Roman" panose="02020603050405020304" pitchFamily="18" charset="0"/>
                <a:cs typeface="Times New Roman" panose="02020603050405020304" pitchFamily="18" charset="0"/>
              </a:rPr>
              <a:t>ideally want to align the beam so that it is perfectly up and down to measure height.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Any </a:t>
            </a:r>
            <a:r>
              <a:rPr lang="en-US" sz="3200" dirty="0">
                <a:solidFill>
                  <a:srgbClr val="333333"/>
                </a:solidFill>
                <a:latin typeface="Times New Roman" panose="02020603050405020304" pitchFamily="18" charset="0"/>
                <a:cs typeface="Times New Roman" panose="02020603050405020304" pitchFamily="18" charset="0"/>
              </a:rPr>
              <a:t>deviation from that alignment would introduce an error in the measurement.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65941250"/>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While truly perfect alignment is impossible, with care and a well-made fixture or alignment bracket, </a:t>
            </a:r>
            <a:r>
              <a:rPr lang="en-US" sz="3200" dirty="0" smtClean="0">
                <a:solidFill>
                  <a:srgbClr val="333333"/>
                </a:solidFill>
                <a:latin typeface="Times New Roman" panose="02020603050405020304" pitchFamily="18" charset="0"/>
                <a:cs typeface="Times New Roman" panose="02020603050405020304" pitchFamily="18" charset="0"/>
              </a:rPr>
              <a:t>we </a:t>
            </a:r>
            <a:r>
              <a:rPr lang="en-US" sz="3200" dirty="0">
                <a:solidFill>
                  <a:srgbClr val="333333"/>
                </a:solidFill>
                <a:latin typeface="Times New Roman" panose="02020603050405020304" pitchFamily="18" charset="0"/>
                <a:cs typeface="Times New Roman" panose="02020603050405020304" pitchFamily="18" charset="0"/>
              </a:rPr>
              <a:t>often can get the alignment accurate enough to reduce the alignment error to significantly less than the sensor’s error</a:t>
            </a:r>
            <a:r>
              <a:rPr lang="en-US" sz="3200" dirty="0" smtClean="0">
                <a:solidFill>
                  <a:srgbClr val="333333"/>
                </a:solidFill>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200" dirty="0" smtClean="0">
                <a:solidFill>
                  <a:srgbClr val="333333"/>
                </a:solidFill>
                <a:latin typeface="Times New Roman" panose="02020603050405020304" pitchFamily="18" charset="0"/>
                <a:cs typeface="Times New Roman" panose="02020603050405020304" pitchFamily="18" charset="0"/>
              </a:rPr>
              <a:t>The </a:t>
            </a:r>
            <a:r>
              <a:rPr lang="en-US" sz="3200" dirty="0">
                <a:solidFill>
                  <a:srgbClr val="333333"/>
                </a:solidFill>
                <a:latin typeface="Times New Roman" panose="02020603050405020304" pitchFamily="18" charset="0"/>
                <a:cs typeface="Times New Roman" panose="02020603050405020304" pitchFamily="18" charset="0"/>
              </a:rPr>
              <a:t>angle between the beam and the surface of the target can also be a source of error.</a:t>
            </a:r>
            <a:endParaRPr lang="en-US" sz="3200" dirty="0" smtClean="0">
              <a:solidFill>
                <a:srgbClr val="333333"/>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57326523"/>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solidFill>
                  <a:srgbClr val="333333"/>
                </a:solidFill>
                <a:latin typeface="Times New Roman" panose="02020603050405020304" pitchFamily="18" charset="0"/>
                <a:cs typeface="Times New Roman" panose="02020603050405020304" pitchFamily="18" charset="0"/>
              </a:rPr>
              <a:t>The reasons for the laser beam of the sensor is to strike the target surface as close to perpendicular as possible. </a:t>
            </a:r>
          </a:p>
          <a:p>
            <a:pPr marL="514350" indent="-514350" algn="just">
              <a:buAutoNum type="arabicPeriod"/>
            </a:pPr>
            <a:r>
              <a:rPr lang="en-US" sz="3200" dirty="0" smtClean="0">
                <a:solidFill>
                  <a:srgbClr val="333333"/>
                </a:solidFill>
                <a:latin typeface="Times New Roman" panose="02020603050405020304" pitchFamily="18" charset="0"/>
                <a:cs typeface="Times New Roman" panose="02020603050405020304" pitchFamily="18" charset="0"/>
              </a:rPr>
              <a:t>While </a:t>
            </a:r>
            <a:r>
              <a:rPr lang="en-US" sz="3200" dirty="0">
                <a:solidFill>
                  <a:srgbClr val="333333"/>
                </a:solidFill>
                <a:latin typeface="Times New Roman" panose="02020603050405020304" pitchFamily="18" charset="0"/>
                <a:cs typeface="Times New Roman" panose="02020603050405020304" pitchFamily="18" charset="0"/>
              </a:rPr>
              <a:t>the laser spot from our sensors often looks like a single point on the target, it does have a diameter.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more angled the target is, the more the spot stretches out on the target. </a:t>
            </a:r>
            <a:endParaRPr lang="en-US" sz="3200" dirty="0" smtClean="0">
              <a:solidFill>
                <a:srgbClr val="333333"/>
              </a:solidFill>
              <a:latin typeface="Times New Roman" panose="02020603050405020304" pitchFamily="18" charset="0"/>
              <a:cs typeface="Times New Roman" panose="02020603050405020304" pitchFamily="18" charset="0"/>
            </a:endParaRPr>
          </a:p>
          <a:p>
            <a:pPr marL="569913" indent="-52388" algn="just"/>
            <a:r>
              <a:rPr lang="en-US" sz="3200" dirty="0">
                <a:solidFill>
                  <a:srgbClr val="333333"/>
                </a:solidFill>
                <a:latin typeface="Times New Roman" panose="02020603050405020304" pitchFamily="18" charset="0"/>
                <a:cs typeface="Times New Roman" panose="02020603050405020304" pitchFamily="18" charset="0"/>
              </a:rPr>
              <a:t>#</a:t>
            </a:r>
            <a:r>
              <a:rPr lang="en-US" sz="3200" dirty="0" smtClean="0">
                <a:solidFill>
                  <a:srgbClr val="333333"/>
                </a:solidFill>
                <a:latin typeface="Times New Roman" panose="02020603050405020304" pitchFamily="18" charset="0"/>
                <a:cs typeface="Times New Roman" panose="02020603050405020304" pitchFamily="18" charset="0"/>
              </a:rPr>
              <a:t>This </a:t>
            </a:r>
            <a:r>
              <a:rPr lang="en-US" sz="3200" dirty="0">
                <a:solidFill>
                  <a:srgbClr val="333333"/>
                </a:solidFill>
                <a:latin typeface="Times New Roman" panose="02020603050405020304" pitchFamily="18" charset="0"/>
                <a:cs typeface="Times New Roman" panose="02020603050405020304" pitchFamily="18" charset="0"/>
              </a:rPr>
              <a:t>does make it more difficult for the sensor to know where the center of that spot is, and that can cause errors</a:t>
            </a:r>
            <a:r>
              <a:rPr lang="en-US" sz="3200" dirty="0" smtClean="0">
                <a:solidFill>
                  <a:srgbClr val="333333"/>
                </a:solidFill>
                <a:latin typeface="Times New Roman" panose="02020603050405020304" pitchFamily="18" charset="0"/>
                <a:cs typeface="Times New Roman" panose="02020603050405020304" pitchFamily="18" charset="0"/>
              </a:rPr>
              <a:t>.</a:t>
            </a:r>
          </a:p>
          <a:p>
            <a:pPr marL="514350" indent="-514350" algn="just">
              <a:buAutoNum type="arabicPeriod"/>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8001114"/>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36</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marL="514350" indent="-514350" algn="just">
              <a:buFont typeface="+mj-lt"/>
              <a:buAutoNum type="arabicPeriod" startAt="2"/>
            </a:pP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target will usually reflect more light away from the sensor’s detector.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The </a:t>
            </a:r>
            <a:r>
              <a:rPr lang="en-US" sz="3200" dirty="0">
                <a:solidFill>
                  <a:srgbClr val="333333"/>
                </a:solidFill>
                <a:latin typeface="Times New Roman" panose="02020603050405020304" pitchFamily="18" charset="0"/>
                <a:cs typeface="Times New Roman" panose="02020603050405020304" pitchFamily="18" charset="0"/>
              </a:rPr>
              <a:t>less light the detector gets, the harder it is for the sensor to distinguish the measurement from other light noise.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That </a:t>
            </a:r>
            <a:r>
              <a:rPr lang="en-US" sz="3200" dirty="0">
                <a:solidFill>
                  <a:srgbClr val="333333"/>
                </a:solidFill>
                <a:latin typeface="Times New Roman" panose="02020603050405020304" pitchFamily="18" charset="0"/>
                <a:cs typeface="Times New Roman" panose="02020603050405020304" pitchFamily="18" charset="0"/>
              </a:rPr>
              <a:t>can reduce the measurement accuracy, increase the measurement time, or both.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algn="just"/>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problem increases with the shininess of the target.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85445377"/>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539430"/>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cs typeface="Times New Roman" panose="02020603050405020304" pitchFamily="18" charset="0"/>
              </a:rPr>
              <a:t>3. </a:t>
            </a:r>
            <a:r>
              <a:rPr lang="en-US" sz="3200" dirty="0" smtClean="0">
                <a:solidFill>
                  <a:srgbClr val="333333"/>
                </a:solidFill>
                <a:latin typeface="Times New Roman" panose="02020603050405020304" pitchFamily="18" charset="0"/>
                <a:cs typeface="Times New Roman" panose="02020603050405020304" pitchFamily="18" charset="0"/>
              </a:rPr>
              <a:t>An </a:t>
            </a:r>
            <a:r>
              <a:rPr lang="en-US" sz="3200" dirty="0">
                <a:solidFill>
                  <a:srgbClr val="333333"/>
                </a:solidFill>
                <a:latin typeface="Times New Roman" panose="02020603050405020304" pitchFamily="18" charset="0"/>
                <a:cs typeface="Times New Roman" panose="02020603050405020304" pitchFamily="18" charset="0"/>
              </a:rPr>
              <a:t>angled or rough target that is shiny can cause the opposite problem — direct reflection into the detector</a:t>
            </a:r>
            <a:r>
              <a:rPr lang="en-US" sz="3200" dirty="0" smtClean="0">
                <a:solidFill>
                  <a:srgbClr val="333333"/>
                </a:solidFill>
                <a:latin typeface="Times New Roman" panose="02020603050405020304" pitchFamily="18" charset="0"/>
                <a:cs typeface="Times New Roman" panose="02020603050405020304" pitchFamily="18" charset="0"/>
              </a:rPr>
              <a:t>.</a:t>
            </a:r>
          </a:p>
          <a:p>
            <a:pPr marL="620713" indent="-620713" algn="just"/>
            <a:r>
              <a:rPr lang="en-US" sz="3200" dirty="0" smtClean="0">
                <a:solidFill>
                  <a:srgbClr val="333333"/>
                </a:solidFill>
                <a:latin typeface="Times New Roman" panose="02020603050405020304" pitchFamily="18" charset="0"/>
                <a:cs typeface="Times New Roman" panose="02020603050405020304" pitchFamily="18" charset="0"/>
              </a:rPr>
              <a:t>	# If </a:t>
            </a:r>
            <a:r>
              <a:rPr lang="en-US" sz="3200" dirty="0">
                <a:solidFill>
                  <a:srgbClr val="333333"/>
                </a:solidFill>
                <a:latin typeface="Times New Roman" panose="02020603050405020304" pitchFamily="18" charset="0"/>
                <a:cs typeface="Times New Roman" panose="02020603050405020304" pitchFamily="18" charset="0"/>
              </a:rPr>
              <a:t>there is “specular” or direct reflection, that shows up on the detector as a second peak that has no relation to the distance. </a:t>
            </a:r>
            <a:endParaRPr lang="en-US" sz="3200" dirty="0" smtClean="0">
              <a:solidFill>
                <a:srgbClr val="333333"/>
              </a:solidFill>
              <a:latin typeface="Times New Roman" panose="02020603050405020304" pitchFamily="18" charset="0"/>
              <a:cs typeface="Times New Roman" panose="02020603050405020304" pitchFamily="18" charset="0"/>
            </a:endParaRPr>
          </a:p>
          <a:p>
            <a:pPr marL="620713" indent="-620713" algn="just"/>
            <a:r>
              <a:rPr lang="en-US" sz="3200" dirty="0">
                <a:solidFill>
                  <a:srgbClr val="333333"/>
                </a:solidFill>
                <a:latin typeface="Times New Roman" panose="02020603050405020304" pitchFamily="18" charset="0"/>
                <a:cs typeface="Times New Roman" panose="02020603050405020304" pitchFamily="18" charset="0"/>
              </a:rPr>
              <a:t>	</a:t>
            </a:r>
            <a:r>
              <a:rPr lang="en-US" sz="3200" dirty="0" smtClean="0">
                <a:solidFill>
                  <a:srgbClr val="333333"/>
                </a:solidFill>
                <a:latin typeface="Times New Roman" panose="02020603050405020304" pitchFamily="18" charset="0"/>
                <a:cs typeface="Times New Roman" panose="02020603050405020304" pitchFamily="18" charset="0"/>
              </a:rPr>
              <a:t># This </a:t>
            </a:r>
            <a:r>
              <a:rPr lang="en-US" sz="3200" dirty="0">
                <a:solidFill>
                  <a:srgbClr val="333333"/>
                </a:solidFill>
                <a:latin typeface="Times New Roman" panose="02020603050405020304" pitchFamily="18" charset="0"/>
                <a:cs typeface="Times New Roman" panose="02020603050405020304" pitchFamily="18" charset="0"/>
              </a:rPr>
              <a:t>can result in measurements that are completely incorrect or keep the sensor from offering a measurement at all.</a:t>
            </a:r>
            <a:endParaRPr lang="en-US" sz="32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06937860"/>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158923" y="1287393"/>
            <a:ext cx="9896391" cy="4828515"/>
          </a:xfrm>
          <a:prstGeom prst="rect">
            <a:avLst/>
          </a:prstGeom>
          <a:ln w="28575">
            <a:solidFill>
              <a:schemeClr val="tx1"/>
            </a:solidFill>
          </a:ln>
        </p:spPr>
      </p:pic>
    </p:spTree>
    <p:extLst>
      <p:ext uri="{BB962C8B-B14F-4D97-AF65-F5344CB8AC3E}">
        <p14:creationId xmlns:p14="http://schemas.microsoft.com/office/powerpoint/2010/main" val="1747460647"/>
      </p:ext>
    </p:extLst>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39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200" b="1" dirty="0" smtClean="0">
                <a:solidFill>
                  <a:srgbClr val="464646"/>
                </a:solidFill>
                <a:latin typeface="Times New Roman" panose="02020603050405020304" pitchFamily="18" charset="0"/>
                <a:cs typeface="Times New Roman" panose="02020603050405020304" pitchFamily="18" charset="0"/>
              </a:rPr>
              <a:t>3D </a:t>
            </a:r>
            <a:r>
              <a:rPr lang="en-US" sz="3200" b="1" dirty="0">
                <a:solidFill>
                  <a:srgbClr val="464646"/>
                </a:solidFill>
                <a:latin typeface="Times New Roman" panose="02020603050405020304" pitchFamily="18" charset="0"/>
                <a:cs typeface="Times New Roman" panose="02020603050405020304" pitchFamily="18" charset="0"/>
              </a:rPr>
              <a:t>laser scanner </a:t>
            </a:r>
            <a:r>
              <a:rPr lang="en-US" sz="3200" b="1" dirty="0" smtClean="0">
                <a:solidFill>
                  <a:srgbClr val="464646"/>
                </a:solidFill>
                <a:latin typeface="Times New Roman" panose="02020603050405020304" pitchFamily="18" charset="0"/>
                <a:cs typeface="Times New Roman" panose="02020603050405020304" pitchFamily="18" charset="0"/>
              </a:rPr>
              <a:t>measurement:</a:t>
            </a: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It </a:t>
            </a:r>
            <a:r>
              <a:rPr lang="en-US" sz="3200" dirty="0">
                <a:solidFill>
                  <a:srgbClr val="464646"/>
                </a:solidFill>
                <a:latin typeface="Times New Roman" panose="02020603050405020304" pitchFamily="18" charset="0"/>
                <a:cs typeface="Times New Roman" panose="02020603050405020304" pitchFamily="18" charset="0"/>
              </a:rPr>
              <a:t>is an advanced method for precise three-dimensional measurement of objects using laser line triangulation sensors, also known as laser scanners.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This </a:t>
            </a:r>
            <a:r>
              <a:rPr lang="en-US" sz="3200" dirty="0">
                <a:solidFill>
                  <a:srgbClr val="464646"/>
                </a:solidFill>
                <a:latin typeface="Times New Roman" panose="02020603050405020304" pitchFamily="18" charset="0"/>
                <a:cs typeface="Times New Roman" panose="02020603050405020304" pitchFamily="18" charset="0"/>
              </a:rPr>
              <a:t>technology enables the accurate determination and comparison of measured values such as length, width, height, angle, radius, flatness, parallelism, diameter, defect sizes and more. </a:t>
            </a:r>
            <a:endParaRPr lang="en-US" sz="3200" dirty="0" smtClean="0">
              <a:solidFill>
                <a:srgbClr val="464646"/>
              </a:solidFill>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200" dirty="0" smtClean="0">
                <a:solidFill>
                  <a:srgbClr val="464646"/>
                </a:solidFill>
                <a:latin typeface="Times New Roman" panose="02020603050405020304" pitchFamily="18" charset="0"/>
                <a:cs typeface="Times New Roman" panose="02020603050405020304" pitchFamily="18" charset="0"/>
              </a:rPr>
              <a:t>Unlike </a:t>
            </a:r>
            <a:r>
              <a:rPr lang="en-US" sz="3200" dirty="0">
                <a:solidFill>
                  <a:srgbClr val="464646"/>
                </a:solidFill>
                <a:latin typeface="Times New Roman" panose="02020603050405020304" pitchFamily="18" charset="0"/>
                <a:cs typeface="Times New Roman" panose="02020603050405020304" pitchFamily="18" charset="0"/>
              </a:rPr>
              <a:t>traditional 2D image processing with cameras, 3D laser scanner measurement enables a three-dimensional representation of an object.</a:t>
            </a: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97686010"/>
      </p:ext>
    </p:extLst>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40</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84775"/>
          </a:xfrm>
          <a:prstGeom prst="rect">
            <a:avLst/>
          </a:prstGeom>
        </p:spPr>
        <p:txBody>
          <a:bodyPr wrap="square">
            <a:spAutoFit/>
          </a:bodyPr>
          <a:lstStyle/>
          <a:p>
            <a:pPr algn="just"/>
            <a:r>
              <a:rPr lang="en-US" sz="3200" dirty="0" smtClean="0">
                <a:latin typeface="Times New Roman" panose="02020603050405020304" pitchFamily="18" charset="0"/>
                <a:ea typeface="Times New Roman" panose="02020603050405020304" pitchFamily="18" charset="0"/>
              </a:rPr>
              <a:t>3D laser measurement of an </a:t>
            </a:r>
            <a:r>
              <a:rPr lang="en-US" sz="3200" dirty="0" err="1" smtClean="0">
                <a:latin typeface="Times New Roman" panose="02020603050405020304" pitchFamily="18" charset="0"/>
                <a:ea typeface="Times New Roman" panose="02020603050405020304" pitchFamily="18" charset="0"/>
              </a:rPr>
              <a:t>aluminium</a:t>
            </a:r>
            <a:r>
              <a:rPr lang="en-US" sz="3200" dirty="0" smtClean="0">
                <a:latin typeface="Times New Roman" panose="02020603050405020304" pitchFamily="18" charset="0"/>
                <a:ea typeface="Times New Roman" panose="02020603050405020304" pitchFamily="18" charset="0"/>
              </a:rPr>
              <a:t> block</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2942366" y="1857728"/>
            <a:ext cx="5858693" cy="4448796"/>
          </a:xfrm>
          <a:prstGeom prst="rect">
            <a:avLst/>
          </a:prstGeom>
          <a:ln w="28575">
            <a:solidFill>
              <a:schemeClr val="tx1"/>
            </a:solidFill>
          </a:ln>
        </p:spPr>
      </p:pic>
    </p:spTree>
    <p:extLst>
      <p:ext uri="{BB962C8B-B14F-4D97-AF65-F5344CB8AC3E}">
        <p14:creationId xmlns:p14="http://schemas.microsoft.com/office/powerpoint/2010/main" val="2601818505"/>
      </p:ext>
    </p:extLst>
  </p:cSld>
  <p:clrMapOvr>
    <a:masterClrMapping/>
  </p:clrMapOvr>
  <p:transition spd="med"/>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70756"/>
          </a:xfrm>
          <a:prstGeom prst="rect">
            <a:avLst/>
          </a:prstGeom>
        </p:spPr>
        <p:txBody>
          <a:bodyPr wrap="square">
            <a:spAutoFit/>
          </a:bodyPr>
          <a:lstStyle/>
          <a:p>
            <a:pPr algn="just"/>
            <a:r>
              <a:rPr lang="en-US" sz="3600" b="1" dirty="0">
                <a:solidFill>
                  <a:srgbClr val="00B050"/>
                </a:solidFill>
                <a:latin typeface="Times New Roman" panose="02020603050405020304" pitchFamily="18" charset="0"/>
                <a:cs typeface="Times New Roman" panose="02020603050405020304" pitchFamily="18" charset="0"/>
              </a:rPr>
              <a:t>Typical industries and sectors </a:t>
            </a:r>
            <a:r>
              <a:rPr lang="en-US" sz="3600" dirty="0">
                <a:solidFill>
                  <a:srgbClr val="464646"/>
                </a:solidFill>
                <a:latin typeface="Times New Roman" panose="02020603050405020304" pitchFamily="18" charset="0"/>
                <a:cs typeface="Times New Roman" panose="02020603050405020304" pitchFamily="18" charset="0"/>
              </a:rPr>
              <a:t>where 3D laser scanner measurement is used include: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Metalworking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Mechanical Engineering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Welding technology</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Automotive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Battery manufacturing</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Aerospace</a:t>
            </a:r>
          </a:p>
          <a:p>
            <a:pPr marL="1035050" indent="-120650" algn="just" fontAlgn="base">
              <a:buFont typeface="Arial" panose="020B0604020202020204" pitchFamily="34" charset="0"/>
              <a:buChar char="•"/>
            </a:pPr>
            <a:r>
              <a:rPr lang="en-US" sz="3600" dirty="0">
                <a:solidFill>
                  <a:srgbClr val="464646"/>
                </a:solidFill>
                <a:latin typeface="Times New Roman" panose="02020603050405020304" pitchFamily="18" charset="0"/>
                <a:cs typeface="Times New Roman" panose="02020603050405020304" pitchFamily="18" charset="0"/>
              </a:rPr>
              <a:t>Smartphone </a:t>
            </a:r>
            <a:r>
              <a:rPr lang="en-US" sz="3600" dirty="0" smtClean="0">
                <a:solidFill>
                  <a:srgbClr val="464646"/>
                </a:solidFill>
                <a:latin typeface="Times New Roman" panose="02020603050405020304" pitchFamily="18" charset="0"/>
                <a:cs typeface="Times New Roman" panose="02020603050405020304" pitchFamily="18" charset="0"/>
              </a:rPr>
              <a:t>manufacture</a:t>
            </a:r>
            <a:endParaRPr lang="en-US" sz="36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43737580"/>
      </p:ext>
    </p:extLst>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42</a:t>
            </a:fld>
            <a:endParaRPr dirty="0"/>
          </a:p>
        </p:txBody>
      </p:sp>
      <p:sp>
        <p:nvSpPr>
          <p:cNvPr id="4" name="TextBox 3"/>
          <p:cNvSpPr txBox="1"/>
          <p:nvPr/>
        </p:nvSpPr>
        <p:spPr>
          <a:xfrm>
            <a:off x="1540366" y="222946"/>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dirty="0">
                <a:latin typeface="Times New Roman" panose="02020603050405020304" pitchFamily="18" charset="0"/>
                <a:cs typeface="Times New Roman" panose="02020603050405020304" pitchFamily="18" charset="0"/>
              </a:rPr>
              <a:t>2.3 Aligning LASER Scan Measurements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8255" y="5919487"/>
            <a:ext cx="9660039" cy="58477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 New Roman" panose="02020603050405020304" pitchFamily="18" charset="0"/>
                <a:ea typeface="Times New Roman" panose="02020603050405020304" pitchFamily="18" charset="0"/>
              </a:rPr>
              <a:t>3D laser measurement</a:t>
            </a:r>
            <a:endParaRPr lang="en-IN" sz="3200"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540366" y="1162852"/>
            <a:ext cx="8172978" cy="4605116"/>
          </a:xfrm>
          <a:prstGeom prst="rect">
            <a:avLst/>
          </a:prstGeom>
          <a:ln w="28575">
            <a:solidFill>
              <a:schemeClr val="tx1"/>
            </a:solidFill>
          </a:ln>
        </p:spPr>
      </p:pic>
    </p:spTree>
    <p:extLst>
      <p:ext uri="{BB962C8B-B14F-4D97-AF65-F5344CB8AC3E}">
        <p14:creationId xmlns:p14="http://schemas.microsoft.com/office/powerpoint/2010/main" val="2091171447"/>
      </p:ext>
    </p:extLst>
  </p:cSld>
  <p:clrMapOvr>
    <a:masterClrMapping/>
  </p:clrMapOvr>
  <p:transition spd="med"/>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43</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4524315"/>
          </a:xfrm>
          <a:prstGeom prst="rect">
            <a:avLst/>
          </a:prstGeom>
        </p:spPr>
        <p:txBody>
          <a:bodyPr wrap="square">
            <a:spAutoFit/>
          </a:bodyPr>
          <a:lstStyle/>
          <a:p>
            <a:pPr marL="571500" indent="-571500" algn="just">
              <a:buFont typeface="Arial" panose="020B0604020202020204" pitchFamily="34" charset="0"/>
              <a:buChar char="•"/>
            </a:pPr>
            <a:r>
              <a:rPr lang="en-US" sz="3200" dirty="0">
                <a:latin typeface="Times-Roman"/>
              </a:rPr>
              <a:t>The sense of vision is a powerful and dominating sense in humans</a:t>
            </a:r>
            <a:r>
              <a:rPr lang="en-US" sz="3200" dirty="0" smtClean="0">
                <a:latin typeface="Times-Roman"/>
              </a:rPr>
              <a:t>.</a:t>
            </a:r>
          </a:p>
          <a:p>
            <a:pPr marL="571500" indent="-571500" algn="just">
              <a:buFont typeface="Arial" panose="020B0604020202020204" pitchFamily="34" charset="0"/>
              <a:buChar char="•"/>
            </a:pPr>
            <a:r>
              <a:rPr lang="en-US" sz="3200" dirty="0">
                <a:latin typeface="Times-Roman"/>
              </a:rPr>
              <a:t>A typical approach is to use a video camera as a visual </a:t>
            </a:r>
            <a:r>
              <a:rPr lang="en-US" sz="3200" dirty="0" smtClean="0">
                <a:latin typeface="Times-Roman"/>
              </a:rPr>
              <a:t>sensor.</a:t>
            </a:r>
          </a:p>
          <a:p>
            <a:pPr marL="571500" indent="-571500" algn="just">
              <a:buFont typeface="Arial" panose="020B0604020202020204" pitchFamily="34" charset="0"/>
              <a:buChar char="•"/>
            </a:pPr>
            <a:r>
              <a:rPr lang="en-US" sz="3200" dirty="0" smtClean="0">
                <a:latin typeface="Times-Roman"/>
              </a:rPr>
              <a:t>The subjective </a:t>
            </a:r>
            <a:r>
              <a:rPr lang="en-US" sz="3200" dirty="0">
                <a:latin typeface="Times-Roman"/>
              </a:rPr>
              <a:t>experience of understanding the content of a visual scene is </a:t>
            </a:r>
            <a:r>
              <a:rPr lang="en-US" sz="3200" dirty="0" smtClean="0">
                <a:latin typeface="Times-Roman"/>
              </a:rPr>
              <a:t>often as </a:t>
            </a:r>
            <a:r>
              <a:rPr lang="en-US" sz="3200" dirty="0">
                <a:latin typeface="Times-Roman"/>
              </a:rPr>
              <a:t>simple as opening one’s eyes — there seems to be little or no </a:t>
            </a:r>
            <a:r>
              <a:rPr lang="en-US" sz="3200" dirty="0" smtClean="0">
                <a:latin typeface="Times-Roman"/>
              </a:rPr>
              <a:t>conscious effort </a:t>
            </a:r>
            <a:r>
              <a:rPr lang="en-US" sz="3200" dirty="0">
                <a:latin typeface="Times-Roman"/>
              </a:rPr>
              <a:t>involved in perceiving a three-dimensional world filled with </a:t>
            </a:r>
            <a:r>
              <a:rPr lang="en-US" sz="3200" dirty="0" smtClean="0">
                <a:latin typeface="Times-Roman"/>
              </a:rPr>
              <a:t>objects and </a:t>
            </a:r>
            <a:r>
              <a:rPr lang="en-US" sz="3200" dirty="0">
                <a:latin typeface="Times-Roman"/>
              </a:rPr>
              <a:t>surfaces both near and far.</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35168391"/>
      </p:ext>
    </p:extLst>
  </p:cSld>
  <p:clrMapOvr>
    <a:masterClrMapping/>
  </p:clrMapOvr>
  <p:transition spd="med"/>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44</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perception is so effortless that it is possible, even typical, </a:t>
            </a:r>
            <a:r>
              <a:rPr lang="en-US" sz="3200" dirty="0" smtClean="0">
                <a:latin typeface="Times-Roman"/>
              </a:rPr>
              <a:t>to underestimate </a:t>
            </a:r>
            <a:r>
              <a:rPr lang="en-US" sz="3200" dirty="0">
                <a:latin typeface="Times-Roman"/>
              </a:rPr>
              <a:t>the difficulty of duplicating the feat with a video camera</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The lack of effort also belies the amount of neural hardware that </a:t>
            </a:r>
            <a:r>
              <a:rPr lang="en-US" sz="3200" dirty="0" smtClean="0">
                <a:latin typeface="Times-Roman"/>
              </a:rPr>
              <a:t>goes into </a:t>
            </a:r>
            <a:r>
              <a:rPr lang="en-US" sz="3200" dirty="0">
                <a:latin typeface="Times-Roman"/>
              </a:rPr>
              <a:t>this visual </a:t>
            </a:r>
            <a:r>
              <a:rPr lang="en-US" sz="3200" dirty="0" smtClean="0">
                <a:latin typeface="Times-Roman"/>
              </a:rPr>
              <a:t>illusion.</a:t>
            </a:r>
          </a:p>
          <a:p>
            <a:pPr marL="457200" indent="-457200" algn="just">
              <a:buFont typeface="Arial" panose="020B0604020202020204" pitchFamily="34" charset="0"/>
              <a:buChar char="•"/>
            </a:pPr>
            <a:r>
              <a:rPr lang="en-US" sz="3200" dirty="0">
                <a:latin typeface="Times-Roman"/>
              </a:rPr>
              <a:t>Extracting information from a video </a:t>
            </a:r>
            <a:r>
              <a:rPr lang="en-US" sz="3200" dirty="0" smtClean="0">
                <a:latin typeface="Times-Roman"/>
              </a:rPr>
              <a:t>sequence is </a:t>
            </a:r>
            <a:r>
              <a:rPr lang="en-US" sz="3200" dirty="0">
                <a:latin typeface="Times-Roman"/>
              </a:rPr>
              <a:t>a computationally intensive and difficult problem.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While </a:t>
            </a:r>
            <a:r>
              <a:rPr lang="en-US" sz="3200" dirty="0">
                <a:latin typeface="Times-Roman"/>
              </a:rPr>
              <a:t>the </a:t>
            </a:r>
            <a:r>
              <a:rPr lang="en-US" sz="3200" dirty="0" smtClean="0">
                <a:latin typeface="Times-Roman"/>
              </a:rPr>
              <a:t>field of </a:t>
            </a:r>
            <a:r>
              <a:rPr lang="en-US" sz="3200" dirty="0">
                <a:latin typeface="Times-Roman"/>
              </a:rPr>
              <a:t>computer vision continues to make important advances, it would </a:t>
            </a:r>
            <a:r>
              <a:rPr lang="en-US" sz="3200" dirty="0" smtClean="0">
                <a:latin typeface="Times-Roman"/>
              </a:rPr>
              <a:t>be premature </a:t>
            </a:r>
            <a:r>
              <a:rPr lang="en-US" sz="3200" dirty="0">
                <a:latin typeface="Times-Roman"/>
              </a:rPr>
              <a:t>to consider it a problem solved.</a:t>
            </a:r>
            <a:endParaRPr lang="en-US" sz="3200" dirty="0" smtClean="0">
              <a:latin typeface="Times-Roman"/>
            </a:endParaRPr>
          </a:p>
          <a:p>
            <a:pPr marL="571500" indent="-571500" algn="just">
              <a:buFont typeface="Arial" panose="020B0604020202020204" pitchFamily="34" charset="0"/>
              <a:buChar char="•"/>
            </a:pP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45701943"/>
      </p:ext>
    </p:extLst>
  </p:cSld>
  <p:clrMapOvr>
    <a:masterClrMapping/>
  </p:clrMapOvr>
  <p:transition spd="med"/>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45</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879894" y="5179320"/>
            <a:ext cx="10313473" cy="1077218"/>
          </a:xfrm>
          <a:prstGeom prst="rect">
            <a:avLst/>
          </a:prstGeom>
        </p:spPr>
        <p:txBody>
          <a:bodyPr wrap="square">
            <a:spAutoFit/>
          </a:bodyPr>
          <a:lstStyle/>
          <a:p>
            <a:pPr algn="just"/>
            <a:r>
              <a:rPr lang="en-US" sz="3200" b="1" dirty="0" smtClean="0"/>
              <a:t>Fig. 2.4.1 Pin-hole </a:t>
            </a:r>
            <a:r>
              <a:rPr lang="en-US" sz="3200" b="1" dirty="0"/>
              <a:t>camera (a) and its mathematical model (b</a:t>
            </a:r>
            <a:r>
              <a:rPr lang="en-US" sz="3200" b="1" dirty="0" smtClean="0"/>
              <a:t>).</a:t>
            </a:r>
            <a:endParaRPr lang="en-IN" sz="3200" b="1" dirty="0">
              <a:ea typeface="Calibri" panose="020F0502020204030204" pitchFamily="34" charset="0"/>
              <a:cs typeface="Calibri" panose="020F0502020204030204" pitchFamily="34" charset="0"/>
            </a:endParaRPr>
          </a:p>
        </p:txBody>
      </p:sp>
      <p:pic>
        <p:nvPicPr>
          <p:cNvPr id="3" name="Picture 2"/>
          <p:cNvPicPr>
            <a:picLocks noChangeAspect="1"/>
          </p:cNvPicPr>
          <p:nvPr/>
        </p:nvPicPr>
        <p:blipFill>
          <a:blip r:embed="rId2"/>
          <a:stretch>
            <a:fillRect/>
          </a:stretch>
        </p:blipFill>
        <p:spPr>
          <a:xfrm>
            <a:off x="1466491" y="1492100"/>
            <a:ext cx="8101856" cy="3389665"/>
          </a:xfrm>
          <a:prstGeom prst="rect">
            <a:avLst/>
          </a:prstGeom>
          <a:ln w="38100">
            <a:solidFill>
              <a:schemeClr val="tx1"/>
            </a:solidFill>
          </a:ln>
        </p:spPr>
      </p:pic>
    </p:spTree>
    <p:extLst>
      <p:ext uri="{BB962C8B-B14F-4D97-AF65-F5344CB8AC3E}">
        <p14:creationId xmlns:p14="http://schemas.microsoft.com/office/powerpoint/2010/main" val="832268143"/>
      </p:ext>
    </p:extLst>
  </p:cSld>
  <p:clrMapOvr>
    <a:masterClrMapping/>
  </p:clrMapOvr>
  <p:transition spd="med"/>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46</a:t>
            </a:fld>
            <a:endParaRPr dirty="0"/>
          </a:p>
        </p:txBody>
      </p:sp>
      <p:sp>
        <p:nvSpPr>
          <p:cNvPr id="4" name="TextBox 3"/>
          <p:cNvSpPr txBox="1"/>
          <p:nvPr/>
        </p:nvSpPr>
        <p:spPr>
          <a:xfrm>
            <a:off x="2204720" y="344867"/>
            <a:ext cx="9554210"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600" b="1" dirty="0">
                <a:latin typeface="Times-Roman"/>
              </a:rPr>
              <a:t>2.4 Vision and Tracking</a:t>
            </a:r>
          </a:p>
        </p:txBody>
      </p:sp>
      <p:sp>
        <p:nvSpPr>
          <p:cNvPr id="9" name="Rectangle 8"/>
          <p:cNvSpPr/>
          <p:nvPr/>
        </p:nvSpPr>
        <p:spPr>
          <a:xfrm>
            <a:off x="351790" y="1162852"/>
            <a:ext cx="11407140" cy="5632311"/>
          </a:xfrm>
          <a:prstGeom prst="rect">
            <a:avLst/>
          </a:prstGeom>
        </p:spPr>
        <p:txBody>
          <a:bodyPr wrap="square">
            <a:spAutoFit/>
          </a:bodyPr>
          <a:lstStyle/>
          <a:p>
            <a:pPr algn="just"/>
            <a:r>
              <a:rPr lang="en-US" sz="3000" b="1" dirty="0" smtClean="0">
                <a:solidFill>
                  <a:srgbClr val="C00000"/>
                </a:solidFill>
                <a:latin typeface="Times-Roman"/>
              </a:rPr>
              <a:t>Issues </a:t>
            </a:r>
            <a:r>
              <a:rPr lang="en-US" sz="3000" b="1" dirty="0">
                <a:solidFill>
                  <a:srgbClr val="C00000"/>
                </a:solidFill>
                <a:latin typeface="Times-Roman"/>
              </a:rPr>
              <a:t>that make computer vision difficult.</a:t>
            </a:r>
            <a:endParaRPr lang="en-US" sz="3000" b="1" dirty="0" smtClean="0">
              <a:solidFill>
                <a:srgbClr val="C00000"/>
              </a:solidFill>
              <a:latin typeface="Times-Roman"/>
            </a:endParaRPr>
          </a:p>
          <a:p>
            <a:pPr algn="just"/>
            <a:r>
              <a:rPr lang="en-US" sz="3000" b="1" dirty="0" smtClean="0">
                <a:latin typeface="Times-Roman"/>
                <a:ea typeface="Calibri" panose="020F0502020204030204" pitchFamily="34" charset="0"/>
                <a:cs typeface="Times New Roman" panose="02020603050405020304" pitchFamily="18" charset="0"/>
              </a:rPr>
              <a:t>1. </a:t>
            </a:r>
            <a:r>
              <a:rPr lang="en-US" sz="3000" b="1" dirty="0" smtClean="0">
                <a:latin typeface="Times New Roman" panose="02020603050405020304" pitchFamily="18" charset="0"/>
                <a:ea typeface="Calibri" panose="020F0502020204030204" pitchFamily="34" charset="0"/>
                <a:cs typeface="Times New Roman" panose="02020603050405020304" pitchFamily="18" charset="0"/>
              </a:rPr>
              <a:t>Information </a:t>
            </a:r>
            <a:r>
              <a:rPr lang="en-US" sz="3000" b="1" dirty="0">
                <a:latin typeface="Times New Roman" panose="02020603050405020304" pitchFamily="18" charset="0"/>
                <a:ea typeface="Calibri" panose="020F0502020204030204" pitchFamily="34" charset="0"/>
                <a:cs typeface="Times New Roman" panose="02020603050405020304" pitchFamily="18" charset="0"/>
              </a:rPr>
              <a:t>is lost in the 3D to 2D transformation.</a:t>
            </a:r>
          </a:p>
          <a:p>
            <a:pPr marL="457200" indent="-457200" algn="just">
              <a:buFont typeface="Arial" panose="020B0604020202020204" pitchFamily="34" charset="0"/>
              <a:buChar char="•"/>
            </a:pPr>
            <a:r>
              <a:rPr lang="en-US" sz="3000" dirty="0" smtClean="0">
                <a:latin typeface="Times-Roman"/>
              </a:rPr>
              <a:t>A </a:t>
            </a:r>
            <a:r>
              <a:rPr lang="en-US" sz="3000" dirty="0">
                <a:latin typeface="Times-Roman"/>
              </a:rPr>
              <a:t>pin-hole camera is </a:t>
            </a:r>
            <a:r>
              <a:rPr lang="en-US" sz="3000" dirty="0" smtClean="0">
                <a:latin typeface="Times-Roman"/>
              </a:rPr>
              <a:t>a closed </a:t>
            </a:r>
            <a:r>
              <a:rPr lang="en-US" sz="3000" dirty="0">
                <a:latin typeface="Times-Roman"/>
              </a:rPr>
              <a:t>container with a small hole on one side.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Light </a:t>
            </a:r>
            <a:r>
              <a:rPr lang="en-US" sz="3000" dirty="0">
                <a:latin typeface="Times-Roman"/>
              </a:rPr>
              <a:t>rays enter </a:t>
            </a:r>
            <a:r>
              <a:rPr lang="en-US" sz="3000" dirty="0" smtClean="0">
                <a:latin typeface="Times-Roman"/>
              </a:rPr>
              <a:t>through the </a:t>
            </a:r>
            <a:r>
              <a:rPr lang="en-US" sz="3000" dirty="0">
                <a:latin typeface="Times-Roman"/>
              </a:rPr>
              <a:t>hole, illuminating the back wall with the color of the object </a:t>
            </a:r>
            <a:r>
              <a:rPr lang="en-US" sz="3000" dirty="0" smtClean="0">
                <a:latin typeface="Times-Roman"/>
              </a:rPr>
              <a:t>from which </a:t>
            </a:r>
            <a:r>
              <a:rPr lang="en-US" sz="3000" dirty="0">
                <a:latin typeface="Times-Roman"/>
              </a:rPr>
              <a:t>they were reflected and thereby painting an image on the wall</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The image is upside-side down and reversed because of the path </a:t>
            </a:r>
            <a:r>
              <a:rPr lang="en-US" sz="3000" dirty="0" smtClean="0">
                <a:latin typeface="Times-Roman"/>
              </a:rPr>
              <a:t>the light </a:t>
            </a:r>
            <a:r>
              <a:rPr lang="en-US" sz="3000" dirty="0">
                <a:latin typeface="Times-Roman"/>
              </a:rPr>
              <a:t>rays travel</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This relationship between the object and its image </a:t>
            </a:r>
            <a:r>
              <a:rPr lang="en-US" sz="3000" dirty="0" smtClean="0">
                <a:latin typeface="Times-Roman"/>
              </a:rPr>
              <a:t>is often </a:t>
            </a:r>
            <a:r>
              <a:rPr lang="en-US" sz="3000" dirty="0">
                <a:latin typeface="Times-Roman"/>
              </a:rPr>
              <a:t>modeled mathematically as a </a:t>
            </a:r>
            <a:r>
              <a:rPr lang="en-US" sz="3000" i="1" dirty="0">
                <a:solidFill>
                  <a:srgbClr val="FF0000"/>
                </a:solidFill>
                <a:latin typeface="Times-Roman"/>
              </a:rPr>
              <a:t>perspective </a:t>
            </a:r>
            <a:r>
              <a:rPr lang="en-US" sz="3000" i="1" dirty="0" smtClean="0">
                <a:solidFill>
                  <a:srgbClr val="FF0000"/>
                </a:solidFill>
                <a:latin typeface="Times-Roman"/>
              </a:rPr>
              <a:t>projection </a:t>
            </a:r>
            <a:r>
              <a:rPr lang="en-US" sz="3000" i="1" dirty="0" smtClean="0">
                <a:solidFill>
                  <a:schemeClr val="tx1"/>
                </a:solidFill>
                <a:latin typeface="Times-Roman"/>
              </a:rPr>
              <a:t>(shown in fig 2.4.1)</a:t>
            </a:r>
            <a:r>
              <a:rPr lang="en-US" sz="3000" dirty="0" smtClean="0">
                <a:latin typeface="Times-Roman"/>
              </a:rPr>
              <a:t>.</a:t>
            </a:r>
            <a:endParaRPr lang="en-IN" sz="30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35782634"/>
      </p:ext>
    </p:extLst>
  </p:cSld>
  <p:clrMapOvr>
    <a:masterClrMapping/>
  </p:clrMapOvr>
  <p:transition spd="med"/>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47</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5170646"/>
              </a:xfrm>
              <a:prstGeom prst="rect">
                <a:avLst/>
              </a:prstGeom>
            </p:spPr>
            <p:txBody>
              <a:bodyPr wrap="square">
                <a:spAutoFit/>
              </a:bodyPr>
              <a:lstStyle/>
              <a:p>
                <a:pPr marL="571500" indent="-571500" algn="just">
                  <a:buFont typeface="Arial" panose="020B0604020202020204" pitchFamily="34" charset="0"/>
                  <a:buChar char="•"/>
                </a:pPr>
                <a:r>
                  <a:rPr lang="en-US" sz="3000" dirty="0" smtClean="0">
                    <a:latin typeface="Times New Roman" panose="02020603050405020304" pitchFamily="18" charset="0"/>
                    <a:cs typeface="Times New Roman" panose="02020603050405020304" pitchFamily="18" charset="0"/>
                  </a:rPr>
                  <a:t>The image plane in (fig 2.4.1 (b)) is </a:t>
                </a:r>
                <a:r>
                  <a:rPr lang="en-US" sz="3000" dirty="0">
                    <a:latin typeface="Times New Roman" panose="02020603050405020304" pitchFamily="18" charset="0"/>
                    <a:cs typeface="Times New Roman" panose="02020603050405020304" pitchFamily="18" charset="0"/>
                  </a:rPr>
                  <a:t>shown with a </a:t>
                </a:r>
                <a:r>
                  <a:rPr lang="en-US" sz="3000" dirty="0" smtClean="0">
                    <a:latin typeface="Times New Roman" panose="02020603050405020304" pitchFamily="18" charset="0"/>
                    <a:cs typeface="Times New Roman" panose="02020603050405020304" pitchFamily="18" charset="0"/>
                  </a:rPr>
                  <a:t>coordinate system </a:t>
                </a:r>
                <a:r>
                  <a:rPr lang="en-US" sz="3000" dirty="0">
                    <a:latin typeface="Times New Roman" panose="02020603050405020304" pitchFamily="18" charset="0"/>
                    <a:cs typeface="Times New Roman" panose="02020603050405020304" pitchFamily="18" charset="0"/>
                  </a:rPr>
                  <a:t>aligned and centered on the camera axis.</a:t>
                </a:r>
                <a:endParaRPr lang="en-US" sz="3000" dirty="0" smtClean="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The image plane is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located a </a:t>
                </a:r>
                <a:r>
                  <a:rPr lang="en-US" sz="3000" dirty="0">
                    <a:latin typeface="Times New Roman" panose="02020603050405020304" pitchFamily="18" charset="0"/>
                    <a:ea typeface="Calibri" panose="020F0502020204030204" pitchFamily="34" charset="0"/>
                    <a:cs typeface="Times New Roman" panose="02020603050405020304" pitchFamily="18" charset="0"/>
                  </a:rPr>
                  <a:t>distance f from the origin, which is the optical center of the camera</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000" dirty="0" smtClean="0">
                    <a:latin typeface="Times New Roman" panose="02020603050405020304" pitchFamily="18" charset="0"/>
                    <a:ea typeface="Calibri" panose="020F0502020204030204" pitchFamily="34" charset="0"/>
                    <a:cs typeface="Times New Roman" panose="02020603050405020304" pitchFamily="18" charset="0"/>
                  </a:rPr>
                  <a:t>Let the </a:t>
                </a:r>
                <a:r>
                  <a:rPr lang="en-US" sz="3000" dirty="0">
                    <a:latin typeface="Times New Roman" panose="02020603050405020304" pitchFamily="18" charset="0"/>
                    <a:ea typeface="Calibri" panose="020F0502020204030204" pitchFamily="34" charset="0"/>
                    <a:cs typeface="Times New Roman" panose="02020603050405020304" pitchFamily="18" charset="0"/>
                  </a:rPr>
                  <a:t>coordinates of a point on the image plane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be </a:t>
                </a:r>
                <a14:m>
                  <m:oMath xmlns:m="http://schemas.openxmlformats.org/officeDocument/2006/math">
                    <m:sSup>
                      <m:sSupPr>
                        <m:ctrlPr>
                          <a:rPr lang="en-US" sz="3000" i="1" smtClean="0">
                            <a:latin typeface="Cambria Math" panose="02040503050406030204" pitchFamily="18" charset="0"/>
                            <a:ea typeface="Calibri" panose="020F0502020204030204" pitchFamily="34" charset="0"/>
                            <a:cs typeface="Calibri" panose="020F0502020204030204" pitchFamily="34" charset="0"/>
                          </a:rPr>
                        </m:ctrlPr>
                      </m:sSupPr>
                      <m:e>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𝑢</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𝑣</m:t>
                        </m:r>
                        <m:r>
                          <a:rPr lang="en-US" sz="3000" i="1">
                            <a:latin typeface="Cambria Math" panose="02040503050406030204" pitchFamily="18" charset="0"/>
                            <a:ea typeface="Calibri" panose="020F0502020204030204" pitchFamily="34" charset="0"/>
                            <a:cs typeface="Calibri" panose="020F0502020204030204" pitchFamily="34" charset="0"/>
                          </a:rPr>
                          <m:t>]</m:t>
                        </m:r>
                      </m:e>
                      <m:sup>
                        <m:r>
                          <a:rPr lang="en-US" sz="3000" b="0" i="1" smtClean="0">
                            <a:latin typeface="Cambria Math" panose="02040503050406030204" pitchFamily="18" charset="0"/>
                            <a:ea typeface="Calibri" panose="020F0502020204030204" pitchFamily="34" charset="0"/>
                            <a:cs typeface="Calibri" panose="020F0502020204030204" pitchFamily="34" charset="0"/>
                          </a:rPr>
                          <m:t>𝑇</m:t>
                        </m:r>
                      </m:sup>
                    </m:sSup>
                  </m:oMath>
                </a14:m>
                <a:r>
                  <a:rPr lang="en-IN" sz="30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Since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image plane </a:t>
                </a:r>
                <a:r>
                  <a:rPr lang="en-US" sz="3000" dirty="0">
                    <a:latin typeface="Times New Roman" panose="02020603050405020304" pitchFamily="18" charset="0"/>
                    <a:ea typeface="Calibri" panose="020F0502020204030204" pitchFamily="34" charset="0"/>
                    <a:cs typeface="Times New Roman" panose="02020603050405020304" pitchFamily="18" charset="0"/>
                  </a:rPr>
                  <a:t>is positioned at distance f from the center of projection,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three dimensional </a:t>
                </a:r>
                <a:r>
                  <a:rPr lang="en-US" sz="3000" dirty="0">
                    <a:latin typeface="Times New Roman" panose="02020603050405020304" pitchFamily="18" charset="0"/>
                    <a:ea typeface="Calibri" panose="020F0502020204030204" pitchFamily="34" charset="0"/>
                    <a:cs typeface="Times New Roman" panose="02020603050405020304" pitchFamily="18" charset="0"/>
                  </a:rPr>
                  <a:t>coordinates of that point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are </a:t>
                </a:r>
                <a14:m>
                  <m:oMath xmlns:m="http://schemas.openxmlformats.org/officeDocument/2006/math">
                    <m:sSup>
                      <m:sSupPr>
                        <m:ctrlPr>
                          <a:rPr lang="en-US" sz="3000" i="1">
                            <a:latin typeface="Cambria Math" panose="02040503050406030204" pitchFamily="18" charset="0"/>
                            <a:ea typeface="Calibri" panose="020F0502020204030204" pitchFamily="34" charset="0"/>
                            <a:cs typeface="Calibri" panose="020F0502020204030204" pitchFamily="34" charset="0"/>
                          </a:rPr>
                        </m:ctrlPr>
                      </m:sSupPr>
                      <m:e>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𝑢</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i="1">
                            <a:latin typeface="Cambria Math" panose="02040503050406030204" pitchFamily="18" charset="0"/>
                            <a:ea typeface="Calibri" panose="020F0502020204030204" pitchFamily="34" charset="0"/>
                            <a:cs typeface="Calibri" panose="020F0502020204030204" pitchFamily="34" charset="0"/>
                          </a:rPr>
                          <m:t>𝑣</m:t>
                        </m:r>
                        <m:r>
                          <a:rPr lang="en-US" sz="3000" b="0" i="1" smtClean="0">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𝑓</m:t>
                        </m:r>
                        <m:r>
                          <a:rPr lang="en-US" sz="3000" i="1">
                            <a:latin typeface="Cambria Math" panose="02040503050406030204" pitchFamily="18" charset="0"/>
                            <a:ea typeface="Calibri" panose="020F0502020204030204" pitchFamily="34" charset="0"/>
                            <a:cs typeface="Calibri" panose="020F0502020204030204" pitchFamily="34" charset="0"/>
                          </a:rPr>
                          <m:t>]</m:t>
                        </m:r>
                      </m:e>
                      <m:sup>
                        <m:r>
                          <a:rPr lang="en-US" sz="3000" i="1">
                            <a:latin typeface="Cambria Math" panose="02040503050406030204" pitchFamily="18" charset="0"/>
                            <a:ea typeface="Calibri" panose="020F0502020204030204" pitchFamily="34" charset="0"/>
                            <a:cs typeface="Calibri" panose="020F0502020204030204" pitchFamily="34" charset="0"/>
                          </a:rPr>
                          <m:t>𝑇</m:t>
                        </m:r>
                      </m:sup>
                    </m:sSup>
                    <m:r>
                      <a:rPr lang="en-US" sz="3000" b="0" i="1" smtClean="0">
                        <a:latin typeface="Cambria Math" panose="02040503050406030204" pitchFamily="18" charset="0"/>
                        <a:ea typeface="Calibri" panose="020F0502020204030204" pitchFamily="34" charset="0"/>
                        <a:cs typeface="Calibri" panose="020F0502020204030204" pitchFamily="34" charset="0"/>
                      </a:rPr>
                      <m:t>.</m:t>
                    </m:r>
                  </m:oMath>
                </a14:m>
                <a:endParaRPr lang="en-US" sz="3000" b="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r>
                  <a:rPr lang="en-US" sz="3000" dirty="0">
                    <a:latin typeface="Times New Roman" panose="02020603050405020304" pitchFamily="18" charset="0"/>
                    <a:ea typeface="Calibri" panose="020F0502020204030204" pitchFamily="34" charset="0"/>
                    <a:cs typeface="Times New Roman" panose="02020603050405020304" pitchFamily="18" charset="0"/>
                  </a:rPr>
                  <a:t>Following a line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from the </a:t>
                </a:r>
                <a:r>
                  <a:rPr lang="en-US" sz="3000" dirty="0">
                    <a:latin typeface="Times New Roman" panose="02020603050405020304" pitchFamily="18" charset="0"/>
                    <a:ea typeface="Calibri" panose="020F0502020204030204" pitchFamily="34" charset="0"/>
                    <a:cs typeface="Times New Roman" panose="02020603050405020304" pitchFamily="18" charset="0"/>
                  </a:rPr>
                  <a:t>origin through [u, v, f]T and out to the object, call the coordinates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of the </a:t>
                </a:r>
                <a:r>
                  <a:rPr lang="en-US" sz="3000" dirty="0">
                    <a:latin typeface="Times New Roman" panose="02020603050405020304" pitchFamily="18" charset="0"/>
                    <a:ea typeface="Calibri" panose="020F0502020204030204" pitchFamily="34" charset="0"/>
                    <a:cs typeface="Times New Roman" panose="02020603050405020304" pitchFamily="18" charset="0"/>
                  </a:rPr>
                  <a:t>point that the ray intersects on the </a:t>
                </a:r>
                <a:r>
                  <a:rPr lang="en-US" sz="3000" dirty="0" smtClean="0">
                    <a:latin typeface="Times New Roman" panose="02020603050405020304" pitchFamily="18" charset="0"/>
                    <a:ea typeface="Calibri" panose="020F0502020204030204" pitchFamily="34" charset="0"/>
                    <a:cs typeface="Times New Roman" panose="02020603050405020304" pitchFamily="18" charset="0"/>
                  </a:rPr>
                  <a:t>object </a:t>
                </a:r>
                <a14:m>
                  <m:oMath xmlns:m="http://schemas.openxmlformats.org/officeDocument/2006/math">
                    <m:sSup>
                      <m:sSupPr>
                        <m:ctrlPr>
                          <a:rPr lang="en-US" sz="3000" i="1">
                            <a:latin typeface="Cambria Math" panose="02040503050406030204" pitchFamily="18" charset="0"/>
                            <a:ea typeface="Calibri" panose="020F0502020204030204" pitchFamily="34" charset="0"/>
                            <a:cs typeface="Calibri" panose="020F0502020204030204" pitchFamily="34" charset="0"/>
                          </a:rPr>
                        </m:ctrlPr>
                      </m:sSupPr>
                      <m:e>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𝑋</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𝑌</m:t>
                        </m:r>
                        <m:r>
                          <a:rPr lang="en-US" sz="3000" i="1">
                            <a:latin typeface="Cambria Math" panose="02040503050406030204" pitchFamily="18" charset="0"/>
                            <a:ea typeface="Calibri" panose="020F0502020204030204" pitchFamily="34" charset="0"/>
                            <a:cs typeface="Calibri" panose="020F0502020204030204" pitchFamily="34" charset="0"/>
                          </a:rPr>
                          <m:t>,</m:t>
                        </m:r>
                        <m:r>
                          <a:rPr lang="en-US" sz="3000" b="0" i="1" smtClean="0">
                            <a:latin typeface="Cambria Math" panose="02040503050406030204" pitchFamily="18" charset="0"/>
                            <a:ea typeface="Calibri" panose="020F0502020204030204" pitchFamily="34" charset="0"/>
                            <a:cs typeface="Calibri" panose="020F0502020204030204" pitchFamily="34" charset="0"/>
                          </a:rPr>
                          <m:t>𝑍</m:t>
                        </m:r>
                        <m:r>
                          <a:rPr lang="en-US" sz="3000" i="1">
                            <a:latin typeface="Cambria Math" panose="02040503050406030204" pitchFamily="18" charset="0"/>
                            <a:ea typeface="Calibri" panose="020F0502020204030204" pitchFamily="34" charset="0"/>
                            <a:cs typeface="Calibri" panose="020F0502020204030204" pitchFamily="34" charset="0"/>
                          </a:rPr>
                          <m:t>]</m:t>
                        </m:r>
                      </m:e>
                      <m:sup>
                        <m:r>
                          <a:rPr lang="en-US" sz="3000" i="1">
                            <a:latin typeface="Cambria Math" panose="02040503050406030204" pitchFamily="18" charset="0"/>
                            <a:ea typeface="Calibri" panose="020F0502020204030204" pitchFamily="34" charset="0"/>
                            <a:cs typeface="Calibri" panose="020F0502020204030204" pitchFamily="34" charset="0"/>
                          </a:rPr>
                          <m:t>𝑇</m:t>
                        </m:r>
                      </m:sup>
                    </m:sSup>
                    <m:r>
                      <a:rPr lang="en-US" sz="3000" b="0" i="1" smtClean="0">
                        <a:latin typeface="Cambria Math" panose="02040503050406030204" pitchFamily="18" charset="0"/>
                        <a:ea typeface="Calibri" panose="020F0502020204030204" pitchFamily="34" charset="0"/>
                        <a:cs typeface="Calibri" panose="020F0502020204030204" pitchFamily="34" charset="0"/>
                      </a:rPr>
                      <m:t>.</m:t>
                    </m:r>
                  </m:oMath>
                </a14:m>
                <a:endParaRPr lang="en-IN" sz="30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5170646"/>
              </a:xfrm>
              <a:prstGeom prst="rect">
                <a:avLst/>
              </a:prstGeom>
              <a:blipFill>
                <a:blip r:embed="rId2"/>
                <a:stretch>
                  <a:fillRect l="-1122" t="-1533" r="-1229" b="-3302"/>
                </a:stretch>
              </a:blipFill>
            </p:spPr>
            <p:txBody>
              <a:bodyPr/>
              <a:lstStyle/>
              <a:p>
                <a:r>
                  <a:rPr lang="en-US">
                    <a:noFill/>
                  </a:rPr>
                  <a:t> </a:t>
                </a:r>
              </a:p>
            </p:txBody>
          </p:sp>
        </mc:Fallback>
      </mc:AlternateContent>
    </p:spTree>
    <p:extLst>
      <p:ext uri="{BB962C8B-B14F-4D97-AF65-F5344CB8AC3E}">
        <p14:creationId xmlns:p14="http://schemas.microsoft.com/office/powerpoint/2010/main" val="3094411974"/>
      </p:ext>
    </p:extLst>
  </p:cSld>
  <p:clrMapOvr>
    <a:masterClrMapping/>
  </p:clrMapOvr>
  <p:transition spd="med"/>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48</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4276427"/>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 New Roman" panose="02020603050405020304" pitchFamily="18" charset="0"/>
                    <a:ea typeface="Calibri" panose="020F0502020204030204" pitchFamily="34" charset="0"/>
                    <a:cs typeface="Times New Roman" panose="02020603050405020304" pitchFamily="18" charset="0"/>
                  </a:rPr>
                  <a:t>The relationship of </a:t>
                </a:r>
                <a:r>
                  <a:rPr lang="en-US" sz="3200" dirty="0">
                    <a:latin typeface="Times New Roman" panose="02020603050405020304" pitchFamily="18" charset="0"/>
                    <a:ea typeface="Calibri" panose="020F0502020204030204" pitchFamily="34" charset="0"/>
                    <a:cs typeface="Times New Roman" panose="02020603050405020304" pitchFamily="18" charset="0"/>
                  </a:rPr>
                  <a:t>the image coordinates and object coordinates can be written</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14:m>
                  <m:oMath xmlns:m="http://schemas.openxmlformats.org/officeDocument/2006/math">
                    <m:r>
                      <a:rPr lang="en-US" sz="3200" b="0" i="1" smtClean="0">
                        <a:latin typeface="Cambria Math" panose="02040503050406030204" pitchFamily="18" charset="0"/>
                        <a:ea typeface="Calibri" panose="020F0502020204030204" pitchFamily="34" charset="0"/>
                        <a:cs typeface="Calibri" panose="020F0502020204030204" pitchFamily="34" charset="0"/>
                      </a:rPr>
                      <m:t>𝑢</m:t>
                    </m:r>
                    <m:r>
                      <a:rPr lang="en-US" sz="3200" b="0" i="1" smtClean="0">
                        <a:latin typeface="Cambria Math" panose="02040503050406030204" pitchFamily="18" charset="0"/>
                        <a:ea typeface="Calibri" panose="020F0502020204030204" pitchFamily="34" charset="0"/>
                        <a:cs typeface="Calibri" panose="020F0502020204030204" pitchFamily="34" charset="0"/>
                      </a:rPr>
                      <m:t>=</m:t>
                    </m:r>
                    <m:r>
                      <a:rPr lang="en-US" sz="3200" b="0" i="1" smtClean="0">
                        <a:latin typeface="Cambria Math" panose="02040503050406030204" pitchFamily="18" charset="0"/>
                        <a:ea typeface="Calibri" panose="020F0502020204030204" pitchFamily="34" charset="0"/>
                        <a:cs typeface="Calibri" panose="020F0502020204030204" pitchFamily="34" charset="0"/>
                      </a:rPr>
                      <m:t>𝑓</m:t>
                    </m:r>
                    <m:d>
                      <m:dPr>
                        <m:ctrlPr>
                          <a:rPr lang="en-US" sz="3200" b="0" i="1" smtClean="0">
                            <a:latin typeface="Cambria Math" panose="02040503050406030204" pitchFamily="18" charset="0"/>
                            <a:ea typeface="Calibri" panose="020F0502020204030204" pitchFamily="34" charset="0"/>
                            <a:cs typeface="Calibri" panose="020F0502020204030204" pitchFamily="34" charset="0"/>
                          </a:rPr>
                        </m:ctrlPr>
                      </m:dPr>
                      <m:e>
                        <m:f>
                          <m:fPr>
                            <m:ctrlPr>
                              <a:rPr lang="en-US" sz="3200" b="0" i="1" smtClean="0">
                                <a:latin typeface="Cambria Math" panose="02040503050406030204" pitchFamily="18" charset="0"/>
                                <a:ea typeface="Calibri" panose="020F0502020204030204" pitchFamily="34" charset="0"/>
                                <a:cs typeface="Calibri" panose="020F0502020204030204" pitchFamily="34" charset="0"/>
                              </a:rPr>
                            </m:ctrlPr>
                          </m:fPr>
                          <m:num>
                            <m:r>
                              <a:rPr lang="en-US" sz="3200" b="0" i="1" smtClean="0">
                                <a:latin typeface="Cambria Math" panose="02040503050406030204" pitchFamily="18" charset="0"/>
                                <a:ea typeface="Calibri" panose="020F0502020204030204" pitchFamily="34" charset="0"/>
                                <a:cs typeface="Calibri" panose="020F0502020204030204" pitchFamily="34" charset="0"/>
                              </a:rPr>
                              <m:t>𝑋</m:t>
                            </m:r>
                          </m:num>
                          <m:den>
                            <m:r>
                              <a:rPr lang="en-US" sz="3200" b="0" i="1" smtClean="0">
                                <a:latin typeface="Cambria Math" panose="02040503050406030204" pitchFamily="18" charset="0"/>
                                <a:ea typeface="Calibri" panose="020F0502020204030204" pitchFamily="34" charset="0"/>
                                <a:cs typeface="Calibri" panose="020F0502020204030204" pitchFamily="34" charset="0"/>
                              </a:rPr>
                              <m:t>𝑍</m:t>
                            </m:r>
                          </m:den>
                        </m:f>
                      </m:e>
                    </m:d>
                    <m:r>
                      <a:rPr lang="en-US" sz="3200" i="1">
                        <a:latin typeface="Cambria Math" panose="02040503050406030204" pitchFamily="18" charset="0"/>
                        <a:ea typeface="Calibri" panose="020F0502020204030204" pitchFamily="34" charset="0"/>
                        <a:cs typeface="Calibri" panose="020F0502020204030204" pitchFamily="34" charset="0"/>
                      </a:rPr>
                      <m:t>,  </m:t>
                    </m:r>
                    <m:r>
                      <a:rPr lang="en-US" sz="3200" i="1">
                        <a:latin typeface="Cambria Math" panose="02040503050406030204" pitchFamily="18" charset="0"/>
                        <a:ea typeface="Calibri" panose="020F0502020204030204" pitchFamily="34" charset="0"/>
                        <a:cs typeface="Calibri" panose="020F0502020204030204" pitchFamily="34" charset="0"/>
                      </a:rPr>
                      <m:t>𝑣</m:t>
                    </m:r>
                    <m:r>
                      <a:rPr lang="en-US" sz="3200" i="1">
                        <a:latin typeface="Cambria Math" panose="02040503050406030204" pitchFamily="18" charset="0"/>
                        <a:ea typeface="Calibri" panose="020F0502020204030204" pitchFamily="34" charset="0"/>
                        <a:cs typeface="Calibri" panose="020F0502020204030204" pitchFamily="34" charset="0"/>
                      </a:rPr>
                      <m:t>=</m:t>
                    </m:r>
                    <m:r>
                      <a:rPr lang="en-US" sz="3200" i="1">
                        <a:latin typeface="Cambria Math" panose="02040503050406030204" pitchFamily="18" charset="0"/>
                        <a:ea typeface="Calibri" panose="020F0502020204030204" pitchFamily="34" charset="0"/>
                        <a:cs typeface="Calibri" panose="020F0502020204030204" pitchFamily="34" charset="0"/>
                      </a:rPr>
                      <m:t>𝑓</m:t>
                    </m:r>
                    <m:d>
                      <m:dPr>
                        <m:ctrlPr>
                          <a:rPr lang="en-US" sz="3200" i="1">
                            <a:latin typeface="Cambria Math" panose="02040503050406030204" pitchFamily="18" charset="0"/>
                            <a:ea typeface="Calibri" panose="020F0502020204030204" pitchFamily="34" charset="0"/>
                            <a:cs typeface="Calibri" panose="020F0502020204030204" pitchFamily="34" charset="0"/>
                          </a:rPr>
                        </m:ctrlPr>
                      </m:dPr>
                      <m:e>
                        <m:f>
                          <m:fPr>
                            <m:ctrlPr>
                              <a:rPr lang="en-US" sz="3200" i="1">
                                <a:latin typeface="Cambria Math" panose="02040503050406030204" pitchFamily="18" charset="0"/>
                                <a:ea typeface="Calibri" panose="020F0502020204030204" pitchFamily="34" charset="0"/>
                                <a:cs typeface="Calibri" panose="020F0502020204030204" pitchFamily="34" charset="0"/>
                              </a:rPr>
                            </m:ctrlPr>
                          </m:fPr>
                          <m:num>
                            <m:r>
                              <a:rPr lang="en-US" sz="3200" b="0" i="1" smtClean="0">
                                <a:latin typeface="Cambria Math" panose="02040503050406030204" pitchFamily="18" charset="0"/>
                                <a:ea typeface="Calibri" panose="020F0502020204030204" pitchFamily="34" charset="0"/>
                                <a:cs typeface="Calibri" panose="020F0502020204030204" pitchFamily="34" charset="0"/>
                              </a:rPr>
                              <m:t>𝑌</m:t>
                            </m:r>
                          </m:num>
                          <m:den>
                            <m:r>
                              <a:rPr lang="en-US" sz="3200" i="1">
                                <a:latin typeface="Cambria Math" panose="02040503050406030204" pitchFamily="18" charset="0"/>
                                <a:ea typeface="Calibri" panose="020F0502020204030204" pitchFamily="34" charset="0"/>
                                <a:cs typeface="Calibri" panose="020F0502020204030204" pitchFamily="34" charset="0"/>
                              </a:rPr>
                              <m:t>𝑍</m:t>
                            </m:r>
                          </m:den>
                        </m:f>
                      </m:e>
                    </m:d>
                  </m:oMath>
                </a14:m>
                <a:endParaRPr lang="en-IN"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r>
                  <a:rPr lang="en-US" sz="3200" b="1" dirty="0" smtClean="0">
                    <a:latin typeface="Times New Roman" panose="02020603050405020304" pitchFamily="18" charset="0"/>
                    <a:ea typeface="Calibri" panose="020F0502020204030204" pitchFamily="34" charset="0"/>
                    <a:cs typeface="Times New Roman" panose="02020603050405020304" pitchFamily="18" charset="0"/>
                  </a:rPr>
                  <a:t>Thus, information </a:t>
                </a:r>
                <a:r>
                  <a:rPr lang="en-US" sz="3200" b="1" dirty="0">
                    <a:latin typeface="Times New Roman" panose="02020603050405020304" pitchFamily="18" charset="0"/>
                    <a:ea typeface="Calibri" panose="020F0502020204030204" pitchFamily="34" charset="0"/>
                    <a:cs typeface="Times New Roman" panose="02020603050405020304" pitchFamily="18" charset="0"/>
                  </a:rPr>
                  <a:t>is lost in the 3D to 2D transformation</a:t>
                </a:r>
                <a:r>
                  <a:rPr lang="en-US" sz="3200" b="1" dirty="0" smtClean="0">
                    <a:latin typeface="Times New Roman" panose="02020603050405020304" pitchFamily="18" charset="0"/>
                    <a:ea typeface="Calibri" panose="020F0502020204030204" pitchFamily="34" charset="0"/>
                    <a:cs typeface="Times New Roman" panose="02020603050405020304" pitchFamily="18" charset="0"/>
                  </a:rPr>
                  <a:t>.</a:t>
                </a:r>
              </a:p>
              <a:p>
                <a:pPr marL="571500" indent="-571500" algn="just">
                  <a:buFont typeface="Arial" panose="020B0604020202020204" pitchFamily="34" charset="0"/>
                  <a:buChar char="•"/>
                </a:pPr>
                <a:r>
                  <a:rPr lang="en-US" sz="3200" dirty="0">
                    <a:latin typeface="Times New Roman" panose="02020603050405020304" pitchFamily="18" charset="0"/>
                    <a:ea typeface="Calibri" panose="020F0502020204030204" pitchFamily="34" charset="0"/>
                    <a:cs typeface="Times New Roman" panose="02020603050405020304" pitchFamily="18" charset="0"/>
                  </a:rPr>
                  <a:t>This is the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first problem </a:t>
                </a:r>
                <a:r>
                  <a:rPr lang="en-US" sz="3200" dirty="0">
                    <a:latin typeface="Times New Roman" panose="02020603050405020304" pitchFamily="18" charset="0"/>
                    <a:ea typeface="Calibri" panose="020F0502020204030204" pitchFamily="34" charset="0"/>
                    <a:cs typeface="Times New Roman" panose="02020603050405020304" pitchFamily="18" charset="0"/>
                  </a:rPr>
                  <a:t>that makes computer vision difficult: the 2D structure seen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on the </a:t>
                </a:r>
                <a:r>
                  <a:rPr lang="en-US" sz="3200" dirty="0">
                    <a:latin typeface="Times New Roman" panose="02020603050405020304" pitchFamily="18" charset="0"/>
                    <a:ea typeface="Calibri" panose="020F0502020204030204" pitchFamily="34" charset="0"/>
                    <a:cs typeface="Times New Roman" panose="02020603050405020304" pitchFamily="18" charset="0"/>
                  </a:rPr>
                  <a:t>image is related in a complex way to the 3D structure of the </a:t>
                </a:r>
                <a:r>
                  <a:rPr lang="en-US" sz="3200" dirty="0" smtClean="0">
                    <a:latin typeface="Times New Roman" panose="02020603050405020304" pitchFamily="18" charset="0"/>
                    <a:ea typeface="Calibri" panose="020F0502020204030204" pitchFamily="34" charset="0"/>
                    <a:cs typeface="Times New Roman" panose="02020603050405020304" pitchFamily="18" charset="0"/>
                  </a:rPr>
                  <a:t>original scene</a:t>
                </a:r>
                <a:r>
                  <a:rPr lang="en-US" sz="3200" dirty="0">
                    <a:latin typeface="Times New Roman" panose="02020603050405020304" pitchFamily="18" charset="0"/>
                    <a:ea typeface="Calibri" panose="020F0502020204030204" pitchFamily="34" charset="0"/>
                    <a:cs typeface="Times New Roman" panose="02020603050405020304" pitchFamily="18" charset="0"/>
                  </a:rPr>
                  <a:t>.</a:t>
                </a:r>
                <a:endParaRPr lang="en-US" sz="3200" dirty="0" smtClean="0">
                  <a:latin typeface="Times New Roman" panose="02020603050405020304" pitchFamily="18" charset="0"/>
                  <a:ea typeface="Calibri" panose="020F0502020204030204" pitchFamily="34" charset="0"/>
                  <a:cs typeface="Times New Roman" panose="02020603050405020304" pitchFamily="18" charset="0"/>
                </a:endParaRPr>
              </a:p>
              <a:p>
                <a:pPr marL="571500" indent="-571500" algn="just">
                  <a:buFont typeface="Arial" panose="020B0604020202020204" pitchFamily="34" charset="0"/>
                  <a:buChar char="•"/>
                </a:pPr>
                <a:endParaRPr lang="en-IN" sz="3200" dirty="0">
                  <a:latin typeface="Times New Roman" panose="02020603050405020304" pitchFamily="18" charset="0"/>
                  <a:ea typeface="Calibri" panose="020F0502020204030204" pitchFamily="34" charset="0"/>
                  <a:cs typeface="Times New Roman" panose="020206030504050203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4276427"/>
              </a:xfrm>
              <a:prstGeom prst="rect">
                <a:avLst/>
              </a:prstGeom>
              <a:blipFill>
                <a:blip r:embed="rId2"/>
                <a:stretch>
                  <a:fillRect l="-1229" t="-1997" r="-1336"/>
                </a:stretch>
              </a:blipFill>
            </p:spPr>
            <p:txBody>
              <a:bodyPr/>
              <a:lstStyle/>
              <a:p>
                <a:r>
                  <a:rPr lang="en-US">
                    <a:noFill/>
                  </a:rPr>
                  <a:t> </a:t>
                </a:r>
              </a:p>
            </p:txBody>
          </p:sp>
        </mc:Fallback>
      </mc:AlternateContent>
    </p:spTree>
    <p:extLst>
      <p:ext uri="{BB962C8B-B14F-4D97-AF65-F5344CB8AC3E}">
        <p14:creationId xmlns:p14="http://schemas.microsoft.com/office/powerpoint/2010/main" val="2570894421"/>
      </p:ext>
    </p:extLst>
  </p:cSld>
  <p:clrMapOvr>
    <a:masterClrMapping/>
  </p:clrMapOvr>
  <p:transition spd="med"/>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49</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6001643"/>
          </a:xfrm>
          <a:prstGeom prst="rect">
            <a:avLst/>
          </a:prstGeom>
        </p:spPr>
        <p:txBody>
          <a:bodyPr wrap="square">
            <a:spAutoFit/>
          </a:bodyPr>
          <a:lstStyle/>
          <a:p>
            <a:pPr algn="just"/>
            <a:r>
              <a:rPr lang="en-US" sz="3200" b="1" dirty="0" smtClean="0">
                <a:latin typeface="Times-Roman"/>
                <a:ea typeface="Calibri" panose="020F0502020204030204" pitchFamily="34" charset="0"/>
                <a:cs typeface="Times New Roman" panose="02020603050405020304" pitchFamily="18" charset="0"/>
              </a:rPr>
              <a:t>2. </a:t>
            </a:r>
            <a:r>
              <a:rPr lang="en-US" sz="3200" b="1" dirty="0">
                <a:latin typeface="Times-Roman"/>
              </a:rPr>
              <a:t>To a computer, the image has to be understood pixel by </a:t>
            </a:r>
            <a:r>
              <a:rPr lang="en-US" sz="3200" b="1" dirty="0" smtClean="0">
                <a:latin typeface="Times-Roman"/>
              </a:rPr>
              <a:t>pixel and clearly </a:t>
            </a:r>
            <a:r>
              <a:rPr lang="en-US" sz="3200" b="1" dirty="0">
                <a:latin typeface="Times-Roman"/>
              </a:rPr>
              <a:t>separable into </a:t>
            </a:r>
            <a:r>
              <a:rPr lang="en-US" sz="3200" b="1" dirty="0" smtClean="0">
                <a:latin typeface="Times-Roman"/>
              </a:rPr>
              <a:t>regions.</a:t>
            </a:r>
            <a:endParaRPr lang="en-US" sz="3200" b="1" dirty="0" smtClean="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buFont typeface="Arial" panose="020B0604020202020204" pitchFamily="34" charset="0"/>
              <a:buChar char="•"/>
            </a:pPr>
            <a:r>
              <a:rPr lang="en-US" sz="3200" dirty="0">
                <a:latin typeface="Times-Roman"/>
              </a:rPr>
              <a:t>An image is represented on a computer as an array of pixels.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Each pixel </a:t>
            </a:r>
            <a:r>
              <a:rPr lang="en-US" sz="3200" dirty="0">
                <a:latin typeface="Times-Roman"/>
              </a:rPr>
              <a:t>corresponds to the intensity and the color of light integrated </a:t>
            </a:r>
            <a:r>
              <a:rPr lang="en-US" sz="3200" dirty="0" smtClean="0">
                <a:latin typeface="Times-Roman"/>
              </a:rPr>
              <a:t>over a </a:t>
            </a:r>
            <a:r>
              <a:rPr lang="en-US" sz="3200" dirty="0">
                <a:latin typeface="Times-Roman"/>
              </a:rPr>
              <a:t>small area of the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A pixel </a:t>
            </a:r>
            <a:r>
              <a:rPr lang="en-US" sz="3200" dirty="0">
                <a:latin typeface="Times-Roman"/>
              </a:rPr>
              <a:t>can be represented as a single value</a:t>
            </a:r>
            <a:r>
              <a:rPr lang="en-US" sz="3200" dirty="0" smtClean="0">
                <a:latin typeface="Times-Roman"/>
              </a:rPr>
              <a:t>, corresponding </a:t>
            </a:r>
            <a:r>
              <a:rPr lang="en-US" sz="3200" dirty="0">
                <a:latin typeface="Times-Roman"/>
              </a:rPr>
              <a:t>to the total intensity of light in that area.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It </a:t>
            </a:r>
            <a:r>
              <a:rPr lang="en-US" sz="3200" dirty="0">
                <a:latin typeface="Times-Roman"/>
              </a:rPr>
              <a:t>can </a:t>
            </a:r>
            <a:r>
              <a:rPr lang="en-US" sz="3200" dirty="0" smtClean="0">
                <a:latin typeface="Times-Roman"/>
              </a:rPr>
              <a:t>also be </a:t>
            </a:r>
            <a:r>
              <a:rPr lang="en-US" sz="3200" dirty="0">
                <a:latin typeface="Times-Roman"/>
              </a:rPr>
              <a:t>represented as a n-tuple of values in some </a:t>
            </a:r>
            <a:r>
              <a:rPr lang="en-US" sz="3200" i="1" dirty="0">
                <a:solidFill>
                  <a:srgbClr val="C00000"/>
                </a:solidFill>
                <a:latin typeface="Times-Italic"/>
              </a:rPr>
              <a:t>c</a:t>
            </a:r>
            <a:r>
              <a:rPr lang="en-US" sz="3200" i="1" dirty="0">
                <a:solidFill>
                  <a:schemeClr val="accent3">
                    <a:lumMod val="60000"/>
                    <a:lumOff val="40000"/>
                  </a:schemeClr>
                </a:solidFill>
                <a:latin typeface="Times-Italic"/>
              </a:rPr>
              <a:t>o</a:t>
            </a:r>
            <a:r>
              <a:rPr lang="en-US" sz="3200" i="1" dirty="0">
                <a:solidFill>
                  <a:srgbClr val="7030A0"/>
                </a:solidFill>
                <a:latin typeface="Times-Italic"/>
              </a:rPr>
              <a:t>l</a:t>
            </a:r>
            <a:r>
              <a:rPr lang="en-US" sz="3200" i="1" dirty="0">
                <a:solidFill>
                  <a:srgbClr val="00B050"/>
                </a:solidFill>
                <a:latin typeface="Times-Italic"/>
              </a:rPr>
              <a:t>o</a:t>
            </a:r>
            <a:r>
              <a:rPr lang="en-US" sz="3200" i="1" dirty="0">
                <a:solidFill>
                  <a:schemeClr val="accent6">
                    <a:lumMod val="75000"/>
                  </a:schemeClr>
                </a:solidFill>
                <a:latin typeface="Times-Italic"/>
              </a:rPr>
              <a:t>r</a:t>
            </a:r>
            <a:r>
              <a:rPr lang="en-US" sz="3200" i="1" dirty="0">
                <a:latin typeface="Times-Italic"/>
              </a:rPr>
              <a:t> </a:t>
            </a:r>
            <a:r>
              <a:rPr lang="en-US" sz="3200" i="1" dirty="0" smtClean="0">
                <a:latin typeface="Times-Italic"/>
              </a:rPr>
              <a:t>space</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A typical color </a:t>
            </a:r>
            <a:r>
              <a:rPr lang="en-US" sz="3200" dirty="0">
                <a:latin typeface="Times-Roman"/>
              </a:rPr>
              <a:t>space is RGB (</a:t>
            </a:r>
            <a:r>
              <a:rPr lang="en-US" sz="3200" dirty="0">
                <a:solidFill>
                  <a:schemeClr val="accent6">
                    <a:lumMod val="75000"/>
                  </a:schemeClr>
                </a:solidFill>
                <a:latin typeface="Times-Roman"/>
              </a:rPr>
              <a:t>Red</a:t>
            </a:r>
            <a:r>
              <a:rPr lang="en-US" sz="3200" dirty="0">
                <a:latin typeface="Times-Roman"/>
              </a:rPr>
              <a:t>-</a:t>
            </a:r>
            <a:r>
              <a:rPr lang="en-US" sz="3200" dirty="0">
                <a:solidFill>
                  <a:srgbClr val="00B050"/>
                </a:solidFill>
                <a:latin typeface="Times-Roman"/>
              </a:rPr>
              <a:t>Green</a:t>
            </a:r>
            <a:r>
              <a:rPr lang="en-US" sz="3200" dirty="0">
                <a:latin typeface="Times-Roman"/>
              </a:rPr>
              <a:t>-</a:t>
            </a:r>
            <a:r>
              <a:rPr lang="en-US" sz="3200" dirty="0">
                <a:solidFill>
                  <a:srgbClr val="0070C0"/>
                </a:solidFill>
                <a:latin typeface="Times-Roman"/>
              </a:rPr>
              <a:t>Blue</a:t>
            </a:r>
            <a:r>
              <a:rPr lang="en-US" sz="3200" dirty="0">
                <a:latin typeface="Times-Roman"/>
              </a:rPr>
              <a:t>).</a:t>
            </a:r>
            <a:endParaRPr lang="en-US" sz="3200" b="1"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364862"/>
      </p:ext>
    </p:extLst>
  </p:cSld>
  <p:clrMapOvr>
    <a:masterClrMapping/>
  </p:clrMapOvr>
  <p:transition spd="med"/>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50</a:t>
            </a:fld>
            <a:endParaRPr dirty="0"/>
          </a:p>
        </p:txBody>
      </p:sp>
      <p:sp>
        <p:nvSpPr>
          <p:cNvPr id="4" name="TextBox 3"/>
          <p:cNvSpPr txBox="1"/>
          <p:nvPr/>
        </p:nvSpPr>
        <p:spPr>
          <a:xfrm>
            <a:off x="1583618"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A large variety of colors can be represented by a linear combination of the ‘standard’ </a:t>
            </a:r>
            <a:r>
              <a:rPr lang="en-US" sz="3200" b="1" dirty="0" smtClean="0">
                <a:solidFill>
                  <a:srgbClr val="C00000"/>
                </a:solidFill>
                <a:latin typeface="Times-Roman"/>
              </a:rPr>
              <a:t>red</a:t>
            </a:r>
            <a:r>
              <a:rPr lang="en-US" sz="3200" dirty="0" smtClean="0">
                <a:latin typeface="Times-Roman"/>
              </a:rPr>
              <a:t>, </a:t>
            </a:r>
            <a:r>
              <a:rPr lang="en-US" sz="3200" b="1" dirty="0" smtClean="0">
                <a:solidFill>
                  <a:srgbClr val="00B050"/>
                </a:solidFill>
                <a:latin typeface="Times-Roman"/>
              </a:rPr>
              <a:t>green</a:t>
            </a:r>
            <a:r>
              <a:rPr lang="en-US" sz="3200" b="1" dirty="0" smtClean="0">
                <a:latin typeface="Times-Roman"/>
              </a:rPr>
              <a:t> and </a:t>
            </a:r>
            <a:r>
              <a:rPr lang="en-US" sz="3200" b="1" dirty="0" smtClean="0">
                <a:solidFill>
                  <a:schemeClr val="accent1">
                    <a:lumMod val="75000"/>
                    <a:lumOff val="25000"/>
                  </a:schemeClr>
                </a:solidFill>
                <a:latin typeface="Times-Roman"/>
              </a:rPr>
              <a:t>blue</a:t>
            </a:r>
            <a:r>
              <a:rPr lang="en-US" sz="3200" b="1" dirty="0" smtClean="0">
                <a:latin typeface="Times-Roman"/>
              </a:rPr>
              <a:t> </a:t>
            </a:r>
            <a:r>
              <a:rPr lang="en-US" sz="3200" dirty="0" smtClean="0">
                <a:latin typeface="Times-Roman"/>
              </a:rPr>
              <a:t>primary colors- </a:t>
            </a:r>
            <a:r>
              <a:rPr lang="en-US" sz="3200" dirty="0">
                <a:latin typeface="Times-Roman"/>
              </a:rPr>
              <a:t>the coefficients in this linear combination are </a:t>
            </a:r>
            <a:r>
              <a:rPr lang="en-US" sz="3200" dirty="0" smtClean="0">
                <a:latin typeface="Times-Roman"/>
              </a:rPr>
              <a:t>the pixel’s </a:t>
            </a:r>
            <a:r>
              <a:rPr lang="en-US" sz="3200" dirty="0">
                <a:latin typeface="Times-Roman"/>
              </a:rPr>
              <a:t>RGB values.</a:t>
            </a:r>
            <a:endParaRPr lang="en-US" sz="3200" dirty="0" smtClean="0">
              <a:latin typeface="Times-Roman"/>
            </a:endParaRPr>
          </a:p>
          <a:p>
            <a:pPr marL="457200" indent="-457200" algn="just">
              <a:buFont typeface="Arial" panose="020B0604020202020204" pitchFamily="34" charset="0"/>
              <a:buChar char="•"/>
            </a:pPr>
            <a:r>
              <a:rPr lang="en-US" sz="3200" dirty="0">
                <a:latin typeface="Times-Roman"/>
              </a:rPr>
              <a:t>These will often be numbers between 0 and 1</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For example</a:t>
            </a:r>
            <a:r>
              <a:rPr lang="en-US" sz="3200" dirty="0">
                <a:latin typeface="Times-Roman"/>
              </a:rPr>
              <a:t>: the RGB value </a:t>
            </a:r>
            <a:r>
              <a:rPr lang="en-US" sz="3200" dirty="0">
                <a:solidFill>
                  <a:srgbClr val="C00000"/>
                </a:solidFill>
                <a:latin typeface="CMR10"/>
              </a:rPr>
              <a:t>(1</a:t>
            </a:r>
            <a:r>
              <a:rPr lang="en-US" sz="3200" i="1" dirty="0">
                <a:solidFill>
                  <a:srgbClr val="C00000"/>
                </a:solidFill>
                <a:latin typeface="CMMI10"/>
              </a:rPr>
              <a:t>, </a:t>
            </a:r>
            <a:r>
              <a:rPr lang="en-US" sz="3200" dirty="0">
                <a:solidFill>
                  <a:srgbClr val="C00000"/>
                </a:solidFill>
                <a:latin typeface="CMR10"/>
              </a:rPr>
              <a:t>0</a:t>
            </a:r>
            <a:r>
              <a:rPr lang="en-US" sz="3200" i="1" dirty="0">
                <a:solidFill>
                  <a:srgbClr val="C00000"/>
                </a:solidFill>
                <a:latin typeface="CMMI10"/>
              </a:rPr>
              <a:t>, </a:t>
            </a:r>
            <a:r>
              <a:rPr lang="en-US" sz="3200" dirty="0">
                <a:solidFill>
                  <a:srgbClr val="C00000"/>
                </a:solidFill>
                <a:latin typeface="CMR10"/>
              </a:rPr>
              <a:t>0) </a:t>
            </a:r>
            <a:r>
              <a:rPr lang="en-US" sz="3200" dirty="0">
                <a:latin typeface="Times-Roman"/>
              </a:rPr>
              <a:t>would denote a pixel that is 100% </a:t>
            </a:r>
            <a:r>
              <a:rPr lang="en-US" sz="3200" b="1" dirty="0">
                <a:solidFill>
                  <a:srgbClr val="C00000"/>
                </a:solidFill>
                <a:latin typeface="Times-Roman"/>
              </a:rPr>
              <a:t>red</a:t>
            </a:r>
            <a:r>
              <a:rPr lang="en-US" sz="3200" dirty="0" smtClean="0">
                <a:latin typeface="Times-Roman"/>
              </a:rPr>
              <a:t>; </a:t>
            </a:r>
            <a:r>
              <a:rPr lang="en-US" sz="3200" dirty="0" smtClean="0">
                <a:latin typeface="CMR10"/>
              </a:rPr>
              <a:t>(</a:t>
            </a:r>
            <a:r>
              <a:rPr lang="en-US" sz="3200" dirty="0">
                <a:latin typeface="CMR10"/>
              </a:rPr>
              <a:t>0</a:t>
            </a:r>
            <a:r>
              <a:rPr lang="en-US" sz="3200" i="1" dirty="0">
                <a:latin typeface="CMMI10"/>
              </a:rPr>
              <a:t>.</a:t>
            </a:r>
            <a:r>
              <a:rPr lang="en-US" sz="3200" dirty="0">
                <a:latin typeface="CMR10"/>
              </a:rPr>
              <a:t>25</a:t>
            </a:r>
            <a:r>
              <a:rPr lang="en-US" sz="3200" i="1" dirty="0">
                <a:latin typeface="CMMI10"/>
              </a:rPr>
              <a:t>, </a:t>
            </a:r>
            <a:r>
              <a:rPr lang="en-US" sz="3200" dirty="0">
                <a:latin typeface="CMR10"/>
              </a:rPr>
              <a:t>0</a:t>
            </a:r>
            <a:r>
              <a:rPr lang="en-US" sz="3200" i="1" dirty="0">
                <a:latin typeface="CMMI10"/>
              </a:rPr>
              <a:t>.</a:t>
            </a:r>
            <a:r>
              <a:rPr lang="en-US" sz="3200" dirty="0">
                <a:latin typeface="CMR10"/>
              </a:rPr>
              <a:t>25</a:t>
            </a:r>
            <a:r>
              <a:rPr lang="en-US" sz="3200" i="1" dirty="0">
                <a:latin typeface="CMMI10"/>
              </a:rPr>
              <a:t>, </a:t>
            </a:r>
            <a:r>
              <a:rPr lang="en-US" sz="3200" dirty="0">
                <a:latin typeface="CMR10"/>
              </a:rPr>
              <a:t>0) </a:t>
            </a:r>
            <a:r>
              <a:rPr lang="en-US" sz="3200" dirty="0">
                <a:latin typeface="Times-Roman"/>
              </a:rPr>
              <a:t>would be a pixel with 25% </a:t>
            </a:r>
            <a:r>
              <a:rPr lang="en-US" sz="3200" b="1" dirty="0">
                <a:solidFill>
                  <a:srgbClr val="C00000"/>
                </a:solidFill>
                <a:latin typeface="Times-Roman"/>
              </a:rPr>
              <a:t>red</a:t>
            </a:r>
            <a:r>
              <a:rPr lang="en-US" sz="3200" dirty="0">
                <a:latin typeface="Times-Roman"/>
              </a:rPr>
              <a:t> and 25% </a:t>
            </a:r>
            <a:r>
              <a:rPr lang="en-US" sz="3200" b="1" dirty="0">
                <a:solidFill>
                  <a:srgbClr val="00B050"/>
                </a:solidFill>
                <a:latin typeface="Times-Roman"/>
              </a:rPr>
              <a:t>green</a:t>
            </a:r>
            <a:r>
              <a:rPr lang="en-US" sz="3200" b="1" dirty="0">
                <a:latin typeface="Times-Roman"/>
              </a:rPr>
              <a:t>, </a:t>
            </a:r>
            <a:r>
              <a:rPr lang="en-US" sz="3200" b="1" dirty="0">
                <a:solidFill>
                  <a:srgbClr val="FFC000"/>
                </a:solidFill>
                <a:latin typeface="Times-Roman"/>
              </a:rPr>
              <a:t>a </a:t>
            </a:r>
            <a:r>
              <a:rPr lang="en-US" sz="3200" b="1" dirty="0" smtClean="0">
                <a:solidFill>
                  <a:srgbClr val="FFC000"/>
                </a:solidFill>
                <a:latin typeface="Times-Roman"/>
              </a:rPr>
              <a:t>dark yellow</a:t>
            </a:r>
            <a:r>
              <a:rPr lang="en-US" sz="3200" dirty="0">
                <a:latin typeface="Times-Roman"/>
              </a:rPr>
              <a:t>; </a:t>
            </a:r>
            <a:r>
              <a:rPr lang="en-US" sz="3200" dirty="0">
                <a:latin typeface="CMR10"/>
              </a:rPr>
              <a:t>(0</a:t>
            </a:r>
            <a:r>
              <a:rPr lang="en-US" sz="3200" i="1" dirty="0">
                <a:latin typeface="CMMI10"/>
              </a:rPr>
              <a:t>, </a:t>
            </a:r>
            <a:r>
              <a:rPr lang="en-US" sz="3200" dirty="0">
                <a:latin typeface="CMR10"/>
              </a:rPr>
              <a:t>0</a:t>
            </a:r>
            <a:r>
              <a:rPr lang="en-US" sz="3200" i="1" dirty="0">
                <a:latin typeface="CMMI10"/>
              </a:rPr>
              <a:t>, </a:t>
            </a:r>
            <a:r>
              <a:rPr lang="en-US" sz="3200" dirty="0">
                <a:latin typeface="CMR10"/>
              </a:rPr>
              <a:t>0) </a:t>
            </a:r>
            <a:r>
              <a:rPr lang="en-US" sz="3200" dirty="0">
                <a:latin typeface="Times-Roman"/>
              </a:rPr>
              <a:t>would be </a:t>
            </a:r>
            <a:r>
              <a:rPr lang="en-US" sz="3200" b="1" dirty="0">
                <a:latin typeface="Times-Roman"/>
              </a:rPr>
              <a:t>black</a:t>
            </a:r>
            <a:r>
              <a:rPr lang="en-US" sz="3200" dirty="0">
                <a:latin typeface="Times-Roman"/>
              </a:rPr>
              <a:t>; and </a:t>
            </a:r>
            <a:r>
              <a:rPr lang="en-US" sz="3200" dirty="0">
                <a:latin typeface="CMR10"/>
              </a:rPr>
              <a:t>(1</a:t>
            </a:r>
            <a:r>
              <a:rPr lang="en-US" sz="3200" i="1" dirty="0">
                <a:latin typeface="CMMI10"/>
              </a:rPr>
              <a:t>, </a:t>
            </a:r>
            <a:r>
              <a:rPr lang="en-US" sz="3200" dirty="0">
                <a:latin typeface="CMR10"/>
              </a:rPr>
              <a:t>1</a:t>
            </a:r>
            <a:r>
              <a:rPr lang="en-US" sz="3200" i="1" dirty="0">
                <a:latin typeface="CMMI10"/>
              </a:rPr>
              <a:t>, </a:t>
            </a:r>
            <a:r>
              <a:rPr lang="en-US" sz="3200" dirty="0">
                <a:latin typeface="CMR10"/>
              </a:rPr>
              <a:t>1) </a:t>
            </a:r>
            <a:r>
              <a:rPr lang="en-US" sz="3200" dirty="0">
                <a:latin typeface="Times-Roman"/>
              </a:rPr>
              <a:t>would be </a:t>
            </a:r>
            <a:r>
              <a:rPr lang="en-US" sz="3200" b="1" dirty="0">
                <a:latin typeface="Times-Roman"/>
              </a:rPr>
              <a:t>white</a:t>
            </a:r>
            <a:r>
              <a:rPr lang="en-US" sz="3200" dirty="0" smtClean="0">
                <a:latin typeface="Times-Roman"/>
              </a:rPr>
              <a:t>.   </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50369474"/>
      </p:ext>
    </p:extLst>
  </p:cSld>
  <p:clrMapOvr>
    <a:masterClrMapping/>
  </p:clrMapOvr>
  <p:transition spd="med"/>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51</a:t>
            </a:fld>
            <a:endParaRPr dirty="0"/>
          </a:p>
        </p:txBody>
      </p:sp>
      <p:sp>
        <p:nvSpPr>
          <p:cNvPr id="4" name="TextBox 3"/>
          <p:cNvSpPr txBox="1"/>
          <p:nvPr/>
        </p:nvSpPr>
        <p:spPr>
          <a:xfrm>
            <a:off x="2204720" y="344867"/>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351790" y="1162852"/>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Figure </a:t>
            </a:r>
            <a:r>
              <a:rPr lang="en-US" sz="3200" dirty="0" smtClean="0">
                <a:latin typeface="Times-Roman"/>
              </a:rPr>
              <a:t>2.4.2 </a:t>
            </a:r>
            <a:r>
              <a:rPr lang="en-US" sz="3200" dirty="0">
                <a:latin typeface="Times-Roman"/>
              </a:rPr>
              <a:t>illustrates a second difficulty in computer vision.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To </a:t>
            </a:r>
            <a:r>
              <a:rPr lang="en-US" sz="3200" dirty="0">
                <a:latin typeface="Times-Roman"/>
              </a:rPr>
              <a:t>a human</a:t>
            </a:r>
            <a:r>
              <a:rPr lang="en-US" sz="3200" dirty="0" smtClean="0">
                <a:latin typeface="Times-Roman"/>
              </a:rPr>
              <a:t>, a </a:t>
            </a:r>
            <a:r>
              <a:rPr lang="en-US" sz="3200" dirty="0">
                <a:latin typeface="Times-Roman"/>
              </a:rPr>
              <a:t>scene such as Figure </a:t>
            </a:r>
            <a:r>
              <a:rPr lang="en-US" sz="3200" dirty="0" smtClean="0">
                <a:latin typeface="Times-Roman"/>
              </a:rPr>
              <a:t>2.4.2(b</a:t>
            </a:r>
            <a:r>
              <a:rPr lang="en-US" sz="3200" dirty="0">
                <a:latin typeface="Times-Roman"/>
              </a:rPr>
              <a:t>) consists of some objects —mountains, trees</a:t>
            </a:r>
            <a:r>
              <a:rPr lang="en-US" sz="3200" dirty="0" smtClean="0">
                <a:latin typeface="Times-Roman"/>
              </a:rPr>
              <a:t>, river </a:t>
            </a:r>
            <a:r>
              <a:rPr lang="en-US" sz="3200" dirty="0">
                <a:latin typeface="Times-Roman"/>
              </a:rPr>
              <a:t>— positioned in the scene relative to each other.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To </a:t>
            </a:r>
            <a:r>
              <a:rPr lang="en-US" sz="3200" dirty="0">
                <a:latin typeface="Times-Roman"/>
              </a:rPr>
              <a:t>a computer, </a:t>
            </a:r>
            <a:r>
              <a:rPr lang="en-US" sz="3200" dirty="0" smtClean="0">
                <a:latin typeface="Times-Roman"/>
              </a:rPr>
              <a:t>the image </a:t>
            </a:r>
            <a:r>
              <a:rPr lang="en-US" sz="3200" dirty="0">
                <a:latin typeface="Times-Roman"/>
              </a:rPr>
              <a:t>has to be understood pixel by pixel, as in Figure </a:t>
            </a:r>
            <a:r>
              <a:rPr lang="en-US" sz="3200" dirty="0" smtClean="0">
                <a:latin typeface="Times-Roman"/>
              </a:rPr>
              <a:t>2.4.2(a</a:t>
            </a:r>
            <a:r>
              <a:rPr lang="en-US" sz="3200" dirty="0">
                <a:latin typeface="Times-Roman"/>
              </a:rPr>
              <a:t>) and the </a:t>
            </a:r>
            <a:r>
              <a:rPr lang="en-US" sz="3200" dirty="0" smtClean="0">
                <a:latin typeface="Times-Roman"/>
              </a:rPr>
              <a:t>scene viewed </a:t>
            </a:r>
            <a:r>
              <a:rPr lang="en-US" sz="3200" dirty="0">
                <a:latin typeface="Times-Roman"/>
              </a:rPr>
              <a:t>at this scale is far less clearly separable into regions </a:t>
            </a:r>
            <a:r>
              <a:rPr lang="en-US" sz="3200" dirty="0" smtClean="0">
                <a:latin typeface="Times-Roman"/>
              </a:rPr>
              <a:t>corresponding to </a:t>
            </a:r>
            <a:r>
              <a:rPr lang="en-US" sz="3200" dirty="0">
                <a:latin typeface="Times-Roman"/>
              </a:rPr>
              <a:t>objects.</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2426288"/>
      </p:ext>
    </p:extLst>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52</a:t>
            </a:fld>
            <a:endParaRPr dirty="0"/>
          </a:p>
        </p:txBody>
      </p:sp>
      <p:sp>
        <p:nvSpPr>
          <p:cNvPr id="4" name="TextBox 3"/>
          <p:cNvSpPr txBox="1"/>
          <p:nvPr/>
        </p:nvSpPr>
        <p:spPr>
          <a:xfrm>
            <a:off x="2005331" y="118468"/>
            <a:ext cx="9554210"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 Vision and Tracking</a:t>
            </a:r>
          </a:p>
        </p:txBody>
      </p:sp>
      <p:sp>
        <p:nvSpPr>
          <p:cNvPr id="9" name="Rectangle 8"/>
          <p:cNvSpPr/>
          <p:nvPr/>
        </p:nvSpPr>
        <p:spPr>
          <a:xfrm>
            <a:off x="1259457" y="5780781"/>
            <a:ext cx="9920377" cy="584775"/>
          </a:xfrm>
          <a:prstGeom prst="rect">
            <a:avLst/>
          </a:prstGeom>
        </p:spPr>
        <p:txBody>
          <a:bodyPr wrap="square">
            <a:spAutoFit/>
          </a:bodyPr>
          <a:lstStyle/>
          <a:p>
            <a:pPr algn="just"/>
            <a:r>
              <a:rPr lang="en-US" sz="3200" b="1" dirty="0" smtClean="0"/>
              <a:t>Fig 2.4.2 (a</a:t>
            </a:r>
            <a:r>
              <a:rPr lang="en-US" sz="3200" b="1" dirty="0"/>
              <a:t>) Close up (b) of a section of a digital image</a:t>
            </a:r>
            <a:r>
              <a:rPr lang="en-US" sz="3200" b="1" dirty="0" smtClean="0"/>
              <a:t>.</a:t>
            </a:r>
            <a:endParaRPr lang="en-US" sz="3200" b="1" dirty="0" smtClean="0">
              <a:latin typeface="Times-Roman"/>
            </a:endParaRPr>
          </a:p>
        </p:txBody>
      </p:sp>
      <p:pic>
        <p:nvPicPr>
          <p:cNvPr id="3" name="Picture 2"/>
          <p:cNvPicPr>
            <a:picLocks noChangeAspect="1"/>
          </p:cNvPicPr>
          <p:nvPr/>
        </p:nvPicPr>
        <p:blipFill>
          <a:blip r:embed="rId2"/>
          <a:stretch>
            <a:fillRect/>
          </a:stretch>
        </p:blipFill>
        <p:spPr>
          <a:xfrm>
            <a:off x="1632814" y="1067206"/>
            <a:ext cx="8845092" cy="4472721"/>
          </a:xfrm>
          <a:prstGeom prst="rect">
            <a:avLst/>
          </a:prstGeom>
          <a:ln w="38100">
            <a:solidFill>
              <a:schemeClr val="tx1"/>
            </a:solidFill>
          </a:ln>
        </p:spPr>
      </p:pic>
    </p:spTree>
    <p:extLst>
      <p:ext uri="{BB962C8B-B14F-4D97-AF65-F5344CB8AC3E}">
        <p14:creationId xmlns:p14="http://schemas.microsoft.com/office/powerpoint/2010/main" val="2337426761"/>
      </p:ext>
    </p:extLst>
  </p:cSld>
  <p:clrMapOvr>
    <a:masterClrMapping/>
  </p:clrMapOvr>
  <p:transition spd="med"/>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53</a:t>
            </a:fld>
            <a:endParaRPr dirty="0"/>
          </a:p>
        </p:txBody>
      </p:sp>
      <p:sp>
        <p:nvSpPr>
          <p:cNvPr id="4" name="TextBox 3"/>
          <p:cNvSpPr txBox="1"/>
          <p:nvPr/>
        </p:nvSpPr>
        <p:spPr>
          <a:xfrm>
            <a:off x="1278254" y="454968"/>
            <a:ext cx="10480675" cy="646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3600" b="1" dirty="0">
                <a:latin typeface="Times-Roman"/>
              </a:rPr>
              <a:t>2.4.1 Vision and Tracking: Following the road</a:t>
            </a:r>
          </a:p>
        </p:txBody>
      </p:sp>
      <p:sp>
        <p:nvSpPr>
          <p:cNvPr id="9" name="Rectangle 8"/>
          <p:cNvSpPr/>
          <p:nvPr/>
        </p:nvSpPr>
        <p:spPr>
          <a:xfrm>
            <a:off x="351790" y="1162852"/>
            <a:ext cx="11407140" cy="5016758"/>
          </a:xfrm>
          <a:prstGeom prst="rect">
            <a:avLst/>
          </a:prstGeom>
        </p:spPr>
        <p:txBody>
          <a:bodyPr wrap="square">
            <a:spAutoFit/>
          </a:bodyPr>
          <a:lstStyle/>
          <a:p>
            <a:pPr marL="571500" indent="-571500" algn="just">
              <a:buFont typeface="Arial" panose="020B0604020202020204" pitchFamily="34" charset="0"/>
              <a:buChar char="•"/>
            </a:pPr>
            <a:r>
              <a:rPr lang="en-US" sz="3200" dirty="0" smtClean="0">
                <a:latin typeface="Times-Roman"/>
              </a:rPr>
              <a:t>Consider the problem </a:t>
            </a:r>
            <a:r>
              <a:rPr lang="en-US" sz="3200" dirty="0">
                <a:latin typeface="Times-Roman"/>
              </a:rPr>
              <a:t>illustrated in </a:t>
            </a:r>
            <a:r>
              <a:rPr lang="en-US" sz="3200" dirty="0" smtClean="0">
                <a:latin typeface="Times-Roman"/>
              </a:rPr>
              <a:t>Figure 2.4.3     </a:t>
            </a:r>
          </a:p>
          <a:p>
            <a:pPr marL="457200" indent="-457200" algn="just">
              <a:buFont typeface="Arial" panose="020B0604020202020204" pitchFamily="34" charset="0"/>
              <a:buChar char="•"/>
            </a:pPr>
            <a:r>
              <a:rPr lang="en-US" sz="3200" dirty="0">
                <a:latin typeface="Times-Roman"/>
              </a:rPr>
              <a:t>This figure shows a </a:t>
            </a:r>
            <a:r>
              <a:rPr lang="en-US" sz="3200" dirty="0" smtClean="0">
                <a:latin typeface="Times-Roman"/>
              </a:rPr>
              <a:t>robot using </a:t>
            </a:r>
            <a:r>
              <a:rPr lang="en-US" sz="3200" dirty="0">
                <a:latin typeface="Times-Roman"/>
              </a:rPr>
              <a:t>its visual sensor to navigate along a path delineated by white </a:t>
            </a:r>
            <a:r>
              <a:rPr lang="en-US" sz="3200" dirty="0" smtClean="0">
                <a:latin typeface="Times-Roman"/>
              </a:rPr>
              <a:t>lines on </a:t>
            </a:r>
            <a:r>
              <a:rPr lang="en-US" sz="3200" dirty="0">
                <a:latin typeface="Times-Roman"/>
              </a:rPr>
              <a:t>the </a:t>
            </a:r>
            <a:r>
              <a:rPr lang="en-US" sz="3200" dirty="0" smtClean="0">
                <a:latin typeface="Times-Roman"/>
              </a:rPr>
              <a:t>ground.</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problems involved are to first identify the lanes (</a:t>
            </a:r>
            <a:r>
              <a:rPr lang="en-US" sz="3200" dirty="0" smtClean="0">
                <a:latin typeface="Times-Roman"/>
              </a:rPr>
              <a:t>the white </a:t>
            </a:r>
            <a:r>
              <a:rPr lang="en-US" sz="3200" dirty="0">
                <a:latin typeface="Times-Roman"/>
              </a:rPr>
              <a:t>lines in the image) and then determine where these lines are in </a:t>
            </a:r>
            <a:r>
              <a:rPr lang="en-US" sz="3200" dirty="0" smtClean="0">
                <a:latin typeface="Times-Roman"/>
              </a:rPr>
              <a:t>space with </a:t>
            </a:r>
            <a:r>
              <a:rPr lang="en-US" sz="3200" dirty="0">
                <a:latin typeface="Times-Roman"/>
              </a:rPr>
              <a:t>respect to the robot</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We will look at some of the </a:t>
            </a:r>
            <a:r>
              <a:rPr lang="en-US" sz="3200" dirty="0" smtClean="0">
                <a:latin typeface="Times-Roman"/>
              </a:rPr>
              <a:t>computational </a:t>
            </a:r>
            <a:r>
              <a:rPr lang="en-US" sz="3200" dirty="0">
                <a:latin typeface="Times-Roman"/>
              </a:rPr>
              <a:t>steps in road following and how this might be done on a </a:t>
            </a:r>
            <a:r>
              <a:rPr lang="en-US" sz="3200" dirty="0" smtClean="0">
                <a:latin typeface="Times-Roman"/>
              </a:rPr>
              <a:t>cluster.</a:t>
            </a:r>
          </a:p>
          <a:p>
            <a:pPr marL="457200" indent="-457200" algn="just">
              <a:buFont typeface="Arial" panose="020B0604020202020204" pitchFamily="34" charset="0"/>
              <a:buChar char="•"/>
            </a:pPr>
            <a:r>
              <a:rPr lang="en-US" sz="3200" dirty="0" smtClean="0">
                <a:latin typeface="Times-Roman"/>
              </a:rPr>
              <a:t>A robot such </a:t>
            </a:r>
            <a:r>
              <a:rPr lang="en-US" sz="3200" dirty="0">
                <a:latin typeface="Times-Roman"/>
              </a:rPr>
              <a:t>as the Pioneer 3-AT shown in Figure </a:t>
            </a:r>
            <a:r>
              <a:rPr lang="en-US" sz="3200" dirty="0" smtClean="0">
                <a:latin typeface="Times-Roman"/>
              </a:rPr>
              <a:t>2.4.3(a</a:t>
            </a:r>
            <a:r>
              <a:rPr lang="en-US" sz="3200" dirty="0">
                <a:latin typeface="Times-Roman"/>
              </a:rPr>
              <a:t>) does not typically </a:t>
            </a:r>
            <a:r>
              <a:rPr lang="en-US" sz="3200" dirty="0" smtClean="0">
                <a:latin typeface="Times-Roman"/>
              </a:rPr>
              <a:t>carry an </a:t>
            </a:r>
            <a:r>
              <a:rPr lang="en-US" sz="3200" dirty="0">
                <a:latin typeface="Times-Roman"/>
              </a:rPr>
              <a:t>onboard cluster.</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48927819"/>
      </p:ext>
    </p:extLst>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54</a:t>
            </a:fld>
            <a:endParaRPr dirty="0"/>
          </a:p>
        </p:txBody>
      </p:sp>
      <p:sp>
        <p:nvSpPr>
          <p:cNvPr id="4" name="TextBox 3"/>
          <p:cNvSpPr txBox="1"/>
          <p:nvPr/>
        </p:nvSpPr>
        <p:spPr>
          <a:xfrm>
            <a:off x="-345057" y="454968"/>
            <a:ext cx="12335774"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a:latin typeface="Times-Roman"/>
              </a:rPr>
              <a:t>2.4.1 Vision and Tracking: Following the road</a:t>
            </a:r>
          </a:p>
        </p:txBody>
      </p:sp>
      <p:sp>
        <p:nvSpPr>
          <p:cNvPr id="9" name="Rectangle 8"/>
          <p:cNvSpPr/>
          <p:nvPr/>
        </p:nvSpPr>
        <p:spPr>
          <a:xfrm>
            <a:off x="351790" y="5343718"/>
            <a:ext cx="11407140" cy="1077218"/>
          </a:xfrm>
          <a:prstGeom prst="rect">
            <a:avLst/>
          </a:prstGeom>
        </p:spPr>
        <p:txBody>
          <a:bodyPr wrap="square">
            <a:spAutoFit/>
          </a:bodyPr>
          <a:lstStyle/>
          <a:p>
            <a:pPr algn="just"/>
            <a:r>
              <a:rPr lang="en-US" sz="3200" b="1" dirty="0"/>
              <a:t>Figure </a:t>
            </a:r>
            <a:r>
              <a:rPr lang="en-US" sz="3200" b="1" dirty="0" smtClean="0"/>
              <a:t>2.4.3</a:t>
            </a:r>
            <a:r>
              <a:rPr lang="en-US" sz="3200" b="1" dirty="0"/>
              <a:t>: (a) Robot lane following (b) lane </a:t>
            </a:r>
            <a:r>
              <a:rPr lang="en-US" sz="3200" b="1" dirty="0" err="1"/>
              <a:t>closeup</a:t>
            </a:r>
            <a:r>
              <a:rPr lang="en-US" sz="3200" b="1" dirty="0"/>
              <a:t> and (c) </a:t>
            </a:r>
            <a:r>
              <a:rPr lang="en-US" sz="3200" b="1" dirty="0" err="1"/>
              <a:t>thresholded</a:t>
            </a:r>
            <a:r>
              <a:rPr lang="en-US" sz="3200" b="1" dirty="0"/>
              <a:t> </a:t>
            </a:r>
            <a:r>
              <a:rPr lang="en-US" sz="3200" b="1" dirty="0" err="1"/>
              <a:t>Cb</a:t>
            </a:r>
            <a:r>
              <a:rPr lang="en-US" sz="3200" b="1" dirty="0"/>
              <a:t> component of </a:t>
            </a:r>
            <a:r>
              <a:rPr lang="en-US" sz="3200" b="1" dirty="0" err="1"/>
              <a:t>closeup</a:t>
            </a:r>
            <a:r>
              <a:rPr lang="en-US" sz="3200" b="1" dirty="0"/>
              <a:t>.</a:t>
            </a:r>
            <a:endParaRPr lang="en-US" sz="4800" b="1" dirty="0" smtClean="0">
              <a:latin typeface="Times-Roman"/>
            </a:endParaRPr>
          </a:p>
        </p:txBody>
      </p:sp>
      <p:pic>
        <p:nvPicPr>
          <p:cNvPr id="3" name="Picture 2"/>
          <p:cNvPicPr>
            <a:picLocks noChangeAspect="1"/>
          </p:cNvPicPr>
          <p:nvPr/>
        </p:nvPicPr>
        <p:blipFill>
          <a:blip r:embed="rId2"/>
          <a:stretch>
            <a:fillRect/>
          </a:stretch>
        </p:blipFill>
        <p:spPr>
          <a:xfrm>
            <a:off x="167985" y="1318127"/>
            <a:ext cx="12050795" cy="3663281"/>
          </a:xfrm>
          <a:prstGeom prst="rect">
            <a:avLst/>
          </a:prstGeom>
          <a:ln w="38100">
            <a:solidFill>
              <a:schemeClr val="tx1"/>
            </a:solidFill>
          </a:ln>
        </p:spPr>
      </p:pic>
    </p:spTree>
    <p:extLst>
      <p:ext uri="{BB962C8B-B14F-4D97-AF65-F5344CB8AC3E}">
        <p14:creationId xmlns:p14="http://schemas.microsoft.com/office/powerpoint/2010/main" val="1196654354"/>
      </p:ext>
    </p:extLst>
  </p:cSld>
  <p:clrMapOvr>
    <a:masterClrMapping/>
  </p:clrMapOvr>
  <p:transition spd="med"/>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55</a:t>
            </a:fld>
            <a:endParaRPr dirty="0"/>
          </a:p>
        </p:txBody>
      </p:sp>
      <p:sp>
        <p:nvSpPr>
          <p:cNvPr id="4" name="TextBox 3"/>
          <p:cNvSpPr txBox="1"/>
          <p:nvPr/>
        </p:nvSpPr>
        <p:spPr>
          <a:xfrm>
            <a:off x="351790" y="454968"/>
            <a:ext cx="11569916"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2.4.1 Vision and Tracking: Following the road</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3046988"/>
          </a:xfrm>
          <a:prstGeom prst="rect">
            <a:avLst/>
          </a:prstGeom>
        </p:spPr>
        <p:txBody>
          <a:bodyPr wrap="square">
            <a:spAutoFit/>
          </a:bodyPr>
          <a:lstStyle/>
          <a:p>
            <a:pPr marL="457200" indent="-457200" algn="just">
              <a:buFont typeface="Arial" panose="020B0604020202020204" pitchFamily="34" charset="0"/>
              <a:buChar char="•"/>
            </a:pPr>
            <a:r>
              <a:rPr lang="en-US" sz="3200" b="1" dirty="0" smtClean="0">
                <a:latin typeface="Times-Roman"/>
              </a:rPr>
              <a:t>However, it is not unreasonable to expect that such machines will carry multiprocessor, multicore computers in the near future.</a:t>
            </a:r>
          </a:p>
          <a:p>
            <a:pPr marL="457200" indent="-457200" algn="just">
              <a:buFont typeface="Arial" panose="020B0604020202020204" pitchFamily="34" charset="0"/>
              <a:buChar char="•"/>
            </a:pPr>
            <a:r>
              <a:rPr lang="en-US" sz="3200" dirty="0">
                <a:latin typeface="Times-Roman"/>
              </a:rPr>
              <a:t>More sophisticated robots, such as Junior, the Stanford University </a:t>
            </a:r>
            <a:r>
              <a:rPr lang="en-US" sz="3200" dirty="0" smtClean="0">
                <a:latin typeface="Times-Roman"/>
              </a:rPr>
              <a:t>entry in </a:t>
            </a:r>
            <a:r>
              <a:rPr lang="en-US" sz="3200" dirty="0">
                <a:latin typeface="Times-Roman"/>
              </a:rPr>
              <a:t>the DARPA Urban Challenge already carry multiprocessor, </a:t>
            </a:r>
            <a:r>
              <a:rPr lang="en-US" sz="3200" dirty="0" smtClean="0">
                <a:latin typeface="Times-Roman"/>
              </a:rPr>
              <a:t>multicore systems onboard</a:t>
            </a:r>
            <a:r>
              <a:rPr lang="en-US" sz="3200" dirty="0">
                <a:latin typeface="Times-Roman"/>
              </a:rPr>
              <a:t>.</a:t>
            </a:r>
            <a:endParaRPr lang="en-IN" sz="3200" b="1"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7562880"/>
      </p:ext>
    </p:extLst>
  </p:cSld>
  <p:clrMapOvr>
    <a:masterClrMapping/>
  </p:clrMapOvr>
  <p:transition spd="med"/>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56</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a:latin typeface="Times New Roman" panose="02020603050405020304" pitchFamily="18" charset="0"/>
                <a:cs typeface="Times New Roman" panose="02020603050405020304" pitchFamily="18" charset="0"/>
              </a:rPr>
              <a:t>Vision and Tracking: Iconic image processing</a:t>
            </a: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Always we </a:t>
            </a:r>
            <a:r>
              <a:rPr lang="en-US" sz="3200" dirty="0">
                <a:latin typeface="Times-Roman"/>
              </a:rPr>
              <a:t>need to preprocess the image at the </a:t>
            </a:r>
            <a:r>
              <a:rPr lang="en-US" sz="3200" dirty="0" smtClean="0">
                <a:latin typeface="Times-Roman"/>
              </a:rPr>
              <a:t>pixel level.</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noise introduced into the image by the camera or </a:t>
            </a:r>
            <a:r>
              <a:rPr lang="en-US" sz="3200" dirty="0" smtClean="0">
                <a:latin typeface="Times-Roman"/>
              </a:rPr>
              <a:t>random lighting </a:t>
            </a:r>
            <a:r>
              <a:rPr lang="en-US" sz="3200" dirty="0">
                <a:latin typeface="Times-Roman"/>
              </a:rPr>
              <a:t>effects may need to be </a:t>
            </a:r>
            <a:r>
              <a:rPr lang="en-US" sz="3200" dirty="0" smtClean="0">
                <a:latin typeface="Times-Roman"/>
              </a:rPr>
              <a:t>reduced.</a:t>
            </a:r>
          </a:p>
          <a:p>
            <a:pPr marL="457200" indent="-457200" algn="just">
              <a:buFont typeface="Arial" panose="020B0604020202020204" pitchFamily="34" charset="0"/>
              <a:buChar char="•"/>
            </a:pPr>
            <a:r>
              <a:rPr lang="en-US" sz="3200" dirty="0" smtClean="0">
                <a:latin typeface="Times-Roman"/>
              </a:rPr>
              <a:t>Aspects </a:t>
            </a:r>
            <a:r>
              <a:rPr lang="en-US" sz="3200" dirty="0">
                <a:latin typeface="Times-Roman"/>
              </a:rPr>
              <a:t>of the image such as </a:t>
            </a:r>
            <a:r>
              <a:rPr lang="en-US" sz="3200" dirty="0" smtClean="0">
                <a:latin typeface="Times-Roman"/>
              </a:rPr>
              <a:t>edges or </a:t>
            </a:r>
            <a:r>
              <a:rPr lang="en-US" sz="3200" dirty="0">
                <a:latin typeface="Times-Roman"/>
              </a:rPr>
              <a:t>regions of color may need to be enhanced.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These </a:t>
            </a:r>
            <a:r>
              <a:rPr lang="en-US" sz="3200" dirty="0">
                <a:latin typeface="Times-Roman"/>
              </a:rPr>
              <a:t>operations </a:t>
            </a:r>
            <a:r>
              <a:rPr lang="en-US" sz="3200" dirty="0" smtClean="0">
                <a:latin typeface="Times-Roman"/>
              </a:rPr>
              <a:t>consider the </a:t>
            </a:r>
            <a:r>
              <a:rPr lang="en-US" sz="3200" dirty="0">
                <a:latin typeface="Times-Roman"/>
              </a:rPr>
              <a:t>image only to be a collection of pixels, and operate pixel by pixel, (</a:t>
            </a:r>
            <a:r>
              <a:rPr lang="en-US" sz="3200" dirty="0" smtClean="0">
                <a:latin typeface="Times-Roman"/>
              </a:rPr>
              <a:t>or pixel </a:t>
            </a:r>
            <a:r>
              <a:rPr lang="en-US" sz="3200" dirty="0">
                <a:latin typeface="Times-Roman"/>
              </a:rPr>
              <a:t>by small regions of pixels</a:t>
            </a:r>
            <a:r>
              <a:rPr lang="en-US" sz="3200" dirty="0" smtClean="0">
                <a:latin typeface="Times-Roman"/>
              </a:rPr>
              <a:t>). </a:t>
            </a:r>
          </a:p>
          <a:p>
            <a:pPr marL="457200" indent="-457200" algn="just">
              <a:buFont typeface="Arial" panose="020B0604020202020204" pitchFamily="34" charset="0"/>
              <a:buChar char="•"/>
            </a:pPr>
            <a:r>
              <a:rPr lang="en-US" sz="3200" dirty="0" smtClean="0">
                <a:latin typeface="Times-Roman"/>
              </a:rPr>
              <a:t>This </a:t>
            </a:r>
            <a:r>
              <a:rPr lang="en-US" sz="3200" dirty="0">
                <a:latin typeface="Times-Roman"/>
              </a:rPr>
              <a:t>kind of processing is called </a:t>
            </a:r>
            <a:r>
              <a:rPr lang="en-US" sz="3200" i="1" dirty="0" smtClean="0">
                <a:latin typeface="Times-Italic"/>
              </a:rPr>
              <a:t>image </a:t>
            </a:r>
            <a:r>
              <a:rPr lang="en-US" sz="3200" i="1" dirty="0">
                <a:latin typeface="Times-Italic"/>
              </a:rPr>
              <a:t>processing </a:t>
            </a:r>
            <a:r>
              <a:rPr lang="en-US" sz="3200" dirty="0">
                <a:latin typeface="Times-Roman"/>
              </a:rPr>
              <a:t>to distinguish it from operations </a:t>
            </a:r>
            <a:r>
              <a:rPr lang="en-US" sz="3200" dirty="0" smtClean="0">
                <a:latin typeface="Times-Roman"/>
              </a:rPr>
              <a:t>the </a:t>
            </a:r>
            <a:r>
              <a:rPr lang="en-US" sz="3200" b="1" i="1" dirty="0" smtClean="0">
                <a:solidFill>
                  <a:schemeClr val="accent1">
                    <a:lumMod val="75000"/>
                    <a:lumOff val="25000"/>
                  </a:schemeClr>
                </a:solidFill>
                <a:latin typeface="Times-Italic"/>
              </a:rPr>
              <a:t>iconic</a:t>
            </a:r>
            <a:r>
              <a:rPr lang="en-US" sz="3200" b="1" i="1" dirty="0" smtClean="0">
                <a:latin typeface="Times-Italic"/>
              </a:rPr>
              <a:t> </a:t>
            </a:r>
            <a:r>
              <a:rPr lang="en-US" sz="3200" dirty="0" smtClean="0">
                <a:latin typeface="Times-Roman"/>
              </a:rPr>
              <a:t>at </a:t>
            </a:r>
            <a:r>
              <a:rPr lang="en-US" sz="3200" dirty="0">
                <a:latin typeface="Times-Roman"/>
              </a:rPr>
              <a:t>attempt to </a:t>
            </a:r>
            <a:r>
              <a:rPr lang="en-US" sz="3200" dirty="0" smtClean="0">
                <a:latin typeface="Times-Roman"/>
              </a:rPr>
              <a:t>identify 3D </a:t>
            </a:r>
            <a:r>
              <a:rPr lang="en-US" sz="3200" dirty="0">
                <a:latin typeface="Times-Roman"/>
              </a:rPr>
              <a:t>structure, objects or shapes in the image.</a:t>
            </a:r>
            <a:endParaRPr lang="en-IN" sz="3200" dirty="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11540263"/>
      </p:ext>
    </p:extLst>
  </p:cSld>
  <p:clrMapOvr>
    <a:masterClrMapping/>
  </p:clrMapOvr>
  <p:transition spd="med"/>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57</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Iconic image processing is typically more suited to fine grain, </a:t>
            </a:r>
            <a:r>
              <a:rPr lang="en-US" sz="3200" dirty="0" smtClean="0">
                <a:latin typeface="Times-Roman"/>
              </a:rPr>
              <a:t>massively parallel</a:t>
            </a:r>
            <a:r>
              <a:rPr lang="en-US" sz="3200" dirty="0">
                <a:latin typeface="Times-Roman"/>
              </a:rPr>
              <a:t>, single instruction multiple data </a:t>
            </a:r>
            <a:r>
              <a:rPr lang="en-US" sz="3200" dirty="0" smtClean="0">
                <a:latin typeface="Times-Roman"/>
              </a:rPr>
              <a:t>architectures.</a:t>
            </a:r>
          </a:p>
          <a:p>
            <a:pPr marL="457200" indent="-457200" algn="just">
              <a:buFont typeface="Arial" panose="020B0604020202020204" pitchFamily="34" charset="0"/>
              <a:buChar char="•"/>
            </a:pPr>
            <a:r>
              <a:rPr lang="en-US" sz="3200" dirty="0" smtClean="0">
                <a:latin typeface="Times-Roman"/>
              </a:rPr>
              <a:t>However</a:t>
            </a:r>
            <a:r>
              <a:rPr lang="en-US" sz="3200" dirty="0">
                <a:latin typeface="Times-Roman"/>
              </a:rPr>
              <a:t>, </a:t>
            </a:r>
            <a:r>
              <a:rPr lang="en-US" sz="3200" dirty="0" smtClean="0">
                <a:latin typeface="Times-Roman"/>
              </a:rPr>
              <a:t>as long </a:t>
            </a:r>
            <a:r>
              <a:rPr lang="en-US" sz="3200" dirty="0">
                <a:latin typeface="Times-Roman"/>
              </a:rPr>
              <a:t>as the image information can be moved efficiently enough, </a:t>
            </a:r>
            <a:r>
              <a:rPr lang="en-US" sz="3200" dirty="0" smtClean="0">
                <a:latin typeface="Times-Roman"/>
              </a:rPr>
              <a:t>cluster processing </a:t>
            </a:r>
            <a:r>
              <a:rPr lang="en-US" sz="3200" dirty="0">
                <a:latin typeface="Times-Roman"/>
              </a:rPr>
              <a:t>of images can also be </a:t>
            </a:r>
            <a:r>
              <a:rPr lang="en-US" sz="3200" dirty="0" smtClean="0">
                <a:latin typeface="Times-Roman"/>
              </a:rPr>
              <a:t>effective.</a:t>
            </a:r>
          </a:p>
          <a:p>
            <a:pPr marL="457200" indent="-457200" algn="just">
              <a:buFont typeface="Arial" panose="020B0604020202020204" pitchFamily="34" charset="0"/>
              <a:buChar char="•"/>
            </a:pPr>
            <a:r>
              <a:rPr lang="en-US" sz="3200" dirty="0" smtClean="0">
                <a:latin typeface="Times-Roman"/>
              </a:rPr>
              <a:t>One </a:t>
            </a:r>
            <a:r>
              <a:rPr lang="en-US" sz="3200" dirty="0">
                <a:latin typeface="Times-Roman"/>
              </a:rPr>
              <a:t>approach to </a:t>
            </a:r>
            <a:r>
              <a:rPr lang="en-US" sz="3200" dirty="0" smtClean="0">
                <a:latin typeface="Times-Roman"/>
              </a:rPr>
              <a:t>avoiding image </a:t>
            </a:r>
            <a:r>
              <a:rPr lang="en-US" sz="3200" dirty="0">
                <a:latin typeface="Times-Roman"/>
              </a:rPr>
              <a:t>transfer costs is to equip individual nodes in the cluster with </a:t>
            </a:r>
            <a:r>
              <a:rPr lang="en-US" sz="3200" dirty="0" smtClean="0">
                <a:latin typeface="Times-Roman"/>
              </a:rPr>
              <a:t>separate cameras.</a:t>
            </a:r>
          </a:p>
          <a:p>
            <a:pPr marL="457200" indent="-457200" algn="just">
              <a:buFont typeface="Arial" panose="020B0604020202020204" pitchFamily="34" charset="0"/>
              <a:buChar char="•"/>
            </a:pPr>
            <a:r>
              <a:rPr lang="en-US" sz="3200" dirty="0" smtClean="0">
                <a:latin typeface="Times-Roman"/>
              </a:rPr>
              <a:t>Examples </a:t>
            </a:r>
            <a:r>
              <a:rPr lang="en-US" sz="3200" dirty="0">
                <a:latin typeface="Times-Roman"/>
              </a:rPr>
              <a:t>of pixel-based iconic image operation include color </a:t>
            </a:r>
            <a:r>
              <a:rPr lang="en-US" sz="3200" dirty="0" smtClean="0">
                <a:latin typeface="Times-Roman"/>
              </a:rPr>
              <a:t>space transformations</a:t>
            </a:r>
            <a:r>
              <a:rPr lang="en-US" sz="3200" dirty="0">
                <a:latin typeface="Times-Roman"/>
              </a:rPr>
              <a:t>, color filtering, intensity transformations and so forth.</a:t>
            </a:r>
            <a:endParaRPr lang="en-US" sz="3200" dirty="0" smtClean="0">
              <a:latin typeface="Times-Roman"/>
            </a:endParaRPr>
          </a:p>
        </p:txBody>
      </p:sp>
    </p:spTree>
    <p:extLst>
      <p:ext uri="{BB962C8B-B14F-4D97-AF65-F5344CB8AC3E}">
        <p14:creationId xmlns:p14="http://schemas.microsoft.com/office/powerpoint/2010/main" val="2491592328"/>
      </p:ext>
    </p:extLst>
  </p:cSld>
  <p:clrMapOvr>
    <a:masterClrMapping/>
  </p:clrMapOvr>
  <p:transition spd="med"/>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58</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For example</a:t>
            </a:r>
            <a:r>
              <a:rPr lang="en-US" sz="3200" dirty="0">
                <a:latin typeface="Times-Roman"/>
              </a:rPr>
              <a:t>, </a:t>
            </a:r>
            <a:r>
              <a:rPr lang="en-US" sz="3200" b="1" dirty="0">
                <a:latin typeface="Times-Roman"/>
              </a:rPr>
              <a:t>the difference between the white lines and the grass </a:t>
            </a:r>
            <a:r>
              <a:rPr lang="en-US" sz="3200" b="1" dirty="0" smtClean="0">
                <a:latin typeface="Times-Roman"/>
              </a:rPr>
              <a:t>background in Fig. 2.4.3 (a) </a:t>
            </a:r>
            <a:r>
              <a:rPr lang="en-US" sz="3200" b="1" dirty="0">
                <a:latin typeface="Times-Roman"/>
              </a:rPr>
              <a:t>becomes much more apparent when the color space </a:t>
            </a:r>
            <a:r>
              <a:rPr lang="en-US" sz="3200" b="1" dirty="0" smtClean="0">
                <a:latin typeface="Times-Roman"/>
              </a:rPr>
              <a:t>is changed </a:t>
            </a:r>
            <a:r>
              <a:rPr lang="en-US" sz="3200" b="1" dirty="0">
                <a:latin typeface="Times-Roman"/>
              </a:rPr>
              <a:t>from RGB to the </a:t>
            </a:r>
            <a:r>
              <a:rPr lang="en-US" sz="3200" b="1" dirty="0" err="1">
                <a:latin typeface="Times-Roman"/>
              </a:rPr>
              <a:t>luma-chroma</a:t>
            </a:r>
            <a:r>
              <a:rPr lang="en-US" sz="3200" b="1" dirty="0">
                <a:latin typeface="Times-Roman"/>
              </a:rPr>
              <a:t> colors space </a:t>
            </a:r>
            <a:r>
              <a:rPr lang="en-US" sz="3200" b="1" i="1" dirty="0" err="1" smtClean="0">
                <a:latin typeface="Times-Italic"/>
              </a:rPr>
              <a:t>YCrCb</a:t>
            </a:r>
            <a:r>
              <a:rPr lang="en-US" sz="3200" b="1" dirty="0" smtClean="0">
                <a:latin typeface="Times-Roman"/>
              </a:rPr>
              <a:t>.</a:t>
            </a:r>
          </a:p>
          <a:p>
            <a:pPr marL="457200" indent="-457200" algn="just">
              <a:buFont typeface="Arial" panose="020B0604020202020204" pitchFamily="34" charset="0"/>
              <a:buChar char="•"/>
            </a:pPr>
            <a:r>
              <a:rPr lang="en-US" sz="3200" dirty="0" smtClean="0">
                <a:latin typeface="Times-Roman"/>
              </a:rPr>
              <a:t>Subsequently restricted </a:t>
            </a:r>
            <a:r>
              <a:rPr lang="en-US" sz="3200" dirty="0">
                <a:latin typeface="Times-Roman"/>
              </a:rPr>
              <a:t>to just the </a:t>
            </a:r>
            <a:r>
              <a:rPr lang="en-US" sz="3200" dirty="0" err="1">
                <a:latin typeface="Times-Roman"/>
              </a:rPr>
              <a:t>Cb</a:t>
            </a:r>
            <a:r>
              <a:rPr lang="en-US" sz="3200" dirty="0">
                <a:latin typeface="Times-Roman"/>
              </a:rPr>
              <a:t> </a:t>
            </a:r>
            <a:r>
              <a:rPr lang="en-US" sz="3200" dirty="0" err="1">
                <a:latin typeface="Times-Roman"/>
              </a:rPr>
              <a:t>chroma</a:t>
            </a:r>
            <a:r>
              <a:rPr lang="en-US" sz="3200" dirty="0">
                <a:latin typeface="Times-Roman"/>
              </a:rPr>
              <a:t> </a:t>
            </a:r>
            <a:r>
              <a:rPr lang="en-US" sz="3200" dirty="0" smtClean="0">
                <a:latin typeface="Times-Roman"/>
              </a:rPr>
              <a:t>component, and </a:t>
            </a:r>
            <a:r>
              <a:rPr lang="en-US" sz="3200" dirty="0">
                <a:latin typeface="Times-Roman"/>
              </a:rPr>
              <a:t>finally </a:t>
            </a:r>
            <a:r>
              <a:rPr lang="en-US" sz="3200" dirty="0" err="1">
                <a:latin typeface="Times-Roman"/>
              </a:rPr>
              <a:t>thresholded</a:t>
            </a:r>
            <a:r>
              <a:rPr lang="en-US" sz="3200" dirty="0">
                <a:latin typeface="Times-Roman"/>
              </a:rPr>
              <a:t> to </a:t>
            </a:r>
            <a:r>
              <a:rPr lang="en-US" sz="3200" dirty="0" smtClean="0">
                <a:latin typeface="Times-Roman"/>
              </a:rPr>
              <a:t>a binary image.</a:t>
            </a:r>
          </a:p>
          <a:p>
            <a:pPr marL="457200" indent="-457200" algn="just">
              <a:buFont typeface="Arial" panose="020B0604020202020204" pitchFamily="34" charset="0"/>
              <a:buChar char="•"/>
            </a:pPr>
            <a:r>
              <a:rPr lang="en-US" sz="3200" b="1" i="1" dirty="0" err="1" smtClean="0">
                <a:solidFill>
                  <a:srgbClr val="A60A2F"/>
                </a:solidFill>
                <a:latin typeface="Times-Italic"/>
              </a:rPr>
              <a:t>Thresholding</a:t>
            </a:r>
            <a:r>
              <a:rPr lang="en-US" sz="3200" i="1" dirty="0" smtClean="0">
                <a:latin typeface="Times-Italic"/>
              </a:rPr>
              <a:t> </a:t>
            </a:r>
            <a:r>
              <a:rPr lang="en-US" sz="3200" dirty="0">
                <a:latin typeface="Times-Roman"/>
              </a:rPr>
              <a:t>is also a pixel-based iconic image </a:t>
            </a:r>
            <a:r>
              <a:rPr lang="en-US" sz="3200" dirty="0" smtClean="0">
                <a:latin typeface="Times-Roman"/>
              </a:rPr>
              <a:t>processing operation</a:t>
            </a:r>
            <a:r>
              <a:rPr lang="en-US" sz="3200" dirty="0">
                <a:latin typeface="Times-Roman"/>
              </a:rPr>
              <a: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Pixels </a:t>
            </a:r>
            <a:r>
              <a:rPr lang="en-US" sz="3200" dirty="0">
                <a:latin typeface="Times-Roman"/>
              </a:rPr>
              <a:t>in the </a:t>
            </a:r>
            <a:r>
              <a:rPr lang="en-US" sz="3200" dirty="0" err="1">
                <a:latin typeface="Times-Roman"/>
              </a:rPr>
              <a:t>thresholded</a:t>
            </a:r>
            <a:r>
              <a:rPr lang="en-US" sz="3200" dirty="0">
                <a:latin typeface="Times-Roman"/>
              </a:rPr>
              <a:t> binary image are set to 1 if the </a:t>
            </a:r>
            <a:r>
              <a:rPr lang="en-US" sz="3200" dirty="0" smtClean="0">
                <a:latin typeface="Times-Roman"/>
              </a:rPr>
              <a:t>pixels in </a:t>
            </a:r>
            <a:r>
              <a:rPr lang="en-US" sz="3200" dirty="0">
                <a:latin typeface="Times-Roman"/>
              </a:rPr>
              <a:t>the original image have a value greater than the </a:t>
            </a:r>
            <a:r>
              <a:rPr lang="en-US" sz="3200" i="1" dirty="0">
                <a:latin typeface="Times-Italic"/>
              </a:rPr>
              <a:t>threshold </a:t>
            </a:r>
            <a:r>
              <a:rPr lang="en-US" sz="3200" dirty="0">
                <a:latin typeface="Times-Roman"/>
              </a:rPr>
              <a:t>value and </a:t>
            </a:r>
            <a:r>
              <a:rPr lang="en-US" sz="3200" dirty="0" smtClean="0">
                <a:latin typeface="Times-Roman"/>
              </a:rPr>
              <a:t>are set </a:t>
            </a:r>
            <a:r>
              <a:rPr lang="en-US" sz="3200" dirty="0">
                <a:latin typeface="Times-Roman"/>
              </a:rPr>
              <a:t>to 0 otherwise.</a:t>
            </a:r>
            <a:endParaRPr lang="en-US" sz="3200" dirty="0" smtClean="0">
              <a:latin typeface="Times-Roman"/>
            </a:endParaRPr>
          </a:p>
        </p:txBody>
      </p:sp>
    </p:spTree>
    <p:extLst>
      <p:ext uri="{BB962C8B-B14F-4D97-AF65-F5344CB8AC3E}">
        <p14:creationId xmlns:p14="http://schemas.microsoft.com/office/powerpoint/2010/main" val="3166906626"/>
      </p:ext>
    </p:extLst>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59</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a:latin typeface="Times New Roman" panose="02020603050405020304" pitchFamily="18" charset="0"/>
                <a:cs typeface="Times New Roman" panose="02020603050405020304" pitchFamily="18" charset="0"/>
              </a:rPr>
              <a:t>Vision and Tracking: Iconic image processing</a:t>
            </a:r>
          </a:p>
        </p:txBody>
      </p:sp>
      <p:sp>
        <p:nvSpPr>
          <p:cNvPr id="9" name="Rectangle 8"/>
          <p:cNvSpPr/>
          <p:nvPr/>
        </p:nvSpPr>
        <p:spPr>
          <a:xfrm>
            <a:off x="351790" y="116285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latin typeface="Times-Roman"/>
              </a:rPr>
              <a:t>Changes in the lighting of a natural scene are typically not </a:t>
            </a:r>
            <a:r>
              <a:rPr lang="en-US" sz="3000" dirty="0" smtClean="0">
                <a:latin typeface="Times-Roman"/>
              </a:rPr>
              <a:t>very noticeable </a:t>
            </a:r>
            <a:r>
              <a:rPr lang="en-US" sz="3000" dirty="0">
                <a:latin typeface="Times-Roman"/>
              </a:rPr>
              <a:t>to a human observer, but can cause a great deal of </a:t>
            </a:r>
            <a:r>
              <a:rPr lang="en-US" sz="3000" dirty="0" smtClean="0">
                <a:latin typeface="Times-Roman"/>
              </a:rPr>
              <a:t>difficulty in </a:t>
            </a:r>
            <a:r>
              <a:rPr lang="en-US" sz="3000" dirty="0">
                <a:latin typeface="Times-Roman"/>
              </a:rPr>
              <a:t>analysis of images.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A </a:t>
            </a:r>
            <a:r>
              <a:rPr lang="en-US" sz="3000" dirty="0">
                <a:latin typeface="Times-Roman"/>
              </a:rPr>
              <a:t>scene might have overall increases or </a:t>
            </a:r>
            <a:r>
              <a:rPr lang="en-US" sz="3000" dirty="0" smtClean="0">
                <a:latin typeface="Times-Roman"/>
              </a:rPr>
              <a:t>decreases in </a:t>
            </a:r>
            <a:r>
              <a:rPr lang="en-US" sz="3000" dirty="0">
                <a:latin typeface="Times-Roman"/>
              </a:rPr>
              <a:t>light intensity due to the time of day or weather conditions</a:t>
            </a:r>
            <a:r>
              <a:rPr lang="en-US" sz="3000" dirty="0" smtClean="0">
                <a:latin typeface="Times-Roman"/>
              </a:rPr>
              <a:t>.</a:t>
            </a:r>
          </a:p>
          <a:p>
            <a:pPr marL="457200" indent="-457200" algn="just">
              <a:buFont typeface="Arial" panose="020B0604020202020204" pitchFamily="34" charset="0"/>
              <a:buChar char="•"/>
            </a:pPr>
            <a:r>
              <a:rPr lang="en-US" sz="3000" dirty="0" smtClean="0">
                <a:latin typeface="Times-Roman"/>
              </a:rPr>
              <a:t>There may </a:t>
            </a:r>
            <a:r>
              <a:rPr lang="en-US" sz="3000" dirty="0">
                <a:latin typeface="Times-Roman"/>
              </a:rPr>
              <a:t>also be shadow effects as lighting sources move due to the time </a:t>
            </a:r>
            <a:r>
              <a:rPr lang="en-US" sz="3000" dirty="0" smtClean="0">
                <a:latin typeface="Times-Roman"/>
              </a:rPr>
              <a:t>of day</a:t>
            </a:r>
            <a:r>
              <a:rPr lang="en-US" sz="3000" dirty="0">
                <a:latin typeface="Times-Roman"/>
              </a:rPr>
              <a:t>, or as objects move in or adjacent to the scene. </a:t>
            </a:r>
            <a:endParaRPr lang="en-US" sz="3000" dirty="0" smtClean="0">
              <a:latin typeface="Times-Roman"/>
            </a:endParaRPr>
          </a:p>
          <a:p>
            <a:pPr marL="457200" indent="-457200" algn="just">
              <a:buFont typeface="Arial" panose="020B0604020202020204" pitchFamily="34" charset="0"/>
              <a:buChar char="•"/>
            </a:pPr>
            <a:r>
              <a:rPr lang="en-US" sz="3000" b="1" dirty="0" smtClean="0">
                <a:latin typeface="Times-Roman"/>
              </a:rPr>
              <a:t>Another </a:t>
            </a:r>
            <a:r>
              <a:rPr lang="en-US" sz="3000" b="1" dirty="0">
                <a:latin typeface="Times-Roman"/>
              </a:rPr>
              <a:t>reason </a:t>
            </a:r>
            <a:r>
              <a:rPr lang="en-US" sz="3000" b="1" dirty="0" smtClean="0">
                <a:latin typeface="Times-Roman"/>
              </a:rPr>
              <a:t>to use </a:t>
            </a:r>
            <a:r>
              <a:rPr lang="en-US" sz="3000" b="1" dirty="0" err="1">
                <a:latin typeface="Times-Roman"/>
              </a:rPr>
              <a:t>YCrCb</a:t>
            </a:r>
            <a:r>
              <a:rPr lang="en-US" sz="3000" b="1" dirty="0">
                <a:latin typeface="Times-Roman"/>
              </a:rPr>
              <a:t>, rather than RGB, for the analysis of natural images (</a:t>
            </a:r>
            <a:r>
              <a:rPr lang="en-US" sz="3000" b="1" dirty="0" smtClean="0">
                <a:latin typeface="Times-Roman"/>
              </a:rPr>
              <a:t>such as </a:t>
            </a:r>
            <a:r>
              <a:rPr lang="en-US" sz="3000" b="1" dirty="0">
                <a:latin typeface="Times-Roman"/>
              </a:rPr>
              <a:t>Figure </a:t>
            </a:r>
            <a:r>
              <a:rPr lang="en-US" sz="3000" b="1" dirty="0" smtClean="0">
                <a:latin typeface="Times-Roman"/>
              </a:rPr>
              <a:t>2.4.3(a</a:t>
            </a:r>
            <a:r>
              <a:rPr lang="en-US" sz="3000" b="1" dirty="0">
                <a:latin typeface="Times-Roman"/>
              </a:rPr>
              <a:t>)) is that the </a:t>
            </a:r>
            <a:r>
              <a:rPr lang="en-US" sz="3000" b="1" dirty="0" err="1">
                <a:latin typeface="Times-Roman"/>
              </a:rPr>
              <a:t>CrCb</a:t>
            </a:r>
            <a:r>
              <a:rPr lang="en-US" sz="3000" b="1" dirty="0">
                <a:latin typeface="Times-Roman"/>
              </a:rPr>
              <a:t> </a:t>
            </a:r>
            <a:r>
              <a:rPr lang="en-US" sz="3000" b="1" dirty="0" err="1">
                <a:latin typeface="Times-Roman"/>
              </a:rPr>
              <a:t>chroma</a:t>
            </a:r>
            <a:r>
              <a:rPr lang="en-US" sz="3000" b="1" dirty="0">
                <a:latin typeface="Times-Roman"/>
              </a:rPr>
              <a:t> (or color) components </a:t>
            </a:r>
            <a:r>
              <a:rPr lang="en-US" sz="3000" b="1" dirty="0" smtClean="0">
                <a:latin typeface="Times-Roman"/>
              </a:rPr>
              <a:t>are less </a:t>
            </a:r>
            <a:r>
              <a:rPr lang="en-US" sz="3000" b="1" dirty="0">
                <a:latin typeface="Times-Roman"/>
              </a:rPr>
              <a:t>sensitive to changes in light intensity.</a:t>
            </a:r>
            <a:endParaRPr lang="en-US" sz="3000" b="1" dirty="0" smtClean="0">
              <a:latin typeface="Times-Roman"/>
            </a:endParaRPr>
          </a:p>
        </p:txBody>
      </p:sp>
    </p:spTree>
    <p:extLst>
      <p:ext uri="{BB962C8B-B14F-4D97-AF65-F5344CB8AC3E}">
        <p14:creationId xmlns:p14="http://schemas.microsoft.com/office/powerpoint/2010/main" val="2326181303"/>
      </p:ext>
    </p:extLst>
  </p:cSld>
  <p:clrMapOvr>
    <a:masterClrMapping/>
  </p:clrMapOvr>
  <p:transition spd="med"/>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60</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5016758"/>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The scene lighting intensity variations </a:t>
                </a:r>
                <a:r>
                  <a:rPr lang="en-US" sz="3200" dirty="0">
                    <a:latin typeface="Times-Roman"/>
                  </a:rPr>
                  <a:t>are mostly confined to the Y </a:t>
                </a:r>
                <a:r>
                  <a:rPr lang="en-US" sz="3200" dirty="0" err="1">
                    <a:latin typeface="Times-Roman"/>
                  </a:rPr>
                  <a:t>luma</a:t>
                </a:r>
                <a:r>
                  <a:rPr lang="en-US" sz="3200" dirty="0">
                    <a:latin typeface="Times-Roman"/>
                  </a:rPr>
                  <a:t> component.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In </a:t>
                </a:r>
                <a:r>
                  <a:rPr lang="en-US" sz="3200" dirty="0">
                    <a:latin typeface="Times-Roman"/>
                  </a:rPr>
                  <a:t>RGB all </a:t>
                </a:r>
                <a:r>
                  <a:rPr lang="en-US" sz="3200" dirty="0" smtClean="0">
                    <a:latin typeface="Times-Roman"/>
                  </a:rPr>
                  <a:t>three components </a:t>
                </a:r>
                <a:r>
                  <a:rPr lang="en-US" sz="3200" dirty="0">
                    <a:latin typeface="Times-Roman"/>
                  </a:rPr>
                  <a:t>can vary with intensity.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Hence</a:t>
                </a:r>
                <a:r>
                  <a:rPr lang="en-US" sz="3200" dirty="0">
                    <a:latin typeface="Times-Roman"/>
                  </a:rPr>
                  <a:t>, the </a:t>
                </a:r>
                <a:r>
                  <a:rPr lang="en-US" sz="3200" dirty="0" err="1">
                    <a:latin typeface="Times-Roman"/>
                  </a:rPr>
                  <a:t>Cb</a:t>
                </a:r>
                <a:r>
                  <a:rPr lang="en-US" sz="3200" dirty="0">
                    <a:latin typeface="Times-Roman"/>
                  </a:rPr>
                  <a:t> component is a </a:t>
                </a:r>
                <a:r>
                  <a:rPr lang="en-US" sz="3200" dirty="0" smtClean="0">
                    <a:latin typeface="Times-Roman"/>
                  </a:rPr>
                  <a:t>more reliable </a:t>
                </a:r>
                <a:r>
                  <a:rPr lang="en-US" sz="3200" dirty="0">
                    <a:latin typeface="Times-Roman"/>
                  </a:rPr>
                  <a:t>‘white line’ detector over a wide range of lighting </a:t>
                </a:r>
                <a:r>
                  <a:rPr lang="en-US" sz="3200" dirty="0" smtClean="0">
                    <a:latin typeface="Times-Roman"/>
                  </a:rPr>
                  <a:t>conditions.</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formulae to change RGB to </a:t>
                </a:r>
                <a:r>
                  <a:rPr lang="en-US" sz="3200" dirty="0" err="1">
                    <a:latin typeface="Times-Roman"/>
                  </a:rPr>
                  <a:t>YCrCb</a:t>
                </a:r>
                <a:r>
                  <a:rPr lang="en-US" sz="3200" dirty="0">
                    <a:latin typeface="Times-Roman"/>
                  </a:rPr>
                  <a:t> (from the CCIR-601 </a:t>
                </a:r>
                <a:r>
                  <a:rPr lang="en-US" sz="3200" dirty="0" smtClean="0">
                    <a:latin typeface="Times-Roman"/>
                  </a:rPr>
                  <a:t>digital video </a:t>
                </a:r>
                <a:r>
                  <a:rPr lang="en-US" sz="3200" dirty="0">
                    <a:latin typeface="Times-Roman"/>
                  </a:rPr>
                  <a:t>standard) are</a:t>
                </a:r>
                <a:r>
                  <a:rPr lang="en-US" sz="3200" dirty="0" smtClean="0">
                    <a:latin typeface="Times-Roman"/>
                  </a:rPr>
                  <a:t>:</a:t>
                </a:r>
              </a:p>
              <a:p>
                <a:pPr algn="just"/>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𝑌</m:t>
                      </m:r>
                      <m:r>
                        <a:rPr lang="en-US" sz="3200" b="0" i="1" smtClean="0">
                          <a:latin typeface="Cambria Math" panose="02040503050406030204" pitchFamily="18" charset="0"/>
                        </a:rPr>
                        <m:t>=0.299</m:t>
                      </m:r>
                      <m:r>
                        <a:rPr lang="en-US" sz="3200" b="0" i="1" smtClean="0">
                          <a:latin typeface="Cambria Math" panose="02040503050406030204" pitchFamily="18" charset="0"/>
                        </a:rPr>
                        <m:t>𝑅</m:t>
                      </m:r>
                      <m:r>
                        <a:rPr lang="en-US" sz="3200" b="0" i="1" smtClean="0">
                          <a:latin typeface="Cambria Math" panose="02040503050406030204" pitchFamily="18" charset="0"/>
                        </a:rPr>
                        <m:t>+0.587</m:t>
                      </m:r>
                      <m:r>
                        <a:rPr lang="en-US" sz="3200" b="0" i="1" smtClean="0">
                          <a:latin typeface="Cambria Math" panose="02040503050406030204" pitchFamily="18" charset="0"/>
                        </a:rPr>
                        <m:t>𝐺</m:t>
                      </m:r>
                      <m:r>
                        <a:rPr lang="en-US" sz="3200" b="0" i="1" smtClean="0">
                          <a:latin typeface="Cambria Math" panose="02040503050406030204" pitchFamily="18" charset="0"/>
                        </a:rPr>
                        <m:t>+0.114</m:t>
                      </m:r>
                      <m:r>
                        <a:rPr lang="en-US" sz="3200" b="0" i="1" smtClean="0">
                          <a:latin typeface="Cambria Math" panose="02040503050406030204" pitchFamily="18" charset="0"/>
                        </a:rPr>
                        <m:t>𝐵</m:t>
                      </m:r>
                    </m:oMath>
                  </m:oMathPara>
                </a14:m>
                <a:endParaRPr lang="en-US" sz="3200" b="0" dirty="0" smtClean="0">
                  <a:latin typeface="Times-Roman"/>
                </a:endParaRPr>
              </a:p>
              <a:p>
                <a:pPr algn="just"/>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𝐶</m:t>
                          </m:r>
                        </m:e>
                        <m:sub>
                          <m:r>
                            <a:rPr lang="en-US" sz="3200" b="0" i="1" smtClean="0">
                              <a:latin typeface="Cambria Math" panose="02040503050406030204" pitchFamily="18" charset="0"/>
                            </a:rPr>
                            <m:t>𝑟</m:t>
                          </m:r>
                        </m:sub>
                      </m:sSub>
                      <m:r>
                        <a:rPr lang="en-US" sz="3200" b="0" i="1" smtClean="0">
                          <a:latin typeface="Cambria Math" panose="02040503050406030204" pitchFamily="18" charset="0"/>
                        </a:rPr>
                        <m:t>=</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𝑅</m:t>
                          </m:r>
                          <m:r>
                            <a:rPr lang="en-US" sz="3200" b="0" i="1" smtClean="0">
                              <a:latin typeface="Cambria Math" panose="02040503050406030204" pitchFamily="18" charset="0"/>
                            </a:rPr>
                            <m:t>−</m:t>
                          </m:r>
                          <m:r>
                            <a:rPr lang="en-US" sz="3200" b="0" i="1" smtClean="0">
                              <a:latin typeface="Cambria Math" panose="02040503050406030204" pitchFamily="18" charset="0"/>
                            </a:rPr>
                            <m:t>𝑌</m:t>
                          </m:r>
                        </m:e>
                      </m:d>
                      <m:r>
                        <a:rPr lang="en-US" sz="3200" b="0" i="1" smtClean="0">
                          <a:latin typeface="Cambria Math" panose="02040503050406030204" pitchFamily="18" charset="0"/>
                        </a:rPr>
                        <m:t>∗0.713+128</m:t>
                      </m:r>
                    </m:oMath>
                  </m:oMathPara>
                </a14:m>
                <a:endParaRPr lang="en-US" sz="3200" b="0" dirty="0" smtClean="0">
                  <a:latin typeface="Times-Roman"/>
                </a:endParaRPr>
              </a:p>
              <a:p>
                <a:pPr algn="just"/>
                <a14:m>
                  <m:oMathPara xmlns:m="http://schemas.openxmlformats.org/officeDocument/2006/math">
                    <m:oMathParaPr>
                      <m:jc m:val="centerGroup"/>
                    </m:oMathParaPr>
                    <m:oMath xmlns:m="http://schemas.openxmlformats.org/officeDocument/2006/math">
                      <m:sSub>
                        <m:sSubPr>
                          <m:ctrlPr>
                            <a:rPr lang="en-US" sz="3200" i="1">
                              <a:latin typeface="Cambria Math" panose="02040503050406030204" pitchFamily="18" charset="0"/>
                            </a:rPr>
                          </m:ctrlPr>
                        </m:sSubPr>
                        <m:e>
                          <m:r>
                            <a:rPr lang="en-US" sz="3200" i="1">
                              <a:latin typeface="Cambria Math" panose="02040503050406030204" pitchFamily="18" charset="0"/>
                            </a:rPr>
                            <m:t>𝐶</m:t>
                          </m:r>
                        </m:e>
                        <m:sub>
                          <m:r>
                            <a:rPr lang="en-US" sz="3200" b="0" i="1" smtClean="0">
                              <a:latin typeface="Cambria Math" panose="02040503050406030204" pitchFamily="18" charset="0"/>
                            </a:rPr>
                            <m:t>𝐵</m:t>
                          </m:r>
                        </m:sub>
                      </m:sSub>
                      <m:r>
                        <a:rPr lang="en-US" sz="3200" i="1">
                          <a:latin typeface="Cambria Math" panose="02040503050406030204" pitchFamily="18" charset="0"/>
                        </a:rPr>
                        <m:t>=</m:t>
                      </m:r>
                      <m:d>
                        <m:dPr>
                          <m:ctrlPr>
                            <a:rPr lang="en-US" sz="3200" i="1">
                              <a:latin typeface="Cambria Math" panose="02040503050406030204" pitchFamily="18" charset="0"/>
                            </a:rPr>
                          </m:ctrlPr>
                        </m:dPr>
                        <m:e>
                          <m:r>
                            <a:rPr lang="en-US" sz="3200" b="0" i="1" smtClean="0">
                              <a:latin typeface="Cambria Math" panose="02040503050406030204" pitchFamily="18" charset="0"/>
                            </a:rPr>
                            <m:t>𝐵</m:t>
                          </m:r>
                          <m:r>
                            <a:rPr lang="en-US" sz="3200" i="1">
                              <a:latin typeface="Cambria Math" panose="02040503050406030204" pitchFamily="18" charset="0"/>
                            </a:rPr>
                            <m:t>−</m:t>
                          </m:r>
                          <m:r>
                            <a:rPr lang="en-US" sz="3200" i="1">
                              <a:latin typeface="Cambria Math" panose="02040503050406030204" pitchFamily="18" charset="0"/>
                            </a:rPr>
                            <m:t>𝑌</m:t>
                          </m:r>
                        </m:e>
                      </m:d>
                      <m:r>
                        <a:rPr lang="en-US" sz="3200" i="1">
                          <a:latin typeface="Cambria Math" panose="02040503050406030204" pitchFamily="18" charset="0"/>
                        </a:rPr>
                        <m:t>∗0.</m:t>
                      </m:r>
                      <m:r>
                        <a:rPr lang="en-US" sz="3200" b="0" i="1" smtClean="0">
                          <a:latin typeface="Cambria Math" panose="02040503050406030204" pitchFamily="18" charset="0"/>
                        </a:rPr>
                        <m:t>564</m:t>
                      </m:r>
                      <m:r>
                        <a:rPr lang="en-US" sz="3200" i="1">
                          <a:latin typeface="Cambria Math" panose="02040503050406030204" pitchFamily="18" charset="0"/>
                        </a:rPr>
                        <m:t>+128</m:t>
                      </m:r>
                    </m:oMath>
                  </m:oMathPara>
                </a14:m>
                <a:endParaRPr lang="en-US" sz="3200" dirty="0">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5016758"/>
              </a:xfrm>
              <a:prstGeom prst="rect">
                <a:avLst/>
              </a:prstGeom>
              <a:blipFill>
                <a:blip r:embed="rId2"/>
                <a:stretch>
                  <a:fillRect l="-1229" t="-1580" r="-1336"/>
                </a:stretch>
              </a:blipFill>
            </p:spPr>
            <p:txBody>
              <a:bodyPr/>
              <a:lstStyle/>
              <a:p>
                <a:r>
                  <a:rPr lang="en-US">
                    <a:noFill/>
                  </a:rPr>
                  <a:t> </a:t>
                </a:r>
              </a:p>
            </p:txBody>
          </p:sp>
        </mc:Fallback>
      </mc:AlternateContent>
    </p:spTree>
    <p:extLst>
      <p:ext uri="{BB962C8B-B14F-4D97-AF65-F5344CB8AC3E}">
        <p14:creationId xmlns:p14="http://schemas.microsoft.com/office/powerpoint/2010/main" val="2244451169"/>
      </p:ext>
    </p:extLst>
  </p:cSld>
  <p:clrMapOvr>
    <a:masterClrMapping/>
  </p:clrMapOvr>
  <p:transition spd="med"/>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61</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2554545"/>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Notice that there are quite a few isolated white speckles in the </a:t>
            </a:r>
            <a:r>
              <a:rPr lang="en-US" sz="3200" dirty="0" smtClean="0">
                <a:latin typeface="Times-Roman"/>
              </a:rPr>
              <a:t>image in </a:t>
            </a:r>
            <a:r>
              <a:rPr lang="en-US" sz="3200" dirty="0">
                <a:latin typeface="Times-Roman"/>
              </a:rPr>
              <a:t>Figure </a:t>
            </a:r>
            <a:r>
              <a:rPr lang="en-US" sz="3200" dirty="0" smtClean="0">
                <a:latin typeface="Times-Roman"/>
              </a:rPr>
              <a:t>2.4.3(c</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These </a:t>
            </a:r>
            <a:r>
              <a:rPr lang="en-US" sz="3200" dirty="0">
                <a:latin typeface="Times-Roman"/>
              </a:rPr>
              <a:t>could be reduced by reducing the threshold </a:t>
            </a:r>
            <a:r>
              <a:rPr lang="en-US" sz="3200" dirty="0" smtClean="0">
                <a:latin typeface="Times-Roman"/>
              </a:rPr>
              <a:t>value.</a:t>
            </a:r>
          </a:p>
          <a:p>
            <a:pPr marL="457200" indent="-457200">
              <a:buFont typeface="Arial" panose="020B0604020202020204" pitchFamily="34" charset="0"/>
              <a:buChar char="•"/>
            </a:pPr>
            <a:r>
              <a:rPr lang="en-US" sz="3200" dirty="0" smtClean="0">
                <a:latin typeface="Times-Roman"/>
              </a:rPr>
              <a:t>However</a:t>
            </a:r>
            <a:r>
              <a:rPr lang="en-US" sz="3200" dirty="0">
                <a:latin typeface="Times-Roman"/>
              </a:rPr>
              <a:t>, if we do that, we may also reduce the amount of the white </a:t>
            </a:r>
            <a:r>
              <a:rPr lang="en-US" sz="3200" dirty="0" smtClean="0">
                <a:latin typeface="Times-Roman"/>
              </a:rPr>
              <a:t>line that </a:t>
            </a:r>
            <a:r>
              <a:rPr lang="en-US" sz="3200" dirty="0">
                <a:latin typeface="Times-Roman"/>
              </a:rPr>
              <a:t>is visible</a:t>
            </a:r>
            <a:r>
              <a:rPr lang="en-US" sz="3200" dirty="0" smtClean="0">
                <a:latin typeface="Times-Roman"/>
              </a:rPr>
              <a:t>.</a:t>
            </a:r>
            <a:endParaRPr lang="en-US" sz="3200" dirty="0">
              <a:latin typeface="Times-Roman"/>
            </a:endParaRPr>
          </a:p>
        </p:txBody>
      </p:sp>
    </p:spTree>
    <p:extLst>
      <p:ext uri="{BB962C8B-B14F-4D97-AF65-F5344CB8AC3E}">
        <p14:creationId xmlns:p14="http://schemas.microsoft.com/office/powerpoint/2010/main" val="351774677"/>
      </p:ext>
    </p:extLst>
  </p:cSld>
  <p:clrMapOvr>
    <a:masterClrMapping/>
  </p:clrMapOvr>
  <p:transition spd="med"/>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62</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algn="just"/>
            <a:r>
              <a:rPr lang="en-US" sz="3200" b="1" dirty="0" smtClean="0">
                <a:solidFill>
                  <a:srgbClr val="7030A0"/>
                </a:solidFill>
                <a:latin typeface="Times-Roman"/>
              </a:rPr>
              <a:t>Analysis:</a:t>
            </a:r>
          </a:p>
          <a:p>
            <a:pPr marL="457200" indent="-457200" algn="just">
              <a:buFont typeface="Arial" panose="020B0604020202020204" pitchFamily="34" charset="0"/>
              <a:buChar char="•"/>
            </a:pPr>
            <a:r>
              <a:rPr lang="en-US" sz="3200" dirty="0">
                <a:latin typeface="Times-Roman"/>
              </a:rPr>
              <a:t>Let the time taken to color convert and threshold 1 pixel be </a:t>
            </a:r>
            <a:r>
              <a:rPr lang="en-US" sz="3200" i="1" dirty="0" smtClean="0">
                <a:latin typeface="CMMI10"/>
              </a:rPr>
              <a:t>χ</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In </a:t>
            </a:r>
            <a:r>
              <a:rPr lang="en-US" sz="3200" dirty="0">
                <a:latin typeface="Times-Roman"/>
              </a:rPr>
              <a:t>that case</a:t>
            </a:r>
            <a:r>
              <a:rPr lang="en-US" sz="3200" dirty="0" smtClean="0">
                <a:latin typeface="Times-Roman"/>
              </a:rPr>
              <a:t>, the </a:t>
            </a:r>
            <a:r>
              <a:rPr lang="en-US" sz="3200" dirty="0">
                <a:latin typeface="Times-Roman"/>
              </a:rPr>
              <a:t>serial time to process an </a:t>
            </a:r>
            <a:r>
              <a:rPr lang="en-US" sz="3200" i="1" dirty="0" err="1" smtClean="0">
                <a:latin typeface="CMMI10"/>
              </a:rPr>
              <a:t>n</a:t>
            </a:r>
            <a:r>
              <a:rPr lang="en-US" sz="3200" i="1" dirty="0" err="1" smtClean="0">
                <a:latin typeface="CMSY10"/>
              </a:rPr>
              <a:t>×</a:t>
            </a:r>
            <a:r>
              <a:rPr lang="en-US" sz="3200" i="1" dirty="0" err="1" smtClean="0">
                <a:latin typeface="CMMI10"/>
              </a:rPr>
              <a:t>m</a:t>
            </a:r>
            <a:r>
              <a:rPr lang="en-US" sz="3200" i="1" dirty="0" smtClean="0">
                <a:latin typeface="CMMI10"/>
              </a:rPr>
              <a:t> </a:t>
            </a:r>
            <a:r>
              <a:rPr lang="en-US" sz="3200" dirty="0" smtClean="0">
                <a:latin typeface="Times-Roman"/>
              </a:rPr>
              <a:t>image </a:t>
            </a:r>
            <a:r>
              <a:rPr lang="en-US" sz="3200" dirty="0">
                <a:latin typeface="Times-Roman"/>
              </a:rPr>
              <a:t>is easily calculated as </a:t>
            </a:r>
            <a:r>
              <a:rPr lang="en-US" sz="3200" i="1" dirty="0" err="1">
                <a:latin typeface="CMMI10"/>
              </a:rPr>
              <a:t>T</a:t>
            </a:r>
            <a:r>
              <a:rPr lang="en-US" i="1" dirty="0" err="1">
                <a:latin typeface="CMMI8"/>
              </a:rPr>
              <a:t>s</a:t>
            </a:r>
            <a:r>
              <a:rPr lang="en-US" i="1" dirty="0">
                <a:latin typeface="CMMI8"/>
              </a:rPr>
              <a:t> </a:t>
            </a:r>
            <a:r>
              <a:rPr lang="en-US" sz="3200" dirty="0">
                <a:latin typeface="CMR10"/>
              </a:rPr>
              <a:t>= </a:t>
            </a:r>
            <a:r>
              <a:rPr lang="en-US" sz="3200" i="1" dirty="0" err="1" smtClean="0">
                <a:latin typeface="CMMI10"/>
              </a:rPr>
              <a:t>nmχ</a:t>
            </a:r>
            <a:r>
              <a:rPr lang="en-US" sz="3200" dirty="0" smtClean="0">
                <a:latin typeface="Times-Roman"/>
              </a:rPr>
              <a:t>.</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parallel communication time is composed of the time to scatter </a:t>
            </a:r>
            <a:r>
              <a:rPr lang="en-US" sz="3200" dirty="0" smtClean="0">
                <a:latin typeface="Times-Roman"/>
              </a:rPr>
              <a:t>the color </a:t>
            </a:r>
            <a:r>
              <a:rPr lang="en-US" sz="3200" dirty="0">
                <a:latin typeface="Times-Roman"/>
              </a:rPr>
              <a:t>image strips and to gather the </a:t>
            </a:r>
            <a:r>
              <a:rPr lang="en-US" sz="3200" dirty="0" err="1">
                <a:latin typeface="Times-Roman"/>
              </a:rPr>
              <a:t>thresholded</a:t>
            </a:r>
            <a:r>
              <a:rPr lang="en-US" sz="3200" dirty="0">
                <a:latin typeface="Times-Roman"/>
              </a:rPr>
              <a:t> image back </a:t>
            </a:r>
            <a:r>
              <a:rPr lang="en-US" sz="3200" dirty="0" smtClean="0">
                <a:latin typeface="Times-Roman"/>
              </a:rPr>
              <a:t>again.</a:t>
            </a:r>
          </a:p>
          <a:p>
            <a:pPr marL="457200" indent="-457200" algn="just">
              <a:buFont typeface="Arial" panose="020B0604020202020204" pitchFamily="34" charset="0"/>
              <a:buChar char="•"/>
            </a:pPr>
            <a:r>
              <a:rPr lang="en-US" sz="3200" dirty="0" smtClean="0">
                <a:latin typeface="Times-Roman"/>
              </a:rPr>
              <a:t>The time </a:t>
            </a:r>
            <a:r>
              <a:rPr lang="en-US" sz="3200" dirty="0">
                <a:latin typeface="Times-Roman"/>
              </a:rPr>
              <a:t>to scatter the image strips from the root to each processor is given </a:t>
            </a:r>
            <a:r>
              <a:rPr lang="en-US" sz="3200" dirty="0" smtClean="0">
                <a:latin typeface="Times-Roman"/>
              </a:rPr>
              <a:t>by </a:t>
            </a:r>
            <a:r>
              <a:rPr lang="el-GR" sz="3200" i="1" dirty="0" smtClean="0">
                <a:latin typeface="CMMI10"/>
              </a:rPr>
              <a:t>λ</a:t>
            </a:r>
            <a:r>
              <a:rPr lang="en-US" sz="3200" dirty="0">
                <a:latin typeface="CMR10"/>
              </a:rPr>
              <a:t>log </a:t>
            </a:r>
            <a:r>
              <a:rPr lang="en-US" sz="3200" i="1" dirty="0">
                <a:latin typeface="CMMI10"/>
              </a:rPr>
              <a:t>p </a:t>
            </a:r>
            <a:r>
              <a:rPr lang="en-US" sz="3200" dirty="0">
                <a:latin typeface="CMR10"/>
              </a:rPr>
              <a:t>+ 3</a:t>
            </a:r>
            <a:r>
              <a:rPr lang="en-US" sz="3200" i="1" dirty="0">
                <a:latin typeface="CMMI10"/>
              </a:rPr>
              <a:t>nm</a:t>
            </a:r>
            <a:r>
              <a:rPr lang="en-US" sz="3200" dirty="0">
                <a:latin typeface="CMR10"/>
              </a:rPr>
              <a:t>(</a:t>
            </a:r>
            <a:r>
              <a:rPr lang="en-US" sz="3200" i="1" dirty="0">
                <a:latin typeface="CMMI10"/>
              </a:rPr>
              <a:t>p </a:t>
            </a:r>
            <a:r>
              <a:rPr lang="en-US" sz="3200" i="1" dirty="0">
                <a:latin typeface="CMSY10"/>
              </a:rPr>
              <a:t>− </a:t>
            </a:r>
            <a:r>
              <a:rPr lang="en-US" sz="3200" dirty="0">
                <a:latin typeface="CMR10"/>
              </a:rPr>
              <a:t>1)</a:t>
            </a:r>
            <a:r>
              <a:rPr lang="en-US" sz="3200" i="1" dirty="0">
                <a:latin typeface="CMMI10"/>
              </a:rPr>
              <a:t>/p</a:t>
            </a:r>
            <a:r>
              <a:rPr lang="el-GR" sz="3200" i="1" dirty="0">
                <a:latin typeface="CMMI10"/>
              </a:rPr>
              <a:t>β</a:t>
            </a:r>
            <a:r>
              <a:rPr lang="el-GR" sz="3200" dirty="0">
                <a:latin typeface="Times-Roman"/>
              </a:rPr>
              <a:t>.</a:t>
            </a:r>
            <a:endParaRPr lang="en-US" sz="3200" dirty="0" smtClean="0">
              <a:latin typeface="Times-Roman"/>
            </a:endParaRPr>
          </a:p>
        </p:txBody>
      </p:sp>
    </p:spTree>
    <p:extLst>
      <p:ext uri="{BB962C8B-B14F-4D97-AF65-F5344CB8AC3E}">
        <p14:creationId xmlns:p14="http://schemas.microsoft.com/office/powerpoint/2010/main" val="1863961005"/>
      </p:ext>
    </p:extLst>
  </p:cSld>
  <p:clrMapOvr>
    <a:masterClrMapping/>
  </p:clrMapOvr>
  <p:transition spd="med"/>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63</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2062103"/>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The time to gather the result image back to the</a:t>
            </a:r>
          </a:p>
          <a:p>
            <a:r>
              <a:rPr lang="nl-NL" sz="3200" dirty="0">
                <a:latin typeface="Times-Roman"/>
              </a:rPr>
              <a:t>root is </a:t>
            </a:r>
            <a:r>
              <a:rPr lang="nl-NL" sz="3200" i="1" dirty="0">
                <a:latin typeface="CMMI10"/>
              </a:rPr>
              <a:t>λ</a:t>
            </a:r>
            <a:r>
              <a:rPr lang="nl-NL" sz="3200" dirty="0">
                <a:latin typeface="CMR10"/>
              </a:rPr>
              <a:t>log </a:t>
            </a:r>
            <a:r>
              <a:rPr lang="nl-NL" sz="3200" i="1" dirty="0">
                <a:latin typeface="CMMI10"/>
              </a:rPr>
              <a:t>p </a:t>
            </a:r>
            <a:r>
              <a:rPr lang="nl-NL" sz="3200" dirty="0">
                <a:latin typeface="CMR10"/>
              </a:rPr>
              <a:t>+ </a:t>
            </a:r>
            <a:r>
              <a:rPr lang="nl-NL" sz="3200" i="1" dirty="0">
                <a:latin typeface="CMMI10"/>
              </a:rPr>
              <a:t>nm</a:t>
            </a:r>
            <a:r>
              <a:rPr lang="nl-NL" sz="3200" dirty="0">
                <a:latin typeface="CMR10"/>
              </a:rPr>
              <a:t>(</a:t>
            </a:r>
            <a:r>
              <a:rPr lang="nl-NL" sz="3200" i="1" dirty="0">
                <a:latin typeface="CMMI10"/>
              </a:rPr>
              <a:t>p </a:t>
            </a:r>
            <a:r>
              <a:rPr lang="nl-NL" sz="3200" i="1" dirty="0">
                <a:latin typeface="CMSY10"/>
              </a:rPr>
              <a:t>− </a:t>
            </a:r>
            <a:r>
              <a:rPr lang="nl-NL" sz="3200" dirty="0">
                <a:latin typeface="CMR10"/>
              </a:rPr>
              <a:t>1)</a:t>
            </a:r>
            <a:r>
              <a:rPr lang="nl-NL" sz="3200" i="1" dirty="0">
                <a:latin typeface="CMMI10"/>
              </a:rPr>
              <a:t>/pβ</a:t>
            </a:r>
            <a:r>
              <a:rPr lang="nl-NL" sz="3200" dirty="0" smtClean="0">
                <a:latin typeface="Times-Roman"/>
              </a:rPr>
              <a:t>.</a:t>
            </a:r>
          </a:p>
          <a:p>
            <a:pPr marL="457200" indent="-457200">
              <a:buFont typeface="Arial" panose="020B0604020202020204" pitchFamily="34" charset="0"/>
              <a:buChar char="•"/>
            </a:pPr>
            <a:r>
              <a:rPr lang="en-US" sz="3200" dirty="0">
                <a:latin typeface="Times-Roman"/>
              </a:rPr>
              <a:t>The parallel calculation time is </a:t>
            </a:r>
            <a:r>
              <a:rPr lang="en-US" sz="3200" i="1" dirty="0" err="1">
                <a:latin typeface="CMMI10"/>
              </a:rPr>
              <a:t>nmχ</a:t>
            </a:r>
            <a:r>
              <a:rPr lang="en-US" sz="3200" i="1" dirty="0">
                <a:latin typeface="CMMI10"/>
              </a:rPr>
              <a:t>/p</a:t>
            </a:r>
            <a:r>
              <a:rPr lang="en-US" sz="3200" dirty="0" smtClean="0">
                <a:latin typeface="Times-Roman"/>
              </a:rPr>
              <a:t>.</a:t>
            </a:r>
          </a:p>
          <a:p>
            <a:pPr marL="457200" indent="-457200">
              <a:buFont typeface="Arial" panose="020B0604020202020204" pitchFamily="34" charset="0"/>
              <a:buChar char="•"/>
            </a:pPr>
            <a:endParaRPr lang="en-US" sz="3200" dirty="0" smtClean="0">
              <a:latin typeface="Times-Roman"/>
            </a:endParaRPr>
          </a:p>
        </p:txBody>
      </p:sp>
      <p:pic>
        <p:nvPicPr>
          <p:cNvPr id="3" name="Picture 2"/>
          <p:cNvPicPr>
            <a:picLocks noChangeAspect="1"/>
          </p:cNvPicPr>
          <p:nvPr/>
        </p:nvPicPr>
        <p:blipFill>
          <a:blip r:embed="rId2"/>
          <a:stretch>
            <a:fillRect/>
          </a:stretch>
        </p:blipFill>
        <p:spPr>
          <a:xfrm>
            <a:off x="511718" y="3062962"/>
            <a:ext cx="5642282" cy="3033485"/>
          </a:xfrm>
          <a:prstGeom prst="rect">
            <a:avLst/>
          </a:prstGeom>
          <a:ln w="38100">
            <a:solidFill>
              <a:schemeClr val="tx1"/>
            </a:solidFill>
          </a:ln>
        </p:spPr>
      </p:pic>
      <p:sp>
        <p:nvSpPr>
          <p:cNvPr id="5" name="Rectangle 4"/>
          <p:cNvSpPr/>
          <p:nvPr/>
        </p:nvSpPr>
        <p:spPr>
          <a:xfrm>
            <a:off x="6533072" y="3062961"/>
            <a:ext cx="5026469" cy="2246769"/>
          </a:xfrm>
          <a:prstGeom prst="rect">
            <a:avLst/>
          </a:prstGeom>
        </p:spPr>
        <p:txBody>
          <a:bodyPr wrap="square">
            <a:spAutoFit/>
          </a:bodyPr>
          <a:lstStyle/>
          <a:p>
            <a:pPr algn="just"/>
            <a:r>
              <a:rPr lang="en-US" sz="2800" b="1" dirty="0">
                <a:latin typeface="Times-Bold"/>
              </a:rPr>
              <a:t>Figure </a:t>
            </a:r>
            <a:r>
              <a:rPr lang="en-US" sz="2800" b="1" dirty="0" smtClean="0">
                <a:latin typeface="Times-Bold"/>
              </a:rPr>
              <a:t>2.4.4</a:t>
            </a:r>
            <a:r>
              <a:rPr lang="en-US" sz="2800" b="1" dirty="0">
                <a:latin typeface="Times-Bold"/>
              </a:rPr>
              <a:t>: </a:t>
            </a:r>
            <a:r>
              <a:rPr lang="en-US" sz="2800" dirty="0">
                <a:latin typeface="Times-Roman"/>
              </a:rPr>
              <a:t>Performance graph for parallel pixel-based operations for </a:t>
            </a:r>
            <a:r>
              <a:rPr lang="en-US" sz="2800" dirty="0">
                <a:latin typeface="CMR8"/>
              </a:rPr>
              <a:t>640 </a:t>
            </a:r>
            <a:r>
              <a:rPr lang="en-US" sz="2800" i="1" dirty="0">
                <a:latin typeface="CMSY8"/>
              </a:rPr>
              <a:t>× </a:t>
            </a:r>
            <a:r>
              <a:rPr lang="en-US" sz="2800" dirty="0">
                <a:latin typeface="CMR8"/>
              </a:rPr>
              <a:t>480 </a:t>
            </a:r>
            <a:r>
              <a:rPr lang="en-US" sz="2800" dirty="0">
                <a:latin typeface="Times-Roman"/>
              </a:rPr>
              <a:t>image (</a:t>
            </a:r>
            <a:r>
              <a:rPr lang="en-US" sz="2800" i="1" dirty="0">
                <a:latin typeface="CMMI8"/>
              </a:rPr>
              <a:t>λ </a:t>
            </a:r>
            <a:r>
              <a:rPr lang="en-US" sz="2800" dirty="0">
                <a:latin typeface="CMR8"/>
              </a:rPr>
              <a:t>= 3</a:t>
            </a:r>
            <a:r>
              <a:rPr lang="en-US" sz="2800" i="1" dirty="0">
                <a:latin typeface="CMMI8"/>
              </a:rPr>
              <a:t>μs</a:t>
            </a:r>
            <a:r>
              <a:rPr lang="en-US" sz="2800" dirty="0" smtClean="0">
                <a:latin typeface="Times-Roman"/>
              </a:rPr>
              <a:t>, </a:t>
            </a:r>
            <a:r>
              <a:rPr lang="el-GR" sz="2800" i="1" dirty="0" smtClean="0">
                <a:latin typeface="CMMI8"/>
              </a:rPr>
              <a:t>β </a:t>
            </a:r>
            <a:r>
              <a:rPr lang="el-GR" sz="2800" dirty="0">
                <a:latin typeface="CMR8"/>
              </a:rPr>
              <a:t>= 1</a:t>
            </a:r>
            <a:r>
              <a:rPr lang="en-US" sz="2800" dirty="0" err="1">
                <a:latin typeface="Times-Roman"/>
              </a:rPr>
              <a:t>Gbps</a:t>
            </a:r>
            <a:r>
              <a:rPr lang="en-US" sz="2800" dirty="0">
                <a:latin typeface="Times-Roman"/>
              </a:rPr>
              <a:t>, </a:t>
            </a:r>
            <a:r>
              <a:rPr lang="el-GR" sz="2800" i="1" dirty="0">
                <a:latin typeface="CMMI8"/>
              </a:rPr>
              <a:t>χ </a:t>
            </a:r>
            <a:r>
              <a:rPr lang="el-GR" sz="2800" dirty="0">
                <a:latin typeface="CMR8"/>
              </a:rPr>
              <a:t>= 730 </a:t>
            </a:r>
            <a:r>
              <a:rPr lang="en-US" sz="2800" dirty="0">
                <a:latin typeface="Times-Roman"/>
              </a:rPr>
              <a:t>ns).</a:t>
            </a:r>
            <a:endParaRPr lang="en-US" sz="2800" dirty="0"/>
          </a:p>
        </p:txBody>
      </p:sp>
    </p:spTree>
    <p:extLst>
      <p:ext uri="{BB962C8B-B14F-4D97-AF65-F5344CB8AC3E}">
        <p14:creationId xmlns:p14="http://schemas.microsoft.com/office/powerpoint/2010/main" val="45161409"/>
      </p:ext>
    </p:extLst>
  </p:cSld>
  <p:clrMapOvr>
    <a:masterClrMapping/>
  </p:clrMapOvr>
  <p:transition spd="med"/>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64</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Iconic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351790" y="1162852"/>
                <a:ext cx="11407140" cy="1605761"/>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The total parallel time is therefore,</a:t>
                </a:r>
              </a:p>
              <a:p>
                <a:pPr algn="just"/>
                <a14:m>
                  <m:oMathPara xmlns:m="http://schemas.openxmlformats.org/officeDocument/2006/math">
                    <m:oMathParaPr>
                      <m:jc m:val="centerGroup"/>
                    </m:oMathParaPr>
                    <m:oMath xmlns:m="http://schemas.openxmlformats.org/officeDocument/2006/math">
                      <m:sSub>
                        <m:sSubPr>
                          <m:ctrlPr>
                            <a:rPr lang="en-US" sz="3200" i="1" smtClean="0">
                              <a:latin typeface="Cambria Math" panose="02040503050406030204" pitchFamily="18" charset="0"/>
                            </a:rPr>
                          </m:ctrlPr>
                        </m:sSubPr>
                        <m:e>
                          <m:r>
                            <a:rPr lang="en-US" sz="3200" b="0" i="1" smtClean="0">
                              <a:latin typeface="Cambria Math" panose="02040503050406030204" pitchFamily="18" charset="0"/>
                            </a:rPr>
                            <m:t>𝑇</m:t>
                          </m:r>
                        </m:e>
                        <m:sub>
                          <m:r>
                            <a:rPr lang="en-US" sz="3200" b="0" i="1" smtClean="0">
                              <a:latin typeface="Cambria Math" panose="02040503050406030204" pitchFamily="18" charset="0"/>
                            </a:rPr>
                            <m:t>𝑝</m:t>
                          </m:r>
                        </m:sub>
                      </m:sSub>
                      <m:r>
                        <a:rPr lang="en-US" sz="3200" b="0" i="1" smtClean="0">
                          <a:latin typeface="Cambria Math" panose="02040503050406030204" pitchFamily="18" charset="0"/>
                        </a:rPr>
                        <m:t>=2</m:t>
                      </m:r>
                      <m:r>
                        <a:rPr lang="en-US" sz="3200" b="0" i="1" smtClean="0">
                          <a:latin typeface="Cambria Math" panose="02040503050406030204" pitchFamily="18" charset="0"/>
                          <a:ea typeface="Cambria Math" panose="02040503050406030204" pitchFamily="18" charset="0"/>
                        </a:rPr>
                        <m:t>𝜆</m:t>
                      </m:r>
                      <m:func>
                        <m:funcPr>
                          <m:ctrlPr>
                            <a:rPr lang="en-US" sz="3200" b="0" i="1" smtClean="0">
                              <a:latin typeface="Cambria Math" panose="02040503050406030204" pitchFamily="18" charset="0"/>
                              <a:ea typeface="Cambria Math" panose="02040503050406030204" pitchFamily="18" charset="0"/>
                            </a:rPr>
                          </m:ctrlPr>
                        </m:funcPr>
                        <m:fName>
                          <m:r>
                            <m:rPr>
                              <m:sty m:val="p"/>
                            </m:rPr>
                            <a:rPr lang="en-US" sz="3200" b="0" i="0" smtClean="0">
                              <a:latin typeface="Cambria Math" panose="02040503050406030204" pitchFamily="18" charset="0"/>
                              <a:ea typeface="Cambria Math" panose="02040503050406030204" pitchFamily="18" charset="0"/>
                            </a:rPr>
                            <m:t>log</m:t>
                          </m:r>
                        </m:fName>
                        <m:e>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4</m:t>
                              </m:r>
                              <m:r>
                                <a:rPr lang="en-US" sz="3200" b="0" i="1" smtClean="0">
                                  <a:latin typeface="Cambria Math" panose="02040503050406030204" pitchFamily="18" charset="0"/>
                                  <a:ea typeface="Cambria Math" panose="02040503050406030204" pitchFamily="18" charset="0"/>
                                </a:rPr>
                                <m:t>𝑛𝑚</m:t>
                              </m:r>
                              <m:r>
                                <a:rPr lang="en-US" sz="3200" b="0" i="1" smtClean="0">
                                  <a:latin typeface="Cambria Math" panose="02040503050406030204" pitchFamily="18" charset="0"/>
                                  <a:ea typeface="Cambria Math" panose="02040503050406030204" pitchFamily="18" charset="0"/>
                                </a:rPr>
                                <m:t>(</m:t>
                              </m:r>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−1)</m:t>
                              </m:r>
                            </m:num>
                            <m:den>
                              <m:r>
                                <a:rPr lang="en-US" sz="3200" b="0" i="1" smtClean="0">
                                  <a:latin typeface="Cambria Math" panose="02040503050406030204" pitchFamily="18" charset="0"/>
                                  <a:ea typeface="Cambria Math" panose="02040503050406030204" pitchFamily="18" charset="0"/>
                                </a:rPr>
                                <m:t>𝑝</m:t>
                              </m:r>
                              <m:r>
                                <a:rPr lang="en-US" sz="3200" b="0" i="1" smtClean="0">
                                  <a:latin typeface="Cambria Math" panose="02040503050406030204" pitchFamily="18" charset="0"/>
                                  <a:ea typeface="Cambria Math" panose="02040503050406030204" pitchFamily="18" charset="0"/>
                                </a:rPr>
                                <m:t>𝛽</m:t>
                              </m:r>
                            </m:den>
                          </m:f>
                          <m:r>
                            <a:rPr lang="en-US" sz="3200" b="0" i="1" smtClean="0">
                              <a:latin typeface="Cambria Math" panose="02040503050406030204" pitchFamily="18" charset="0"/>
                              <a:ea typeface="Cambria Math" panose="02040503050406030204" pitchFamily="18" charset="0"/>
                            </a:rPr>
                            <m:t>+</m:t>
                          </m:r>
                          <m:f>
                            <m:fPr>
                              <m:ctrlPr>
                                <a:rPr lang="en-US" sz="3200" b="0" i="1" smtClean="0">
                                  <a:latin typeface="Cambria Math" panose="02040503050406030204" pitchFamily="18" charset="0"/>
                                  <a:ea typeface="Cambria Math" panose="02040503050406030204" pitchFamily="18" charset="0"/>
                                </a:rPr>
                              </m:ctrlPr>
                            </m:fPr>
                            <m:num>
                              <m:r>
                                <a:rPr lang="en-US" sz="3200" b="0" i="1" smtClean="0">
                                  <a:latin typeface="Cambria Math" panose="02040503050406030204" pitchFamily="18" charset="0"/>
                                  <a:ea typeface="Cambria Math" panose="02040503050406030204" pitchFamily="18" charset="0"/>
                                </a:rPr>
                                <m:t>𝑛𝑚𝑋</m:t>
                              </m:r>
                            </m:num>
                            <m:den>
                              <m:r>
                                <a:rPr lang="en-US" sz="3200" b="0" i="1" smtClean="0">
                                  <a:latin typeface="Cambria Math" panose="02040503050406030204" pitchFamily="18" charset="0"/>
                                  <a:ea typeface="Cambria Math" panose="02040503050406030204" pitchFamily="18" charset="0"/>
                                </a:rPr>
                                <m:t>𝑝</m:t>
                              </m:r>
                            </m:den>
                          </m:f>
                        </m:e>
                      </m:func>
                    </m:oMath>
                  </m:oMathPara>
                </a14:m>
                <a:endParaRPr lang="en-US" sz="3200" dirty="0" smtClean="0">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351790" y="1162852"/>
                <a:ext cx="11407140" cy="1605761"/>
              </a:xfrm>
              <a:prstGeom prst="rect">
                <a:avLst/>
              </a:prstGeom>
              <a:blipFill>
                <a:blip r:embed="rId2"/>
                <a:stretch>
                  <a:fillRect l="-1229" t="-4943"/>
                </a:stretch>
              </a:blipFill>
            </p:spPr>
            <p:txBody>
              <a:bodyPr/>
              <a:lstStyle/>
              <a:p>
                <a:r>
                  <a:rPr lang="en-US">
                    <a:noFill/>
                  </a:rPr>
                  <a:t> </a:t>
                </a:r>
              </a:p>
            </p:txBody>
          </p:sp>
        </mc:Fallback>
      </mc:AlternateContent>
    </p:spTree>
    <p:extLst>
      <p:ext uri="{BB962C8B-B14F-4D97-AF65-F5344CB8AC3E}">
        <p14:creationId xmlns:p14="http://schemas.microsoft.com/office/powerpoint/2010/main" val="798585951"/>
      </p:ext>
    </p:extLst>
  </p:cSld>
  <p:clrMapOvr>
    <a:masterClrMapping/>
  </p:clrMapOvr>
  <p:transition spd="med"/>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65</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There is an important class of pixel-based operations that involves </a:t>
            </a:r>
            <a:r>
              <a:rPr lang="en-US" sz="3200" dirty="0" smtClean="0">
                <a:latin typeface="Times-Roman"/>
              </a:rPr>
              <a:t>looking at </a:t>
            </a:r>
            <a:r>
              <a:rPr lang="en-US" sz="3200" dirty="0">
                <a:latin typeface="Times-Roman"/>
              </a:rPr>
              <a:t>pixels in a small region of the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One </a:t>
            </a:r>
            <a:r>
              <a:rPr lang="en-US" sz="3200" dirty="0">
                <a:latin typeface="Times-Roman"/>
              </a:rPr>
              <a:t>such operation, for example</a:t>
            </a:r>
            <a:r>
              <a:rPr lang="en-US" sz="3200" dirty="0" smtClean="0">
                <a:latin typeface="Times-Roman"/>
              </a:rPr>
              <a:t>, calculates </a:t>
            </a:r>
            <a:r>
              <a:rPr lang="en-US" sz="3200" dirty="0">
                <a:latin typeface="Times-Roman"/>
              </a:rPr>
              <a:t>the value of a pixel by averaging the values of the eight </a:t>
            </a:r>
            <a:r>
              <a:rPr lang="en-US" sz="3200" dirty="0" smtClean="0">
                <a:latin typeface="Times-Roman"/>
              </a:rPr>
              <a:t>pixels that </a:t>
            </a:r>
            <a:r>
              <a:rPr lang="en-US" sz="3200" dirty="0">
                <a:latin typeface="Times-Roman"/>
              </a:rPr>
              <a:t>surround that pixel.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When </a:t>
            </a:r>
            <a:r>
              <a:rPr lang="en-US" sz="3200" dirty="0">
                <a:latin typeface="Times-Roman"/>
              </a:rPr>
              <a:t>this is applied to each pixel in an image </a:t>
            </a:r>
            <a:r>
              <a:rPr lang="en-US" sz="3200" dirty="0" smtClean="0">
                <a:latin typeface="Times-Roman"/>
              </a:rPr>
              <a:t>the result </a:t>
            </a:r>
            <a:r>
              <a:rPr lang="en-US" sz="3200" dirty="0">
                <a:latin typeface="Times-Roman"/>
              </a:rPr>
              <a:t>is a </a:t>
            </a:r>
            <a:r>
              <a:rPr lang="en-US" sz="3200" b="1" i="1" dirty="0">
                <a:solidFill>
                  <a:srgbClr val="7030A0"/>
                </a:solidFill>
                <a:latin typeface="Times-Italic"/>
              </a:rPr>
              <a:t>blurring </a:t>
            </a:r>
            <a:r>
              <a:rPr lang="en-US" sz="3200" b="1" dirty="0">
                <a:solidFill>
                  <a:srgbClr val="7030A0"/>
                </a:solidFill>
                <a:latin typeface="Times-Roman"/>
              </a:rPr>
              <a:t>or </a:t>
            </a:r>
            <a:r>
              <a:rPr lang="en-US" sz="3200" b="1" i="1" dirty="0">
                <a:solidFill>
                  <a:srgbClr val="7030A0"/>
                </a:solidFill>
                <a:latin typeface="Times-Italic"/>
              </a:rPr>
              <a:t>smoothing </a:t>
            </a:r>
            <a:r>
              <a:rPr lang="en-US" sz="3200" b="1" dirty="0">
                <a:solidFill>
                  <a:srgbClr val="7030A0"/>
                </a:solidFill>
                <a:latin typeface="Times-Roman"/>
              </a:rPr>
              <a:t>effect </a:t>
            </a:r>
            <a:r>
              <a:rPr lang="en-US" sz="3200" dirty="0">
                <a:latin typeface="Times-Roman"/>
              </a:rPr>
              <a:t>on the image.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Figure 2.4.5(a</a:t>
            </a:r>
            <a:r>
              <a:rPr lang="en-US" sz="3200" dirty="0">
                <a:latin typeface="Times-Roman"/>
              </a:rPr>
              <a:t>) </a:t>
            </a:r>
            <a:r>
              <a:rPr lang="en-US" sz="3200" dirty="0" smtClean="0">
                <a:latin typeface="Times-Roman"/>
              </a:rPr>
              <a:t>shows the </a:t>
            </a:r>
            <a:r>
              <a:rPr lang="en-US" sz="3200" dirty="0">
                <a:latin typeface="Times-Roman"/>
              </a:rPr>
              <a:t>lane close-up view from Figure </a:t>
            </a:r>
            <a:r>
              <a:rPr lang="en-US" sz="3200" dirty="0" smtClean="0">
                <a:latin typeface="Times-Roman"/>
              </a:rPr>
              <a:t>2.4.5. </a:t>
            </a:r>
          </a:p>
          <a:p>
            <a:pPr marL="457200" indent="-457200" algn="just">
              <a:buFont typeface="Arial" panose="020B0604020202020204" pitchFamily="34" charset="0"/>
              <a:buChar char="•"/>
            </a:pPr>
            <a:r>
              <a:rPr lang="en-US" sz="3200" dirty="0" smtClean="0">
                <a:latin typeface="Times-Roman"/>
              </a:rPr>
              <a:t>Figure 2.4.5(b</a:t>
            </a:r>
            <a:r>
              <a:rPr lang="en-US" sz="3200" dirty="0">
                <a:latin typeface="Times-Roman"/>
              </a:rPr>
              <a:t>) shows the results </a:t>
            </a:r>
            <a:r>
              <a:rPr lang="en-US" sz="3200" dirty="0" smtClean="0">
                <a:latin typeface="Times-Roman"/>
              </a:rPr>
              <a:t>of a </a:t>
            </a:r>
            <a:r>
              <a:rPr lang="en-US" sz="3200" dirty="0">
                <a:latin typeface="Times-Roman"/>
              </a:rPr>
              <a:t>blurring operation performed on the lane close-up image.</a:t>
            </a:r>
            <a:endParaRPr lang="en-US" sz="3200" dirty="0" smtClean="0">
              <a:latin typeface="Times-Roman"/>
            </a:endParaRPr>
          </a:p>
        </p:txBody>
      </p:sp>
    </p:spTree>
    <p:extLst>
      <p:ext uri="{BB962C8B-B14F-4D97-AF65-F5344CB8AC3E}">
        <p14:creationId xmlns:p14="http://schemas.microsoft.com/office/powerpoint/2010/main" val="239415804"/>
      </p:ext>
    </p:extLst>
  </p:cSld>
  <p:clrMapOvr>
    <a:masterClrMapping/>
  </p:clrMapOvr>
  <p:transition spd="med"/>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66</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003185" y="5299487"/>
            <a:ext cx="8710823" cy="523220"/>
          </a:xfrm>
          <a:prstGeom prst="rect">
            <a:avLst/>
          </a:prstGeom>
        </p:spPr>
        <p:txBody>
          <a:bodyPr wrap="square">
            <a:spAutoFit/>
          </a:bodyPr>
          <a:lstStyle/>
          <a:p>
            <a:pPr algn="just"/>
            <a:r>
              <a:rPr lang="en-US" sz="2800" b="1" dirty="0"/>
              <a:t>Figure 7-5: (a) Original image; (b) smoothed; (c) edges.</a:t>
            </a:r>
            <a:endParaRPr lang="en-US" sz="4400" b="1" dirty="0" smtClean="0">
              <a:latin typeface="Times-Roman"/>
            </a:endParaRPr>
          </a:p>
        </p:txBody>
      </p:sp>
      <p:pic>
        <p:nvPicPr>
          <p:cNvPr id="3" name="Picture 2"/>
          <p:cNvPicPr>
            <a:picLocks noChangeAspect="1"/>
          </p:cNvPicPr>
          <p:nvPr/>
        </p:nvPicPr>
        <p:blipFill>
          <a:blip r:embed="rId2"/>
          <a:stretch>
            <a:fillRect/>
          </a:stretch>
        </p:blipFill>
        <p:spPr>
          <a:xfrm>
            <a:off x="972345" y="1626895"/>
            <a:ext cx="10166030" cy="3208549"/>
          </a:xfrm>
          <a:prstGeom prst="rect">
            <a:avLst/>
          </a:prstGeom>
          <a:ln w="38100">
            <a:solidFill>
              <a:schemeClr val="tx1"/>
            </a:solidFill>
          </a:ln>
        </p:spPr>
      </p:pic>
    </p:spTree>
    <p:extLst>
      <p:ext uri="{BB962C8B-B14F-4D97-AF65-F5344CB8AC3E}">
        <p14:creationId xmlns:p14="http://schemas.microsoft.com/office/powerpoint/2010/main" val="1356071506"/>
      </p:ext>
    </p:extLst>
  </p:cSld>
  <p:clrMapOvr>
    <a:masterClrMapping/>
  </p:clrMapOvr>
  <p:transition spd="med"/>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67</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509200"/>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Another useful spatial operation is one that sharpens the </a:t>
            </a:r>
            <a:r>
              <a:rPr lang="en-US" sz="3200" dirty="0" smtClean="0">
                <a:latin typeface="Times-Roman"/>
              </a:rPr>
              <a:t>image (</a:t>
            </a:r>
            <a:r>
              <a:rPr lang="en-US" sz="3200" dirty="0">
                <a:latin typeface="Times-Roman"/>
              </a:rPr>
              <a:t>e.g., Figure </a:t>
            </a:r>
            <a:r>
              <a:rPr lang="en-US" sz="3200" dirty="0" smtClean="0">
                <a:latin typeface="Times-Roman"/>
              </a:rPr>
              <a:t>2.4.5(c</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In </a:t>
            </a:r>
            <a:r>
              <a:rPr lang="en-US" sz="3200" dirty="0">
                <a:latin typeface="Times-Roman"/>
              </a:rPr>
              <a:t>this case, the central pixel of the </a:t>
            </a:r>
            <a:r>
              <a:rPr lang="en-US" sz="3200" dirty="0" smtClean="0">
                <a:latin typeface="Times-Roman"/>
              </a:rPr>
              <a:t>neighborhood, is </a:t>
            </a:r>
            <a:r>
              <a:rPr lang="en-US" sz="3200" dirty="0">
                <a:latin typeface="Times-Roman"/>
              </a:rPr>
              <a:t>the sum of the differences between the central pixel’s original value </a:t>
            </a:r>
            <a:r>
              <a:rPr lang="en-US" sz="3200" dirty="0" smtClean="0">
                <a:latin typeface="Times-Roman"/>
              </a:rPr>
              <a:t>and the </a:t>
            </a:r>
            <a:r>
              <a:rPr lang="en-US" sz="3200" dirty="0">
                <a:latin typeface="Times-Roman"/>
              </a:rPr>
              <a:t>value each of its eight neighbor </a:t>
            </a:r>
            <a:r>
              <a:rPr lang="en-US" sz="3200" dirty="0" smtClean="0">
                <a:latin typeface="Times-Roman"/>
              </a:rPr>
              <a:t>pixels.</a:t>
            </a:r>
          </a:p>
          <a:p>
            <a:pPr marL="457200" indent="-457200">
              <a:buFont typeface="Arial" panose="020B0604020202020204" pitchFamily="34" charset="0"/>
              <a:buChar char="•"/>
            </a:pPr>
            <a:r>
              <a:rPr lang="en-US" sz="3200" dirty="0" smtClean="0">
                <a:latin typeface="Times-Roman"/>
              </a:rPr>
              <a:t>A </a:t>
            </a:r>
            <a:r>
              <a:rPr lang="en-US" sz="3200" dirty="0">
                <a:latin typeface="Times-Roman"/>
              </a:rPr>
              <a:t>convenient way to express spatial operations of this sort is as a </a:t>
            </a:r>
            <a:r>
              <a:rPr lang="en-US" sz="3200" i="1" dirty="0" smtClean="0">
                <a:latin typeface="Times-Italic"/>
              </a:rPr>
              <a:t>convolution operation</a:t>
            </a:r>
            <a:r>
              <a:rPr lang="en-US" sz="3200" dirty="0">
                <a:latin typeface="Times-Roman"/>
              </a:rPr>
              <a:t>. </a:t>
            </a:r>
            <a:endParaRPr lang="en-US" sz="3200" dirty="0" smtClean="0">
              <a:latin typeface="Times-Roman"/>
            </a:endParaRPr>
          </a:p>
          <a:p>
            <a:pPr marL="457200" indent="-457200">
              <a:buFont typeface="Arial" panose="020B0604020202020204" pitchFamily="34" charset="0"/>
              <a:buChar char="•"/>
            </a:pPr>
            <a:r>
              <a:rPr lang="en-US" sz="3200" dirty="0" smtClean="0">
                <a:latin typeface="Times-Roman"/>
              </a:rPr>
              <a:t>The </a:t>
            </a:r>
            <a:r>
              <a:rPr lang="en-US" sz="3200" dirty="0">
                <a:latin typeface="Times-Roman"/>
              </a:rPr>
              <a:t>convolution operation makes use of a </a:t>
            </a:r>
            <a:r>
              <a:rPr lang="en-US" sz="3200" i="1" dirty="0" smtClean="0">
                <a:latin typeface="Times-Italic"/>
              </a:rPr>
              <a:t>convolution </a:t>
            </a:r>
            <a:r>
              <a:rPr lang="pt-BR" sz="3200" i="1" dirty="0" smtClean="0">
                <a:latin typeface="Times-Italic"/>
              </a:rPr>
              <a:t>kernel </a:t>
            </a:r>
            <a:r>
              <a:rPr lang="pt-BR" sz="3200" i="1" dirty="0">
                <a:latin typeface="CMMI10"/>
              </a:rPr>
              <a:t>G</a:t>
            </a:r>
            <a:r>
              <a:rPr lang="pt-BR" sz="3200" dirty="0">
                <a:latin typeface="Times-Roman"/>
              </a:rPr>
              <a:t>, a </a:t>
            </a:r>
            <a:r>
              <a:rPr lang="pt-BR" sz="3200" i="1" dirty="0">
                <a:latin typeface="CMMI10"/>
              </a:rPr>
              <a:t>q </a:t>
            </a:r>
            <a:r>
              <a:rPr lang="pt-BR" sz="3200" i="1" dirty="0">
                <a:latin typeface="CMSY10"/>
              </a:rPr>
              <a:t>× </a:t>
            </a:r>
            <a:r>
              <a:rPr lang="pt-BR" sz="3200" i="1" dirty="0">
                <a:latin typeface="CMMI10"/>
              </a:rPr>
              <a:t>r </a:t>
            </a:r>
            <a:r>
              <a:rPr lang="pt-BR" sz="3200" dirty="0">
                <a:latin typeface="Times-Roman"/>
              </a:rPr>
              <a:t>matrix. </a:t>
            </a:r>
            <a:endParaRPr lang="pt-BR" sz="3200" dirty="0" smtClean="0">
              <a:latin typeface="Times-Roman"/>
            </a:endParaRPr>
          </a:p>
          <a:p>
            <a:pPr marL="457200" indent="-457200">
              <a:buFont typeface="Arial" panose="020B0604020202020204" pitchFamily="34" charset="0"/>
              <a:buChar char="•"/>
            </a:pPr>
            <a:r>
              <a:rPr lang="pt-BR" sz="3200" dirty="0" smtClean="0">
                <a:latin typeface="Times-Roman"/>
              </a:rPr>
              <a:t>Typically </a:t>
            </a:r>
            <a:r>
              <a:rPr lang="pt-BR" sz="3200" i="1" dirty="0">
                <a:latin typeface="CMMI10"/>
              </a:rPr>
              <a:t>q </a:t>
            </a:r>
            <a:r>
              <a:rPr lang="pt-BR" sz="3200" dirty="0">
                <a:latin typeface="CMR10"/>
              </a:rPr>
              <a:t>= </a:t>
            </a:r>
            <a:r>
              <a:rPr lang="pt-BR" sz="3200" i="1" dirty="0">
                <a:latin typeface="CMMI10"/>
              </a:rPr>
              <a:t>r</a:t>
            </a:r>
            <a:r>
              <a:rPr lang="pt-BR" sz="3200" dirty="0">
                <a:latin typeface="Times-Roman"/>
              </a:rPr>
              <a:t>, and </a:t>
            </a:r>
            <a:r>
              <a:rPr lang="pt-BR" sz="3200" i="1" dirty="0">
                <a:latin typeface="CMMI10"/>
              </a:rPr>
              <a:t>r </a:t>
            </a:r>
            <a:r>
              <a:rPr lang="pt-BR" sz="3200" i="1" dirty="0">
                <a:latin typeface="CMSY10"/>
              </a:rPr>
              <a:t> </a:t>
            </a:r>
            <a:r>
              <a:rPr lang="pt-BR" sz="3200" i="1" dirty="0">
                <a:latin typeface="CMMI10"/>
              </a:rPr>
              <a:t>n</a:t>
            </a:r>
            <a:r>
              <a:rPr lang="pt-BR" sz="3200" dirty="0">
                <a:latin typeface="Times-Roman"/>
              </a:rPr>
              <a:t>, </a:t>
            </a:r>
            <a:r>
              <a:rPr lang="pt-BR" sz="3200" i="1" dirty="0">
                <a:latin typeface="CMMI10"/>
              </a:rPr>
              <a:t>r </a:t>
            </a:r>
            <a:r>
              <a:rPr lang="pt-BR" sz="3200" i="1" dirty="0">
                <a:latin typeface="CMSY10"/>
              </a:rPr>
              <a:t> </a:t>
            </a:r>
            <a:r>
              <a:rPr lang="pt-BR" sz="3200" i="1" dirty="0">
                <a:latin typeface="CMMI10"/>
              </a:rPr>
              <a:t>m</a:t>
            </a:r>
            <a:r>
              <a:rPr lang="pt-BR" sz="3200" dirty="0">
                <a:latin typeface="Times-Roman"/>
              </a:rPr>
              <a:t>, </a:t>
            </a:r>
            <a:r>
              <a:rPr lang="pt-BR" sz="3200" dirty="0" smtClean="0">
                <a:latin typeface="Times-Roman"/>
              </a:rPr>
              <a:t>where </a:t>
            </a:r>
            <a:r>
              <a:rPr lang="en-US" sz="3200" i="1" dirty="0" smtClean="0">
                <a:latin typeface="CMMI10"/>
              </a:rPr>
              <a:t>n </a:t>
            </a:r>
            <a:r>
              <a:rPr lang="en-US" sz="3200" i="1" dirty="0">
                <a:latin typeface="CMSY10"/>
              </a:rPr>
              <a:t>×</a:t>
            </a:r>
            <a:r>
              <a:rPr lang="en-US" sz="3200" i="1" dirty="0">
                <a:latin typeface="CMMI10"/>
              </a:rPr>
              <a:t>m </a:t>
            </a:r>
            <a:r>
              <a:rPr lang="en-US" sz="3200" dirty="0">
                <a:latin typeface="Times-Roman"/>
              </a:rPr>
              <a:t>are dimensions of the image </a:t>
            </a:r>
            <a:r>
              <a:rPr lang="en-US" sz="3200" i="1" dirty="0">
                <a:latin typeface="CMMI10"/>
              </a:rPr>
              <a:t>I</a:t>
            </a:r>
            <a:r>
              <a:rPr lang="en-US" sz="3200" dirty="0">
                <a:latin typeface="Times-Roman"/>
              </a:rPr>
              <a:t>. </a:t>
            </a:r>
            <a:endParaRPr lang="en-US" sz="3200" dirty="0" smtClean="0">
              <a:latin typeface="Times-Roman"/>
            </a:endParaRPr>
          </a:p>
        </p:txBody>
      </p:sp>
    </p:spTree>
    <p:extLst>
      <p:ext uri="{BB962C8B-B14F-4D97-AF65-F5344CB8AC3E}">
        <p14:creationId xmlns:p14="http://schemas.microsoft.com/office/powerpoint/2010/main" val="3586159494"/>
      </p:ext>
    </p:extLst>
  </p:cSld>
  <p:clrMapOvr>
    <a:masterClrMapping/>
  </p:clrMapOvr>
  <p:transition spd="med"/>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68</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1162852"/>
            <a:ext cx="11407140" cy="5016758"/>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No matter what the kernel contains, the convolution </a:t>
            </a:r>
            <a:r>
              <a:rPr lang="en-US" sz="3200" i="1" dirty="0">
                <a:latin typeface="CMMI10"/>
              </a:rPr>
              <a:t>H </a:t>
            </a:r>
            <a:r>
              <a:rPr lang="en-US" sz="3200" dirty="0">
                <a:latin typeface="Times-Roman"/>
              </a:rPr>
              <a:t>is always defined for each point </a:t>
            </a:r>
            <a:r>
              <a:rPr lang="en-US" sz="3200" dirty="0">
                <a:latin typeface="CMR10"/>
              </a:rPr>
              <a:t>(</a:t>
            </a:r>
            <a:r>
              <a:rPr lang="en-US" sz="3200" i="1" dirty="0">
                <a:latin typeface="CMMI10"/>
              </a:rPr>
              <a:t>x, y</a:t>
            </a:r>
            <a:r>
              <a:rPr lang="en-US" sz="3200" dirty="0">
                <a:latin typeface="CMR10"/>
              </a:rPr>
              <a:t>) </a:t>
            </a:r>
            <a:r>
              <a:rPr lang="en-US" sz="3200" dirty="0">
                <a:latin typeface="Times-Roman"/>
              </a:rPr>
              <a:t>in the image </a:t>
            </a:r>
            <a:r>
              <a:rPr lang="en-US" sz="3200" i="1" dirty="0">
                <a:latin typeface="CMMI10"/>
              </a:rPr>
              <a:t>I </a:t>
            </a:r>
            <a:r>
              <a:rPr lang="en-US" sz="3200" dirty="0">
                <a:latin typeface="Times-Roman"/>
              </a:rPr>
              <a:t>as</a:t>
            </a:r>
            <a:r>
              <a:rPr lang="en-US" sz="3200" dirty="0" smtClean="0">
                <a:latin typeface="Times-Roman"/>
              </a:rPr>
              <a:t>:</a:t>
            </a: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Fig.</a:t>
            </a:r>
            <a:r>
              <a:rPr lang="en-US" sz="3200" dirty="0">
                <a:latin typeface="Times-Roman"/>
              </a:rPr>
              <a:t> </a:t>
            </a:r>
            <a:r>
              <a:rPr lang="en-US" sz="3200" dirty="0" smtClean="0">
                <a:latin typeface="Times-Roman"/>
              </a:rPr>
              <a:t>2.4.6 </a:t>
            </a:r>
            <a:r>
              <a:rPr lang="en-US" sz="3200" dirty="0">
                <a:latin typeface="Times-Roman"/>
              </a:rPr>
              <a:t>shows a sharpening kernel and a portion of an image.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kernel </a:t>
            </a:r>
            <a:r>
              <a:rPr lang="en-US" sz="3200" dirty="0">
                <a:latin typeface="Times-Roman"/>
              </a:rPr>
              <a:t>is applied to each pixel in succession starting at the top left </a:t>
            </a:r>
            <a:r>
              <a:rPr lang="en-US" sz="3200" dirty="0" smtClean="0">
                <a:latin typeface="Times-Roman"/>
              </a:rPr>
              <a:t>and working </a:t>
            </a:r>
            <a:r>
              <a:rPr lang="en-US" sz="3200" dirty="0">
                <a:latin typeface="Times-Roman"/>
              </a:rPr>
              <a:t>to the bottom right.</a:t>
            </a:r>
            <a:r>
              <a:rPr lang="en-US" sz="3200" dirty="0" smtClean="0">
                <a:latin typeface="Times-Roman"/>
              </a:rPr>
              <a:t> </a:t>
            </a:r>
            <a:endParaRPr lang="en-US" sz="3200" dirty="0">
              <a:latin typeface="Times-Roman"/>
            </a:endParaRPr>
          </a:p>
        </p:txBody>
      </p:sp>
      <p:pic>
        <p:nvPicPr>
          <p:cNvPr id="3" name="Picture 2"/>
          <p:cNvPicPr>
            <a:picLocks noChangeAspect="1"/>
          </p:cNvPicPr>
          <p:nvPr/>
        </p:nvPicPr>
        <p:blipFill>
          <a:blip r:embed="rId2"/>
          <a:stretch>
            <a:fillRect/>
          </a:stretch>
        </p:blipFill>
        <p:spPr>
          <a:xfrm>
            <a:off x="1560578" y="2474115"/>
            <a:ext cx="9186843" cy="1444879"/>
          </a:xfrm>
          <a:prstGeom prst="rect">
            <a:avLst/>
          </a:prstGeom>
        </p:spPr>
      </p:pic>
    </p:spTree>
    <p:extLst>
      <p:ext uri="{BB962C8B-B14F-4D97-AF65-F5344CB8AC3E}">
        <p14:creationId xmlns:p14="http://schemas.microsoft.com/office/powerpoint/2010/main" val="4266289365"/>
      </p:ext>
    </p:extLst>
  </p:cSld>
  <p:clrMapOvr>
    <a:masterClrMapping/>
  </p:clrMapOvr>
  <p:transition spd="med"/>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69</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49734" y="5614083"/>
            <a:ext cx="9319548" cy="584775"/>
          </a:xfrm>
          <a:prstGeom prst="rect">
            <a:avLst/>
          </a:prstGeom>
        </p:spPr>
        <p:txBody>
          <a:bodyPr wrap="square">
            <a:spAutoFit/>
          </a:bodyPr>
          <a:lstStyle/>
          <a:p>
            <a:pPr algn="just"/>
            <a:r>
              <a:rPr lang="fr-FR" sz="3200" b="1" dirty="0">
                <a:latin typeface="Times-Bold"/>
              </a:rPr>
              <a:t>Figure 7-6: </a:t>
            </a:r>
            <a:r>
              <a:rPr lang="fr-FR" sz="3200" b="1" dirty="0">
                <a:latin typeface="CMR8"/>
              </a:rPr>
              <a:t>3 </a:t>
            </a:r>
            <a:r>
              <a:rPr lang="fr-FR" sz="3200" b="1" i="1" dirty="0">
                <a:latin typeface="CMSY8"/>
              </a:rPr>
              <a:t>× </a:t>
            </a:r>
            <a:r>
              <a:rPr lang="fr-FR" sz="3200" b="1" dirty="0">
                <a:latin typeface="CMR8"/>
              </a:rPr>
              <a:t>3 </a:t>
            </a:r>
            <a:r>
              <a:rPr lang="fr-FR" sz="3200" b="1" dirty="0">
                <a:latin typeface="Times-Roman"/>
              </a:rPr>
              <a:t>Image convolution </a:t>
            </a:r>
            <a:r>
              <a:rPr lang="fr-FR" sz="3200" b="1" dirty="0" err="1">
                <a:latin typeface="Times-Roman"/>
              </a:rPr>
              <a:t>example</a:t>
            </a:r>
            <a:r>
              <a:rPr lang="fr-FR" sz="3200" b="1" dirty="0">
                <a:latin typeface="Times-Roman"/>
              </a:rPr>
              <a:t>.</a:t>
            </a:r>
            <a:endParaRPr lang="en-US" sz="3200" b="1" dirty="0" smtClean="0">
              <a:latin typeface="Times-Roman"/>
            </a:endParaRPr>
          </a:p>
        </p:txBody>
      </p:sp>
      <p:pic>
        <p:nvPicPr>
          <p:cNvPr id="3" name="Picture 2"/>
          <p:cNvPicPr>
            <a:picLocks noChangeAspect="1"/>
          </p:cNvPicPr>
          <p:nvPr/>
        </p:nvPicPr>
        <p:blipFill>
          <a:blip r:embed="rId2"/>
          <a:stretch>
            <a:fillRect/>
          </a:stretch>
        </p:blipFill>
        <p:spPr>
          <a:xfrm>
            <a:off x="2239100" y="1289085"/>
            <a:ext cx="7632520" cy="4004797"/>
          </a:xfrm>
          <a:prstGeom prst="rect">
            <a:avLst/>
          </a:prstGeom>
          <a:ln w="38100">
            <a:solidFill>
              <a:schemeClr val="tx1"/>
            </a:solidFill>
          </a:ln>
        </p:spPr>
      </p:pic>
    </p:spTree>
    <p:extLst>
      <p:ext uri="{BB962C8B-B14F-4D97-AF65-F5344CB8AC3E}">
        <p14:creationId xmlns:p14="http://schemas.microsoft.com/office/powerpoint/2010/main" val="972256796"/>
      </p:ext>
    </p:extLst>
  </p:cSld>
  <p:clrMapOvr>
    <a:masterClrMapping/>
  </p:clrMapOvr>
  <p:transition spd="med"/>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70</a:t>
            </a:fld>
            <a:endParaRPr dirty="0"/>
          </a:p>
        </p:txBody>
      </p:sp>
      <p:sp>
        <p:nvSpPr>
          <p:cNvPr id="4" name="TextBox 3"/>
          <p:cNvSpPr txBox="1"/>
          <p:nvPr/>
        </p:nvSpPr>
        <p:spPr>
          <a:xfrm>
            <a:off x="351790" y="454968"/>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2.4.2 </a:t>
            </a:r>
            <a:r>
              <a:rPr lang="en-US" sz="4000" b="1" dirty="0" smtClean="0">
                <a:latin typeface="Times New Roman" panose="02020603050405020304" pitchFamily="18" charset="0"/>
                <a:cs typeface="Times New Roman" panose="02020603050405020304" pitchFamily="18" charset="0"/>
              </a:rPr>
              <a:t>Vision and Tracking: Spatial pixel operations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51790" y="2215275"/>
            <a:ext cx="11407140" cy="206210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pixel value at </a:t>
            </a:r>
            <a:r>
              <a:rPr lang="en-US" sz="3200" dirty="0">
                <a:latin typeface="CMR10"/>
              </a:rPr>
              <a:t>(</a:t>
            </a:r>
            <a:r>
              <a:rPr lang="en-US" sz="3200" i="1" dirty="0">
                <a:latin typeface="CMMI10"/>
              </a:rPr>
              <a:t>x, y</a:t>
            </a:r>
            <a:r>
              <a:rPr lang="en-US" sz="3200" dirty="0">
                <a:latin typeface="CMR10"/>
              </a:rPr>
              <a:t>) </a:t>
            </a:r>
            <a:r>
              <a:rPr lang="en-US" sz="3200" dirty="0">
                <a:latin typeface="Times-Roman"/>
              </a:rPr>
              <a:t>is replaced by </a:t>
            </a:r>
            <a:r>
              <a:rPr lang="en-US" sz="3200" dirty="0" smtClean="0">
                <a:latin typeface="Times-Roman"/>
              </a:rPr>
              <a:t>the sum </a:t>
            </a:r>
            <a:r>
              <a:rPr lang="en-US" sz="3200" dirty="0">
                <a:latin typeface="Times-Roman"/>
              </a:rPr>
              <a:t>of the product of the </a:t>
            </a:r>
            <a:r>
              <a:rPr lang="en-US" sz="3200" dirty="0">
                <a:latin typeface="CMR10"/>
              </a:rPr>
              <a:t>(</a:t>
            </a:r>
            <a:r>
              <a:rPr lang="en-US" sz="3200" i="1" dirty="0" err="1">
                <a:latin typeface="CMMI10"/>
              </a:rPr>
              <a:t>i</a:t>
            </a:r>
            <a:r>
              <a:rPr lang="en-US" sz="3200" i="1" dirty="0">
                <a:latin typeface="CMMI10"/>
              </a:rPr>
              <a:t>, j</a:t>
            </a:r>
            <a:r>
              <a:rPr lang="en-US" sz="3200" dirty="0">
                <a:latin typeface="CMR10"/>
              </a:rPr>
              <a:t>) </a:t>
            </a:r>
            <a:r>
              <a:rPr lang="en-US" sz="3200" dirty="0">
                <a:latin typeface="Times-Roman"/>
              </a:rPr>
              <a:t>element of the kernel with the </a:t>
            </a:r>
            <a:r>
              <a:rPr lang="en-US" sz="3200" dirty="0">
                <a:latin typeface="CMR10"/>
              </a:rPr>
              <a:t>(</a:t>
            </a:r>
            <a:r>
              <a:rPr lang="en-US" sz="3200" i="1" dirty="0">
                <a:latin typeface="CMMI10"/>
              </a:rPr>
              <a:t>x </a:t>
            </a:r>
            <a:r>
              <a:rPr lang="en-US" sz="3200" dirty="0">
                <a:latin typeface="CMR10"/>
              </a:rPr>
              <a:t>+ </a:t>
            </a:r>
            <a:r>
              <a:rPr lang="en-US" sz="3200" i="1" dirty="0" err="1">
                <a:latin typeface="CMMI10"/>
              </a:rPr>
              <a:t>i</a:t>
            </a:r>
            <a:r>
              <a:rPr lang="en-US" sz="3200" i="1" dirty="0">
                <a:latin typeface="CMMI10"/>
              </a:rPr>
              <a:t> </a:t>
            </a:r>
            <a:r>
              <a:rPr lang="en-US" sz="3200" i="1" dirty="0" smtClean="0">
                <a:latin typeface="CMSY10"/>
              </a:rPr>
              <a:t>−</a:t>
            </a:r>
            <a:r>
              <a:rPr lang="en-US" sz="3200" i="1" dirty="0" smtClean="0">
                <a:latin typeface="CMMI10"/>
              </a:rPr>
              <a:t>r/</a:t>
            </a:r>
            <a:r>
              <a:rPr lang="en-US" sz="3200" dirty="0" smtClean="0">
                <a:latin typeface="CMR10"/>
              </a:rPr>
              <a:t>2</a:t>
            </a:r>
            <a:r>
              <a:rPr lang="en-US" sz="3200" i="1" dirty="0">
                <a:latin typeface="CMMI10"/>
              </a:rPr>
              <a:t>, y </a:t>
            </a:r>
            <a:r>
              <a:rPr lang="en-US" sz="3200" dirty="0">
                <a:latin typeface="CMR10"/>
              </a:rPr>
              <a:t>+ </a:t>
            </a:r>
            <a:r>
              <a:rPr lang="en-US" sz="3200" i="1" dirty="0">
                <a:latin typeface="CMMI10"/>
              </a:rPr>
              <a:t>j </a:t>
            </a:r>
            <a:r>
              <a:rPr lang="en-US" sz="3200" i="1" dirty="0">
                <a:latin typeface="CMSY10"/>
              </a:rPr>
              <a:t>− </a:t>
            </a:r>
            <a:r>
              <a:rPr lang="en-US" sz="3200" dirty="0">
                <a:latin typeface="CMR10"/>
              </a:rPr>
              <a:t>1</a:t>
            </a:r>
            <a:r>
              <a:rPr lang="en-US" sz="3200" i="1" dirty="0">
                <a:latin typeface="CMMI10"/>
              </a:rPr>
              <a:t>/</a:t>
            </a:r>
            <a:r>
              <a:rPr lang="en-US" sz="3200" dirty="0">
                <a:latin typeface="CMR10"/>
              </a:rPr>
              <a:t>2) </a:t>
            </a:r>
            <a:r>
              <a:rPr lang="en-US" sz="3200" dirty="0">
                <a:latin typeface="Times-Roman"/>
              </a:rPr>
              <a:t>pixel of the image for all </a:t>
            </a:r>
            <a:r>
              <a:rPr lang="en-US" sz="3200" i="1" dirty="0" err="1">
                <a:latin typeface="CMMI10"/>
              </a:rPr>
              <a:t>i</a:t>
            </a:r>
            <a:r>
              <a:rPr lang="en-US" sz="3200" i="1" dirty="0">
                <a:latin typeface="CMMI10"/>
              </a:rPr>
              <a:t> </a:t>
            </a:r>
            <a:r>
              <a:rPr lang="en-US" sz="3200" dirty="0">
                <a:latin typeface="Times-Roman"/>
              </a:rPr>
              <a:t>and </a:t>
            </a:r>
            <a:r>
              <a:rPr lang="en-US" sz="3200" i="1" dirty="0">
                <a:latin typeface="CMMI10"/>
              </a:rPr>
              <a:t>j</a:t>
            </a:r>
            <a:r>
              <a:rPr lang="en-US" sz="3200" dirty="0" smtClean="0">
                <a:latin typeface="Times-Roman"/>
              </a:rPr>
              <a:t>.</a:t>
            </a:r>
            <a:endParaRPr lang="en-US" sz="3200" dirty="0">
              <a:latin typeface="Times-Roman"/>
            </a:endParaRPr>
          </a:p>
          <a:p>
            <a:pPr marL="457200" indent="-457200" algn="just">
              <a:buFont typeface="Arial" panose="020B0604020202020204" pitchFamily="34" charset="0"/>
              <a:buChar char="•"/>
            </a:pPr>
            <a:endParaRPr lang="en-US" sz="3200" dirty="0" smtClean="0">
              <a:latin typeface="Times-Roman"/>
            </a:endParaRPr>
          </a:p>
        </p:txBody>
      </p:sp>
    </p:spTree>
    <p:extLst>
      <p:ext uri="{BB962C8B-B14F-4D97-AF65-F5344CB8AC3E}">
        <p14:creationId xmlns:p14="http://schemas.microsoft.com/office/powerpoint/2010/main" val="3011258845"/>
      </p:ext>
    </p:extLst>
  </p:cSld>
  <p:clrMapOvr>
    <a:masterClrMapping/>
  </p:clrMapOvr>
  <p:transition spd="med"/>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71</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dirty="0">
                <a:latin typeface="Times-Roman"/>
              </a:rPr>
              <a:t>There is an advantage to inspecting an image at several scales, because </a:t>
            </a:r>
            <a:r>
              <a:rPr lang="en-US" sz="3000" dirty="0" smtClean="0">
                <a:latin typeface="Times-Roman"/>
              </a:rPr>
              <a:t>the objects </a:t>
            </a:r>
            <a:r>
              <a:rPr lang="en-US" sz="3000" dirty="0">
                <a:latin typeface="Times-Roman"/>
              </a:rPr>
              <a:t>in an image can vary in </a:t>
            </a:r>
            <a:r>
              <a:rPr lang="en-US" sz="3000" dirty="0" smtClean="0">
                <a:latin typeface="Times-Roman"/>
              </a:rPr>
              <a:t>apparent </a:t>
            </a:r>
            <a:r>
              <a:rPr lang="en-US" sz="3000" dirty="0">
                <a:latin typeface="Times-Roman"/>
              </a:rPr>
              <a:t>size due to visual perspective.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It is </a:t>
            </a:r>
            <a:r>
              <a:rPr lang="en-US" sz="3000" dirty="0">
                <a:latin typeface="Times-Roman"/>
              </a:rPr>
              <a:t>useful to combine the results of applying pixel-based image </a:t>
            </a:r>
            <a:r>
              <a:rPr lang="en-US" sz="3000" dirty="0" smtClean="0">
                <a:latin typeface="Times-Roman"/>
              </a:rPr>
              <a:t>operations at </a:t>
            </a:r>
            <a:r>
              <a:rPr lang="en-US" sz="3000" dirty="0">
                <a:latin typeface="Times-Roman"/>
              </a:rPr>
              <a:t>several different image </a:t>
            </a:r>
            <a:r>
              <a:rPr lang="en-US" sz="3000" dirty="0" smtClean="0">
                <a:latin typeface="Times-Roman"/>
              </a:rPr>
              <a:t>scales.</a:t>
            </a:r>
          </a:p>
          <a:p>
            <a:pPr marL="457200" indent="-457200" algn="just">
              <a:buFont typeface="Arial" panose="020B0604020202020204" pitchFamily="34" charset="0"/>
              <a:buChar char="•"/>
            </a:pPr>
            <a:r>
              <a:rPr lang="en-US" sz="3000" dirty="0" smtClean="0">
                <a:latin typeface="Times-Roman"/>
              </a:rPr>
              <a:t>Consider </a:t>
            </a:r>
            <a:r>
              <a:rPr lang="en-US" sz="3000" dirty="0">
                <a:latin typeface="Times-Roman"/>
              </a:rPr>
              <a:t>the three images shown </a:t>
            </a:r>
            <a:r>
              <a:rPr lang="en-US" sz="3000" dirty="0" smtClean="0">
                <a:latin typeface="Times-Roman"/>
              </a:rPr>
              <a:t>in Figure 2.4.8</a:t>
            </a:r>
            <a:r>
              <a:rPr lang="en-US" sz="3000" dirty="0">
                <a:latin typeface="Times-Roman"/>
              </a:rPr>
              <a:t>.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These </a:t>
            </a:r>
            <a:r>
              <a:rPr lang="en-US" sz="3000" dirty="0">
                <a:latin typeface="Times-Roman"/>
              </a:rPr>
              <a:t>show the result of processing the scene in Figure </a:t>
            </a:r>
            <a:r>
              <a:rPr lang="en-US" sz="3000" dirty="0" smtClean="0">
                <a:latin typeface="Times-Roman"/>
              </a:rPr>
              <a:t>2.4.3(a) with </a:t>
            </a:r>
            <a:r>
              <a:rPr lang="en-US" sz="3000" dirty="0">
                <a:latin typeface="Times-Roman"/>
              </a:rPr>
              <a:t>a pixel-based edge operation, an operation that </a:t>
            </a:r>
            <a:r>
              <a:rPr lang="en-US" sz="3000" dirty="0" smtClean="0">
                <a:latin typeface="Times-Roman"/>
              </a:rPr>
              <a:t>identifies </a:t>
            </a:r>
            <a:r>
              <a:rPr lang="en-US" sz="3000" dirty="0">
                <a:latin typeface="Times-Roman"/>
              </a:rPr>
              <a:t>the </a:t>
            </a:r>
            <a:r>
              <a:rPr lang="en-US" sz="3000" dirty="0" smtClean="0">
                <a:latin typeface="Times-Roman"/>
              </a:rPr>
              <a:t>intensity changes </a:t>
            </a:r>
            <a:r>
              <a:rPr lang="en-US" sz="3000" dirty="0">
                <a:latin typeface="Times-Roman"/>
              </a:rPr>
              <a:t>that typically occur at the edges of objects or color regions in </a:t>
            </a:r>
            <a:r>
              <a:rPr lang="en-US" sz="3000" dirty="0" smtClean="0">
                <a:latin typeface="Times-Roman"/>
              </a:rPr>
              <a:t>an image </a:t>
            </a:r>
            <a:r>
              <a:rPr lang="en-US" sz="3000" dirty="0">
                <a:latin typeface="Times-Roman"/>
              </a:rPr>
              <a:t>and which can also be done using convolution</a:t>
            </a:r>
            <a:r>
              <a:rPr lang="en-US" sz="3000" dirty="0" smtClean="0">
                <a:latin typeface="Times-Roman"/>
              </a:rPr>
              <a:t>.</a:t>
            </a:r>
          </a:p>
        </p:txBody>
      </p:sp>
    </p:spTree>
    <p:extLst>
      <p:ext uri="{BB962C8B-B14F-4D97-AF65-F5344CB8AC3E}">
        <p14:creationId xmlns:p14="http://schemas.microsoft.com/office/powerpoint/2010/main" val="4133747142"/>
      </p:ext>
    </p:extLst>
  </p:cSld>
  <p:clrMapOvr>
    <a:masterClrMapping/>
  </p:clrMapOvr>
  <p:transition spd="med"/>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72</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79604" y="5144070"/>
            <a:ext cx="10279937" cy="523220"/>
          </a:xfrm>
          <a:prstGeom prst="rect">
            <a:avLst/>
          </a:prstGeom>
        </p:spPr>
        <p:txBody>
          <a:bodyPr wrap="square">
            <a:spAutoFit/>
          </a:bodyPr>
          <a:lstStyle/>
          <a:p>
            <a:pPr algn="just"/>
            <a:r>
              <a:rPr lang="en-US" sz="2800" b="1" dirty="0"/>
              <a:t>Figure 7-8: Multiscale edge operations on the scene in Figure 7-3(a).</a:t>
            </a:r>
            <a:endParaRPr lang="en-US" sz="4000" b="1" dirty="0" smtClean="0">
              <a:latin typeface="Times-Roman"/>
            </a:endParaRPr>
          </a:p>
        </p:txBody>
      </p:sp>
      <p:pic>
        <p:nvPicPr>
          <p:cNvPr id="3" name="Picture 2"/>
          <p:cNvPicPr>
            <a:picLocks noChangeAspect="1"/>
          </p:cNvPicPr>
          <p:nvPr/>
        </p:nvPicPr>
        <p:blipFill>
          <a:blip r:embed="rId2"/>
          <a:stretch>
            <a:fillRect/>
          </a:stretch>
        </p:blipFill>
        <p:spPr>
          <a:xfrm>
            <a:off x="892133" y="1538229"/>
            <a:ext cx="10422004" cy="3121398"/>
          </a:xfrm>
          <a:prstGeom prst="rect">
            <a:avLst/>
          </a:prstGeom>
          <a:ln w="28575">
            <a:solidFill>
              <a:schemeClr val="tx1"/>
            </a:solidFill>
          </a:ln>
        </p:spPr>
      </p:pic>
    </p:spTree>
    <p:extLst>
      <p:ext uri="{BB962C8B-B14F-4D97-AF65-F5344CB8AC3E}">
        <p14:creationId xmlns:p14="http://schemas.microsoft.com/office/powerpoint/2010/main" val="2845633661"/>
      </p:ext>
    </p:extLst>
  </p:cSld>
  <p:clrMapOvr>
    <a:masterClrMapping/>
  </p:clrMapOvr>
  <p:transition spd="med"/>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73</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524315"/>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identified edges show up as white pixels in these images.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operation </a:t>
            </a:r>
            <a:r>
              <a:rPr lang="en-US" sz="3200" dirty="0">
                <a:latin typeface="Times-Roman"/>
              </a:rPr>
              <a:t>was performed with the same kernel size on the original </a:t>
            </a:r>
            <a:r>
              <a:rPr lang="en-US" sz="3200" dirty="0" smtClean="0">
                <a:latin typeface="Times-Roman"/>
              </a:rPr>
              <a:t>sized image </a:t>
            </a:r>
            <a:r>
              <a:rPr lang="en-US" sz="3200" dirty="0">
                <a:latin typeface="Times-Roman"/>
              </a:rPr>
              <a:t>(the leftmost image in Figure </a:t>
            </a:r>
            <a:r>
              <a:rPr lang="en-US" sz="3200" dirty="0" smtClean="0">
                <a:latin typeface="Times-Roman"/>
              </a:rPr>
              <a:t>2.4.8</a:t>
            </a:r>
            <a:r>
              <a:rPr lang="en-US" sz="3200" dirty="0">
                <a:latin typeface="Times-Roman"/>
              </a:rPr>
              <a:t>), then on an image with </a:t>
            </a:r>
            <a:r>
              <a:rPr lang="en-US" sz="3200" dirty="0" smtClean="0">
                <a:latin typeface="Times-Roman"/>
              </a:rPr>
              <a:t>half the </a:t>
            </a:r>
            <a:r>
              <a:rPr lang="en-US" sz="3200" dirty="0">
                <a:latin typeface="Times-Roman"/>
              </a:rPr>
              <a:t>height and width dimensions of the original (the second image </a:t>
            </a:r>
            <a:r>
              <a:rPr lang="en-US" sz="3200" dirty="0" smtClean="0">
                <a:latin typeface="Times-Roman"/>
              </a:rPr>
              <a:t>on the </a:t>
            </a:r>
            <a:r>
              <a:rPr lang="en-US" sz="3200" dirty="0">
                <a:latin typeface="Times-Roman"/>
              </a:rPr>
              <a:t>left), and so forth, from left to right.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result images have </a:t>
            </a:r>
            <a:r>
              <a:rPr lang="en-US" sz="3200" dirty="0" smtClean="0">
                <a:latin typeface="Times-Roman"/>
              </a:rPr>
              <a:t>all been </a:t>
            </a:r>
            <a:r>
              <a:rPr lang="en-US" sz="3200" dirty="0">
                <a:latin typeface="Times-Roman"/>
              </a:rPr>
              <a:t>resized identically in Figure </a:t>
            </a:r>
            <a:r>
              <a:rPr lang="en-US" sz="3200" dirty="0" smtClean="0">
                <a:latin typeface="Times-Roman"/>
              </a:rPr>
              <a:t>2.4.8 </a:t>
            </a:r>
            <a:r>
              <a:rPr lang="en-US" sz="3200" dirty="0">
                <a:latin typeface="Times-Roman"/>
              </a:rPr>
              <a:t>for ease of comparison.</a:t>
            </a:r>
            <a:endParaRPr lang="en-US" sz="3000" dirty="0" smtClean="0">
              <a:latin typeface="Times-Roman"/>
            </a:endParaRPr>
          </a:p>
        </p:txBody>
      </p:sp>
    </p:spTree>
    <p:extLst>
      <p:ext uri="{BB962C8B-B14F-4D97-AF65-F5344CB8AC3E}">
        <p14:creationId xmlns:p14="http://schemas.microsoft.com/office/powerpoint/2010/main" val="1644946606"/>
      </p:ext>
    </p:extLst>
  </p:cSld>
  <p:clrMapOvr>
    <a:masterClrMapping/>
  </p:clrMapOvr>
  <p:transition spd="med"/>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74</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03187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The result images have </a:t>
            </a:r>
            <a:r>
              <a:rPr lang="en-US" sz="3200" dirty="0" smtClean="0">
                <a:latin typeface="Times-Roman"/>
              </a:rPr>
              <a:t>all been </a:t>
            </a:r>
            <a:r>
              <a:rPr lang="en-US" sz="3200" dirty="0">
                <a:latin typeface="Times-Roman"/>
              </a:rPr>
              <a:t>resized identically in Figure 7-8 for ease of comparison.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image on </a:t>
            </a:r>
            <a:r>
              <a:rPr lang="en-US" sz="3200" dirty="0">
                <a:latin typeface="Times-Roman"/>
              </a:rPr>
              <a:t>the left shows the most detailed breakdown of edges: details of </a:t>
            </a:r>
            <a:r>
              <a:rPr lang="en-US" sz="3200" dirty="0" smtClean="0">
                <a:latin typeface="Times-Roman"/>
              </a:rPr>
              <a:t>the wheels </a:t>
            </a:r>
            <a:r>
              <a:rPr lang="en-US" sz="3200" dirty="0">
                <a:latin typeface="Times-Roman"/>
              </a:rPr>
              <a:t>of the robot are visible as is texture along the white lane </a:t>
            </a:r>
            <a:r>
              <a:rPr lang="en-US" sz="3200" dirty="0" smtClean="0">
                <a:latin typeface="Times-Roman"/>
              </a:rPr>
              <a:t>lines.</a:t>
            </a:r>
          </a:p>
          <a:p>
            <a:pPr marL="457200" indent="-457200" algn="just">
              <a:buFont typeface="Arial" panose="020B0604020202020204" pitchFamily="34" charset="0"/>
              <a:buChar char="•"/>
            </a:pPr>
            <a:r>
              <a:rPr lang="en-US" sz="3200" dirty="0" smtClean="0">
                <a:latin typeface="Times-Roman"/>
              </a:rPr>
              <a:t>The </a:t>
            </a:r>
            <a:r>
              <a:rPr lang="en-US" sz="3200" dirty="0">
                <a:latin typeface="Times-Roman"/>
              </a:rPr>
              <a:t>image on the right the least detail: the robot is visible </a:t>
            </a:r>
            <a:r>
              <a:rPr lang="en-US" sz="3200" dirty="0" smtClean="0">
                <a:latin typeface="Times-Roman"/>
              </a:rPr>
              <a:t>mainly as </a:t>
            </a:r>
            <a:r>
              <a:rPr lang="en-US" sz="3200" dirty="0">
                <a:latin typeface="Times-Roman"/>
              </a:rPr>
              <a:t>a rectangular region and the white line lines are devoid of </a:t>
            </a:r>
            <a:r>
              <a:rPr lang="en-US" sz="3200" dirty="0" smtClean="0">
                <a:latin typeface="Times-Roman"/>
              </a:rPr>
              <a:t>internal detail</a:t>
            </a:r>
            <a:r>
              <a:rPr lang="en-US" sz="3200" dirty="0">
                <a:latin typeface="Times-Roman"/>
              </a:rPr>
              <a:t>.</a:t>
            </a:r>
            <a:endParaRPr lang="en-US" sz="3000" dirty="0" smtClean="0">
              <a:latin typeface="Times-Roman"/>
            </a:endParaRPr>
          </a:p>
        </p:txBody>
      </p:sp>
    </p:spTree>
    <p:extLst>
      <p:ext uri="{BB962C8B-B14F-4D97-AF65-F5344CB8AC3E}">
        <p14:creationId xmlns:p14="http://schemas.microsoft.com/office/powerpoint/2010/main" val="475989671"/>
      </p:ext>
    </p:extLst>
  </p:cSld>
  <p:clrMapOvr>
    <a:masterClrMapping/>
  </p:clrMapOvr>
  <p:transition spd="med"/>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75</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3508653"/>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A number of multiscale processing operations have been developed.</a:t>
            </a:r>
          </a:p>
          <a:p>
            <a:pPr marL="457200" indent="-457200" algn="just">
              <a:buFont typeface="Arial" panose="020B0604020202020204" pitchFamily="34" charset="0"/>
              <a:buChar char="•"/>
            </a:pPr>
            <a:r>
              <a:rPr lang="en-US" sz="3200" b="1" i="1" dirty="0">
                <a:solidFill>
                  <a:srgbClr val="7030A0"/>
                </a:solidFill>
                <a:latin typeface="Times-Italic"/>
              </a:rPr>
              <a:t>SIFT features </a:t>
            </a:r>
            <a:r>
              <a:rPr lang="en-US" sz="3200" b="1" dirty="0">
                <a:solidFill>
                  <a:srgbClr val="7030A0"/>
                </a:solidFill>
                <a:latin typeface="Times-Roman"/>
              </a:rPr>
              <a:t>(Scale Invariant Image Transform </a:t>
            </a:r>
            <a:r>
              <a:rPr lang="en-US" sz="3200" b="1" dirty="0" smtClean="0">
                <a:solidFill>
                  <a:srgbClr val="7030A0"/>
                </a:solidFill>
                <a:latin typeface="Times-Roman"/>
              </a:rPr>
              <a:t>features) </a:t>
            </a:r>
            <a:r>
              <a:rPr lang="en-US" sz="3200" dirty="0" smtClean="0">
                <a:latin typeface="Times-Roman"/>
              </a:rPr>
              <a:t>use a multiscale </a:t>
            </a:r>
            <a:r>
              <a:rPr lang="en-US" sz="3200" dirty="0">
                <a:latin typeface="Times-Roman"/>
              </a:rPr>
              <a:t>measurement to identify image features that are unique </a:t>
            </a:r>
            <a:r>
              <a:rPr lang="en-US" sz="3200" dirty="0" smtClean="0">
                <a:latin typeface="Times-Roman"/>
              </a:rPr>
              <a:t>across a </a:t>
            </a:r>
            <a:r>
              <a:rPr lang="en-US" sz="3200" dirty="0">
                <a:latin typeface="Times-Roman"/>
              </a:rPr>
              <a:t>range of scales, image rotations and translations</a:t>
            </a:r>
            <a:r>
              <a:rPr lang="en-US" sz="3200" dirty="0" smtClean="0">
                <a:latin typeface="Times-Roman"/>
              </a:rPr>
              <a:t>.</a:t>
            </a:r>
          </a:p>
          <a:p>
            <a:pPr marL="457200" indent="-457200" algn="just">
              <a:buFont typeface="Arial" panose="020B0604020202020204" pitchFamily="34" charset="0"/>
              <a:buChar char="•"/>
            </a:pPr>
            <a:endParaRPr lang="en-US" sz="3000" dirty="0" smtClean="0">
              <a:latin typeface="Times-Roman"/>
            </a:endParaRPr>
          </a:p>
        </p:txBody>
      </p:sp>
    </p:spTree>
    <p:extLst>
      <p:ext uri="{BB962C8B-B14F-4D97-AF65-F5344CB8AC3E}">
        <p14:creationId xmlns:p14="http://schemas.microsoft.com/office/powerpoint/2010/main" val="434021445"/>
      </p:ext>
    </p:extLst>
  </p:cSld>
  <p:clrMapOvr>
    <a:masterClrMapping/>
  </p:clrMapOvr>
  <p:transition spd="med"/>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76</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985980"/>
          </a:xfrm>
          <a:prstGeom prst="rect">
            <a:avLst/>
          </a:prstGeom>
        </p:spPr>
        <p:txBody>
          <a:bodyPr wrap="square">
            <a:spAutoFit/>
          </a:bodyPr>
          <a:lstStyle/>
          <a:p>
            <a:pPr algn="just"/>
            <a:r>
              <a:rPr lang="en-US" sz="3000" b="1" dirty="0" smtClean="0">
                <a:solidFill>
                  <a:srgbClr val="A60A2F"/>
                </a:solidFill>
                <a:latin typeface="Times-Roman"/>
              </a:rPr>
              <a:t>Partitioning</a:t>
            </a:r>
          </a:p>
          <a:p>
            <a:pPr marL="457200" indent="-457200" algn="just">
              <a:buFont typeface="Arial" panose="020B0604020202020204" pitchFamily="34" charset="0"/>
              <a:buChar char="•"/>
            </a:pPr>
            <a:r>
              <a:rPr lang="en-US" sz="3200" dirty="0">
                <a:latin typeface="Times-Roman"/>
              </a:rPr>
              <a:t>The serial implementation of a multiscale image operation would </a:t>
            </a:r>
            <a:r>
              <a:rPr lang="en-US" sz="3200" dirty="0" smtClean="0">
                <a:latin typeface="Times-Roman"/>
              </a:rPr>
              <a:t>proceed by </a:t>
            </a:r>
            <a:r>
              <a:rPr lang="en-US" sz="3200" dirty="0">
                <a:latin typeface="Times-Roman"/>
              </a:rPr>
              <a:t>processing each scaled image in </a:t>
            </a:r>
            <a:r>
              <a:rPr lang="en-US" sz="3200" dirty="0" smtClean="0">
                <a:latin typeface="Times-Roman"/>
              </a:rPr>
              <a:t>turn.</a:t>
            </a:r>
          </a:p>
          <a:p>
            <a:pPr marL="457200" indent="-457200" algn="just">
              <a:buFont typeface="Arial" panose="020B0604020202020204" pitchFamily="34" charset="0"/>
              <a:buChar char="•"/>
            </a:pPr>
            <a:r>
              <a:rPr lang="en-US" sz="3200" dirty="0" smtClean="0">
                <a:latin typeface="Times-Roman"/>
              </a:rPr>
              <a:t>Let </a:t>
            </a:r>
            <a:r>
              <a:rPr lang="en-US" sz="3200" dirty="0">
                <a:latin typeface="Times-Roman"/>
              </a:rPr>
              <a:t>there be </a:t>
            </a:r>
            <a:r>
              <a:rPr lang="en-US" sz="3200" i="1" dirty="0">
                <a:latin typeface="CMMI10"/>
              </a:rPr>
              <a:t>s </a:t>
            </a:r>
            <a:r>
              <a:rPr lang="en-US" sz="3200" dirty="0">
                <a:latin typeface="Times-Roman"/>
              </a:rPr>
              <a:t>scales. </a:t>
            </a:r>
            <a:endParaRPr lang="en-US" sz="3200" dirty="0" smtClean="0">
              <a:latin typeface="Times-Roman"/>
            </a:endParaRPr>
          </a:p>
          <a:p>
            <a:pPr marL="457200" indent="-457200" algn="just">
              <a:buFont typeface="Arial" panose="020B0604020202020204" pitchFamily="34" charset="0"/>
              <a:buChar char="•"/>
            </a:pPr>
            <a:r>
              <a:rPr lang="en-US" sz="3200" dirty="0" smtClean="0">
                <a:latin typeface="Times-Roman"/>
              </a:rPr>
              <a:t>The full sized </a:t>
            </a:r>
            <a:r>
              <a:rPr lang="en-US" sz="3200" dirty="0">
                <a:latin typeface="Times-Roman"/>
              </a:rPr>
              <a:t>image will be </a:t>
            </a:r>
            <a:r>
              <a:rPr lang="en-US" sz="3200" i="1" dirty="0">
                <a:latin typeface="CMMI10"/>
              </a:rPr>
              <a:t>n </a:t>
            </a:r>
            <a:r>
              <a:rPr lang="en-US" sz="3200" dirty="0">
                <a:latin typeface="Times-Roman"/>
              </a:rPr>
              <a:t>rows by </a:t>
            </a:r>
            <a:r>
              <a:rPr lang="en-US" sz="3200" i="1" dirty="0">
                <a:latin typeface="CMMI10"/>
              </a:rPr>
              <a:t>m </a:t>
            </a:r>
            <a:r>
              <a:rPr lang="en-US" sz="3200" dirty="0" smtClean="0">
                <a:latin typeface="Times-Roman"/>
              </a:rPr>
              <a:t>columns.</a:t>
            </a:r>
          </a:p>
          <a:p>
            <a:pPr marL="457200" indent="-457200" algn="just">
              <a:buFont typeface="Arial" panose="020B0604020202020204" pitchFamily="34" charset="0"/>
              <a:buChar char="•"/>
            </a:pPr>
            <a:r>
              <a:rPr lang="en-US" sz="3200" dirty="0" smtClean="0">
                <a:latin typeface="Times-Roman"/>
              </a:rPr>
              <a:t>Each </a:t>
            </a:r>
            <a:r>
              <a:rPr lang="en-US" sz="3200" dirty="0">
                <a:latin typeface="Times-Roman"/>
              </a:rPr>
              <a:t>successive image </a:t>
            </a:r>
            <a:r>
              <a:rPr lang="en-US" sz="3200" dirty="0" smtClean="0">
                <a:latin typeface="Times-Roman"/>
              </a:rPr>
              <a:t>will be </a:t>
            </a:r>
            <a:r>
              <a:rPr lang="en-US" sz="3200" dirty="0">
                <a:latin typeface="Times-Roman"/>
              </a:rPr>
              <a:t>half the row size and half the column size of the next larger </a:t>
            </a:r>
            <a:r>
              <a:rPr lang="en-US" sz="3200" dirty="0" smtClean="0">
                <a:latin typeface="Times-Roman"/>
              </a:rPr>
              <a:t>image.</a:t>
            </a:r>
          </a:p>
          <a:p>
            <a:pPr marL="457200" indent="-457200" algn="just">
              <a:buFont typeface="Arial" panose="020B0604020202020204" pitchFamily="34" charset="0"/>
              <a:buChar char="•"/>
            </a:pPr>
            <a:r>
              <a:rPr lang="en-US" sz="3200" dirty="0" smtClean="0">
                <a:latin typeface="Times-Roman"/>
              </a:rPr>
              <a:t>If </a:t>
            </a:r>
            <a:r>
              <a:rPr lang="en-US" sz="3200" dirty="0">
                <a:latin typeface="Times-Roman"/>
              </a:rPr>
              <a:t>the time to process the full size image is </a:t>
            </a:r>
            <a:r>
              <a:rPr lang="en-US" sz="3200" i="1" dirty="0" err="1">
                <a:latin typeface="CMMI10"/>
              </a:rPr>
              <a:t>nmχ</a:t>
            </a:r>
            <a:r>
              <a:rPr lang="en-US" sz="3200" dirty="0">
                <a:latin typeface="Times-Roman"/>
              </a:rPr>
              <a:t>, then the next </a:t>
            </a:r>
            <a:r>
              <a:rPr lang="en-US" sz="3200" dirty="0" smtClean="0">
                <a:latin typeface="Times-Roman"/>
              </a:rPr>
              <a:t>smaller scaled </a:t>
            </a:r>
            <a:r>
              <a:rPr lang="en-US" sz="3200" dirty="0">
                <a:latin typeface="Times-Roman"/>
              </a:rPr>
              <a:t>image will take </a:t>
            </a:r>
            <a:r>
              <a:rPr lang="en-US" sz="3200" i="1" dirty="0" err="1">
                <a:latin typeface="CMMI10"/>
              </a:rPr>
              <a:t>nmχ</a:t>
            </a:r>
            <a:r>
              <a:rPr lang="en-US" sz="3200" i="1" dirty="0">
                <a:latin typeface="CMMI10"/>
              </a:rPr>
              <a:t>/</a:t>
            </a:r>
            <a:r>
              <a:rPr lang="en-US" sz="3200" dirty="0">
                <a:latin typeface="CMR10"/>
              </a:rPr>
              <a:t>4 </a:t>
            </a:r>
            <a:r>
              <a:rPr lang="en-US" sz="3200" dirty="0">
                <a:latin typeface="Times-Roman"/>
              </a:rPr>
              <a:t>and the next smaller will be </a:t>
            </a:r>
            <a:r>
              <a:rPr lang="en-US" sz="3200" i="1" dirty="0" err="1">
                <a:latin typeface="CMMI10"/>
              </a:rPr>
              <a:t>nmχ</a:t>
            </a:r>
            <a:r>
              <a:rPr lang="en-US" sz="3200" i="1" dirty="0">
                <a:latin typeface="CMMI10"/>
              </a:rPr>
              <a:t>/</a:t>
            </a:r>
            <a:r>
              <a:rPr lang="en-US" sz="3200" dirty="0">
                <a:latin typeface="CMR10"/>
              </a:rPr>
              <a:t>16 </a:t>
            </a:r>
            <a:r>
              <a:rPr lang="en-US" sz="3200" dirty="0" smtClean="0">
                <a:latin typeface="Times-Roman"/>
              </a:rPr>
              <a:t>and so </a:t>
            </a:r>
            <a:r>
              <a:rPr lang="en-US" sz="3200" dirty="0">
                <a:latin typeface="Times-Roman"/>
              </a:rPr>
              <a:t>forth.</a:t>
            </a:r>
            <a:endParaRPr lang="en-US" sz="3000" b="1" dirty="0" smtClean="0">
              <a:solidFill>
                <a:srgbClr val="7030A0"/>
              </a:solidFill>
              <a:latin typeface="Times-Roman"/>
            </a:endParaRPr>
          </a:p>
        </p:txBody>
      </p:sp>
    </p:spTree>
    <p:extLst>
      <p:ext uri="{BB962C8B-B14F-4D97-AF65-F5344CB8AC3E}">
        <p14:creationId xmlns:p14="http://schemas.microsoft.com/office/powerpoint/2010/main" val="3889623205"/>
      </p:ext>
    </p:extLst>
  </p:cSld>
  <p:clrMapOvr>
    <a:masterClrMapping/>
  </p:clrMapOvr>
  <p:transition spd="med"/>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77</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4001095"/>
          </a:xfrm>
          <a:prstGeom prst="rect">
            <a:avLst/>
          </a:prstGeom>
        </p:spPr>
        <p:txBody>
          <a:bodyPr wrap="square">
            <a:spAutoFit/>
          </a:bodyPr>
          <a:lstStyle/>
          <a:p>
            <a:pPr marL="457200" indent="-457200">
              <a:buFont typeface="Arial" panose="020B0604020202020204" pitchFamily="34" charset="0"/>
              <a:buChar char="•"/>
            </a:pPr>
            <a:r>
              <a:rPr lang="en-US" sz="3200" dirty="0">
                <a:latin typeface="Times-Roman"/>
              </a:rPr>
              <a:t>This is a geometric progression with ratio 1/4. The total time </a:t>
            </a:r>
            <a:r>
              <a:rPr lang="en-US" sz="3200" dirty="0" smtClean="0">
                <a:latin typeface="Times-Roman"/>
              </a:rPr>
              <a:t>taken to </a:t>
            </a:r>
            <a:r>
              <a:rPr lang="en-US" sz="3200" dirty="0">
                <a:latin typeface="Times-Roman"/>
              </a:rPr>
              <a:t>process </a:t>
            </a:r>
            <a:r>
              <a:rPr lang="en-US" sz="3200" i="1" dirty="0">
                <a:latin typeface="CMMI10"/>
              </a:rPr>
              <a:t>s </a:t>
            </a:r>
            <a:r>
              <a:rPr lang="en-US" sz="3200" dirty="0">
                <a:latin typeface="Times-Roman"/>
              </a:rPr>
              <a:t>scales will therefore </a:t>
            </a:r>
            <a:r>
              <a:rPr lang="en-US" sz="3200" dirty="0" smtClean="0">
                <a:latin typeface="Times-Roman"/>
              </a:rPr>
              <a:t>be,</a:t>
            </a: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200" dirty="0" smtClean="0">
              <a:latin typeface="Times-Roman"/>
            </a:endParaRP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200" dirty="0" smtClean="0">
              <a:latin typeface="Times-Roman"/>
            </a:endParaRPr>
          </a:p>
          <a:p>
            <a:pPr marL="457200" indent="-457200">
              <a:buFont typeface="Arial" panose="020B0604020202020204" pitchFamily="34" charset="0"/>
              <a:buChar char="•"/>
            </a:pPr>
            <a:endParaRPr lang="en-US" sz="3200" dirty="0">
              <a:latin typeface="Times-Roman"/>
            </a:endParaRPr>
          </a:p>
          <a:p>
            <a:pPr marL="457200" indent="-457200">
              <a:buFont typeface="Arial" panose="020B0604020202020204" pitchFamily="34" charset="0"/>
              <a:buChar char="•"/>
            </a:pPr>
            <a:endParaRPr lang="en-US" sz="3000" dirty="0" smtClean="0">
              <a:latin typeface="Times-Roman"/>
            </a:endParaRPr>
          </a:p>
        </p:txBody>
      </p:sp>
      <p:pic>
        <p:nvPicPr>
          <p:cNvPr id="3" name="Picture 2"/>
          <p:cNvPicPr>
            <a:picLocks noChangeAspect="1"/>
          </p:cNvPicPr>
          <p:nvPr/>
        </p:nvPicPr>
        <p:blipFill>
          <a:blip r:embed="rId2"/>
          <a:stretch>
            <a:fillRect/>
          </a:stretch>
        </p:blipFill>
        <p:spPr>
          <a:xfrm>
            <a:off x="2047983" y="2923358"/>
            <a:ext cx="7975193" cy="2269743"/>
          </a:xfrm>
          <a:prstGeom prst="rect">
            <a:avLst/>
          </a:prstGeom>
          <a:ln w="38100">
            <a:solidFill>
              <a:schemeClr val="tx1"/>
            </a:solidFill>
          </a:ln>
        </p:spPr>
      </p:pic>
    </p:spTree>
    <p:extLst>
      <p:ext uri="{BB962C8B-B14F-4D97-AF65-F5344CB8AC3E}">
        <p14:creationId xmlns:p14="http://schemas.microsoft.com/office/powerpoint/2010/main" val="3780117607"/>
      </p:ext>
    </p:extLst>
  </p:cSld>
  <p:clrMapOvr>
    <a:masterClrMapping/>
  </p:clrMapOvr>
  <p:transition spd="med"/>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78</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Rectangle 8"/>
              <p:cNvSpPr/>
              <p:nvPr/>
            </p:nvSpPr>
            <p:spPr>
              <a:xfrm>
                <a:off x="152401" y="1538229"/>
                <a:ext cx="11407140" cy="4348306"/>
              </a:xfrm>
              <a:prstGeom prst="rect">
                <a:avLst/>
              </a:prstGeom>
            </p:spPr>
            <p:txBody>
              <a:bodyPr wrap="square">
                <a:spAutoFit/>
              </a:bodyPr>
              <a:lstStyle/>
              <a:p>
                <a:pPr marL="457200" indent="-457200" algn="just">
                  <a:buFont typeface="Arial" panose="020B0604020202020204" pitchFamily="34" charset="0"/>
                  <a:buChar char="•"/>
                </a:pPr>
                <a:r>
                  <a:rPr lang="en-US" sz="3200" dirty="0" smtClean="0">
                    <a:latin typeface="Times-Roman"/>
                  </a:rPr>
                  <a:t>Where </a:t>
                </a:r>
                <a:r>
                  <a:rPr lang="en-US" sz="3200" i="1" dirty="0">
                    <a:latin typeface="CMMI10"/>
                  </a:rPr>
                  <a:t>ξ</a:t>
                </a:r>
                <a:r>
                  <a:rPr lang="en-US" sz="3200" dirty="0">
                    <a:latin typeface="CMR10"/>
                  </a:rPr>
                  <a:t>(</a:t>
                </a:r>
                <a:r>
                  <a:rPr lang="en-US" sz="3200" i="1" dirty="0">
                    <a:latin typeface="CMMI10"/>
                  </a:rPr>
                  <a:t>s</a:t>
                </a:r>
                <a:r>
                  <a:rPr lang="en-US" sz="3200" dirty="0">
                    <a:latin typeface="CMR10"/>
                  </a:rPr>
                  <a:t>) </a:t>
                </a:r>
                <a:r>
                  <a:rPr lang="en-US" sz="3200" dirty="0">
                    <a:latin typeface="Times-Roman"/>
                  </a:rPr>
                  <a:t>is the sum to </a:t>
                </a:r>
                <a:r>
                  <a:rPr lang="en-US" sz="3200" i="1" dirty="0">
                    <a:latin typeface="CMMI10"/>
                  </a:rPr>
                  <a:t>s </a:t>
                </a:r>
                <a:r>
                  <a:rPr lang="en-US" sz="3200" dirty="0">
                    <a:latin typeface="Times-Roman"/>
                  </a:rPr>
                  <a:t>terms of the geometric progression</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If </a:t>
                </a:r>
                <a:r>
                  <a:rPr lang="en-US" sz="3200" dirty="0" smtClean="0">
                    <a:latin typeface="Times-Roman"/>
                  </a:rPr>
                  <a:t>we partition </a:t>
                </a:r>
                <a:r>
                  <a:rPr lang="en-US" sz="3200" dirty="0">
                    <a:latin typeface="Times-Roman"/>
                  </a:rPr>
                  <a:t>this processing on the cluster with row stripes as we did before</a:t>
                </a:r>
                <a:r>
                  <a:rPr lang="en-US" sz="3200" dirty="0" smtClean="0">
                    <a:latin typeface="Times-Roman"/>
                  </a:rPr>
                  <a:t>,  we have a parallel calculation time of </a:t>
                </a:r>
                <a14:m>
                  <m:oMath xmlns:m="http://schemas.openxmlformats.org/officeDocument/2006/math">
                    <m:f>
                      <m:fPr>
                        <m:ctrlPr>
                          <a:rPr lang="en-US" sz="3200" i="1" smtClean="0">
                            <a:latin typeface="Cambria Math" panose="02040503050406030204" pitchFamily="18" charset="0"/>
                          </a:rPr>
                        </m:ctrlPr>
                      </m:fPr>
                      <m:num>
                        <m:r>
                          <a:rPr lang="en-US" sz="3200" b="0" i="1" smtClean="0">
                            <a:latin typeface="Cambria Math" panose="02040503050406030204" pitchFamily="18" charset="0"/>
                          </a:rPr>
                          <m:t>𝑛𝑚𝑋</m:t>
                        </m:r>
                        <m:r>
                          <m:rPr>
                            <m:nor/>
                          </m:rPr>
                          <a:rPr lang="en-US" sz="3200" i="1" dirty="0">
                            <a:latin typeface="CMMI10"/>
                          </a:rPr>
                          <m:t>ξ</m:t>
                        </m:r>
                        <m:r>
                          <m:rPr>
                            <m:nor/>
                          </m:rPr>
                          <a:rPr lang="en-US" sz="3200" dirty="0">
                            <a:latin typeface="CMR10"/>
                          </a:rPr>
                          <m:t>(</m:t>
                        </m:r>
                        <m:r>
                          <m:rPr>
                            <m:nor/>
                          </m:rPr>
                          <a:rPr lang="en-US" sz="3200" i="1" dirty="0">
                            <a:latin typeface="CMMI10"/>
                          </a:rPr>
                          <m:t>s</m:t>
                        </m:r>
                        <m:r>
                          <m:rPr>
                            <m:nor/>
                          </m:rPr>
                          <a:rPr lang="en-US" sz="3200" dirty="0">
                            <a:latin typeface="CMR10"/>
                          </a:rPr>
                          <m:t>)</m:t>
                        </m:r>
                      </m:num>
                      <m:den>
                        <m:r>
                          <a:rPr lang="en-US" sz="3200" b="0" i="1" smtClean="0">
                            <a:latin typeface="Cambria Math" panose="02040503050406030204" pitchFamily="18" charset="0"/>
                          </a:rPr>
                          <m:t>𝑃</m:t>
                        </m:r>
                      </m:den>
                    </m:f>
                  </m:oMath>
                </a14:m>
                <a:r>
                  <a:rPr lang="en-US" i="1" dirty="0" smtClean="0">
                    <a:latin typeface="CMMI8"/>
                  </a:rPr>
                  <a:t> </a:t>
                </a:r>
                <a:r>
                  <a:rPr lang="en-US" sz="3200" dirty="0">
                    <a:latin typeface="Times-Roman"/>
                  </a:rPr>
                  <a:t>since each processor </a:t>
                </a:r>
                <a:r>
                  <a:rPr lang="en-US" sz="3200" dirty="0" smtClean="0">
                    <a:latin typeface="Times-Roman"/>
                  </a:rPr>
                  <a:t>just does </a:t>
                </a:r>
                <a:r>
                  <a:rPr lang="en-US" sz="3200" dirty="0">
                    <a:latin typeface="Times-Roman"/>
                  </a:rPr>
                  <a:t>the processing for every scale on its row strip of the image in parallel</a:t>
                </a:r>
                <a:r>
                  <a:rPr lang="en-US" sz="3200" dirty="0" smtClean="0">
                    <a:latin typeface="Times-Roman"/>
                  </a:rPr>
                  <a:t>.</a:t>
                </a:r>
              </a:p>
              <a:p>
                <a:pPr marL="457200" indent="-457200" algn="just">
                  <a:buFont typeface="Arial" panose="020B0604020202020204" pitchFamily="34" charset="0"/>
                  <a:buChar char="•"/>
                </a:pPr>
                <a:r>
                  <a:rPr lang="en-US" sz="3200" dirty="0">
                    <a:latin typeface="Times-Roman"/>
                  </a:rPr>
                  <a:t>The communication time for this approach is the same as for the </a:t>
                </a:r>
                <a:r>
                  <a:rPr lang="en-US" sz="3200" dirty="0" smtClean="0">
                    <a:latin typeface="Times-Roman"/>
                  </a:rPr>
                  <a:t>previous single-scale</a:t>
                </a:r>
                <a:r>
                  <a:rPr lang="en-US" sz="3200" dirty="0">
                    <a:latin typeface="Times-Roman"/>
                  </a:rPr>
                  <a:t>, pixel-based operations.</a:t>
                </a:r>
                <a:endParaRPr lang="en-US" sz="3000" dirty="0" smtClean="0">
                  <a:latin typeface="Times-Roman"/>
                </a:endParaRPr>
              </a:p>
            </p:txBody>
          </p:sp>
        </mc:Choice>
        <mc:Fallback xmlns="">
          <p:sp>
            <p:nvSpPr>
              <p:cNvPr id="9" name="Rectangle 8"/>
              <p:cNvSpPr>
                <a:spLocks noRot="1" noChangeAspect="1" noMove="1" noResize="1" noEditPoints="1" noAdjustHandles="1" noChangeArrowheads="1" noChangeShapeType="1" noTextEdit="1"/>
              </p:cNvSpPr>
              <p:nvPr/>
            </p:nvSpPr>
            <p:spPr>
              <a:xfrm>
                <a:off x="152401" y="1538229"/>
                <a:ext cx="11407140" cy="4348306"/>
              </a:xfrm>
              <a:prstGeom prst="rect">
                <a:avLst/>
              </a:prstGeom>
              <a:blipFill>
                <a:blip r:embed="rId2"/>
                <a:stretch>
                  <a:fillRect l="-1229" t="-1821" r="-1336" b="-3501"/>
                </a:stretch>
              </a:blipFill>
            </p:spPr>
            <p:txBody>
              <a:bodyPr/>
              <a:lstStyle/>
              <a:p>
                <a:r>
                  <a:rPr lang="en-US">
                    <a:noFill/>
                  </a:rPr>
                  <a:t> </a:t>
                </a:r>
              </a:p>
            </p:txBody>
          </p:sp>
        </mc:Fallback>
      </mc:AlternateContent>
    </p:spTree>
    <p:extLst>
      <p:ext uri="{BB962C8B-B14F-4D97-AF65-F5344CB8AC3E}">
        <p14:creationId xmlns:p14="http://schemas.microsoft.com/office/powerpoint/2010/main" val="2709667207"/>
      </p:ext>
    </p:extLst>
  </p:cSld>
  <p:clrMapOvr>
    <a:masterClrMapping/>
  </p:clrMapOvr>
  <p:transition spd="med"/>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79</a:t>
            </a:fld>
            <a:endParaRPr dirty="0"/>
          </a:p>
        </p:txBody>
      </p:sp>
      <p:sp>
        <p:nvSpPr>
          <p:cNvPr id="4" name="TextBox 3"/>
          <p:cNvSpPr txBox="1"/>
          <p:nvPr/>
        </p:nvSpPr>
        <p:spPr>
          <a:xfrm>
            <a:off x="369042" y="196176"/>
            <a:ext cx="11604421" cy="132343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2.4.3 </a:t>
            </a:r>
            <a:r>
              <a:rPr lang="en-US" sz="4000" b="1" dirty="0" smtClean="0">
                <a:latin typeface="Times New Roman" panose="02020603050405020304" pitchFamily="18" charset="0"/>
                <a:cs typeface="Times New Roman" panose="02020603050405020304" pitchFamily="18" charset="0"/>
              </a:rPr>
              <a:t>Vision and Tracking: Multiscale image processing</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1538229"/>
            <a:ext cx="11407140" cy="3970318"/>
          </a:xfrm>
          <a:prstGeom prst="rect">
            <a:avLst/>
          </a:prstGeom>
        </p:spPr>
        <p:txBody>
          <a:bodyPr wrap="square">
            <a:spAutoFit/>
          </a:bodyPr>
          <a:lstStyle/>
          <a:p>
            <a:pPr marL="457200" indent="-457200" algn="just">
              <a:buFont typeface="Arial" panose="020B0604020202020204" pitchFamily="34" charset="0"/>
              <a:buChar char="•"/>
            </a:pPr>
            <a:r>
              <a:rPr lang="en-US" sz="3200" dirty="0">
                <a:latin typeface="Times-Roman"/>
              </a:rPr>
              <a:t>Each partition will process its scale in parallel, so the calculation time </a:t>
            </a:r>
            <a:r>
              <a:rPr lang="en-US" sz="3200" dirty="0" smtClean="0">
                <a:latin typeface="Times-Roman"/>
              </a:rPr>
              <a:t>in this </a:t>
            </a:r>
            <a:r>
              <a:rPr lang="en-US" sz="3200" dirty="0">
                <a:latin typeface="Times-Roman"/>
              </a:rPr>
              <a:t>case is the time for the largest scale (taking the longest time) to finish</a:t>
            </a:r>
            <a:r>
              <a:rPr lang="en-US" sz="3200" dirty="0" smtClean="0">
                <a:latin typeface="Times-Roman"/>
              </a:rPr>
              <a:t>:</a:t>
            </a:r>
          </a:p>
          <a:p>
            <a:pPr marL="457200" indent="-457200" algn="just">
              <a:buFont typeface="Arial" panose="020B0604020202020204" pitchFamily="34" charset="0"/>
              <a:buChar char="•"/>
            </a:pPr>
            <a:endParaRPr lang="en-US" sz="3200" dirty="0">
              <a:latin typeface="Times-Roman"/>
            </a:endParaRPr>
          </a:p>
          <a:p>
            <a:pPr marL="457200" indent="-457200" algn="just">
              <a:buFont typeface="Arial" panose="020B0604020202020204" pitchFamily="34" charset="0"/>
              <a:buChar char="•"/>
            </a:pPr>
            <a:endParaRPr lang="en-US" sz="3000" dirty="0" smtClean="0">
              <a:latin typeface="Times-Roman"/>
            </a:endParaRPr>
          </a:p>
          <a:p>
            <a:pPr marL="457200" indent="-457200" algn="just">
              <a:buFont typeface="Arial" panose="020B0604020202020204" pitchFamily="34" charset="0"/>
              <a:buChar char="•"/>
            </a:pPr>
            <a:endParaRPr lang="en-US" sz="3000" dirty="0">
              <a:latin typeface="Times-Roman"/>
            </a:endParaRPr>
          </a:p>
          <a:p>
            <a:pPr marL="457200" indent="-457200">
              <a:buFont typeface="Arial" panose="020B0604020202020204" pitchFamily="34" charset="0"/>
              <a:buChar char="•"/>
            </a:pPr>
            <a:r>
              <a:rPr lang="en-US" sz="3200" dirty="0">
                <a:latin typeface="Times-Roman"/>
              </a:rPr>
              <a:t>This is the same as for the simpler row stripe partition, so there is </a:t>
            </a:r>
            <a:r>
              <a:rPr lang="en-US" sz="3200" dirty="0" smtClean="0">
                <a:latin typeface="Times-Roman"/>
              </a:rPr>
              <a:t>no calculation </a:t>
            </a:r>
            <a:r>
              <a:rPr lang="en-US" sz="3200" dirty="0">
                <a:latin typeface="Times-Roman"/>
              </a:rPr>
              <a:t>advantage in partitioning by scale.</a:t>
            </a:r>
            <a:endParaRPr lang="en-US" sz="3000" dirty="0" smtClean="0">
              <a:latin typeface="Times-Roman"/>
            </a:endParaRPr>
          </a:p>
        </p:txBody>
      </p:sp>
      <p:pic>
        <p:nvPicPr>
          <p:cNvPr id="3" name="Picture 2"/>
          <p:cNvPicPr>
            <a:picLocks noChangeAspect="1"/>
          </p:cNvPicPr>
          <p:nvPr/>
        </p:nvPicPr>
        <p:blipFill>
          <a:blip r:embed="rId2"/>
          <a:stretch>
            <a:fillRect/>
          </a:stretch>
        </p:blipFill>
        <p:spPr>
          <a:xfrm>
            <a:off x="3555679" y="3319078"/>
            <a:ext cx="4294358" cy="1139734"/>
          </a:xfrm>
          <a:prstGeom prst="rect">
            <a:avLst/>
          </a:prstGeom>
        </p:spPr>
      </p:pic>
    </p:spTree>
    <p:extLst>
      <p:ext uri="{BB962C8B-B14F-4D97-AF65-F5344CB8AC3E}">
        <p14:creationId xmlns:p14="http://schemas.microsoft.com/office/powerpoint/2010/main" val="1350047646"/>
      </p:ext>
    </p:extLst>
  </p:cSld>
  <p:clrMapOvr>
    <a:masterClrMapping/>
  </p:clrMapOvr>
  <p:transition spd="med"/>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5170646"/>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a:latin typeface="Times-Roman"/>
              </a:rPr>
              <a:t>Tracking is the process of monitoring and predicting the motion or </a:t>
            </a:r>
            <a:r>
              <a:rPr lang="en-US" sz="3000" dirty="0" smtClean="0">
                <a:latin typeface="Times-Roman"/>
              </a:rPr>
              <a:t>location of </a:t>
            </a:r>
            <a:r>
              <a:rPr lang="en-US" sz="3000" dirty="0">
                <a:latin typeface="Times-Roman"/>
              </a:rPr>
              <a:t>a target object using sensory </a:t>
            </a:r>
            <a:r>
              <a:rPr lang="en-US" sz="3000" dirty="0" smtClean="0">
                <a:latin typeface="Times-Roman"/>
              </a:rPr>
              <a:t>information.</a:t>
            </a:r>
          </a:p>
          <a:p>
            <a:pPr marL="457200" indent="-457200" algn="just">
              <a:buFont typeface="Arial" panose="020B0604020202020204" pitchFamily="34" charset="0"/>
              <a:buChar char="•"/>
            </a:pPr>
            <a:r>
              <a:rPr lang="en-US" sz="3000" dirty="0" smtClean="0">
                <a:latin typeface="Times-Roman"/>
              </a:rPr>
              <a:t>A robot </a:t>
            </a:r>
            <a:r>
              <a:rPr lang="en-US" sz="3000" dirty="0">
                <a:latin typeface="Times-Roman"/>
              </a:rPr>
              <a:t>may need to track significant aspects of its environment.</a:t>
            </a:r>
          </a:p>
          <a:p>
            <a:pPr marL="457200" indent="-457200" algn="just">
              <a:buFont typeface="Arial" panose="020B0604020202020204" pitchFamily="34" charset="0"/>
              <a:buChar char="•"/>
            </a:pPr>
            <a:r>
              <a:rPr lang="en-US" sz="3000" dirty="0">
                <a:latin typeface="Times-Roman"/>
              </a:rPr>
              <a:t>For example, a robot operating with a team of other robots may need </a:t>
            </a:r>
            <a:r>
              <a:rPr lang="en-US" sz="3000" dirty="0" smtClean="0">
                <a:latin typeface="Times-Roman"/>
              </a:rPr>
              <a:t>to track </a:t>
            </a:r>
            <a:r>
              <a:rPr lang="en-US" sz="3000" dirty="0">
                <a:latin typeface="Times-Roman"/>
              </a:rPr>
              <a:t>the locations of its team members</a:t>
            </a:r>
            <a:r>
              <a:rPr lang="en-US" sz="3000" dirty="0" smtClean="0">
                <a:latin typeface="Times-Roman"/>
              </a:rPr>
              <a:t>.</a:t>
            </a:r>
          </a:p>
          <a:p>
            <a:pPr marL="457200" indent="-457200" algn="just">
              <a:buFont typeface="Arial" panose="020B0604020202020204" pitchFamily="34" charset="0"/>
              <a:buChar char="•"/>
            </a:pPr>
            <a:r>
              <a:rPr lang="en-US" sz="3000" dirty="0">
                <a:latin typeface="Times-Roman"/>
              </a:rPr>
              <a:t>We will look at one approach </a:t>
            </a:r>
            <a:r>
              <a:rPr lang="en-US" sz="3000" dirty="0" smtClean="0">
                <a:latin typeface="Times-Roman"/>
              </a:rPr>
              <a:t>to visual </a:t>
            </a:r>
            <a:r>
              <a:rPr lang="en-US" sz="3000" dirty="0">
                <a:latin typeface="Times-Roman"/>
              </a:rPr>
              <a:t>tracking. </a:t>
            </a:r>
            <a:endParaRPr lang="en-US" sz="3000" dirty="0" smtClean="0">
              <a:latin typeface="Times-Roman"/>
            </a:endParaRPr>
          </a:p>
          <a:p>
            <a:pPr marL="457200" indent="-457200" algn="just">
              <a:buFont typeface="Arial" panose="020B0604020202020204" pitchFamily="34" charset="0"/>
              <a:buChar char="•"/>
            </a:pPr>
            <a:r>
              <a:rPr lang="en-US" sz="3000" dirty="0" smtClean="0">
                <a:latin typeface="Times-Roman"/>
              </a:rPr>
              <a:t>A </a:t>
            </a:r>
            <a:r>
              <a:rPr lang="en-US" sz="3000" b="1" dirty="0">
                <a:latin typeface="Times-Roman"/>
              </a:rPr>
              <a:t>robot looking at visual landmarks </a:t>
            </a:r>
            <a:r>
              <a:rPr lang="en-US" sz="3000" dirty="0">
                <a:latin typeface="Times-Roman"/>
              </a:rPr>
              <a:t>for place </a:t>
            </a:r>
            <a:r>
              <a:rPr lang="en-US" sz="3000" dirty="0" smtClean="0">
                <a:latin typeface="Times-Roman"/>
              </a:rPr>
              <a:t>recognition.</a:t>
            </a:r>
            <a:endParaRPr lang="en-US" sz="3000" dirty="0">
              <a:latin typeface="Times-Roman"/>
            </a:endParaRPr>
          </a:p>
          <a:p>
            <a:pPr marL="457200" indent="-457200" algn="just">
              <a:buFont typeface="Arial" panose="020B0604020202020204" pitchFamily="34" charset="0"/>
              <a:buChar char="•"/>
            </a:pPr>
            <a:r>
              <a:rPr lang="en-US" sz="3000" dirty="0" smtClean="0">
                <a:latin typeface="Times-Roman"/>
              </a:rPr>
              <a:t>For </a:t>
            </a:r>
            <a:r>
              <a:rPr lang="en-US" sz="3000" dirty="0">
                <a:latin typeface="Times-Roman"/>
              </a:rPr>
              <a:t>example may need to track the relative location of </a:t>
            </a:r>
            <a:r>
              <a:rPr lang="en-US" sz="3000" dirty="0" smtClean="0">
                <a:latin typeface="Times-Roman"/>
              </a:rPr>
              <a:t>a landmark </a:t>
            </a:r>
            <a:r>
              <a:rPr lang="en-US" sz="3000" dirty="0">
                <a:latin typeface="Times-Roman"/>
              </a:rPr>
              <a:t>as the robot moves in the area around the landmark.</a:t>
            </a:r>
            <a:endParaRPr lang="en-US" sz="3000" dirty="0" smtClean="0">
              <a:latin typeface="Times-Roman"/>
            </a:endParaRPr>
          </a:p>
        </p:txBody>
      </p:sp>
    </p:spTree>
    <p:extLst>
      <p:ext uri="{BB962C8B-B14F-4D97-AF65-F5344CB8AC3E}">
        <p14:creationId xmlns:p14="http://schemas.microsoft.com/office/powerpoint/2010/main" val="2567224276"/>
      </p:ext>
    </p:extLst>
  </p:cSld>
  <p:clrMapOvr>
    <a:masterClrMapping/>
  </p:clrMapOvr>
  <p:transition spd="med"/>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a:solidFill>
                  <a:schemeClr val="bg1">
                    <a:lumMod val="25000"/>
                  </a:schemeClr>
                </a:solidFill>
                <a:latin typeface="Times-Roman"/>
              </a:rPr>
              <a:t>Let’s say the robot is keeping track of targets t1 through </a:t>
            </a:r>
            <a:r>
              <a:rPr lang="en-US" sz="3000" dirty="0" err="1">
                <a:solidFill>
                  <a:schemeClr val="bg1">
                    <a:lumMod val="25000"/>
                  </a:schemeClr>
                </a:solidFill>
                <a:latin typeface="Times-Roman"/>
              </a:rPr>
              <a:t>tn</a:t>
            </a:r>
            <a:r>
              <a:rPr lang="en-US" sz="3000" dirty="0">
                <a:solidFill>
                  <a:schemeClr val="bg1">
                    <a:lumMod val="25000"/>
                  </a:schemeClr>
                </a:solidFill>
                <a:latin typeface="Times-Roman"/>
              </a:rPr>
              <a:t> up to </a:t>
            </a:r>
            <a:r>
              <a:rPr lang="en-US" sz="3000" dirty="0" smtClean="0">
                <a:solidFill>
                  <a:schemeClr val="bg1">
                    <a:lumMod val="25000"/>
                  </a:schemeClr>
                </a:solidFill>
                <a:latin typeface="Times-Roman"/>
              </a:rPr>
              <a:t>some point </a:t>
            </a:r>
            <a:r>
              <a:rPr lang="en-US" sz="3000" dirty="0">
                <a:solidFill>
                  <a:schemeClr val="bg1">
                    <a:lumMod val="25000"/>
                  </a:schemeClr>
                </a:solidFill>
                <a:latin typeface="Times-Roman"/>
              </a:rPr>
              <a:t>in time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An image taken at the next point in time will yield </a:t>
            </a:r>
            <a:r>
              <a:rPr lang="en-US" sz="3000" dirty="0" smtClean="0">
                <a:solidFill>
                  <a:schemeClr val="bg1">
                    <a:lumMod val="25000"/>
                  </a:schemeClr>
                </a:solidFill>
                <a:latin typeface="Times-Roman"/>
              </a:rPr>
              <a:t>some candidate </a:t>
            </a:r>
            <a:r>
              <a:rPr lang="en-US" sz="3000" dirty="0">
                <a:solidFill>
                  <a:schemeClr val="bg1">
                    <a:lumMod val="25000"/>
                  </a:schemeClr>
                </a:solidFill>
                <a:latin typeface="Times-Roman"/>
              </a:rPr>
              <a:t>target locations, c1 through cm</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Data </a:t>
            </a:r>
            <a:r>
              <a:rPr lang="en-US" sz="3000" dirty="0" smtClean="0">
                <a:solidFill>
                  <a:schemeClr val="bg1">
                    <a:lumMod val="25000"/>
                  </a:schemeClr>
                </a:solidFill>
                <a:latin typeface="Times-Roman"/>
              </a:rPr>
              <a:t>association </a:t>
            </a:r>
            <a:r>
              <a:rPr lang="en-US" sz="3000" dirty="0">
                <a:solidFill>
                  <a:schemeClr val="bg1">
                    <a:lumMod val="25000"/>
                  </a:schemeClr>
                </a:solidFill>
                <a:latin typeface="Times-Roman"/>
              </a:rPr>
              <a:t>is </a:t>
            </a:r>
            <a:r>
              <a:rPr lang="en-US" sz="3000" dirty="0" smtClean="0">
                <a:solidFill>
                  <a:schemeClr val="bg1">
                    <a:lumMod val="25000"/>
                  </a:schemeClr>
                </a:solidFill>
                <a:latin typeface="Times-Roman"/>
              </a:rPr>
              <a:t>the process </a:t>
            </a:r>
            <a:r>
              <a:rPr lang="en-US" sz="3000" dirty="0">
                <a:solidFill>
                  <a:schemeClr val="bg1">
                    <a:lumMod val="25000"/>
                  </a:schemeClr>
                </a:solidFill>
                <a:latin typeface="Times-Roman"/>
              </a:rPr>
              <a:t>of determining which candidates should be associated with </a:t>
            </a:r>
            <a:r>
              <a:rPr lang="en-US" sz="3000" dirty="0" smtClean="0">
                <a:solidFill>
                  <a:schemeClr val="bg1">
                    <a:lumMod val="25000"/>
                  </a:schemeClr>
                </a:solidFill>
                <a:latin typeface="Times-Roman"/>
              </a:rPr>
              <a:t>which targets.</a:t>
            </a:r>
          </a:p>
          <a:p>
            <a:pPr marL="457200" indent="-457200" algn="just">
              <a:buFont typeface="Arial" panose="020B0604020202020204" pitchFamily="34" charset="0"/>
              <a:buChar char="•"/>
            </a:pPr>
            <a:r>
              <a:rPr lang="en-US" sz="3000" dirty="0">
                <a:solidFill>
                  <a:schemeClr val="bg1">
                    <a:lumMod val="25000"/>
                  </a:schemeClr>
                </a:solidFill>
                <a:latin typeface="Times-Roman"/>
              </a:rPr>
              <a:t>Let us suppose we have a function s(t, c) that captures how </a:t>
            </a:r>
            <a:r>
              <a:rPr lang="en-US" sz="3000" dirty="0" smtClean="0">
                <a:solidFill>
                  <a:schemeClr val="bg1">
                    <a:lumMod val="25000"/>
                  </a:schemeClr>
                </a:solidFill>
                <a:latin typeface="Times-Roman"/>
              </a:rPr>
              <a:t>similar the </a:t>
            </a:r>
            <a:r>
              <a:rPr lang="en-US" sz="3000" dirty="0">
                <a:solidFill>
                  <a:schemeClr val="bg1">
                    <a:lumMod val="25000"/>
                  </a:schemeClr>
                </a:solidFill>
                <a:latin typeface="Times-Roman"/>
              </a:rPr>
              <a:t>candidate is to the target.</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1011026481"/>
      </p:ext>
    </p:extLst>
  </p:cSld>
  <p:clrMapOvr>
    <a:masterClrMapping/>
  </p:clrMapOvr>
  <p:transition spd="med"/>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a:solidFill>
                  <a:schemeClr val="bg1">
                    <a:lumMod val="25000"/>
                  </a:schemeClr>
                </a:solidFill>
                <a:latin typeface="Times-Roman"/>
              </a:rPr>
              <a:t>In Nearest Neighbor data association, </a:t>
            </a:r>
            <a:r>
              <a:rPr lang="en-US" sz="3000" dirty="0" smtClean="0">
                <a:solidFill>
                  <a:schemeClr val="bg1">
                    <a:lumMod val="25000"/>
                  </a:schemeClr>
                </a:solidFill>
                <a:latin typeface="Times-Roman"/>
              </a:rPr>
              <a:t>the correct </a:t>
            </a:r>
            <a:r>
              <a:rPr lang="en-US" sz="3000" dirty="0">
                <a:solidFill>
                  <a:schemeClr val="bg1">
                    <a:lumMod val="25000"/>
                  </a:schemeClr>
                </a:solidFill>
                <a:latin typeface="Times-Roman"/>
              </a:rPr>
              <a:t>data association for each target is chosen </a:t>
            </a:r>
            <a:r>
              <a:rPr lang="en-US" sz="3000" dirty="0" smtClean="0">
                <a:solidFill>
                  <a:schemeClr val="bg1">
                    <a:lumMod val="25000"/>
                  </a:schemeClr>
                </a:solidFill>
                <a:latin typeface="Times-Roman"/>
              </a:rPr>
              <a:t>as,</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Of course, the candidate that appears to be the best at one point in </a:t>
            </a:r>
            <a:r>
              <a:rPr lang="en-US" sz="3000" dirty="0" smtClean="0">
                <a:solidFill>
                  <a:schemeClr val="bg1">
                    <a:lumMod val="25000"/>
                  </a:schemeClr>
                </a:solidFill>
                <a:latin typeface="Times-Roman"/>
              </a:rPr>
              <a:t>time might </a:t>
            </a:r>
            <a:r>
              <a:rPr lang="en-US" sz="3000" dirty="0">
                <a:solidFill>
                  <a:schemeClr val="bg1">
                    <a:lumMod val="25000"/>
                  </a:schemeClr>
                </a:solidFill>
                <a:latin typeface="Times-Roman"/>
              </a:rPr>
              <a:t>later turn out to be incorrect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b="1" dirty="0">
                <a:solidFill>
                  <a:schemeClr val="bg1">
                    <a:lumMod val="25000"/>
                  </a:schemeClr>
                </a:solidFill>
                <a:latin typeface="Times-Roman"/>
              </a:rPr>
              <a:t>Tracking algorithms</a:t>
            </a:r>
            <a:r>
              <a:rPr lang="en-US" sz="3000" dirty="0">
                <a:solidFill>
                  <a:schemeClr val="bg1">
                    <a:lumMod val="25000"/>
                  </a:schemeClr>
                </a:solidFill>
                <a:latin typeface="Times-Roman"/>
              </a:rPr>
              <a:t> such as the </a:t>
            </a:r>
            <a:r>
              <a:rPr lang="en-US" sz="3000" b="1" dirty="0" smtClean="0">
                <a:solidFill>
                  <a:srgbClr val="0070C0"/>
                </a:solidFill>
                <a:latin typeface="Times-Roman"/>
              </a:rPr>
              <a:t>Joint Probability </a:t>
            </a:r>
            <a:r>
              <a:rPr lang="en-US" sz="3000" b="1" dirty="0">
                <a:solidFill>
                  <a:srgbClr val="0070C0"/>
                </a:solidFill>
                <a:latin typeface="Times-Roman"/>
              </a:rPr>
              <a:t>Data Association Filter (JPDAF</a:t>
            </a:r>
            <a:r>
              <a:rPr lang="en-US" sz="3000" b="1" dirty="0" smtClean="0">
                <a:solidFill>
                  <a:srgbClr val="0070C0"/>
                </a:solidFill>
                <a:latin typeface="Times-Roman"/>
              </a:rPr>
              <a:t>) </a:t>
            </a:r>
            <a:r>
              <a:rPr lang="en-US" sz="3000" b="1" dirty="0">
                <a:solidFill>
                  <a:srgbClr val="0070C0"/>
                </a:solidFill>
                <a:latin typeface="Times-Roman"/>
              </a:rPr>
              <a:t>and Multiple </a:t>
            </a:r>
            <a:r>
              <a:rPr lang="en-US" sz="3000" b="1" dirty="0" smtClean="0">
                <a:solidFill>
                  <a:srgbClr val="0070C0"/>
                </a:solidFill>
                <a:latin typeface="Times-Roman"/>
              </a:rPr>
              <a:t>Hypothesis Tracking </a:t>
            </a:r>
            <a:r>
              <a:rPr lang="en-US" sz="3000" b="1" dirty="0">
                <a:solidFill>
                  <a:srgbClr val="0070C0"/>
                </a:solidFill>
                <a:latin typeface="Times-Roman"/>
              </a:rPr>
              <a:t>(</a:t>
            </a:r>
            <a:r>
              <a:rPr lang="en-US" sz="3000" b="1" dirty="0" smtClean="0">
                <a:solidFill>
                  <a:srgbClr val="0070C0"/>
                </a:solidFill>
                <a:latin typeface="Times-Roman"/>
              </a:rPr>
              <a:t>MHT) </a:t>
            </a:r>
            <a:r>
              <a:rPr lang="en-US" sz="3000" dirty="0" smtClean="0">
                <a:solidFill>
                  <a:schemeClr val="bg1">
                    <a:lumMod val="25000"/>
                  </a:schemeClr>
                </a:solidFill>
                <a:latin typeface="Times-Roman"/>
              </a:rPr>
              <a:t>address </a:t>
            </a:r>
            <a:r>
              <a:rPr lang="en-US" sz="3000" dirty="0">
                <a:solidFill>
                  <a:schemeClr val="bg1">
                    <a:lumMod val="25000"/>
                  </a:schemeClr>
                </a:solidFill>
                <a:latin typeface="Times-Roman"/>
              </a:rPr>
              <a:t>this issue.</a:t>
            </a:r>
            <a:endParaRPr lang="en-US" sz="30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4199671" y="2624353"/>
            <a:ext cx="3067196" cy="862650"/>
          </a:xfrm>
          <a:prstGeom prst="rect">
            <a:avLst/>
          </a:prstGeom>
          <a:ln w="28575">
            <a:solidFill>
              <a:schemeClr val="tx1"/>
            </a:solidFill>
          </a:ln>
        </p:spPr>
      </p:pic>
    </p:spTree>
    <p:extLst>
      <p:ext uri="{BB962C8B-B14F-4D97-AF65-F5344CB8AC3E}">
        <p14:creationId xmlns:p14="http://schemas.microsoft.com/office/powerpoint/2010/main" val="3499423798"/>
      </p:ext>
    </p:extLst>
  </p:cSld>
  <p:clrMapOvr>
    <a:masterClrMapping/>
  </p:clrMapOvr>
  <p:transition spd="med"/>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2400657"/>
          </a:xfrm>
          <a:prstGeom prst="rect">
            <a:avLst/>
          </a:prstGeom>
        </p:spPr>
        <p:txBody>
          <a:bodyPr wrap="square">
            <a:spAutoFit/>
          </a:bodyPr>
          <a:lstStyle/>
          <a:p>
            <a:pPr algn="just"/>
            <a:r>
              <a:rPr lang="en-US" sz="3000" b="1" dirty="0" smtClean="0">
                <a:solidFill>
                  <a:srgbClr val="FF0000"/>
                </a:solidFill>
                <a:latin typeface="Times-Roman"/>
              </a:rPr>
              <a:t>Video Tracking</a:t>
            </a:r>
          </a:p>
          <a:p>
            <a:pPr marL="457200" indent="-457200" algn="just">
              <a:buFont typeface="Arial" panose="020B0604020202020204" pitchFamily="34" charset="0"/>
              <a:buChar char="•"/>
            </a:pPr>
            <a:r>
              <a:rPr lang="en-US" sz="3000" dirty="0" err="1">
                <a:solidFill>
                  <a:schemeClr val="bg1">
                    <a:lumMod val="25000"/>
                  </a:schemeClr>
                </a:solidFill>
                <a:latin typeface="Times-Roman"/>
              </a:rPr>
              <a:t>Isard</a:t>
            </a:r>
            <a:r>
              <a:rPr lang="en-US" sz="3000" dirty="0">
                <a:solidFill>
                  <a:schemeClr val="bg1">
                    <a:lumMod val="25000"/>
                  </a:schemeClr>
                </a:solidFill>
                <a:latin typeface="Times-Roman"/>
              </a:rPr>
              <a:t> and Blake </a:t>
            </a:r>
            <a:r>
              <a:rPr lang="en-US" sz="3000" dirty="0" smtClean="0">
                <a:solidFill>
                  <a:schemeClr val="bg1">
                    <a:lumMod val="25000"/>
                  </a:schemeClr>
                </a:solidFill>
                <a:latin typeface="Times-Roman"/>
              </a:rPr>
              <a:t>introduced an </a:t>
            </a:r>
            <a:r>
              <a:rPr lang="en-US" sz="3000" dirty="0">
                <a:solidFill>
                  <a:schemeClr val="bg1">
                    <a:lumMod val="25000"/>
                  </a:schemeClr>
                </a:solidFill>
                <a:latin typeface="Times-Roman"/>
              </a:rPr>
              <a:t>approach to tracking called Condensation that is based on </a:t>
            </a:r>
            <a:r>
              <a:rPr lang="en-US" sz="3000" dirty="0" smtClean="0">
                <a:solidFill>
                  <a:schemeClr val="bg1">
                    <a:lumMod val="25000"/>
                  </a:schemeClr>
                </a:solidFill>
                <a:latin typeface="Times-Roman"/>
              </a:rPr>
              <a:t>particle filters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a:solidFill>
                  <a:schemeClr val="bg1">
                    <a:lumMod val="25000"/>
                  </a:schemeClr>
                </a:solidFill>
                <a:latin typeface="Times-Roman"/>
              </a:rPr>
              <a:t>particle filter approach is particularly appropriate for </a:t>
            </a:r>
            <a:r>
              <a:rPr lang="en-US" sz="3000" dirty="0" smtClean="0">
                <a:solidFill>
                  <a:schemeClr val="bg1">
                    <a:lumMod val="25000"/>
                  </a:schemeClr>
                </a:solidFill>
                <a:latin typeface="Times-Roman"/>
              </a:rPr>
              <a:t>parallel implementation.</a:t>
            </a:r>
          </a:p>
        </p:txBody>
      </p:sp>
    </p:spTree>
    <p:extLst>
      <p:ext uri="{BB962C8B-B14F-4D97-AF65-F5344CB8AC3E}">
        <p14:creationId xmlns:p14="http://schemas.microsoft.com/office/powerpoint/2010/main" val="3561458116"/>
      </p:ext>
    </p:extLst>
  </p:cSld>
  <p:clrMapOvr>
    <a:masterClrMapping/>
  </p:clrMapOvr>
  <p:transition spd="med"/>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algn="just"/>
            <a:r>
              <a:rPr lang="en-US" sz="3000" b="1" dirty="0" smtClean="0">
                <a:solidFill>
                  <a:srgbClr val="FF0000"/>
                </a:solidFill>
                <a:latin typeface="Times-Roman"/>
              </a:rPr>
              <a:t>2.5.1 Spatial Histograms</a:t>
            </a:r>
          </a:p>
          <a:p>
            <a:pPr marL="457200" indent="-457200" algn="just">
              <a:buFont typeface="Arial" panose="020B0604020202020204" pitchFamily="34" charset="0"/>
              <a:buChar char="•"/>
            </a:pPr>
            <a:r>
              <a:rPr lang="en-US" sz="3000" dirty="0">
                <a:solidFill>
                  <a:schemeClr val="bg1">
                    <a:lumMod val="25000"/>
                  </a:schemeClr>
                </a:solidFill>
                <a:latin typeface="Times-Roman"/>
              </a:rPr>
              <a:t>A histogram is a measurement of the frequencies with which pixel </a:t>
            </a:r>
            <a:r>
              <a:rPr lang="en-US" sz="3000" dirty="0" smtClean="0">
                <a:solidFill>
                  <a:schemeClr val="bg1">
                    <a:lumMod val="25000"/>
                  </a:schemeClr>
                </a:solidFill>
                <a:latin typeface="Times-Roman"/>
              </a:rPr>
              <a:t>values appear </a:t>
            </a:r>
            <a:r>
              <a:rPr lang="en-US" sz="3000" dirty="0">
                <a:solidFill>
                  <a:schemeClr val="bg1">
                    <a:lumMod val="25000"/>
                  </a:schemeClr>
                </a:solidFill>
                <a:latin typeface="Times-Roman"/>
              </a:rPr>
              <a:t>in an image.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Lets </a:t>
            </a:r>
            <a:r>
              <a:rPr lang="en-US" sz="3000" dirty="0">
                <a:solidFill>
                  <a:schemeClr val="bg1">
                    <a:lumMod val="25000"/>
                  </a:schemeClr>
                </a:solidFill>
                <a:latin typeface="Times-Roman"/>
              </a:rPr>
              <a:t>us consider a gray level image, that is, an </a:t>
            </a:r>
            <a:r>
              <a:rPr lang="en-US" sz="3000" dirty="0" smtClean="0">
                <a:solidFill>
                  <a:schemeClr val="bg1">
                    <a:lumMod val="25000"/>
                  </a:schemeClr>
                </a:solidFill>
                <a:latin typeface="Times-Roman"/>
              </a:rPr>
              <a:t>image with </a:t>
            </a:r>
            <a:r>
              <a:rPr lang="en-US" sz="3000" dirty="0">
                <a:solidFill>
                  <a:schemeClr val="bg1">
                    <a:lumMod val="25000"/>
                  </a:schemeClr>
                </a:solidFill>
                <a:latin typeface="Times-Roman"/>
              </a:rPr>
              <a:t>just one color </a:t>
            </a:r>
            <a:r>
              <a:rPr lang="en-US" sz="3000" dirty="0" smtClean="0">
                <a:solidFill>
                  <a:schemeClr val="bg1">
                    <a:lumMod val="25000"/>
                  </a:schemeClr>
                </a:solidFill>
                <a:latin typeface="Times-Roman"/>
              </a:rPr>
              <a:t>channel. </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Let </a:t>
            </a:r>
            <a:r>
              <a:rPr lang="en-US" sz="3000" dirty="0">
                <a:solidFill>
                  <a:schemeClr val="bg1">
                    <a:lumMod val="25000"/>
                  </a:schemeClr>
                </a:solidFill>
                <a:latin typeface="Times-Roman"/>
              </a:rPr>
              <a:t>I : P → V be a function that </a:t>
            </a:r>
            <a:r>
              <a:rPr lang="en-US" sz="3000" dirty="0" smtClean="0">
                <a:solidFill>
                  <a:schemeClr val="bg1">
                    <a:lumMod val="25000"/>
                  </a:schemeClr>
                </a:solidFill>
                <a:latin typeface="Times-Roman"/>
              </a:rPr>
              <a:t>returns the </a:t>
            </a:r>
            <a:r>
              <a:rPr lang="en-US" sz="3000" dirty="0">
                <a:solidFill>
                  <a:schemeClr val="bg1">
                    <a:lumMod val="25000"/>
                  </a:schemeClr>
                </a:solidFill>
                <a:latin typeface="Times-Roman"/>
              </a:rPr>
              <a:t>value v ∈ V of a pixel at a location p ∈ P in the image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histogram </a:t>
            </a:r>
            <a:r>
              <a:rPr lang="en-US" sz="3000" dirty="0">
                <a:solidFill>
                  <a:schemeClr val="bg1">
                    <a:lumMod val="25000"/>
                  </a:schemeClr>
                </a:solidFill>
                <a:latin typeface="Times-Roman"/>
              </a:rPr>
              <a:t>of I captures the number of times each pixel value occurs </a:t>
            </a:r>
            <a:r>
              <a:rPr lang="en-US" sz="3000" dirty="0" smtClean="0">
                <a:solidFill>
                  <a:schemeClr val="bg1">
                    <a:lumMod val="25000"/>
                  </a:schemeClr>
                </a:solidFill>
                <a:latin typeface="Times-Roman"/>
              </a:rPr>
              <a:t>in the </a:t>
            </a:r>
            <a:r>
              <a:rPr lang="en-US" sz="3000" dirty="0">
                <a:solidFill>
                  <a:schemeClr val="bg1">
                    <a:lumMod val="25000"/>
                  </a:schemeClr>
                </a:solidFill>
                <a:latin typeface="Times-Roman"/>
              </a:rPr>
              <a:t>range of the function</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Consider a set B of equivalence classes on </a:t>
            </a:r>
            <a:r>
              <a:rPr lang="en-US" sz="3000" dirty="0" smtClean="0">
                <a:solidFill>
                  <a:schemeClr val="bg1">
                    <a:lumMod val="25000"/>
                  </a:schemeClr>
                </a:solidFill>
                <a:latin typeface="Times-Roman"/>
              </a:rPr>
              <a:t>V.</a:t>
            </a:r>
          </a:p>
        </p:txBody>
      </p:sp>
    </p:spTree>
    <p:extLst>
      <p:ext uri="{BB962C8B-B14F-4D97-AF65-F5344CB8AC3E}">
        <p14:creationId xmlns:p14="http://schemas.microsoft.com/office/powerpoint/2010/main" val="3786256178"/>
      </p:ext>
    </p:extLst>
  </p:cSld>
  <p:clrMapOvr>
    <a:masterClrMapping/>
  </p:clrMapOvr>
  <p:transition spd="med"/>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29699" y="1162852"/>
                <a:ext cx="11407140" cy="5632311"/>
              </a:xfrm>
              <a:prstGeom prst="rect">
                <a:avLst/>
              </a:prstGeom>
            </p:spPr>
            <p:txBody>
              <a:bodyPr wrap="square">
                <a:spAutoFit/>
              </a:bodyPr>
              <a:lstStyle/>
              <a:p>
                <a:pPr algn="just"/>
                <a:r>
                  <a:rPr lang="en-US" sz="3000" b="1" dirty="0">
                    <a:solidFill>
                      <a:srgbClr val="FF0000"/>
                    </a:solidFill>
                    <a:latin typeface="Times-Roman"/>
                  </a:rPr>
                  <a:t>Spatial Histograms</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a:solidFill>
                      <a:schemeClr val="bg1">
                        <a:lumMod val="25000"/>
                      </a:schemeClr>
                    </a:solidFill>
                    <a:latin typeface="Times-Roman"/>
                  </a:rPr>
                  <a:t>histogram of I, written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h</m:t>
                        </m:r>
                      </m:e>
                      <m:sub>
                        <m:r>
                          <a:rPr lang="en-US" sz="3000" b="0" i="1" smtClean="0">
                            <a:solidFill>
                              <a:schemeClr val="bg1">
                                <a:lumMod val="25000"/>
                              </a:schemeClr>
                            </a:solidFill>
                            <a:latin typeface="Cambria Math" panose="02040503050406030204" pitchFamily="18" charset="0"/>
                          </a:rPr>
                          <m:t>𝐼</m:t>
                        </m:r>
                      </m:sub>
                    </m:sSub>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maps B to the set {0, . . . , |P|} such </a:t>
                </a:r>
                <a:r>
                  <a:rPr lang="en-US" sz="3000" dirty="0" smtClean="0">
                    <a:solidFill>
                      <a:schemeClr val="bg1">
                        <a:lumMod val="25000"/>
                      </a:schemeClr>
                    </a:solidFill>
                    <a:latin typeface="Times-Roman"/>
                  </a:rPr>
                  <a:t>that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h</m:t>
                        </m:r>
                      </m:e>
                      <m:sub>
                        <m:r>
                          <a:rPr lang="en-US" sz="3000" b="0" i="1" smtClean="0">
                            <a:solidFill>
                              <a:schemeClr val="bg1">
                                <a:lumMod val="25000"/>
                              </a:schemeClr>
                            </a:solidFill>
                            <a:latin typeface="Cambria Math" panose="02040503050406030204" pitchFamily="18" charset="0"/>
                          </a:rPr>
                          <m:t>𝐼</m:t>
                        </m:r>
                      </m:sub>
                    </m:sSub>
                    <m:r>
                      <a:rPr lang="en-US" sz="3000" b="0" i="1" smtClean="0">
                        <a:solidFill>
                          <a:schemeClr val="bg1">
                            <a:lumMod val="25000"/>
                          </a:schemeClr>
                        </a:solidFill>
                        <a:latin typeface="Cambria Math" panose="02040503050406030204" pitchFamily="18" charset="0"/>
                      </a:rPr>
                      <m:t>(</m:t>
                    </m:r>
                    <m:r>
                      <a:rPr lang="en-US" sz="3000" b="0" i="1" smtClean="0">
                        <a:solidFill>
                          <a:schemeClr val="bg1">
                            <a:lumMod val="25000"/>
                          </a:schemeClr>
                        </a:solidFill>
                        <a:latin typeface="Cambria Math" panose="02040503050406030204" pitchFamily="18" charset="0"/>
                      </a:rPr>
                      <m:t>𝑏</m:t>
                    </m:r>
                    <m:r>
                      <a:rPr lang="en-US" sz="3000" b="0" i="1" smtClean="0">
                        <a:solidFill>
                          <a:schemeClr val="bg1">
                            <a:lumMod val="25000"/>
                          </a:schemeClr>
                        </a:solidFill>
                        <a:latin typeface="Cambria Math" panose="02040503050406030204" pitchFamily="18" charset="0"/>
                      </a:rPr>
                      <m:t>)</m:t>
                    </m:r>
                  </m:oMath>
                </a14:m>
                <a:r>
                  <a:rPr lang="en-US" sz="3000" dirty="0" smtClean="0">
                    <a:solidFill>
                      <a:schemeClr val="bg1">
                        <a:lumMod val="25000"/>
                      </a:schemeClr>
                    </a:solidFill>
                    <a:latin typeface="Times-Roman"/>
                  </a:rPr>
                  <a:t>=</a:t>
                </a:r>
                <a14:m>
                  <m:oMath xmlns:m="http://schemas.openxmlformats.org/officeDocument/2006/math">
                    <m:sSub>
                      <m:sSubPr>
                        <m:ctrlPr>
                          <a:rPr lang="en-US" sz="3000" i="1" dirty="0" smtClean="0">
                            <a:solidFill>
                              <a:schemeClr val="bg1">
                                <a:lumMod val="25000"/>
                              </a:schemeClr>
                            </a:solidFill>
                            <a:latin typeface="Cambria Math" panose="02040503050406030204" pitchFamily="18" charset="0"/>
                          </a:rPr>
                        </m:ctrlPr>
                      </m:sSubPr>
                      <m:e>
                        <m:r>
                          <a:rPr lang="en-US" sz="3000" b="0" i="1" dirty="0" smtClean="0">
                            <a:solidFill>
                              <a:schemeClr val="bg1">
                                <a:lumMod val="25000"/>
                              </a:schemeClr>
                            </a:solidFill>
                            <a:latin typeface="Cambria Math" panose="02040503050406030204" pitchFamily="18" charset="0"/>
                          </a:rPr>
                          <m:t>𝑛</m:t>
                        </m:r>
                      </m:e>
                      <m:sub>
                        <m:r>
                          <a:rPr lang="en-US" sz="3000" b="0" i="1" dirty="0" smtClean="0">
                            <a:solidFill>
                              <a:schemeClr val="bg1">
                                <a:lumMod val="25000"/>
                              </a:schemeClr>
                            </a:solidFill>
                            <a:latin typeface="Cambria Math" panose="02040503050406030204" pitchFamily="18" charset="0"/>
                          </a:rPr>
                          <m:t>𝑏</m:t>
                        </m:r>
                      </m:sub>
                    </m:sSub>
                    <m:r>
                      <a:rPr lang="en-US" sz="3000" b="0" i="1" dirty="0" smtClean="0">
                        <a:solidFill>
                          <a:schemeClr val="bg1">
                            <a:lumMod val="25000"/>
                          </a:schemeClr>
                        </a:solidFill>
                        <a:latin typeface="Cambria Math" panose="02040503050406030204" pitchFamily="18" charset="0"/>
                      </a:rPr>
                      <m:t> </m:t>
                    </m:r>
                  </m:oMath>
                </a14:m>
                <a:r>
                  <a:rPr lang="en-US" sz="3000" dirty="0" smtClean="0">
                    <a:solidFill>
                      <a:schemeClr val="bg1">
                        <a:lumMod val="25000"/>
                      </a:schemeClr>
                    </a:solidFill>
                    <a:latin typeface="Times-Roman"/>
                  </a:rPr>
                  <a:t>and</a:t>
                </a: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where </a:t>
                </a:r>
                <a:r>
                  <a:rPr lang="en-US" sz="3000" dirty="0" err="1">
                    <a:solidFill>
                      <a:schemeClr val="bg1">
                        <a:lumMod val="25000"/>
                      </a:schemeClr>
                    </a:solidFill>
                    <a:latin typeface="Times-Roman"/>
                  </a:rPr>
                  <a:t>δib</a:t>
                </a:r>
                <a:r>
                  <a:rPr lang="en-US" sz="3000" dirty="0">
                    <a:solidFill>
                      <a:schemeClr val="bg1">
                        <a:lumMod val="25000"/>
                      </a:schemeClr>
                    </a:solidFill>
                    <a:latin typeface="Times-Roman"/>
                  </a:rPr>
                  <a:t> is equal to 1 </a:t>
                </a:r>
                <a:r>
                  <a:rPr lang="en-US" sz="3000" dirty="0" err="1">
                    <a:solidFill>
                      <a:schemeClr val="bg1">
                        <a:lumMod val="25000"/>
                      </a:schemeClr>
                    </a:solidFill>
                    <a:latin typeface="Times-Roman"/>
                  </a:rPr>
                  <a:t>iff</a:t>
                </a:r>
                <a:r>
                  <a:rPr lang="en-US" sz="3000" dirty="0">
                    <a:solidFill>
                      <a:schemeClr val="bg1">
                        <a:lumMod val="25000"/>
                      </a:schemeClr>
                    </a:solidFill>
                    <a:latin typeface="Times-Roman"/>
                  </a:rPr>
                  <a:t> the </a:t>
                </a:r>
                <a:r>
                  <a:rPr lang="en-US" sz="3000" dirty="0" err="1">
                    <a:solidFill>
                      <a:schemeClr val="bg1">
                        <a:lumMod val="25000"/>
                      </a:schemeClr>
                    </a:solidFill>
                    <a:latin typeface="Times-Roman"/>
                  </a:rPr>
                  <a:t>ith</a:t>
                </a:r>
                <a:r>
                  <a:rPr lang="en-US" sz="3000" dirty="0">
                    <a:solidFill>
                      <a:schemeClr val="bg1">
                        <a:lumMod val="25000"/>
                      </a:schemeClr>
                    </a:solidFill>
                    <a:latin typeface="Times-Roman"/>
                  </a:rPr>
                  <a:t> pixel is in the </a:t>
                </a:r>
                <a:r>
                  <a:rPr lang="en-US" sz="3000" dirty="0" err="1">
                    <a:solidFill>
                      <a:schemeClr val="bg1">
                        <a:lumMod val="25000"/>
                      </a:schemeClr>
                    </a:solidFill>
                    <a:latin typeface="Times-Roman"/>
                  </a:rPr>
                  <a:t>bth</a:t>
                </a:r>
                <a:r>
                  <a:rPr lang="en-US" sz="3000" dirty="0">
                    <a:solidFill>
                      <a:schemeClr val="bg1">
                        <a:lumMod val="25000"/>
                      </a:schemeClr>
                    </a:solidFill>
                    <a:latin typeface="Times-Roman"/>
                  </a:rPr>
                  <a:t> equivalence class </a:t>
                </a:r>
                <a:r>
                  <a:rPr lang="en-US" sz="3000" dirty="0" smtClean="0">
                    <a:solidFill>
                      <a:schemeClr val="bg1">
                        <a:lumMod val="25000"/>
                      </a:schemeClr>
                    </a:solidFill>
                    <a:latin typeface="Times-Roman"/>
                  </a:rPr>
                  <a:t>and 0 </a:t>
                </a:r>
                <a:r>
                  <a:rPr lang="en-US" sz="3000" dirty="0">
                    <a:solidFill>
                      <a:schemeClr val="bg1">
                        <a:lumMod val="25000"/>
                      </a:schemeClr>
                    </a:solidFill>
                    <a:latin typeface="Times-Roman"/>
                  </a:rPr>
                  <a:t>otherwise, and η is a normalizing constant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The equivalence classes </a:t>
                </a:r>
                <a:r>
                  <a:rPr lang="en-US" sz="3000" dirty="0" smtClean="0">
                    <a:solidFill>
                      <a:schemeClr val="bg1">
                        <a:lumMod val="25000"/>
                      </a:schemeClr>
                    </a:solidFill>
                    <a:latin typeface="Times-Roman"/>
                  </a:rPr>
                  <a:t>are called </a:t>
                </a:r>
                <a:r>
                  <a:rPr lang="en-US" sz="3000" b="1" dirty="0">
                    <a:solidFill>
                      <a:schemeClr val="bg1">
                        <a:lumMod val="25000"/>
                      </a:schemeClr>
                    </a:solidFill>
                    <a:latin typeface="Times-Roman"/>
                  </a:rPr>
                  <a:t>bins or buckets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2.5.1(a</a:t>
                </a:r>
                <a:r>
                  <a:rPr lang="en-US" sz="3000" dirty="0">
                    <a:solidFill>
                      <a:schemeClr val="bg1">
                        <a:lumMod val="25000"/>
                      </a:schemeClr>
                    </a:solidFill>
                    <a:latin typeface="Times-Roman"/>
                  </a:rPr>
                  <a:t>) shows a histogram of a </a:t>
                </a:r>
                <a:r>
                  <a:rPr lang="en-US" sz="3000" dirty="0" smtClean="0">
                    <a:solidFill>
                      <a:schemeClr val="bg1">
                        <a:lumMod val="25000"/>
                      </a:schemeClr>
                    </a:solidFill>
                    <a:latin typeface="Times-Roman"/>
                  </a:rPr>
                  <a:t>gray-level scene</a:t>
                </a:r>
                <a:r>
                  <a:rPr lang="en-US" sz="3000" dirty="0">
                    <a:solidFill>
                      <a:schemeClr val="bg1">
                        <a:lumMod val="25000"/>
                      </a:schemeClr>
                    </a:solidFill>
                    <a:latin typeface="Times-Roman"/>
                  </a:rPr>
                  <a:t>, shown in Figure </a:t>
                </a:r>
                <a:r>
                  <a:rPr lang="en-US" sz="3000" dirty="0" smtClean="0">
                    <a:solidFill>
                      <a:schemeClr val="bg1">
                        <a:lumMod val="25000"/>
                      </a:schemeClr>
                    </a:solidFill>
                    <a:latin typeface="Times-Roman"/>
                  </a:rPr>
                  <a:t>2.5.1(b</a:t>
                </a:r>
                <a:r>
                  <a:rPr lang="en-US" sz="3000" dirty="0">
                    <a:solidFill>
                      <a:schemeClr val="bg1">
                        <a:lumMod val="25000"/>
                      </a:schemeClr>
                    </a:solidFill>
                    <a:latin typeface="Times-Roman"/>
                  </a:rPr>
                  <a:t>).</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29699" y="1162852"/>
                <a:ext cx="11407140" cy="5632311"/>
              </a:xfrm>
              <a:prstGeom prst="rect">
                <a:avLst/>
              </a:prstGeom>
              <a:blipFill>
                <a:blip r:embed="rId2"/>
                <a:stretch>
                  <a:fillRect l="-1283" t="-1407" r="-1229"/>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4416724" y="2161980"/>
            <a:ext cx="2551462" cy="1407170"/>
          </a:xfrm>
          <a:prstGeom prst="rect">
            <a:avLst/>
          </a:prstGeom>
          <a:ln w="28575">
            <a:solidFill>
              <a:schemeClr val="tx1"/>
            </a:solidFill>
          </a:ln>
        </p:spPr>
      </p:pic>
    </p:spTree>
    <p:extLst>
      <p:ext uri="{BB962C8B-B14F-4D97-AF65-F5344CB8AC3E}">
        <p14:creationId xmlns:p14="http://schemas.microsoft.com/office/powerpoint/2010/main" val="1344511219"/>
      </p:ext>
    </p:extLst>
  </p:cSld>
  <p:clrMapOvr>
    <a:masterClrMapping/>
  </p:clrMapOvr>
  <p:transition spd="med"/>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6767892" y="1887989"/>
            <a:ext cx="4954438" cy="1384995"/>
          </a:xfrm>
          <a:prstGeom prst="rect">
            <a:avLst/>
          </a:prstGeom>
        </p:spPr>
        <p:txBody>
          <a:bodyPr wrap="square">
            <a:spAutoFit/>
          </a:bodyPr>
          <a:lstStyle/>
          <a:p>
            <a:pPr algn="just"/>
            <a:r>
              <a:rPr lang="en-US" sz="2800" b="1" dirty="0" smtClean="0"/>
              <a:t>Fig. 2.5.1 (a</a:t>
            </a:r>
            <a:r>
              <a:rPr lang="en-US" sz="2800" b="1" dirty="0"/>
              <a:t>) Image histogram (freq. vs. pixel value) (b) of gray-level image.</a:t>
            </a:r>
            <a:endParaRPr lang="en-US" sz="4000" b="1"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741872" y="904060"/>
            <a:ext cx="5653190" cy="5759603"/>
          </a:xfrm>
          <a:prstGeom prst="rect">
            <a:avLst/>
          </a:prstGeom>
          <a:ln w="28575">
            <a:solidFill>
              <a:schemeClr val="tx1"/>
            </a:solidFill>
          </a:ln>
        </p:spPr>
      </p:pic>
    </p:spTree>
    <p:extLst>
      <p:ext uri="{BB962C8B-B14F-4D97-AF65-F5344CB8AC3E}">
        <p14:creationId xmlns:p14="http://schemas.microsoft.com/office/powerpoint/2010/main" val="284707231"/>
      </p:ext>
    </p:extLst>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467682" y="91097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The horizontal axis is the bin number.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This histogram </a:t>
            </a:r>
            <a:r>
              <a:rPr lang="en-US" sz="3000" dirty="0">
                <a:solidFill>
                  <a:schemeClr val="bg1">
                    <a:lumMod val="25000"/>
                  </a:schemeClr>
                </a:solidFill>
                <a:latin typeface="Times-Roman"/>
              </a:rPr>
              <a:t>has 32 bins (so each bin covers a range of 8 consecutive </a:t>
            </a:r>
            <a:r>
              <a:rPr lang="en-US" sz="3000" dirty="0" smtClean="0">
                <a:solidFill>
                  <a:schemeClr val="bg1">
                    <a:lumMod val="25000"/>
                  </a:schemeClr>
                </a:solidFill>
                <a:latin typeface="Times-Roman"/>
              </a:rPr>
              <a:t>pixel values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vertical axis is the normalized frequency.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large peak </a:t>
            </a:r>
            <a:r>
              <a:rPr lang="en-US" sz="3000" dirty="0" smtClean="0">
                <a:solidFill>
                  <a:schemeClr val="bg1">
                    <a:lumMod val="25000"/>
                  </a:schemeClr>
                </a:solidFill>
                <a:latin typeface="Times-Roman"/>
              </a:rPr>
              <a:t>is due </a:t>
            </a:r>
            <a:r>
              <a:rPr lang="en-US" sz="3000" dirty="0">
                <a:solidFill>
                  <a:schemeClr val="bg1">
                    <a:lumMod val="25000"/>
                  </a:schemeClr>
                </a:solidFill>
                <a:latin typeface="Times-Roman"/>
              </a:rPr>
              <a:t>to the dark ground in the bottom of the image in Figure </a:t>
            </a:r>
            <a:r>
              <a:rPr lang="en-US" sz="3000" dirty="0" smtClean="0">
                <a:solidFill>
                  <a:schemeClr val="bg1">
                    <a:lumMod val="25000"/>
                  </a:schemeClr>
                </a:solidFill>
                <a:latin typeface="Times-Roman"/>
              </a:rPr>
              <a:t>2.5.1(b</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The two </a:t>
            </a:r>
            <a:r>
              <a:rPr lang="en-US" sz="3000" dirty="0">
                <a:solidFill>
                  <a:schemeClr val="bg1">
                    <a:lumMod val="25000"/>
                  </a:schemeClr>
                </a:solidFill>
                <a:latin typeface="Times-Roman"/>
              </a:rPr>
              <a:t>smaller peaks are the bright garage doors in the image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A histogram for a region within an image will return the same </a:t>
            </a:r>
            <a:r>
              <a:rPr lang="en-US" sz="3000" dirty="0" smtClean="0">
                <a:solidFill>
                  <a:schemeClr val="bg1">
                    <a:lumMod val="25000"/>
                  </a:schemeClr>
                </a:solidFill>
                <a:latin typeface="Times-Roman"/>
              </a:rPr>
              <a:t>information no </a:t>
            </a:r>
            <a:r>
              <a:rPr lang="en-US" sz="3000" dirty="0">
                <a:solidFill>
                  <a:schemeClr val="bg1">
                    <a:lumMod val="25000"/>
                  </a:schemeClr>
                </a:solidFill>
                <a:latin typeface="Times-Roman"/>
              </a:rPr>
              <a:t>matter the orientation or translation of that region in the image, </a:t>
            </a:r>
            <a:r>
              <a:rPr lang="en-US" sz="3000" dirty="0" smtClean="0">
                <a:solidFill>
                  <a:schemeClr val="bg1">
                    <a:lumMod val="25000"/>
                  </a:schemeClr>
                </a:solidFill>
                <a:latin typeface="Times-Roman"/>
              </a:rPr>
              <a:t>and if </a:t>
            </a:r>
            <a:r>
              <a:rPr lang="en-US" sz="3000" dirty="0">
                <a:solidFill>
                  <a:schemeClr val="bg1">
                    <a:lumMod val="25000"/>
                  </a:schemeClr>
                </a:solidFill>
                <a:latin typeface="Times-Roman"/>
              </a:rPr>
              <a:t>the region size can be normalized, then the histogram will be </a:t>
            </a:r>
            <a:r>
              <a:rPr lang="en-US" sz="3000" dirty="0" smtClean="0">
                <a:solidFill>
                  <a:schemeClr val="bg1">
                    <a:lumMod val="25000"/>
                  </a:schemeClr>
                </a:solidFill>
                <a:latin typeface="Times-Roman"/>
              </a:rPr>
              <a:t>invariant to </a:t>
            </a:r>
            <a:r>
              <a:rPr lang="en-US" sz="3000" dirty="0">
                <a:solidFill>
                  <a:schemeClr val="bg1">
                    <a:lumMod val="25000"/>
                  </a:schemeClr>
                </a:solidFill>
                <a:latin typeface="Times-Roman"/>
              </a:rPr>
              <a:t>scale as well.</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1090788308"/>
      </p:ext>
    </p:extLst>
  </p:cSld>
  <p:clrMapOvr>
    <a:masterClrMapping/>
  </p:clrMapOvr>
  <p:transition spd="med"/>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1162852"/>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Because the location, rotation and scale of a </a:t>
            </a:r>
            <a:r>
              <a:rPr lang="en-US" sz="3000" dirty="0" smtClean="0">
                <a:solidFill>
                  <a:schemeClr val="bg1">
                    <a:lumMod val="25000"/>
                  </a:schemeClr>
                </a:solidFill>
                <a:latin typeface="Times-Roman"/>
              </a:rPr>
              <a:t>landmark will </a:t>
            </a:r>
            <a:r>
              <a:rPr lang="en-US" sz="3000" dirty="0">
                <a:solidFill>
                  <a:schemeClr val="bg1">
                    <a:lumMod val="25000"/>
                  </a:schemeClr>
                </a:solidFill>
                <a:latin typeface="Times-Roman"/>
              </a:rPr>
              <a:t>change in an image due to perspective and robot motion, </a:t>
            </a:r>
            <a:r>
              <a:rPr lang="en-US" sz="3000" dirty="0" smtClean="0">
                <a:solidFill>
                  <a:schemeClr val="bg1">
                    <a:lumMod val="25000"/>
                  </a:schemeClr>
                </a:solidFill>
                <a:latin typeface="Times-Roman"/>
              </a:rPr>
              <a:t>invariance to </a:t>
            </a:r>
            <a:r>
              <a:rPr lang="en-US" sz="3000" dirty="0">
                <a:solidFill>
                  <a:schemeClr val="bg1">
                    <a:lumMod val="25000"/>
                  </a:schemeClr>
                </a:solidFill>
                <a:latin typeface="Times-Roman"/>
              </a:rPr>
              <a:t>these changes is a good feature for a landmark tracking </a:t>
            </a:r>
            <a:r>
              <a:rPr lang="en-US" sz="3000" dirty="0" smtClean="0">
                <a:solidFill>
                  <a:schemeClr val="bg1">
                    <a:lumMod val="25000"/>
                  </a:schemeClr>
                </a:solidFill>
                <a:latin typeface="Times-Roman"/>
              </a:rPr>
              <a:t>similarity measurement.</a:t>
            </a:r>
          </a:p>
          <a:p>
            <a:pPr marL="457200" indent="-457200" algn="just">
              <a:buFont typeface="Arial" panose="020B0604020202020204" pitchFamily="34" charset="0"/>
              <a:buChar char="•"/>
            </a:pPr>
            <a:r>
              <a:rPr lang="en-US" sz="3000" dirty="0">
                <a:solidFill>
                  <a:schemeClr val="bg1">
                    <a:lumMod val="25000"/>
                  </a:schemeClr>
                </a:solidFill>
                <a:latin typeface="Times-Roman"/>
              </a:rPr>
              <a:t>Unfortunately, </a:t>
            </a:r>
            <a:r>
              <a:rPr lang="en-US" sz="3000" b="1" dirty="0">
                <a:solidFill>
                  <a:schemeClr val="bg1">
                    <a:lumMod val="25000"/>
                  </a:schemeClr>
                </a:solidFill>
                <a:latin typeface="Times-Roman"/>
              </a:rPr>
              <a:t>a histogram is also invariant to the relative </a:t>
            </a:r>
            <a:r>
              <a:rPr lang="en-US" sz="3000" b="1" dirty="0" smtClean="0">
                <a:solidFill>
                  <a:schemeClr val="bg1">
                    <a:lumMod val="25000"/>
                  </a:schemeClr>
                </a:solidFill>
                <a:latin typeface="Times-Roman"/>
              </a:rPr>
              <a:t>location of </a:t>
            </a:r>
            <a:r>
              <a:rPr lang="en-US" sz="3000" b="1" dirty="0">
                <a:solidFill>
                  <a:schemeClr val="bg1">
                    <a:lumMod val="25000"/>
                  </a:schemeClr>
                </a:solidFill>
                <a:latin typeface="Times-Roman"/>
              </a:rPr>
              <a:t>the pixel values in the </a:t>
            </a:r>
            <a:r>
              <a:rPr lang="en-US" sz="3000" b="1" dirty="0" smtClean="0">
                <a:solidFill>
                  <a:schemeClr val="bg1">
                    <a:lumMod val="25000"/>
                  </a:schemeClr>
                </a:solidFill>
                <a:latin typeface="Times-Roman"/>
              </a:rPr>
              <a:t>region.</a:t>
            </a:r>
          </a:p>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a:solidFill>
                  <a:schemeClr val="bg1">
                    <a:lumMod val="25000"/>
                  </a:schemeClr>
                </a:solidFill>
                <a:latin typeface="Times-Roman"/>
              </a:rPr>
              <a:t>red and white checkerboard </a:t>
            </a:r>
            <a:r>
              <a:rPr lang="en-US" sz="3000" dirty="0" smtClean="0">
                <a:solidFill>
                  <a:schemeClr val="bg1">
                    <a:lumMod val="25000"/>
                  </a:schemeClr>
                </a:solidFill>
                <a:latin typeface="Times-Roman"/>
              </a:rPr>
              <a:t>may give </a:t>
            </a:r>
            <a:r>
              <a:rPr lang="en-US" sz="3000" dirty="0">
                <a:solidFill>
                  <a:schemeClr val="bg1">
                    <a:lumMod val="25000"/>
                  </a:schemeClr>
                </a:solidFill>
                <a:latin typeface="Times-Roman"/>
              </a:rPr>
              <a:t>exactly the same histogram as a set of similarly sized red </a:t>
            </a:r>
            <a:r>
              <a:rPr lang="en-US" sz="3000" dirty="0" smtClean="0">
                <a:solidFill>
                  <a:schemeClr val="bg1">
                    <a:lumMod val="25000"/>
                  </a:schemeClr>
                </a:solidFill>
                <a:latin typeface="Times-Roman"/>
              </a:rPr>
              <a:t>and white </a:t>
            </a:r>
            <a:r>
              <a:rPr lang="en-US" sz="3000" dirty="0">
                <a:solidFill>
                  <a:schemeClr val="bg1">
                    <a:lumMod val="25000"/>
                  </a:schemeClr>
                </a:solidFill>
                <a:latin typeface="Times-Roman"/>
              </a:rPr>
              <a:t>strips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One approach to minimizing the undesirable </a:t>
            </a:r>
            <a:r>
              <a:rPr lang="en-US" sz="3000" dirty="0" smtClean="0">
                <a:solidFill>
                  <a:schemeClr val="bg1">
                    <a:lumMod val="25000"/>
                  </a:schemeClr>
                </a:solidFill>
                <a:latin typeface="Times-Roman"/>
              </a:rPr>
              <a:t>invariance properties </a:t>
            </a:r>
            <a:r>
              <a:rPr lang="en-US" sz="3000" dirty="0">
                <a:solidFill>
                  <a:schemeClr val="bg1">
                    <a:lumMod val="25000"/>
                  </a:schemeClr>
                </a:solidFill>
                <a:latin typeface="Times-Roman"/>
              </a:rPr>
              <a:t>of histograms is to use </a:t>
            </a:r>
            <a:r>
              <a:rPr lang="en-US" sz="3000" b="1" dirty="0" err="1">
                <a:solidFill>
                  <a:srgbClr val="0070C0"/>
                </a:solidFill>
                <a:latin typeface="Times-Roman"/>
              </a:rPr>
              <a:t>spatiograms</a:t>
            </a:r>
            <a:r>
              <a:rPr lang="en-US" sz="3000" b="1" dirty="0" smtClean="0">
                <a:solidFill>
                  <a:srgbClr val="0070C0"/>
                </a:solidFill>
                <a:latin typeface="Times-Roman"/>
              </a:rPr>
              <a:t>.</a:t>
            </a:r>
          </a:p>
        </p:txBody>
      </p:sp>
    </p:spTree>
    <p:extLst>
      <p:ext uri="{BB962C8B-B14F-4D97-AF65-F5344CB8AC3E}">
        <p14:creationId xmlns:p14="http://schemas.microsoft.com/office/powerpoint/2010/main" val="4084770533"/>
      </p:ext>
    </p:extLst>
  </p:cSld>
  <p:clrMapOvr>
    <a:masterClrMapping/>
  </p:clrMapOvr>
  <p:transition spd="med"/>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89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369042" y="1162852"/>
                <a:ext cx="11407140" cy="5170646"/>
              </a:xfrm>
              <a:prstGeom prst="rect">
                <a:avLst/>
              </a:prstGeom>
            </p:spPr>
            <p:txBody>
              <a:bodyPr wrap="square">
                <a:spAutoFit/>
              </a:bodyPr>
              <a:lstStyle/>
              <a:p>
                <a:pPr marL="457200" indent="-457200" algn="just">
                  <a:buFont typeface="Arial" panose="020B0604020202020204" pitchFamily="34" charset="0"/>
                  <a:buChar char="•"/>
                </a:pPr>
                <a:r>
                  <a:rPr lang="en-US" sz="3000" dirty="0" smtClean="0">
                    <a:solidFill>
                      <a:schemeClr val="bg1">
                        <a:lumMod val="25000"/>
                      </a:schemeClr>
                    </a:solidFill>
                    <a:latin typeface="Times-Roman"/>
                  </a:rPr>
                  <a:t>A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extends the </a:t>
                </a:r>
                <a:r>
                  <a:rPr lang="en-US" sz="3000" dirty="0">
                    <a:solidFill>
                      <a:schemeClr val="bg1">
                        <a:lumMod val="25000"/>
                      </a:schemeClr>
                    </a:solidFill>
                    <a:latin typeface="Times-Roman"/>
                  </a:rPr>
                  <a:t>concept of a histogram by adding a normal distribution to </a:t>
                </a:r>
                <a:r>
                  <a:rPr lang="en-US" sz="3000" dirty="0" smtClean="0">
                    <a:solidFill>
                      <a:schemeClr val="bg1">
                        <a:lumMod val="25000"/>
                      </a:schemeClr>
                    </a:solidFill>
                    <a:latin typeface="Times-Roman"/>
                  </a:rPr>
                  <a:t>each bin </a:t>
                </a:r>
                <a:r>
                  <a:rPr lang="en-US" sz="3000" dirty="0">
                    <a:solidFill>
                      <a:schemeClr val="bg1">
                        <a:lumMod val="25000"/>
                      </a:schemeClr>
                    </a:solidFill>
                    <a:latin typeface="Times-Roman"/>
                  </a:rPr>
                  <a:t>that gives the spatial concentration of the pixels that contribute </a:t>
                </a:r>
                <a:r>
                  <a:rPr lang="en-US" sz="3000" dirty="0" smtClean="0">
                    <a:solidFill>
                      <a:schemeClr val="bg1">
                        <a:lumMod val="25000"/>
                      </a:schemeClr>
                    </a:solidFill>
                    <a:latin typeface="Times-Roman"/>
                  </a:rPr>
                  <a:t>to that </a:t>
                </a:r>
                <a:r>
                  <a:rPr lang="en-US" sz="3000" dirty="0">
                    <a:solidFill>
                      <a:schemeClr val="bg1">
                        <a:lumMod val="25000"/>
                      </a:schemeClr>
                    </a:solidFill>
                    <a:latin typeface="Times-Roman"/>
                  </a:rPr>
                  <a:t>bin</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where </a:t>
                </a:r>
                <a:r>
                  <a:rPr lang="en-US" sz="3000" dirty="0" err="1">
                    <a:solidFill>
                      <a:schemeClr val="bg1">
                        <a:lumMod val="25000"/>
                      </a:schemeClr>
                    </a:solidFill>
                    <a:latin typeface="Times-Roman"/>
                  </a:rPr>
                  <a:t>μb</a:t>
                </a:r>
                <a:r>
                  <a:rPr lang="en-US" sz="3000" dirty="0">
                    <a:solidFill>
                      <a:schemeClr val="bg1">
                        <a:lumMod val="25000"/>
                      </a:schemeClr>
                    </a:solidFill>
                    <a:latin typeface="Times-Roman"/>
                  </a:rPr>
                  <a:t> and </a:t>
                </a:r>
                <a:r>
                  <a:rPr lang="en-US" sz="3000" dirty="0" err="1">
                    <a:solidFill>
                      <a:schemeClr val="bg1">
                        <a:lumMod val="25000"/>
                      </a:schemeClr>
                    </a:solidFill>
                    <a:latin typeface="Times-Roman"/>
                  </a:rPr>
                  <a:t>Σb</a:t>
                </a:r>
                <a:r>
                  <a:rPr lang="en-US" sz="3000" dirty="0">
                    <a:solidFill>
                      <a:schemeClr val="bg1">
                        <a:lumMod val="25000"/>
                      </a:schemeClr>
                    </a:solidFill>
                    <a:latin typeface="Times-Roman"/>
                  </a:rPr>
                  <a:t> are the spatial mean and covariance of the values </a:t>
                </a:r>
                <a:r>
                  <a:rPr lang="en-US" sz="3000" dirty="0" smtClean="0">
                    <a:solidFill>
                      <a:schemeClr val="bg1">
                        <a:lumMod val="25000"/>
                      </a:schemeClr>
                    </a:solidFill>
                    <a:latin typeface="Times-Roman"/>
                  </a:rPr>
                  <a:t>in the </a:t>
                </a:r>
                <a:r>
                  <a:rPr lang="en-US" sz="3000" dirty="0">
                    <a:solidFill>
                      <a:schemeClr val="bg1">
                        <a:lumMod val="25000"/>
                      </a:schemeClr>
                    </a:solidFill>
                    <a:latin typeface="Times-Roman"/>
                  </a:rPr>
                  <a:t>class b.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One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h can be compared to another </a:t>
                </a:r>
                <a14:m>
                  <m:oMath xmlns:m="http://schemas.openxmlformats.org/officeDocument/2006/math">
                    <m:sSup>
                      <m:sSupPr>
                        <m:ctrlPr>
                          <a:rPr lang="en-US" sz="3000" i="1" smtClean="0">
                            <a:solidFill>
                              <a:schemeClr val="bg1">
                                <a:lumMod val="25000"/>
                              </a:schemeClr>
                            </a:solidFill>
                            <a:latin typeface="Cambria Math" panose="02040503050406030204" pitchFamily="18" charset="0"/>
                          </a:rPr>
                        </m:ctrlPr>
                      </m:sSupPr>
                      <m:e>
                        <m:r>
                          <a:rPr lang="en-US" sz="3000" b="0" i="1" smtClean="0">
                            <a:solidFill>
                              <a:schemeClr val="bg1">
                                <a:lumMod val="25000"/>
                              </a:schemeClr>
                            </a:solidFill>
                            <a:latin typeface="Cambria Math" panose="02040503050406030204" pitchFamily="18" charset="0"/>
                          </a:rPr>
                          <m:t>h</m:t>
                        </m:r>
                      </m:e>
                      <m:sup>
                        <m:r>
                          <a:rPr lang="en-US" sz="3000" b="0" i="1" smtClean="0">
                            <a:solidFill>
                              <a:schemeClr val="bg1">
                                <a:lumMod val="25000"/>
                              </a:schemeClr>
                            </a:solidFill>
                            <a:latin typeface="Cambria Math" panose="02040503050406030204" pitchFamily="18" charset="0"/>
                          </a:rPr>
                          <m:t>′</m:t>
                        </m:r>
                      </m:sup>
                    </m:sSup>
                  </m:oMath>
                </a14:m>
                <a:r>
                  <a:rPr lang="en-US" sz="3000" dirty="0" smtClean="0">
                    <a:solidFill>
                      <a:schemeClr val="bg1">
                        <a:lumMod val="25000"/>
                      </a:schemeClr>
                    </a:solidFill>
                    <a:latin typeface="Times-Roman"/>
                  </a:rPr>
                  <a:t>with the normalized comparison,</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369042" y="1162852"/>
                <a:ext cx="11407140" cy="5170646"/>
              </a:xfrm>
              <a:prstGeom prst="rect">
                <a:avLst/>
              </a:prstGeom>
              <a:blipFill>
                <a:blip r:embed="rId2"/>
                <a:stretch>
                  <a:fillRect l="-1122" t="-1533" r="-1229"/>
                </a:stretch>
              </a:blipFill>
            </p:spPr>
            <p:txBody>
              <a:bodyPr/>
              <a:lstStyle/>
              <a:p>
                <a:r>
                  <a:rPr lang="en-US">
                    <a:noFill/>
                  </a:rPr>
                  <a:t> </a:t>
                </a:r>
              </a:p>
            </p:txBody>
          </p:sp>
        </mc:Fallback>
      </mc:AlternateContent>
      <p:pic>
        <p:nvPicPr>
          <p:cNvPr id="3" name="Picture 2"/>
          <p:cNvPicPr>
            <a:picLocks noChangeAspect="1"/>
          </p:cNvPicPr>
          <p:nvPr/>
        </p:nvPicPr>
        <p:blipFill>
          <a:blip r:embed="rId3"/>
          <a:stretch>
            <a:fillRect/>
          </a:stretch>
        </p:blipFill>
        <p:spPr>
          <a:xfrm>
            <a:off x="3540126" y="2714857"/>
            <a:ext cx="4174763" cy="773973"/>
          </a:xfrm>
          <a:prstGeom prst="rect">
            <a:avLst/>
          </a:prstGeom>
          <a:ln w="28575">
            <a:solidFill>
              <a:schemeClr val="tx1"/>
            </a:solidFill>
          </a:ln>
        </p:spPr>
      </p:pic>
      <p:pic>
        <p:nvPicPr>
          <p:cNvPr id="5" name="Picture 4"/>
          <p:cNvPicPr>
            <a:picLocks noChangeAspect="1"/>
          </p:cNvPicPr>
          <p:nvPr/>
        </p:nvPicPr>
        <p:blipFill>
          <a:blip r:embed="rId4"/>
          <a:stretch>
            <a:fillRect/>
          </a:stretch>
        </p:blipFill>
        <p:spPr>
          <a:xfrm>
            <a:off x="5629752" y="5358729"/>
            <a:ext cx="3773040" cy="1245645"/>
          </a:xfrm>
          <a:prstGeom prst="rect">
            <a:avLst/>
          </a:prstGeom>
          <a:ln w="28575">
            <a:solidFill>
              <a:schemeClr val="tx1"/>
            </a:solidFill>
          </a:ln>
        </p:spPr>
      </p:pic>
    </p:spTree>
    <p:extLst>
      <p:ext uri="{BB962C8B-B14F-4D97-AF65-F5344CB8AC3E}">
        <p14:creationId xmlns:p14="http://schemas.microsoft.com/office/powerpoint/2010/main" val="2502050533"/>
      </p:ext>
    </p:extLst>
  </p:cSld>
  <p:clrMapOvr>
    <a:masterClrMapping/>
  </p:clrMapOvr>
  <p:transition spd="med"/>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90</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470898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where the normalizing term </a:t>
            </a:r>
            <a:r>
              <a:rPr lang="en-US" sz="3000" dirty="0" err="1">
                <a:solidFill>
                  <a:schemeClr val="bg1">
                    <a:lumMod val="25000"/>
                  </a:schemeClr>
                </a:solidFill>
                <a:latin typeface="Times-Roman"/>
              </a:rPr>
              <a:t>ϕb</a:t>
            </a:r>
            <a:r>
              <a:rPr lang="en-US" sz="3000" dirty="0">
                <a:solidFill>
                  <a:schemeClr val="bg1">
                    <a:lumMod val="25000"/>
                  </a:schemeClr>
                </a:solidFill>
                <a:latin typeface="Times-Roman"/>
              </a:rPr>
              <a:t> is given as </a:t>
            </a:r>
            <a:r>
              <a:rPr lang="en-US" sz="3000" dirty="0" smtClean="0">
                <a:solidFill>
                  <a:schemeClr val="bg1">
                    <a:lumMod val="25000"/>
                  </a:schemeClr>
                </a:solidFill>
                <a:latin typeface="Times-Roman"/>
              </a:rPr>
              <a:t>follows,</a:t>
            </a: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a:solidFill>
                  <a:schemeClr val="bg1">
                    <a:lumMod val="25000"/>
                  </a:schemeClr>
                </a:solidFill>
                <a:latin typeface="Times-Roman"/>
              </a:rPr>
              <a:t>Returning to tracking: We will </a:t>
            </a:r>
            <a:r>
              <a:rPr lang="en-US" sz="3000" b="1" dirty="0">
                <a:solidFill>
                  <a:schemeClr val="bg1">
                    <a:lumMod val="25000"/>
                  </a:schemeClr>
                </a:solidFill>
                <a:latin typeface="Times-Roman"/>
              </a:rPr>
              <a:t>assume</a:t>
            </a:r>
            <a:r>
              <a:rPr lang="en-US" sz="3000" dirty="0">
                <a:solidFill>
                  <a:schemeClr val="bg1">
                    <a:lumMod val="25000"/>
                  </a:schemeClr>
                </a:solidFill>
                <a:latin typeface="Times-Roman"/>
              </a:rPr>
              <a:t> that </a:t>
            </a:r>
            <a:r>
              <a:rPr lang="en-US" sz="3000" b="1" dirty="0">
                <a:solidFill>
                  <a:schemeClr val="bg1">
                    <a:lumMod val="25000"/>
                  </a:schemeClr>
                </a:solidFill>
                <a:latin typeface="Times-Roman"/>
              </a:rPr>
              <a:t>target state consists of </a:t>
            </a:r>
            <a:r>
              <a:rPr lang="en-US" sz="3000" b="1" dirty="0" smtClean="0">
                <a:solidFill>
                  <a:schemeClr val="bg1">
                    <a:lumMod val="25000"/>
                  </a:schemeClr>
                </a:solidFill>
                <a:latin typeface="Times-Roman"/>
              </a:rPr>
              <a:t>a location </a:t>
            </a:r>
            <a:r>
              <a:rPr lang="en-US" sz="3000" b="1" dirty="0">
                <a:solidFill>
                  <a:schemeClr val="bg1">
                    <a:lumMod val="25000"/>
                  </a:schemeClr>
                </a:solidFill>
                <a:latin typeface="Times-Roman"/>
              </a:rPr>
              <a:t>in the image</a:t>
            </a:r>
            <a:r>
              <a:rPr lang="en-US" sz="3000" dirty="0">
                <a:solidFill>
                  <a:schemeClr val="bg1">
                    <a:lumMod val="25000"/>
                  </a:schemeClr>
                </a:solidFill>
                <a:latin typeface="Times-Roman"/>
              </a:rPr>
              <a:t>, and we will calculate the spatial histogram on </a:t>
            </a:r>
            <a:r>
              <a:rPr lang="en-US" sz="3000" dirty="0" smtClean="0">
                <a:solidFill>
                  <a:schemeClr val="bg1">
                    <a:lumMod val="25000"/>
                  </a:schemeClr>
                </a:solidFill>
                <a:latin typeface="Times-Roman"/>
              </a:rPr>
              <a:t>a fixed </a:t>
            </a:r>
            <a:r>
              <a:rPr lang="en-US" sz="3000" dirty="0">
                <a:solidFill>
                  <a:schemeClr val="bg1">
                    <a:lumMod val="25000"/>
                  </a:schemeClr>
                </a:solidFill>
                <a:latin typeface="Times-Roman"/>
              </a:rPr>
              <a:t>size region of the image centered on the target location.</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998737" y="1827144"/>
            <a:ext cx="9711750" cy="1220325"/>
          </a:xfrm>
          <a:prstGeom prst="rect">
            <a:avLst/>
          </a:prstGeom>
          <a:ln w="28575">
            <a:solidFill>
              <a:schemeClr val="tx1"/>
            </a:solidFill>
          </a:ln>
        </p:spPr>
      </p:pic>
    </p:spTree>
    <p:extLst>
      <p:ext uri="{BB962C8B-B14F-4D97-AF65-F5344CB8AC3E}">
        <p14:creationId xmlns:p14="http://schemas.microsoft.com/office/powerpoint/2010/main" val="1649305860"/>
      </p:ext>
    </p:extLst>
  </p:cSld>
  <p:clrMapOvr>
    <a:masterClrMapping/>
  </p:clrMapOvr>
  <p:transition spd="med"/>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91</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2400657"/>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The </a:t>
            </a:r>
            <a:r>
              <a:rPr lang="en-US" sz="3000" dirty="0" smtClean="0">
                <a:solidFill>
                  <a:schemeClr val="bg1">
                    <a:lumMod val="25000"/>
                  </a:schemeClr>
                </a:solidFill>
                <a:latin typeface="Times-Roman"/>
              </a:rPr>
              <a:t>above definitions </a:t>
            </a:r>
            <a:r>
              <a:rPr lang="en-US" sz="3000" dirty="0">
                <a:solidFill>
                  <a:schemeClr val="bg1">
                    <a:lumMod val="25000"/>
                  </a:schemeClr>
                </a:solidFill>
                <a:latin typeface="Times-Roman"/>
              </a:rPr>
              <a:t>are for single channel, gray level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An </a:t>
            </a:r>
            <a:r>
              <a:rPr lang="en-US" sz="3000" dirty="0">
                <a:solidFill>
                  <a:schemeClr val="bg1">
                    <a:lumMod val="25000"/>
                  </a:schemeClr>
                </a:solidFill>
                <a:latin typeface="Times-Roman"/>
              </a:rPr>
              <a:t>easy way </a:t>
            </a:r>
            <a:r>
              <a:rPr lang="en-US" sz="3000" dirty="0" smtClean="0">
                <a:solidFill>
                  <a:schemeClr val="bg1">
                    <a:lumMod val="25000"/>
                  </a:schemeClr>
                </a:solidFill>
                <a:latin typeface="Times-Roman"/>
              </a:rPr>
              <a:t>to extend </a:t>
            </a:r>
            <a:r>
              <a:rPr lang="en-US" sz="3000" dirty="0">
                <a:solidFill>
                  <a:schemeClr val="bg1">
                    <a:lumMod val="25000"/>
                  </a:schemeClr>
                </a:solidFill>
                <a:latin typeface="Times-Roman"/>
              </a:rPr>
              <a:t>to color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is by defining single channel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for each </a:t>
            </a:r>
            <a:r>
              <a:rPr lang="en-US" sz="3000" dirty="0">
                <a:solidFill>
                  <a:schemeClr val="bg1">
                    <a:lumMod val="25000"/>
                  </a:schemeClr>
                </a:solidFill>
                <a:latin typeface="Times-Roman"/>
              </a:rPr>
              <a:t>of the color channels of the image.</a:t>
            </a:r>
            <a:endParaRPr lang="en-US" sz="3000" dirty="0" smtClean="0">
              <a:solidFill>
                <a:schemeClr val="bg1">
                  <a:lumMod val="25000"/>
                </a:schemeClr>
              </a:solidFill>
              <a:latin typeface="Times-Roman"/>
            </a:endParaRPr>
          </a:p>
        </p:txBody>
      </p:sp>
    </p:spTree>
    <p:extLst>
      <p:ext uri="{BB962C8B-B14F-4D97-AF65-F5344CB8AC3E}">
        <p14:creationId xmlns:p14="http://schemas.microsoft.com/office/powerpoint/2010/main" val="403395260"/>
      </p:ext>
    </p:extLst>
  </p:cSld>
  <p:clrMapOvr>
    <a:masterClrMapping/>
  </p:clrMapOvr>
  <p:transition spd="med"/>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92</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52401" y="957601"/>
            <a:ext cx="11407140" cy="5463034"/>
          </a:xfrm>
          <a:prstGeom prst="rect">
            <a:avLst/>
          </a:prstGeom>
        </p:spPr>
        <p:txBody>
          <a:bodyPr wrap="square">
            <a:spAutoFit/>
          </a:bodyPr>
          <a:lstStyle/>
          <a:p>
            <a:pPr algn="just"/>
            <a:r>
              <a:rPr lang="en-US" sz="3000" b="1" dirty="0" smtClean="0">
                <a:solidFill>
                  <a:srgbClr val="FF0000"/>
                </a:solidFill>
                <a:latin typeface="Times-Roman"/>
              </a:rPr>
              <a:t>2.5.2 Condensation</a:t>
            </a:r>
          </a:p>
          <a:p>
            <a:pPr marL="457200" indent="-457200" algn="just">
              <a:buFont typeface="Arial" panose="020B0604020202020204" pitchFamily="34" charset="0"/>
              <a:buChar char="•"/>
            </a:pPr>
            <a:r>
              <a:rPr lang="en-US" sz="2900" dirty="0">
                <a:solidFill>
                  <a:schemeClr val="tx1"/>
                </a:solidFill>
                <a:latin typeface="Times-Roman"/>
              </a:rPr>
              <a:t>The implementation of the </a:t>
            </a:r>
            <a:r>
              <a:rPr lang="en-US" sz="2900" dirty="0" smtClean="0">
                <a:solidFill>
                  <a:srgbClr val="0070C0"/>
                </a:solidFill>
                <a:latin typeface="Times-Roman"/>
              </a:rPr>
              <a:t>CONDENSATION video </a:t>
            </a:r>
            <a:r>
              <a:rPr lang="en-US" sz="2900" dirty="0">
                <a:solidFill>
                  <a:srgbClr val="0070C0"/>
                </a:solidFill>
                <a:latin typeface="Times-Roman"/>
              </a:rPr>
              <a:t>tracking </a:t>
            </a:r>
            <a:r>
              <a:rPr lang="en-US" sz="2900" dirty="0" smtClean="0">
                <a:solidFill>
                  <a:srgbClr val="0070C0"/>
                </a:solidFill>
                <a:latin typeface="Times-Roman"/>
              </a:rPr>
              <a:t>algorithm </a:t>
            </a:r>
            <a:r>
              <a:rPr lang="en-US" sz="2900" dirty="0" smtClean="0">
                <a:solidFill>
                  <a:schemeClr val="tx1"/>
                </a:solidFill>
                <a:latin typeface="Times-Roman"/>
              </a:rPr>
              <a:t>will </a:t>
            </a:r>
            <a:r>
              <a:rPr lang="en-US" sz="2900" dirty="0">
                <a:solidFill>
                  <a:schemeClr val="tx1"/>
                </a:solidFill>
                <a:latin typeface="Times-Roman"/>
              </a:rPr>
              <a:t>look very similar to the implementation of the </a:t>
            </a:r>
            <a:r>
              <a:rPr lang="en-US" sz="2900" dirty="0" smtClean="0">
                <a:solidFill>
                  <a:schemeClr val="tx1"/>
                </a:solidFill>
                <a:latin typeface="Times-Roman"/>
              </a:rPr>
              <a:t>Monte Carlo Localization (MCL) localization.</a:t>
            </a:r>
          </a:p>
          <a:p>
            <a:pPr marL="457200" indent="-457200" algn="just">
              <a:buFont typeface="Arial" panose="020B0604020202020204" pitchFamily="34" charset="0"/>
              <a:buChar char="•"/>
            </a:pPr>
            <a:r>
              <a:rPr lang="en-US" sz="2900" dirty="0">
                <a:solidFill>
                  <a:schemeClr val="tx1"/>
                </a:solidFill>
                <a:latin typeface="Times-Roman"/>
              </a:rPr>
              <a:t>We will need a motion </a:t>
            </a:r>
            <a:r>
              <a:rPr lang="en-US" sz="2900" dirty="0" smtClean="0">
                <a:solidFill>
                  <a:schemeClr val="tx1"/>
                </a:solidFill>
                <a:latin typeface="Times-Roman"/>
              </a:rPr>
              <a:t>model for </a:t>
            </a:r>
            <a:r>
              <a:rPr lang="en-US" sz="2900" dirty="0">
                <a:solidFill>
                  <a:schemeClr val="tx1"/>
                </a:solidFill>
                <a:latin typeface="Times-Roman"/>
              </a:rPr>
              <a:t>the target</a:t>
            </a:r>
            <a:r>
              <a:rPr lang="en-US" sz="2900" dirty="0" smtClean="0">
                <a:solidFill>
                  <a:schemeClr val="tx1"/>
                </a:solidFill>
                <a:latin typeface="Times-Roman"/>
              </a:rPr>
              <a:t>.</a:t>
            </a:r>
          </a:p>
          <a:p>
            <a:pPr marL="457200" indent="-457200" algn="just">
              <a:buFont typeface="Arial" panose="020B0604020202020204" pitchFamily="34" charset="0"/>
              <a:buChar char="•"/>
            </a:pPr>
            <a:r>
              <a:rPr lang="en-US" sz="2900" dirty="0" smtClean="0">
                <a:solidFill>
                  <a:schemeClr val="tx1"/>
                </a:solidFill>
                <a:latin typeface="Times-Roman"/>
              </a:rPr>
              <a:t>If </a:t>
            </a:r>
            <a:r>
              <a:rPr lang="en-US" sz="2900" dirty="0" err="1" smtClean="0">
                <a:solidFill>
                  <a:schemeClr val="tx1"/>
                </a:solidFill>
                <a:latin typeface="Times-Roman"/>
              </a:rPr>
              <a:t>xt</a:t>
            </a:r>
            <a:r>
              <a:rPr lang="en-US" sz="2900" dirty="0" smtClean="0">
                <a:solidFill>
                  <a:schemeClr val="tx1"/>
                </a:solidFill>
                <a:latin typeface="Times-Roman"/>
              </a:rPr>
              <a:t> is the state of the target (its location and velocity in image coordinates, for example) then the condition distribution p(xt|xt−1</a:t>
            </a:r>
            <a:r>
              <a:rPr lang="en-US" sz="2900" dirty="0">
                <a:solidFill>
                  <a:schemeClr val="tx1"/>
                </a:solidFill>
                <a:latin typeface="Times-Roman"/>
              </a:rPr>
              <a:t>) is our motion model. </a:t>
            </a:r>
            <a:endParaRPr lang="en-US" sz="2900" dirty="0" smtClean="0">
              <a:solidFill>
                <a:schemeClr val="tx1"/>
              </a:solidFill>
              <a:latin typeface="Times-Roman"/>
            </a:endParaRPr>
          </a:p>
          <a:p>
            <a:pPr marL="457200" indent="-457200" algn="just">
              <a:buFont typeface="Arial" panose="020B0604020202020204" pitchFamily="34" charset="0"/>
              <a:buChar char="•"/>
            </a:pPr>
            <a:r>
              <a:rPr lang="en-US" sz="2900" dirty="0" smtClean="0">
                <a:solidFill>
                  <a:schemeClr val="tx1"/>
                </a:solidFill>
                <a:latin typeface="Times-Roman"/>
              </a:rPr>
              <a:t>We </a:t>
            </a:r>
            <a:r>
              <a:rPr lang="en-US" sz="2900" dirty="0">
                <a:solidFill>
                  <a:schemeClr val="tx1"/>
                </a:solidFill>
                <a:latin typeface="Times-Roman"/>
              </a:rPr>
              <a:t>also need an observation model. </a:t>
            </a:r>
            <a:endParaRPr lang="en-US" sz="2900" dirty="0" smtClean="0">
              <a:solidFill>
                <a:schemeClr val="tx1"/>
              </a:solidFill>
              <a:latin typeface="Times-Roman"/>
            </a:endParaRPr>
          </a:p>
          <a:p>
            <a:pPr marL="457200" indent="-457200" algn="just">
              <a:buFont typeface="Arial" panose="020B0604020202020204" pitchFamily="34" charset="0"/>
              <a:buChar char="•"/>
            </a:pPr>
            <a:r>
              <a:rPr lang="en-US" sz="2900" dirty="0" smtClean="0">
                <a:solidFill>
                  <a:schemeClr val="tx1"/>
                </a:solidFill>
                <a:latin typeface="Times-Roman"/>
              </a:rPr>
              <a:t>If </a:t>
            </a:r>
            <a:r>
              <a:rPr lang="en-US" sz="2900" dirty="0">
                <a:solidFill>
                  <a:schemeClr val="tx1"/>
                </a:solidFill>
                <a:latin typeface="Times-Roman"/>
              </a:rPr>
              <a:t>we </a:t>
            </a:r>
            <a:r>
              <a:rPr lang="en-US" sz="2900" dirty="0" smtClean="0">
                <a:solidFill>
                  <a:schemeClr val="tx1"/>
                </a:solidFill>
                <a:latin typeface="Times-Roman"/>
              </a:rPr>
              <a:t>predict that </a:t>
            </a:r>
            <a:r>
              <a:rPr lang="en-US" sz="2900" dirty="0">
                <a:solidFill>
                  <a:schemeClr val="tx1"/>
                </a:solidFill>
                <a:latin typeface="Times-Roman"/>
              </a:rPr>
              <a:t>the target has state </a:t>
            </a:r>
            <a:r>
              <a:rPr lang="en-US" sz="2900" dirty="0" err="1">
                <a:solidFill>
                  <a:schemeClr val="tx1"/>
                </a:solidFill>
                <a:latin typeface="Times-Roman"/>
              </a:rPr>
              <a:t>xt</a:t>
            </a:r>
            <a:r>
              <a:rPr lang="en-US" sz="2900" dirty="0">
                <a:solidFill>
                  <a:schemeClr val="tx1"/>
                </a:solidFill>
                <a:latin typeface="Times-Roman"/>
              </a:rPr>
              <a:t> then, when we measure the image at the </a:t>
            </a:r>
            <a:r>
              <a:rPr lang="en-US" sz="2900" dirty="0" smtClean="0">
                <a:solidFill>
                  <a:schemeClr val="tx1"/>
                </a:solidFill>
                <a:latin typeface="Times-Roman"/>
              </a:rPr>
              <a:t>location given </a:t>
            </a:r>
            <a:r>
              <a:rPr lang="en-US" sz="2900" dirty="0">
                <a:solidFill>
                  <a:schemeClr val="tx1"/>
                </a:solidFill>
                <a:latin typeface="Times-Roman"/>
              </a:rPr>
              <a:t>by the state, and get a measurement </a:t>
            </a:r>
            <a:r>
              <a:rPr lang="en-US" sz="2900" dirty="0" err="1">
                <a:solidFill>
                  <a:schemeClr val="tx1"/>
                </a:solidFill>
                <a:latin typeface="Times-Roman"/>
              </a:rPr>
              <a:t>zt</a:t>
            </a:r>
            <a:r>
              <a:rPr lang="en-US" sz="2900" dirty="0">
                <a:solidFill>
                  <a:schemeClr val="tx1"/>
                </a:solidFill>
                <a:latin typeface="Times-Roman"/>
              </a:rPr>
              <a:t>, our observation model is </a:t>
            </a:r>
            <a:r>
              <a:rPr lang="en-US" sz="2900" dirty="0" smtClean="0">
                <a:solidFill>
                  <a:schemeClr val="tx1"/>
                </a:solidFill>
                <a:latin typeface="Times-Roman"/>
              </a:rPr>
              <a:t>the distribution </a:t>
            </a:r>
            <a:r>
              <a:rPr lang="en-US" sz="2900" dirty="0">
                <a:solidFill>
                  <a:schemeClr val="tx1"/>
                </a:solidFill>
                <a:latin typeface="Times-Roman"/>
              </a:rPr>
              <a:t>p(</a:t>
            </a:r>
            <a:r>
              <a:rPr lang="en-US" sz="2900" dirty="0" err="1">
                <a:solidFill>
                  <a:schemeClr val="tx1"/>
                </a:solidFill>
                <a:latin typeface="Times-Roman"/>
              </a:rPr>
              <a:t>zt|xt</a:t>
            </a:r>
            <a:r>
              <a:rPr lang="en-US" sz="2900" dirty="0">
                <a:solidFill>
                  <a:schemeClr val="tx1"/>
                </a:solidFill>
                <a:latin typeface="Times-Roman"/>
              </a:rPr>
              <a:t>).</a:t>
            </a:r>
          </a:p>
        </p:txBody>
      </p:sp>
    </p:spTree>
    <p:extLst>
      <p:ext uri="{BB962C8B-B14F-4D97-AF65-F5344CB8AC3E}">
        <p14:creationId xmlns:p14="http://schemas.microsoft.com/office/powerpoint/2010/main" val="2627594838"/>
      </p:ext>
    </p:extLst>
  </p:cSld>
  <p:clrMapOvr>
    <a:masterClrMapping/>
  </p:clrMapOvr>
  <p:transition spd="med"/>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93</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369042" y="957601"/>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If h(</a:t>
            </a:r>
            <a:r>
              <a:rPr lang="en-US" sz="3000" dirty="0" err="1">
                <a:solidFill>
                  <a:schemeClr val="bg1">
                    <a:lumMod val="25000"/>
                  </a:schemeClr>
                </a:solidFill>
                <a:latin typeface="Times-Roman"/>
              </a:rPr>
              <a:t>xt</a:t>
            </a:r>
            <a:r>
              <a:rPr lang="en-US" sz="3000" dirty="0">
                <a:solidFill>
                  <a:schemeClr val="bg1">
                    <a:lumMod val="25000"/>
                  </a:schemeClr>
                </a:solidFill>
                <a:latin typeface="Times-Roman"/>
              </a:rPr>
              <a:t>) is the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presenting the target and </a:t>
            </a:r>
            <a:r>
              <a:rPr lang="en-US" sz="3000" dirty="0" err="1" smtClean="0">
                <a:solidFill>
                  <a:schemeClr val="bg1">
                    <a:lumMod val="25000"/>
                  </a:schemeClr>
                </a:solidFill>
                <a:latin typeface="Times-Roman"/>
              </a:rPr>
              <a:t>zt</a:t>
            </a:r>
            <a:r>
              <a:rPr lang="en-US" sz="3000" dirty="0" smtClean="0">
                <a:solidFill>
                  <a:schemeClr val="bg1">
                    <a:lumMod val="25000"/>
                  </a:schemeClr>
                </a:solidFill>
                <a:latin typeface="Times-Roman"/>
              </a:rPr>
              <a:t> is </a:t>
            </a:r>
            <a:r>
              <a:rPr lang="en-US" sz="3000" dirty="0">
                <a:solidFill>
                  <a:schemeClr val="bg1">
                    <a:lumMod val="25000"/>
                  </a:schemeClr>
                </a:solidFill>
                <a:latin typeface="Times-Roman"/>
              </a:rPr>
              <a:t>the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of the candidate region, then we can </a:t>
            </a:r>
            <a:r>
              <a:rPr lang="en-US" sz="3000" dirty="0" smtClean="0">
                <a:solidFill>
                  <a:schemeClr val="bg1">
                    <a:lumMod val="25000"/>
                  </a:schemeClr>
                </a:solidFill>
                <a:latin typeface="Times-Roman"/>
              </a:rPr>
              <a:t>say,</a:t>
            </a:r>
          </a:p>
          <a:p>
            <a:pPr marL="457200" indent="-457200" algn="just">
              <a:buFont typeface="Arial" panose="020B0604020202020204" pitchFamily="34" charset="0"/>
              <a:buChar char="•"/>
            </a:pP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endParaRPr lang="en-US" sz="3000" dirty="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An </a:t>
            </a:r>
            <a:r>
              <a:rPr lang="en-US" sz="3000" dirty="0">
                <a:solidFill>
                  <a:schemeClr val="bg1">
                    <a:lumMod val="25000"/>
                  </a:schemeClr>
                </a:solidFill>
                <a:latin typeface="Times-Roman"/>
              </a:rPr>
              <a:t>advantage of Condensation over other tracking methods is </a:t>
            </a:r>
            <a:r>
              <a:rPr lang="en-US" sz="3000" dirty="0" smtClean="0">
                <a:solidFill>
                  <a:schemeClr val="bg1">
                    <a:lumMod val="25000"/>
                  </a:schemeClr>
                </a:solidFill>
                <a:latin typeface="Times-Roman"/>
              </a:rPr>
              <a:t>that it </a:t>
            </a:r>
            <a:r>
              <a:rPr lang="en-US" sz="3000" dirty="0">
                <a:solidFill>
                  <a:schemeClr val="bg1">
                    <a:lumMod val="25000"/>
                  </a:schemeClr>
                </a:solidFill>
                <a:latin typeface="Times-Roman"/>
              </a:rPr>
              <a:t>places little constraints on the motion and observation model </a:t>
            </a:r>
            <a:r>
              <a:rPr lang="en-US" sz="3000" dirty="0" smtClean="0">
                <a:solidFill>
                  <a:schemeClr val="bg1">
                    <a:lumMod val="25000"/>
                  </a:schemeClr>
                </a:solidFill>
                <a:latin typeface="Times-Roman"/>
              </a:rPr>
              <a:t>except that </a:t>
            </a:r>
            <a:r>
              <a:rPr lang="en-US" sz="3000" dirty="0">
                <a:solidFill>
                  <a:schemeClr val="bg1">
                    <a:lumMod val="25000"/>
                  </a:schemeClr>
                </a:solidFill>
                <a:latin typeface="Times-Roman"/>
              </a:rPr>
              <a:t>they can be evaluated on each particle</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This advantage is </a:t>
            </a:r>
            <a:r>
              <a:rPr lang="en-US" sz="3000" dirty="0" smtClean="0">
                <a:solidFill>
                  <a:schemeClr val="bg1">
                    <a:lumMod val="25000"/>
                  </a:schemeClr>
                </a:solidFill>
                <a:latin typeface="Times-Roman"/>
              </a:rPr>
              <a:t>bought at </a:t>
            </a:r>
            <a:r>
              <a:rPr lang="en-US" sz="3000" dirty="0">
                <a:solidFill>
                  <a:schemeClr val="bg1">
                    <a:lumMod val="25000"/>
                  </a:schemeClr>
                </a:solidFill>
                <a:latin typeface="Times-Roman"/>
              </a:rPr>
              <a:t>the cost of needing a large number of particles for accurate results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This is also the reason it is a good choice for cluster </a:t>
            </a:r>
            <a:r>
              <a:rPr lang="en-US" sz="3000" dirty="0" smtClean="0">
                <a:solidFill>
                  <a:schemeClr val="bg1">
                    <a:lumMod val="25000"/>
                  </a:schemeClr>
                </a:solidFill>
                <a:latin typeface="Times-Roman"/>
              </a:rPr>
              <a:t>implementation since</a:t>
            </a:r>
            <a:r>
              <a:rPr lang="en-US" sz="3000" dirty="0">
                <a:solidFill>
                  <a:schemeClr val="bg1">
                    <a:lumMod val="25000"/>
                  </a:schemeClr>
                </a:solidFill>
                <a:latin typeface="Times-Roman"/>
              </a:rPr>
              <a:t>, </a:t>
            </a: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operations on each particle </a:t>
            </a:r>
            <a:r>
              <a:rPr lang="en-US" sz="3000" dirty="0" smtClean="0">
                <a:solidFill>
                  <a:schemeClr val="bg1">
                    <a:lumMod val="25000"/>
                  </a:schemeClr>
                </a:solidFill>
                <a:latin typeface="Times-Roman"/>
              </a:rPr>
              <a:t>are independent</a:t>
            </a:r>
            <a:r>
              <a:rPr lang="en-US" sz="3000" dirty="0">
                <a:solidFill>
                  <a:schemeClr val="bg1">
                    <a:lumMod val="25000"/>
                  </a:schemeClr>
                </a:solidFill>
                <a:latin typeface="Times-Roman"/>
              </a:rPr>
              <a:t>.</a:t>
            </a:r>
            <a:endParaRPr lang="en-US" sz="30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2863973" y="1935497"/>
            <a:ext cx="5244857" cy="983411"/>
          </a:xfrm>
          <a:prstGeom prst="rect">
            <a:avLst/>
          </a:prstGeom>
          <a:ln w="28575">
            <a:solidFill>
              <a:schemeClr val="tx1"/>
            </a:solidFill>
          </a:ln>
        </p:spPr>
      </p:pic>
    </p:spTree>
    <p:extLst>
      <p:ext uri="{BB962C8B-B14F-4D97-AF65-F5344CB8AC3E}">
        <p14:creationId xmlns:p14="http://schemas.microsoft.com/office/powerpoint/2010/main" val="2636301272"/>
      </p:ext>
    </p:extLst>
  </p:cSld>
  <p:clrMapOvr>
    <a:masterClrMapping/>
  </p:clrMapOvr>
  <p:transition spd="med"/>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94</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29699" y="1162852"/>
                <a:ext cx="11407140" cy="5171031"/>
              </a:xfrm>
              <a:prstGeom prst="rect">
                <a:avLst/>
              </a:prstGeom>
            </p:spPr>
            <p:txBody>
              <a:bodyPr wrap="square">
                <a:spAutoFit/>
              </a:bodyPr>
              <a:lstStyle/>
              <a:p>
                <a:pPr algn="just"/>
                <a:r>
                  <a:rPr lang="en-US" sz="3000" b="1" dirty="0" smtClean="0">
                    <a:solidFill>
                      <a:schemeClr val="accent6">
                        <a:lumMod val="75000"/>
                      </a:schemeClr>
                    </a:solidFill>
                    <a:latin typeface="Times-Roman"/>
                  </a:rPr>
                  <a:t>CONDNSATION Algorithm:</a:t>
                </a:r>
              </a:p>
              <a:p>
                <a:pPr marL="514350" indent="-514350" algn="just">
                  <a:buAutoNum type="arabicParenBoth"/>
                </a:pPr>
                <a:r>
                  <a:rPr lang="en-US" sz="3000" dirty="0" smtClean="0">
                    <a:solidFill>
                      <a:schemeClr val="bg1">
                        <a:lumMod val="25000"/>
                      </a:schemeClr>
                    </a:solidFill>
                    <a:latin typeface="Times-Roman"/>
                  </a:rPr>
                  <a:t>The </a:t>
                </a:r>
                <a:r>
                  <a:rPr lang="en-US" sz="3000" dirty="0">
                    <a:solidFill>
                      <a:schemeClr val="bg1">
                        <a:lumMod val="25000"/>
                      </a:schemeClr>
                    </a:solidFill>
                    <a:latin typeface="Times-Roman"/>
                  </a:rPr>
                  <a:t>algorithm starts at step t−1 with a collection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𝑆</m:t>
                        </m:r>
                      </m:e>
                      <m:sub>
                        <m:r>
                          <a:rPr lang="en-US" sz="3000" b="0" i="1" smtClean="0">
                            <a:solidFill>
                              <a:schemeClr val="bg1">
                                <a:lumMod val="25000"/>
                              </a:schemeClr>
                            </a:solidFill>
                            <a:latin typeface="Cambria Math" panose="02040503050406030204" pitchFamily="18" charset="0"/>
                          </a:rPr>
                          <m:t>𝑡</m:t>
                        </m:r>
                        <m:r>
                          <a:rPr lang="en-US" sz="3000" b="0" i="1" smtClean="0">
                            <a:solidFill>
                              <a:schemeClr val="bg1">
                                <a:lumMod val="25000"/>
                              </a:schemeClr>
                            </a:solidFill>
                            <a:latin typeface="Cambria Math" panose="02040503050406030204" pitchFamily="18" charset="0"/>
                          </a:rPr>
                          <m:t>−1</m:t>
                        </m:r>
                      </m:sub>
                    </m:sSub>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of n particles </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Sub>
                  </m:oMath>
                </a14:m>
                <a:r>
                  <a:rPr lang="en-US" sz="3000" dirty="0" smtClean="0">
                    <a:solidFill>
                      <a:schemeClr val="bg1">
                        <a:lumMod val="25000"/>
                      </a:schemeClr>
                    </a:solidFill>
                    <a:latin typeface="Times-Roman"/>
                  </a:rPr>
                  <a:t> for </a:t>
                </a:r>
                <a:r>
                  <a:rPr lang="en-US" sz="3000" dirty="0" err="1">
                    <a:solidFill>
                      <a:schemeClr val="bg1">
                        <a:lumMod val="25000"/>
                      </a:schemeClr>
                    </a:solidFill>
                    <a:latin typeface="Times-Roman"/>
                  </a:rPr>
                  <a:t>i</a:t>
                </a:r>
                <a:r>
                  <a:rPr lang="en-US" sz="3000" dirty="0">
                    <a:solidFill>
                      <a:schemeClr val="bg1">
                        <a:lumMod val="25000"/>
                      </a:schemeClr>
                    </a:solidFill>
                    <a:latin typeface="Times-Roman"/>
                  </a:rPr>
                  <a:t> ∈ {1, . . . ,N} representing the location of a target being </a:t>
                </a:r>
                <a:r>
                  <a:rPr lang="en-US" sz="3000" dirty="0" smtClean="0">
                    <a:solidFill>
                      <a:schemeClr val="bg1">
                        <a:lumMod val="25000"/>
                      </a:schemeClr>
                    </a:solidFill>
                    <a:latin typeface="Times-Roman"/>
                  </a:rPr>
                  <a:t>tracked in </a:t>
                </a:r>
                <a:r>
                  <a:rPr lang="en-US" sz="3000" dirty="0">
                    <a:solidFill>
                      <a:schemeClr val="bg1">
                        <a:lumMod val="25000"/>
                      </a:schemeClr>
                    </a:solidFill>
                    <a:latin typeface="Times-Roman"/>
                  </a:rPr>
                  <a:t>the image</a:t>
                </a:r>
                <a:r>
                  <a:rPr lang="en-US" sz="3000" dirty="0" smtClean="0">
                    <a:solidFill>
                      <a:schemeClr val="bg1">
                        <a:lumMod val="25000"/>
                      </a:schemeClr>
                    </a:solidFill>
                    <a:latin typeface="Times-Roman"/>
                  </a:rPr>
                  <a:t>.</a:t>
                </a:r>
              </a:p>
              <a:p>
                <a:pPr marL="514350" indent="-514350" algn="just">
                  <a:buAutoNum type="arabicParenBoth"/>
                </a:pPr>
                <a:r>
                  <a:rPr lang="en-US" sz="3000" dirty="0">
                    <a:solidFill>
                      <a:schemeClr val="bg1">
                        <a:lumMod val="25000"/>
                      </a:schemeClr>
                    </a:solidFill>
                    <a:latin typeface="Times-Roman"/>
                  </a:rPr>
                  <a:t>The motion model for the target: </a:t>
                </a:r>
                <a14:m>
                  <m:oMath xmlns:m="http://schemas.openxmlformats.org/officeDocument/2006/math">
                    <m:r>
                      <a:rPr lang="en-US" sz="3000" b="0" i="1" smtClean="0">
                        <a:solidFill>
                          <a:schemeClr val="bg1">
                            <a:lumMod val="25000"/>
                          </a:schemeClr>
                        </a:solidFill>
                        <a:latin typeface="Cambria Math" panose="02040503050406030204" pitchFamily="18" charset="0"/>
                      </a:rPr>
                      <m:t>𝑝</m:t>
                    </m:r>
                    <m:r>
                      <a:rPr lang="en-US" sz="3000" b="0" i="1" smtClean="0">
                        <a:solidFill>
                          <a:schemeClr val="bg1">
                            <a:lumMod val="25000"/>
                          </a:schemeClr>
                        </a:solidFill>
                        <a:latin typeface="Cambria Math" panose="02040503050406030204" pitchFamily="18" charset="0"/>
                      </a:rPr>
                      <m:t>(</m:t>
                    </m:r>
                    <m:sSubSup>
                      <m:sSubSupPr>
                        <m:ctrlPr>
                          <a:rPr lang="en-US" sz="3000" b="0" i="1" smtClean="0">
                            <a:solidFill>
                              <a:schemeClr val="bg1">
                                <a:lumMod val="25000"/>
                              </a:schemeClr>
                            </a:solidFill>
                            <a:latin typeface="Cambria Math" panose="02040503050406030204" pitchFamily="18" charset="0"/>
                          </a:rPr>
                        </m:ctrlPr>
                      </m:sSubSup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up>
                        <m:r>
                          <a:rPr lang="en-US" sz="3000" b="0" i="1" smtClean="0">
                            <a:solidFill>
                              <a:schemeClr val="bg1">
                                <a:lumMod val="25000"/>
                              </a:schemeClr>
                            </a:solidFill>
                            <a:latin typeface="Cambria Math" panose="02040503050406030204" pitchFamily="18" charset="0"/>
                          </a:rPr>
                          <m:t>′</m:t>
                        </m:r>
                      </m:sup>
                    </m:sSubSup>
                    <m:r>
                      <a:rPr lang="en-US" sz="3000" b="0" i="1" smtClean="0">
                        <a:solidFill>
                          <a:schemeClr val="bg1">
                            <a:lumMod val="25000"/>
                          </a:schemeClr>
                        </a:solidFill>
                        <a:latin typeface="Cambria Math" panose="02040503050406030204" pitchFamily="18" charset="0"/>
                      </a:rPr>
                      <m:t>|</m:t>
                    </m:r>
                    <m:sSub>
                      <m:sSubPr>
                        <m:ctrlPr>
                          <a:rPr lang="en-US" sz="3000" b="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Sub>
                    <m:r>
                      <a:rPr lang="en-US" sz="3000" b="0" i="1" smtClean="0">
                        <a:solidFill>
                          <a:schemeClr val="bg1">
                            <a:lumMod val="25000"/>
                          </a:schemeClr>
                        </a:solidFill>
                        <a:latin typeface="Cambria Math" panose="02040503050406030204" pitchFamily="18" charset="0"/>
                      </a:rPr>
                      <m:t>)</m:t>
                    </m:r>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is used to propagate </a:t>
                </a:r>
                <a:r>
                  <a:rPr lang="en-US" sz="3000" dirty="0" smtClean="0">
                    <a:solidFill>
                      <a:schemeClr val="bg1">
                        <a:lumMod val="25000"/>
                      </a:schemeClr>
                    </a:solidFill>
                    <a:latin typeface="Times-Roman"/>
                  </a:rPr>
                  <a:t>each particle’s </a:t>
                </a:r>
                <a:r>
                  <a:rPr lang="en-US" sz="3000" dirty="0">
                    <a:solidFill>
                      <a:schemeClr val="bg1">
                        <a:lumMod val="25000"/>
                      </a:schemeClr>
                    </a:solidFill>
                    <a:latin typeface="Times-Roman"/>
                  </a:rPr>
                  <a:t>state. The new collection </a:t>
                </a:r>
                <a14:m>
                  <m:oMath xmlns:m="http://schemas.openxmlformats.org/officeDocument/2006/math">
                    <m:sSubSup>
                      <m:sSubSupPr>
                        <m:ctrlPr>
                          <a:rPr lang="en-US" sz="3000" i="1" smtClean="0">
                            <a:solidFill>
                              <a:schemeClr val="bg1">
                                <a:lumMod val="25000"/>
                              </a:schemeClr>
                            </a:solidFill>
                            <a:latin typeface="Cambria Math" panose="02040503050406030204" pitchFamily="18" charset="0"/>
                          </a:rPr>
                        </m:ctrlPr>
                      </m:sSubSupPr>
                      <m:e>
                        <m:r>
                          <a:rPr lang="en-US" sz="3000" b="0" i="1" smtClean="0">
                            <a:solidFill>
                              <a:schemeClr val="bg1">
                                <a:lumMod val="25000"/>
                              </a:schemeClr>
                            </a:solidFill>
                            <a:latin typeface="Cambria Math" panose="02040503050406030204" pitchFamily="18" charset="0"/>
                          </a:rPr>
                          <m:t>𝑆</m:t>
                        </m:r>
                      </m:e>
                      <m:sub>
                        <m:r>
                          <a:rPr lang="en-US" sz="3000" b="0" i="1" smtClean="0">
                            <a:solidFill>
                              <a:schemeClr val="bg1">
                                <a:lumMod val="25000"/>
                              </a:schemeClr>
                            </a:solidFill>
                            <a:latin typeface="Cambria Math" panose="02040503050406030204" pitchFamily="18" charset="0"/>
                          </a:rPr>
                          <m:t>𝑡</m:t>
                        </m:r>
                      </m:sub>
                      <m:sup>
                        <m:r>
                          <a:rPr lang="en-US" sz="3000" b="0" i="1" smtClean="0">
                            <a:solidFill>
                              <a:schemeClr val="bg1">
                                <a:lumMod val="25000"/>
                              </a:schemeClr>
                            </a:solidFill>
                            <a:latin typeface="Cambria Math" panose="02040503050406030204" pitchFamily="18" charset="0"/>
                          </a:rPr>
                          <m:t>′</m:t>
                        </m:r>
                      </m:sup>
                    </m:sSubSup>
                  </m:oMath>
                </a14:m>
                <a:r>
                  <a:rPr lang="en-US" sz="3000" dirty="0" smtClean="0">
                    <a:solidFill>
                      <a:schemeClr val="bg1">
                        <a:lumMod val="25000"/>
                      </a:schemeClr>
                    </a:solidFill>
                    <a:latin typeface="Times-Roman"/>
                  </a:rPr>
                  <a:t> represents </a:t>
                </a:r>
                <a:r>
                  <a:rPr lang="en-US" sz="3000" dirty="0">
                    <a:solidFill>
                      <a:schemeClr val="bg1">
                        <a:lumMod val="25000"/>
                      </a:schemeClr>
                    </a:solidFill>
                    <a:latin typeface="Times-Roman"/>
                  </a:rPr>
                  <a:t>all the locations </a:t>
                </a:r>
                <a:r>
                  <a:rPr lang="en-US" sz="3000" dirty="0" smtClean="0">
                    <a:solidFill>
                      <a:schemeClr val="bg1">
                        <a:lumMod val="25000"/>
                      </a:schemeClr>
                    </a:solidFill>
                    <a:latin typeface="Times-Roman"/>
                  </a:rPr>
                  <a:t>that the </a:t>
                </a:r>
                <a:r>
                  <a:rPr lang="en-US" sz="3000" dirty="0">
                    <a:solidFill>
                      <a:schemeClr val="bg1">
                        <a:lumMod val="25000"/>
                      </a:schemeClr>
                    </a:solidFill>
                    <a:latin typeface="Times-Roman"/>
                  </a:rPr>
                  <a:t>target could have moved to when starting </a:t>
                </a:r>
                <a:r>
                  <a:rPr lang="en-US" sz="3000" dirty="0" smtClean="0">
                    <a:solidFill>
                      <a:schemeClr val="bg1">
                        <a:lumMod val="25000"/>
                      </a:schemeClr>
                    </a:solidFill>
                    <a:latin typeface="Times-Roman"/>
                  </a:rPr>
                  <a:t>from </a:t>
                </a:r>
                <a14:m>
                  <m:oMath xmlns:m="http://schemas.openxmlformats.org/officeDocument/2006/math">
                    <m:sSub>
                      <m:sSubPr>
                        <m:ctrlPr>
                          <a:rPr lang="en-US" sz="3000" i="1">
                            <a:solidFill>
                              <a:schemeClr val="bg1">
                                <a:lumMod val="25000"/>
                              </a:schemeClr>
                            </a:solidFill>
                            <a:latin typeface="Cambria Math" panose="02040503050406030204" pitchFamily="18" charset="0"/>
                          </a:rPr>
                        </m:ctrlPr>
                      </m:sSubPr>
                      <m:e>
                        <m:r>
                          <a:rPr lang="en-US" sz="3000" i="1">
                            <a:solidFill>
                              <a:schemeClr val="bg1">
                                <a:lumMod val="25000"/>
                              </a:schemeClr>
                            </a:solidFill>
                            <a:latin typeface="Cambria Math" panose="02040503050406030204" pitchFamily="18" charset="0"/>
                          </a:rPr>
                          <m:t>𝑆</m:t>
                        </m:r>
                      </m:e>
                      <m:sub>
                        <m:r>
                          <a:rPr lang="en-US" sz="3000" i="1">
                            <a:solidFill>
                              <a:schemeClr val="bg1">
                                <a:lumMod val="25000"/>
                              </a:schemeClr>
                            </a:solidFill>
                            <a:latin typeface="Cambria Math" panose="02040503050406030204" pitchFamily="18" charset="0"/>
                          </a:rPr>
                          <m:t>𝑡</m:t>
                        </m:r>
                        <m:r>
                          <a:rPr lang="en-US" sz="3000" i="1">
                            <a:solidFill>
                              <a:schemeClr val="bg1">
                                <a:lumMod val="25000"/>
                              </a:schemeClr>
                            </a:solidFill>
                            <a:latin typeface="Cambria Math" panose="02040503050406030204" pitchFamily="18" charset="0"/>
                          </a:rPr>
                          <m:t>−1</m:t>
                        </m:r>
                      </m:sub>
                    </m:sSub>
                  </m:oMath>
                </a14:m>
                <a:r>
                  <a:rPr lang="en-US" sz="3000" dirty="0" smtClean="0">
                    <a:solidFill>
                      <a:schemeClr val="bg1">
                        <a:lumMod val="25000"/>
                      </a:schemeClr>
                    </a:solidFill>
                    <a:latin typeface="Times-Roman"/>
                  </a:rPr>
                  <a:t>.</a:t>
                </a:r>
              </a:p>
              <a:p>
                <a:pPr marL="514350" indent="-514350" algn="just">
                  <a:buAutoNum type="arabicParenBoth"/>
                </a:pPr>
                <a:r>
                  <a:rPr lang="en-US" sz="3000" dirty="0">
                    <a:solidFill>
                      <a:schemeClr val="bg1">
                        <a:lumMod val="25000"/>
                      </a:schemeClr>
                    </a:solidFill>
                    <a:latin typeface="Times-Roman"/>
                  </a:rPr>
                  <a:t>The observation model </a:t>
                </a:r>
                <a14:m>
                  <m:oMath xmlns:m="http://schemas.openxmlformats.org/officeDocument/2006/math">
                    <m:r>
                      <a:rPr lang="en-US" sz="3000" i="1">
                        <a:solidFill>
                          <a:schemeClr val="bg1">
                            <a:lumMod val="25000"/>
                          </a:schemeClr>
                        </a:solidFill>
                        <a:latin typeface="Cambria Math" panose="02040503050406030204" pitchFamily="18" charset="0"/>
                      </a:rPr>
                      <m:t>𝑝</m:t>
                    </m:r>
                    <m:r>
                      <a:rPr lang="en-US" sz="3000" i="1">
                        <a:solidFill>
                          <a:schemeClr val="bg1">
                            <a:lumMod val="25000"/>
                          </a:schemeClr>
                        </a:solidFill>
                        <a:latin typeface="Cambria Math" panose="02040503050406030204" pitchFamily="18" charset="0"/>
                      </a:rPr>
                      <m:t>(</m:t>
                    </m:r>
                    <m:sSubSup>
                      <m:sSubSupPr>
                        <m:ctrlPr>
                          <a:rPr lang="en-US" sz="3000" i="1">
                            <a:solidFill>
                              <a:schemeClr val="bg1">
                                <a:lumMod val="25000"/>
                              </a:schemeClr>
                            </a:solidFill>
                            <a:latin typeface="Cambria Math" panose="02040503050406030204" pitchFamily="18" charset="0"/>
                          </a:rPr>
                        </m:ctrlPr>
                      </m:sSubSupPr>
                      <m:e>
                        <m:r>
                          <a:rPr lang="en-US" sz="3000" b="0" i="1" smtClean="0">
                            <a:solidFill>
                              <a:schemeClr val="bg1">
                                <a:lumMod val="25000"/>
                              </a:schemeClr>
                            </a:solidFill>
                            <a:latin typeface="Cambria Math" panose="02040503050406030204" pitchFamily="18" charset="0"/>
                          </a:rPr>
                          <m:t>𝑧</m:t>
                        </m:r>
                      </m:e>
                      <m:sub>
                        <m:r>
                          <a:rPr lang="en-US" sz="3000" i="1">
                            <a:solidFill>
                              <a:schemeClr val="bg1">
                                <a:lumMod val="25000"/>
                              </a:schemeClr>
                            </a:solidFill>
                            <a:latin typeface="Cambria Math" panose="02040503050406030204" pitchFamily="18" charset="0"/>
                          </a:rPr>
                          <m:t>𝑖</m:t>
                        </m:r>
                      </m:sub>
                      <m:sup>
                        <m:r>
                          <a:rPr lang="en-US" sz="3000" i="1">
                            <a:solidFill>
                              <a:schemeClr val="bg1">
                                <a:lumMod val="25000"/>
                              </a:schemeClr>
                            </a:solidFill>
                            <a:latin typeface="Cambria Math" panose="02040503050406030204" pitchFamily="18" charset="0"/>
                          </a:rPr>
                          <m:t>′</m:t>
                        </m:r>
                      </m:sup>
                    </m:sSubSup>
                    <m:r>
                      <a:rPr lang="en-US" sz="3000" i="1">
                        <a:solidFill>
                          <a:schemeClr val="bg1">
                            <a:lumMod val="25000"/>
                          </a:schemeClr>
                        </a:solidFill>
                        <a:latin typeface="Cambria Math" panose="02040503050406030204" pitchFamily="18" charset="0"/>
                      </a:rPr>
                      <m:t>|</m:t>
                    </m:r>
                    <m:sSubSup>
                      <m:sSubSupPr>
                        <m:ctrlPr>
                          <a:rPr lang="en-US" sz="3000" i="1">
                            <a:solidFill>
                              <a:schemeClr val="bg1">
                                <a:lumMod val="25000"/>
                              </a:schemeClr>
                            </a:solidFill>
                            <a:latin typeface="Cambria Math" panose="02040503050406030204" pitchFamily="18" charset="0"/>
                          </a:rPr>
                        </m:ctrlPr>
                      </m:sSubSupPr>
                      <m:e>
                        <m:r>
                          <a:rPr lang="en-US" sz="3000" i="1">
                            <a:solidFill>
                              <a:schemeClr val="bg1">
                                <a:lumMod val="25000"/>
                              </a:schemeClr>
                            </a:solidFill>
                            <a:latin typeface="Cambria Math" panose="02040503050406030204" pitchFamily="18" charset="0"/>
                          </a:rPr>
                          <m:t>𝑥</m:t>
                        </m:r>
                      </m:e>
                      <m:sub>
                        <m:r>
                          <a:rPr lang="en-US" sz="3000" i="1">
                            <a:solidFill>
                              <a:schemeClr val="bg1">
                                <a:lumMod val="25000"/>
                              </a:schemeClr>
                            </a:solidFill>
                            <a:latin typeface="Cambria Math" panose="02040503050406030204" pitchFamily="18" charset="0"/>
                          </a:rPr>
                          <m:t>𝑖</m:t>
                        </m:r>
                      </m:sub>
                      <m:sup>
                        <m:r>
                          <a:rPr lang="en-US" sz="3000" i="1">
                            <a:solidFill>
                              <a:schemeClr val="bg1">
                                <a:lumMod val="25000"/>
                              </a:schemeClr>
                            </a:solidFill>
                            <a:latin typeface="Cambria Math" panose="02040503050406030204" pitchFamily="18" charset="0"/>
                          </a:rPr>
                          <m:t>′</m:t>
                        </m:r>
                      </m:sup>
                    </m:sSubSup>
                    <m:r>
                      <a:rPr lang="en-US" sz="3000" i="1">
                        <a:solidFill>
                          <a:schemeClr val="bg1">
                            <a:lumMod val="25000"/>
                          </a:schemeClr>
                        </a:solidFill>
                        <a:latin typeface="Cambria Math" panose="02040503050406030204" pitchFamily="18" charset="0"/>
                      </a:rPr>
                      <m:t>) </m:t>
                    </m:r>
                  </m:oMath>
                </a14:m>
                <a:r>
                  <a:rPr lang="en-US" sz="3000" dirty="0">
                    <a:solidFill>
                      <a:schemeClr val="bg1">
                        <a:lumMod val="25000"/>
                      </a:schemeClr>
                    </a:solidFill>
                    <a:latin typeface="Times-Roman"/>
                  </a:rPr>
                  <a:t>is used to weight the particle. </a:t>
                </a:r>
                <a:r>
                  <a:rPr lang="en-US" sz="3000" dirty="0" smtClean="0">
                    <a:solidFill>
                      <a:schemeClr val="bg1">
                        <a:lumMod val="25000"/>
                      </a:schemeClr>
                    </a:solidFill>
                    <a:latin typeface="Times-Roman"/>
                  </a:rPr>
                  <a:t>The weights</a:t>
                </a:r>
                <a:r>
                  <a:rPr lang="en-US" sz="3000" dirty="0">
                    <a:solidFill>
                      <a:schemeClr val="bg1">
                        <a:lumMod val="25000"/>
                      </a:schemeClr>
                    </a:solidFill>
                    <a:latin typeface="Times-Roman"/>
                  </a:rPr>
                  <a:t>, </a:t>
                </a:r>
                <a:r>
                  <a:rPr lang="en-US" sz="3000" dirty="0" err="1">
                    <a:solidFill>
                      <a:schemeClr val="bg1">
                        <a:lumMod val="25000"/>
                      </a:schemeClr>
                    </a:solidFill>
                    <a:latin typeface="Times-Roman"/>
                  </a:rPr>
                  <a:t>wi</a:t>
                </a:r>
                <a:r>
                  <a:rPr lang="en-US" sz="3000" dirty="0">
                    <a:solidFill>
                      <a:schemeClr val="bg1">
                        <a:lumMod val="25000"/>
                      </a:schemeClr>
                    </a:solidFill>
                    <a:latin typeface="Times-Roman"/>
                  </a:rPr>
                  <a:t> for </a:t>
                </a:r>
                <a:r>
                  <a:rPr lang="en-US" sz="3000" dirty="0" err="1">
                    <a:solidFill>
                      <a:schemeClr val="bg1">
                        <a:lumMod val="25000"/>
                      </a:schemeClr>
                    </a:solidFill>
                    <a:latin typeface="Times-Roman"/>
                  </a:rPr>
                  <a:t>i</a:t>
                </a:r>
                <a:r>
                  <a:rPr lang="en-US" sz="3000" dirty="0">
                    <a:solidFill>
                      <a:schemeClr val="bg1">
                        <a:lumMod val="25000"/>
                      </a:schemeClr>
                    </a:solidFill>
                    <a:latin typeface="Times-Roman"/>
                  </a:rPr>
                  <a:t> ∈ {1, . . . ,N}, </a:t>
                </a:r>
                <a:r>
                  <a:rPr lang="en-US" sz="3000" dirty="0" smtClean="0">
                    <a:solidFill>
                      <a:schemeClr val="bg1">
                        <a:lumMod val="25000"/>
                      </a:schemeClr>
                    </a:solidFill>
                    <a:latin typeface="Times-Roman"/>
                  </a:rPr>
                  <a:t>are normalized</a:t>
                </a:r>
                <a:r>
                  <a:rPr lang="en-US" sz="3000" dirty="0">
                    <a:solidFill>
                      <a:schemeClr val="bg1">
                        <a:lumMod val="25000"/>
                      </a:schemeClr>
                    </a:solidFill>
                    <a:latin typeface="Times-Roman"/>
                  </a:rPr>
                  <a:t>, and a </a:t>
                </a:r>
                <a:r>
                  <a:rPr lang="en-US" sz="3000" dirty="0" smtClean="0">
                    <a:solidFill>
                      <a:schemeClr val="bg1">
                        <a:lumMod val="25000"/>
                      </a:schemeClr>
                    </a:solidFill>
                    <a:latin typeface="Times-Roman"/>
                  </a:rPr>
                  <a:t>cumulative weight </a:t>
                </a:r>
                <a:r>
                  <a:rPr lang="en-US" sz="3000" dirty="0">
                    <a:solidFill>
                      <a:schemeClr val="bg1">
                        <a:lumMod val="25000"/>
                      </a:schemeClr>
                    </a:solidFill>
                    <a:latin typeface="Times-Roman"/>
                  </a:rPr>
                  <a:t>is calculated for each particle.</a:t>
                </a:r>
                <a:endParaRPr lang="en-US" sz="3000" dirty="0" smtClean="0">
                  <a:solidFill>
                    <a:schemeClr val="bg1">
                      <a:lumMod val="25000"/>
                    </a:schemeClr>
                  </a:solidFill>
                  <a:latin typeface="Times-Roman"/>
                </a:endParaRPr>
              </a:p>
            </p:txBody>
          </p:sp>
        </mc:Choice>
        <mc:Fallback>
          <p:sp>
            <p:nvSpPr>
              <p:cNvPr id="9" name="Rectangle 8"/>
              <p:cNvSpPr>
                <a:spLocks noRot="1" noChangeAspect="1" noMove="1" noResize="1" noEditPoints="1" noAdjustHandles="1" noChangeArrowheads="1" noChangeShapeType="1" noTextEdit="1"/>
              </p:cNvSpPr>
              <p:nvPr/>
            </p:nvSpPr>
            <p:spPr>
              <a:xfrm>
                <a:off x="29699" y="1162852"/>
                <a:ext cx="11407140" cy="5171031"/>
              </a:xfrm>
              <a:prstGeom prst="rect">
                <a:avLst/>
              </a:prstGeom>
              <a:blipFill>
                <a:blip r:embed="rId2"/>
                <a:stretch>
                  <a:fillRect l="-1283" t="-1533" r="-1229" b="-2712"/>
                </a:stretch>
              </a:blipFill>
            </p:spPr>
            <p:txBody>
              <a:bodyPr/>
              <a:lstStyle/>
              <a:p>
                <a:r>
                  <a:rPr lang="en-US">
                    <a:noFill/>
                  </a:rPr>
                  <a:t> </a:t>
                </a:r>
              </a:p>
            </p:txBody>
          </p:sp>
        </mc:Fallback>
      </mc:AlternateContent>
    </p:spTree>
    <p:extLst>
      <p:ext uri="{BB962C8B-B14F-4D97-AF65-F5344CB8AC3E}">
        <p14:creationId xmlns:p14="http://schemas.microsoft.com/office/powerpoint/2010/main" val="2977819765"/>
      </p:ext>
    </p:extLst>
  </p:cSld>
  <p:clrMapOvr>
    <a:masterClrMapping/>
  </p:clrMapOvr>
  <p:transition spd="med"/>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95</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9" name="Rectangle 8"/>
              <p:cNvSpPr/>
              <p:nvPr/>
            </p:nvSpPr>
            <p:spPr>
              <a:xfrm>
                <a:off x="29699" y="1162852"/>
                <a:ext cx="11407140" cy="1483035"/>
              </a:xfrm>
              <a:prstGeom prst="rect">
                <a:avLst/>
              </a:prstGeom>
            </p:spPr>
            <p:txBody>
              <a:bodyPr wrap="square">
                <a:spAutoFit/>
              </a:bodyPr>
              <a:lstStyle/>
              <a:p>
                <a:pPr algn="just"/>
                <a:r>
                  <a:rPr lang="en-US" sz="3000" dirty="0" smtClean="0">
                    <a:solidFill>
                      <a:schemeClr val="bg1">
                        <a:lumMod val="25000"/>
                      </a:schemeClr>
                    </a:solidFill>
                    <a:latin typeface="Times-Roman"/>
                  </a:rPr>
                  <a:t>(4) The set </a:t>
                </a:r>
                <a14:m>
                  <m:oMath xmlns:m="http://schemas.openxmlformats.org/officeDocument/2006/math">
                    <m:sSubSup>
                      <m:sSubSupPr>
                        <m:ctrlPr>
                          <a:rPr lang="en-US" sz="3000" i="1">
                            <a:solidFill>
                              <a:schemeClr val="bg1">
                                <a:lumMod val="25000"/>
                              </a:schemeClr>
                            </a:solidFill>
                            <a:latin typeface="Cambria Math" panose="02040503050406030204" pitchFamily="18" charset="0"/>
                          </a:rPr>
                        </m:ctrlPr>
                      </m:sSubSupPr>
                      <m:e>
                        <m:r>
                          <a:rPr lang="en-US" sz="3000" i="1">
                            <a:solidFill>
                              <a:schemeClr val="bg1">
                                <a:lumMod val="25000"/>
                              </a:schemeClr>
                            </a:solidFill>
                            <a:latin typeface="Cambria Math" panose="02040503050406030204" pitchFamily="18" charset="0"/>
                          </a:rPr>
                          <m:t>𝑆</m:t>
                        </m:r>
                      </m:e>
                      <m:sub>
                        <m:r>
                          <a:rPr lang="en-US" sz="3000" i="1">
                            <a:solidFill>
                              <a:schemeClr val="bg1">
                                <a:lumMod val="25000"/>
                              </a:schemeClr>
                            </a:solidFill>
                            <a:latin typeface="Cambria Math" panose="02040503050406030204" pitchFamily="18" charset="0"/>
                          </a:rPr>
                          <m:t>𝑡</m:t>
                        </m:r>
                      </m:sub>
                      <m:sup>
                        <m:r>
                          <a:rPr lang="en-US" sz="3000" i="1">
                            <a:solidFill>
                              <a:schemeClr val="bg1">
                                <a:lumMod val="25000"/>
                              </a:schemeClr>
                            </a:solidFill>
                            <a:latin typeface="Cambria Math" panose="02040503050406030204" pitchFamily="18" charset="0"/>
                          </a:rPr>
                          <m:t>′</m:t>
                        </m:r>
                      </m:sup>
                    </m:sSubSup>
                  </m:oMath>
                </a14:m>
                <a:r>
                  <a:rPr lang="en-US" sz="3000" dirty="0" smtClean="0">
                    <a:solidFill>
                      <a:schemeClr val="bg1">
                        <a:lumMod val="25000"/>
                      </a:schemeClr>
                    </a:solidFill>
                    <a:latin typeface="Times-Roman"/>
                  </a:rPr>
                  <a:t> </a:t>
                </a:r>
                <a:r>
                  <a:rPr lang="en-US" sz="3000" dirty="0">
                    <a:solidFill>
                      <a:schemeClr val="bg1">
                        <a:lumMod val="25000"/>
                      </a:schemeClr>
                    </a:solidFill>
                    <a:latin typeface="Times-Roman"/>
                  </a:rPr>
                  <a:t>is resampled so that higher weighted particles are </a:t>
                </a:r>
                <a:r>
                  <a:rPr lang="en-US" sz="3000" dirty="0" smtClean="0">
                    <a:solidFill>
                      <a:schemeClr val="bg1">
                        <a:lumMod val="25000"/>
                      </a:schemeClr>
                    </a:solidFill>
                    <a:latin typeface="Times-Roman"/>
                  </a:rPr>
                  <a:t>more likely </a:t>
                </a:r>
                <a:r>
                  <a:rPr lang="en-US" sz="3000" dirty="0">
                    <a:solidFill>
                      <a:schemeClr val="bg1">
                        <a:lumMod val="25000"/>
                      </a:schemeClr>
                    </a:solidFill>
                    <a:latin typeface="Times-Roman"/>
                  </a:rPr>
                  <a:t>to be selected to </a:t>
                </a:r>
                <a:r>
                  <a:rPr lang="en-US" sz="3000" dirty="0" smtClean="0">
                    <a:solidFill>
                      <a:schemeClr val="bg1">
                        <a:lumMod val="25000"/>
                      </a:schemeClr>
                    </a:solidFill>
                    <a:latin typeface="Times-Roman"/>
                  </a:rPr>
                  <a:t>produce</a:t>
                </a:r>
                <a14:m>
                  <m:oMath xmlns:m="http://schemas.openxmlformats.org/officeDocument/2006/math">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 </m:t>
                        </m:r>
                        <m:r>
                          <a:rPr lang="en-US" sz="3000" b="0" i="1" smtClean="0">
                            <a:solidFill>
                              <a:schemeClr val="bg1">
                                <a:lumMod val="25000"/>
                              </a:schemeClr>
                            </a:solidFill>
                            <a:latin typeface="Cambria Math" panose="02040503050406030204" pitchFamily="18" charset="0"/>
                          </a:rPr>
                          <m:t>𝑆</m:t>
                        </m:r>
                      </m:e>
                      <m:sub>
                        <m:r>
                          <a:rPr lang="en-US" sz="3000" b="0" i="1" smtClean="0">
                            <a:solidFill>
                              <a:schemeClr val="bg1">
                                <a:lumMod val="25000"/>
                              </a:schemeClr>
                            </a:solidFill>
                            <a:latin typeface="Cambria Math" panose="02040503050406030204" pitchFamily="18" charset="0"/>
                          </a:rPr>
                          <m:t>𝑡</m:t>
                        </m:r>
                        <m:r>
                          <a:rPr lang="en-US" sz="3000" b="0" i="1" smtClean="0">
                            <a:solidFill>
                              <a:schemeClr val="bg1">
                                <a:lumMod val="25000"/>
                              </a:schemeClr>
                            </a:solidFill>
                            <a:latin typeface="Cambria Math" panose="02040503050406030204" pitchFamily="18" charset="0"/>
                          </a:rPr>
                          <m:t>+1</m:t>
                        </m:r>
                      </m:sub>
                    </m:sSub>
                  </m:oMath>
                </a14:m>
                <a:r>
                  <a:rPr lang="en-US" sz="3000" dirty="0" smtClean="0">
                    <a:solidFill>
                      <a:schemeClr val="bg1">
                        <a:lumMod val="25000"/>
                      </a:schemeClr>
                    </a:solidFill>
                    <a:latin typeface="Times-Roman"/>
                  </a:rPr>
                  <a:t>. </a:t>
                </a:r>
              </a:p>
              <a:p>
                <a:pPr algn="just"/>
                <a:r>
                  <a:rPr lang="en-US" sz="3000" dirty="0" smtClean="0">
                    <a:solidFill>
                      <a:schemeClr val="bg1">
                        <a:lumMod val="25000"/>
                      </a:schemeClr>
                    </a:solidFill>
                    <a:latin typeface="Times-Roman"/>
                  </a:rPr>
                  <a:t>(5) The state of the target is calculated as the linear sum </a:t>
                </a:r>
                <a14:m>
                  <m:oMath xmlns:m="http://schemas.openxmlformats.org/officeDocument/2006/math">
                    <m:nary>
                      <m:naryPr>
                        <m:chr m:val="∑"/>
                        <m:ctrlPr>
                          <a:rPr lang="en-US" sz="3000" i="1" smtClean="0">
                            <a:solidFill>
                              <a:schemeClr val="bg1">
                                <a:lumMod val="25000"/>
                              </a:schemeClr>
                            </a:solidFill>
                            <a:latin typeface="Cambria Math" panose="02040503050406030204" pitchFamily="18" charset="0"/>
                          </a:rPr>
                        </m:ctrlPr>
                      </m:naryPr>
                      <m:sub>
                        <m:r>
                          <m:rPr>
                            <m:brk m:alnAt="23"/>
                          </m:rPr>
                          <a:rPr lang="en-US" sz="3000" b="0" i="1" smtClean="0">
                            <a:solidFill>
                              <a:schemeClr val="bg1">
                                <a:lumMod val="25000"/>
                              </a:schemeClr>
                            </a:solidFill>
                            <a:latin typeface="Cambria Math" panose="02040503050406030204" pitchFamily="18" charset="0"/>
                          </a:rPr>
                          <m:t>1</m:t>
                        </m:r>
                      </m:sub>
                      <m:sup>
                        <m:r>
                          <a:rPr lang="en-US" sz="3000" b="0" i="1" smtClean="0">
                            <a:solidFill>
                              <a:schemeClr val="bg1">
                                <a:lumMod val="25000"/>
                              </a:schemeClr>
                            </a:solidFill>
                            <a:latin typeface="Cambria Math" panose="02040503050406030204" pitchFamily="18" charset="0"/>
                          </a:rPr>
                          <m:t>𝑁</m:t>
                        </m:r>
                      </m:sup>
                      <m:e>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𝑤</m:t>
                            </m:r>
                          </m:e>
                          <m:sub>
                            <m:r>
                              <a:rPr lang="en-US" sz="3000" b="0" i="1" smtClean="0">
                                <a:solidFill>
                                  <a:schemeClr val="bg1">
                                    <a:lumMod val="25000"/>
                                  </a:schemeClr>
                                </a:solidFill>
                                <a:latin typeface="Cambria Math" panose="02040503050406030204" pitchFamily="18" charset="0"/>
                              </a:rPr>
                              <m:t>𝑖</m:t>
                            </m:r>
                          </m:sub>
                        </m:sSub>
                        <m:sSub>
                          <m:sSubPr>
                            <m:ctrlPr>
                              <a:rPr lang="en-US" sz="3000" i="1" smtClean="0">
                                <a:solidFill>
                                  <a:schemeClr val="bg1">
                                    <a:lumMod val="25000"/>
                                  </a:schemeClr>
                                </a:solidFill>
                                <a:latin typeface="Cambria Math" panose="02040503050406030204" pitchFamily="18" charset="0"/>
                              </a:rPr>
                            </m:ctrlPr>
                          </m:sSubPr>
                          <m:e>
                            <m:r>
                              <a:rPr lang="en-US" sz="3000" b="0" i="1" smtClean="0">
                                <a:solidFill>
                                  <a:schemeClr val="bg1">
                                    <a:lumMod val="25000"/>
                                  </a:schemeClr>
                                </a:solidFill>
                                <a:latin typeface="Cambria Math" panose="02040503050406030204" pitchFamily="18" charset="0"/>
                              </a:rPr>
                              <m:t>𝑥</m:t>
                            </m:r>
                          </m:e>
                          <m:sub>
                            <m:r>
                              <a:rPr lang="en-US" sz="3000" b="0" i="1" smtClean="0">
                                <a:solidFill>
                                  <a:schemeClr val="bg1">
                                    <a:lumMod val="25000"/>
                                  </a:schemeClr>
                                </a:solidFill>
                                <a:latin typeface="Cambria Math" panose="02040503050406030204" pitchFamily="18" charset="0"/>
                              </a:rPr>
                              <m:t>𝑖</m:t>
                            </m:r>
                          </m:sub>
                        </m:sSub>
                      </m:e>
                    </m:nary>
                  </m:oMath>
                </a14:m>
                <a:r>
                  <a:rPr lang="en-US" sz="3000" dirty="0" smtClean="0">
                    <a:solidFill>
                      <a:schemeClr val="bg1">
                        <a:lumMod val="25000"/>
                      </a:schemeClr>
                    </a:solidFill>
                    <a:latin typeface="Times-Roman"/>
                  </a:rPr>
                  <a:t>.</a:t>
                </a:r>
              </a:p>
            </p:txBody>
          </p:sp>
        </mc:Choice>
        <mc:Fallback>
          <p:sp>
            <p:nvSpPr>
              <p:cNvPr id="9" name="Rectangle 8"/>
              <p:cNvSpPr>
                <a:spLocks noRot="1" noChangeAspect="1" noMove="1" noResize="1" noEditPoints="1" noAdjustHandles="1" noChangeArrowheads="1" noChangeShapeType="1" noTextEdit="1"/>
              </p:cNvSpPr>
              <p:nvPr/>
            </p:nvSpPr>
            <p:spPr>
              <a:xfrm>
                <a:off x="29699" y="1162852"/>
                <a:ext cx="11407140" cy="1483035"/>
              </a:xfrm>
              <a:prstGeom prst="rect">
                <a:avLst/>
              </a:prstGeom>
              <a:blipFill>
                <a:blip r:embed="rId2"/>
                <a:stretch>
                  <a:fillRect l="-1283" t="-5350" r="-1229" b="-11934"/>
                </a:stretch>
              </a:blipFill>
            </p:spPr>
            <p:txBody>
              <a:bodyPr/>
              <a:lstStyle/>
              <a:p>
                <a:r>
                  <a:rPr lang="en-US">
                    <a:noFill/>
                  </a:rPr>
                  <a:t> </a:t>
                </a:r>
              </a:p>
            </p:txBody>
          </p:sp>
        </mc:Fallback>
      </mc:AlternateContent>
    </p:spTree>
    <p:extLst>
      <p:ext uri="{BB962C8B-B14F-4D97-AF65-F5344CB8AC3E}">
        <p14:creationId xmlns:p14="http://schemas.microsoft.com/office/powerpoint/2010/main" val="2611798966"/>
      </p:ext>
    </p:extLst>
  </p:cSld>
  <p:clrMapOvr>
    <a:masterClrMapping/>
  </p:clrMapOvr>
  <p:transition spd="med"/>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96</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5170646"/>
          </a:xfrm>
          <a:prstGeom prst="rect">
            <a:avLst/>
          </a:prstGeom>
        </p:spPr>
        <p:txBody>
          <a:bodyPr wrap="square">
            <a:spAutoFit/>
          </a:bodyPr>
          <a:lstStyle/>
          <a:p>
            <a:pPr algn="just"/>
            <a:r>
              <a:rPr lang="en-US" sz="3000" b="1" dirty="0" smtClean="0">
                <a:solidFill>
                  <a:schemeClr val="accent6">
                    <a:lumMod val="75000"/>
                  </a:schemeClr>
                </a:solidFill>
                <a:latin typeface="Times-Roman"/>
              </a:rPr>
              <a:t>Partitioning CONDNSATION </a:t>
            </a:r>
            <a:r>
              <a:rPr lang="en-US" sz="3000" b="1" dirty="0">
                <a:solidFill>
                  <a:schemeClr val="accent6">
                    <a:lumMod val="75000"/>
                  </a:schemeClr>
                </a:solidFill>
                <a:latin typeface="Times-Roman"/>
              </a:rPr>
              <a:t>Algorithm</a:t>
            </a:r>
            <a:r>
              <a:rPr lang="en-US" sz="3000" b="1" dirty="0" smtClean="0">
                <a:solidFill>
                  <a:schemeClr val="accent6">
                    <a:lumMod val="75000"/>
                  </a:schemeClr>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We can partition the condensation algorithm in a fashion similar to </a:t>
            </a:r>
            <a:r>
              <a:rPr lang="en-US" sz="3000" dirty="0" smtClean="0">
                <a:solidFill>
                  <a:schemeClr val="tx1"/>
                </a:solidFill>
                <a:latin typeface="Times-Roman"/>
              </a:rPr>
              <a:t>our scheme </a:t>
            </a:r>
            <a:r>
              <a:rPr lang="en-US" sz="3000" dirty="0">
                <a:solidFill>
                  <a:schemeClr val="tx1"/>
                </a:solidFill>
                <a:latin typeface="Times-Roman"/>
              </a:rPr>
              <a:t>for MCL </a:t>
            </a:r>
            <a:r>
              <a:rPr lang="en-US" sz="3000" dirty="0" smtClean="0">
                <a:solidFill>
                  <a:schemeClr val="tx1"/>
                </a:solidFill>
                <a:latin typeface="Times-Roman"/>
              </a:rPr>
              <a:t>Localization.</a:t>
            </a:r>
          </a:p>
          <a:p>
            <a:pPr marL="457200" indent="-457200" algn="just">
              <a:buFont typeface="Arial" panose="020B0604020202020204" pitchFamily="34" charset="0"/>
              <a:buChar char="•"/>
            </a:pPr>
            <a:r>
              <a:rPr lang="en-US" sz="3000" dirty="0">
                <a:solidFill>
                  <a:schemeClr val="tx1"/>
                </a:solidFill>
                <a:latin typeface="Times-Roman"/>
              </a:rPr>
              <a:t>We broadcast the n × m image to </a:t>
            </a:r>
            <a:r>
              <a:rPr lang="en-US" sz="3000" dirty="0" smtClean="0">
                <a:solidFill>
                  <a:schemeClr val="tx1"/>
                </a:solidFill>
                <a:latin typeface="Times-Roman"/>
              </a:rPr>
              <a:t>all p </a:t>
            </a:r>
            <a:r>
              <a:rPr lang="en-US" sz="3000" dirty="0">
                <a:solidFill>
                  <a:schemeClr val="tx1"/>
                </a:solidFill>
                <a:latin typeface="Times-Roman"/>
              </a:rPr>
              <a:t>processors, and then partition the N samples equally among the </a:t>
            </a:r>
            <a:r>
              <a:rPr lang="en-US" sz="3000" dirty="0" smtClean="0">
                <a:solidFill>
                  <a:schemeClr val="tx1"/>
                </a:solidFill>
                <a:latin typeface="Times-Roman"/>
              </a:rPr>
              <a:t>p processors.</a:t>
            </a:r>
          </a:p>
          <a:p>
            <a:pPr marL="457200" indent="-457200" algn="just">
              <a:buFont typeface="Arial" panose="020B0604020202020204" pitchFamily="34" charset="0"/>
              <a:buChar char="•"/>
            </a:pPr>
            <a:r>
              <a:rPr lang="en-US" sz="3000" dirty="0">
                <a:solidFill>
                  <a:schemeClr val="tx1"/>
                </a:solidFill>
                <a:latin typeface="Times-Roman"/>
              </a:rPr>
              <a:t>The communication cost is (</a:t>
            </a:r>
            <a:r>
              <a:rPr lang="en-US" sz="3000" dirty="0" err="1">
                <a:solidFill>
                  <a:schemeClr val="tx1"/>
                </a:solidFill>
                <a:latin typeface="Times-Roman"/>
              </a:rPr>
              <a:t>λ+nm</a:t>
            </a:r>
            <a:r>
              <a:rPr lang="en-US" sz="3000" dirty="0">
                <a:solidFill>
                  <a:schemeClr val="tx1"/>
                </a:solidFill>
                <a:latin typeface="Times-Roman"/>
              </a:rPr>
              <a:t>/β)log p for the broadcast</a:t>
            </a:r>
            <a:r>
              <a:rPr lang="en-US" sz="3000" dirty="0" smtClean="0">
                <a:solidFill>
                  <a:schemeClr val="tx1"/>
                </a:solidFill>
                <a:latin typeface="Times-Roman"/>
              </a:rPr>
              <a:t>, and </a:t>
            </a:r>
            <a:r>
              <a:rPr lang="en-US" sz="3000" dirty="0" err="1">
                <a:solidFill>
                  <a:schemeClr val="tx1"/>
                </a:solidFill>
                <a:latin typeface="Times-Roman"/>
              </a:rPr>
              <a:t>λlog</a:t>
            </a:r>
            <a:r>
              <a:rPr lang="en-US" sz="3000" dirty="0">
                <a:solidFill>
                  <a:schemeClr val="tx1"/>
                </a:solidFill>
                <a:latin typeface="Times-Roman"/>
              </a:rPr>
              <a:t> p + N(p − 1)/pβ for the particle scatter</a:t>
            </a:r>
            <a:r>
              <a:rPr lang="en-US" sz="3000" dirty="0" smtClean="0">
                <a:solidFill>
                  <a:schemeClr val="tx1"/>
                </a:solidFill>
                <a:latin typeface="Times-Roman"/>
              </a:rPr>
              <a:t>.</a:t>
            </a:r>
          </a:p>
          <a:p>
            <a:pPr marL="457200" indent="-457200" algn="just">
              <a:buFont typeface="Arial" panose="020B0604020202020204" pitchFamily="34" charset="0"/>
              <a:buChar char="•"/>
            </a:pPr>
            <a:r>
              <a:rPr lang="en-US" sz="3000" dirty="0">
                <a:solidFill>
                  <a:schemeClr val="tx1"/>
                </a:solidFill>
                <a:latin typeface="Times-Roman"/>
              </a:rPr>
              <a:t>Each processor then propagates its N/p particles with the </a:t>
            </a:r>
            <a:r>
              <a:rPr lang="en-US" sz="3000" dirty="0" smtClean="0">
                <a:solidFill>
                  <a:schemeClr val="tx1"/>
                </a:solidFill>
                <a:latin typeface="Times-Roman"/>
              </a:rPr>
              <a:t>motion model</a:t>
            </a:r>
            <a:r>
              <a:rPr lang="en-US" sz="3000" dirty="0">
                <a:solidFill>
                  <a:schemeClr val="tx1"/>
                </a:solidFill>
                <a:latin typeface="Times-Roman"/>
              </a:rPr>
              <a:t>. </a:t>
            </a:r>
            <a:endParaRPr lang="en-US" sz="3000" dirty="0" smtClean="0">
              <a:solidFill>
                <a:schemeClr val="tx1"/>
              </a:solidFill>
              <a:latin typeface="Times-Roman"/>
            </a:endParaRPr>
          </a:p>
          <a:p>
            <a:pPr marL="457200" indent="-457200" algn="just">
              <a:buFont typeface="Arial" panose="020B0604020202020204" pitchFamily="34" charset="0"/>
              <a:buChar char="•"/>
            </a:pPr>
            <a:r>
              <a:rPr lang="en-US" sz="3000" dirty="0" smtClean="0">
                <a:solidFill>
                  <a:schemeClr val="tx1"/>
                </a:solidFill>
                <a:latin typeface="Times-Roman"/>
              </a:rPr>
              <a:t>It </a:t>
            </a:r>
            <a:r>
              <a:rPr lang="en-US" sz="3000" dirty="0">
                <a:solidFill>
                  <a:schemeClr val="tx1"/>
                </a:solidFill>
                <a:latin typeface="Times-Roman"/>
              </a:rPr>
              <a:t>then calculates N/p </a:t>
            </a:r>
            <a:r>
              <a:rPr lang="en-US" sz="3000" dirty="0" err="1">
                <a:solidFill>
                  <a:schemeClr val="tx1"/>
                </a:solidFill>
                <a:latin typeface="Times-Roman"/>
              </a:rPr>
              <a:t>spatiograms</a:t>
            </a:r>
            <a:r>
              <a:rPr lang="en-US" sz="3000" dirty="0">
                <a:solidFill>
                  <a:schemeClr val="tx1"/>
                </a:solidFill>
                <a:latin typeface="Times-Roman"/>
              </a:rPr>
              <a:t> on fixed size regions around</a:t>
            </a:r>
          </a:p>
          <a:p>
            <a:pPr marL="457200" indent="-457200" algn="just">
              <a:buFont typeface="Arial" panose="020B0604020202020204" pitchFamily="34" charset="0"/>
              <a:buChar char="•"/>
            </a:pPr>
            <a:r>
              <a:rPr lang="en-US" sz="3000" dirty="0">
                <a:solidFill>
                  <a:schemeClr val="tx1"/>
                </a:solidFill>
                <a:latin typeface="Times-Roman"/>
              </a:rPr>
              <a:t>the locations of each particle. </a:t>
            </a:r>
          </a:p>
        </p:txBody>
      </p:sp>
    </p:spTree>
    <p:extLst>
      <p:ext uri="{BB962C8B-B14F-4D97-AF65-F5344CB8AC3E}">
        <p14:creationId xmlns:p14="http://schemas.microsoft.com/office/powerpoint/2010/main" val="57209011"/>
      </p:ext>
    </p:extLst>
  </p:cSld>
  <p:clrMapOvr>
    <a:masterClrMapping/>
  </p:clrMapOvr>
  <p:transition spd="med"/>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97</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5632311"/>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Finally it carries out N/p </a:t>
            </a:r>
            <a:r>
              <a:rPr lang="en-US" sz="3000" dirty="0" err="1">
                <a:solidFill>
                  <a:schemeClr val="bg1">
                    <a:lumMod val="25000"/>
                  </a:schemeClr>
                </a:solidFill>
                <a:latin typeface="Times-Roman"/>
              </a:rPr>
              <a:t>spatiogram</a:t>
            </a:r>
            <a:r>
              <a:rPr lang="en-US" sz="3000" dirty="0">
                <a:solidFill>
                  <a:schemeClr val="bg1">
                    <a:lumMod val="25000"/>
                  </a:schemeClr>
                </a:solidFill>
                <a:latin typeface="Times-Roman"/>
              </a:rPr>
              <a:t> comparison operations between the </a:t>
            </a:r>
            <a:r>
              <a:rPr lang="en-US" sz="3000" dirty="0" err="1">
                <a:solidFill>
                  <a:schemeClr val="bg1">
                    <a:lumMod val="25000"/>
                  </a:schemeClr>
                </a:solidFill>
                <a:latin typeface="Times-Roman"/>
              </a:rPr>
              <a:t>spatiogram</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An alternative partition scheme is to partition the image by row strips</a:t>
            </a:r>
            <a:r>
              <a:rPr lang="en-US" sz="3000" dirty="0" smtClean="0">
                <a:solidFill>
                  <a:schemeClr val="bg1">
                    <a:lumMod val="25000"/>
                  </a:schemeClr>
                </a:solidFill>
                <a:latin typeface="Times-Roman"/>
              </a:rPr>
              <a:t>, and </a:t>
            </a:r>
            <a:r>
              <a:rPr lang="en-US" sz="3000" dirty="0">
                <a:solidFill>
                  <a:schemeClr val="bg1">
                    <a:lumMod val="25000"/>
                  </a:schemeClr>
                </a:solidFill>
                <a:latin typeface="Times-Roman"/>
              </a:rPr>
              <a:t>broadcast all n particles</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Each processor calculates only the </a:t>
            </a:r>
            <a:r>
              <a:rPr lang="en-US" sz="3000" dirty="0" smtClean="0">
                <a:solidFill>
                  <a:schemeClr val="bg1">
                    <a:lumMod val="25000"/>
                  </a:schemeClr>
                </a:solidFill>
                <a:latin typeface="Times-Roman"/>
              </a:rPr>
              <a:t>portion of </a:t>
            </a:r>
            <a:r>
              <a:rPr lang="en-US" sz="3000" dirty="0">
                <a:solidFill>
                  <a:schemeClr val="bg1">
                    <a:lumMod val="25000"/>
                  </a:schemeClr>
                </a:solidFill>
                <a:latin typeface="Times-Roman"/>
              </a:rPr>
              <a:t>propagations, </a:t>
            </a:r>
            <a:r>
              <a:rPr lang="en-US" sz="3000" dirty="0" err="1">
                <a:solidFill>
                  <a:schemeClr val="bg1">
                    <a:lumMod val="25000"/>
                  </a:schemeClr>
                </a:solidFill>
                <a:latin typeface="Times-Roman"/>
              </a:rPr>
              <a:t>spatiograms</a:t>
            </a:r>
            <a:r>
              <a:rPr lang="en-US" sz="3000" dirty="0">
                <a:solidFill>
                  <a:schemeClr val="bg1">
                    <a:lumMod val="25000"/>
                  </a:schemeClr>
                </a:solidFill>
                <a:latin typeface="Times-Roman"/>
              </a:rPr>
              <a:t> and comparisons that occur in its </a:t>
            </a:r>
            <a:r>
              <a:rPr lang="en-US" sz="3000" dirty="0" smtClean="0">
                <a:solidFill>
                  <a:schemeClr val="bg1">
                    <a:lumMod val="25000"/>
                  </a:schemeClr>
                </a:solidFill>
                <a:latin typeface="Times-Roman"/>
              </a:rPr>
              <a:t>image strip.</a:t>
            </a:r>
          </a:p>
          <a:p>
            <a:pPr marL="457200" indent="-457200" algn="just">
              <a:buFont typeface="Arial" panose="020B0604020202020204" pitchFamily="34" charset="0"/>
              <a:buChar char="•"/>
            </a:pPr>
            <a:r>
              <a:rPr lang="en-US" sz="3000" dirty="0">
                <a:solidFill>
                  <a:schemeClr val="bg1">
                    <a:lumMod val="25000"/>
                  </a:schemeClr>
                </a:solidFill>
                <a:latin typeface="Times-Roman"/>
              </a:rPr>
              <a:t>Figure </a:t>
            </a:r>
            <a:r>
              <a:rPr lang="en-US" sz="3000" dirty="0" smtClean="0">
                <a:solidFill>
                  <a:schemeClr val="bg1">
                    <a:lumMod val="25000"/>
                  </a:schemeClr>
                </a:solidFill>
                <a:latin typeface="Times-Roman"/>
              </a:rPr>
              <a:t>2.5.2 </a:t>
            </a:r>
            <a:r>
              <a:rPr lang="en-US" sz="3000" dirty="0">
                <a:solidFill>
                  <a:schemeClr val="bg1">
                    <a:lumMod val="25000"/>
                  </a:schemeClr>
                </a:solidFill>
                <a:latin typeface="Times-Roman"/>
              </a:rPr>
              <a:t>shows that for smaller collections of particles (N = 104</a:t>
            </a:r>
            <a:r>
              <a:rPr lang="en-US" sz="3000" dirty="0" smtClean="0">
                <a:solidFill>
                  <a:schemeClr val="bg1">
                    <a:lumMod val="25000"/>
                  </a:schemeClr>
                </a:solidFill>
                <a:latin typeface="Times-Roman"/>
              </a:rPr>
              <a:t>), for </a:t>
            </a:r>
            <a:r>
              <a:rPr lang="en-US" sz="3000" dirty="0">
                <a:solidFill>
                  <a:schemeClr val="bg1">
                    <a:lumMod val="25000"/>
                  </a:schemeClr>
                </a:solidFill>
                <a:latin typeface="Times-Roman"/>
              </a:rPr>
              <a:t>a fixed size (640 × 480) image, broadcasting particles and </a:t>
            </a:r>
            <a:r>
              <a:rPr lang="en-US" sz="3000" dirty="0" smtClean="0">
                <a:solidFill>
                  <a:schemeClr val="bg1">
                    <a:lumMod val="25000"/>
                  </a:schemeClr>
                </a:solidFill>
                <a:latin typeface="Times-Roman"/>
              </a:rPr>
              <a:t>scattering the </a:t>
            </a:r>
            <a:r>
              <a:rPr lang="en-US" sz="3000" dirty="0">
                <a:solidFill>
                  <a:schemeClr val="bg1">
                    <a:lumMod val="25000"/>
                  </a:schemeClr>
                </a:solidFill>
                <a:latin typeface="Times-Roman"/>
              </a:rPr>
              <a:t>image has marginally smaller cost</a:t>
            </a:r>
            <a:r>
              <a:rPr lang="en-US" sz="3000" dirty="0" smtClean="0">
                <a:solidFill>
                  <a:schemeClr val="bg1">
                    <a:lumMod val="25000"/>
                  </a:schemeClr>
                </a:solidFill>
                <a:latin typeface="Times-Roman"/>
              </a:rPr>
              <a:t>.</a:t>
            </a:r>
          </a:p>
          <a:p>
            <a:pPr marL="457200" indent="-457200" algn="just">
              <a:buFont typeface="Arial" panose="020B0604020202020204" pitchFamily="34" charset="0"/>
              <a:buChar char="•"/>
            </a:pPr>
            <a:r>
              <a:rPr lang="en-US" sz="3000" dirty="0">
                <a:solidFill>
                  <a:schemeClr val="bg1">
                    <a:lumMod val="25000"/>
                  </a:schemeClr>
                </a:solidFill>
                <a:latin typeface="Times-Roman"/>
              </a:rPr>
              <a:t>However, for larger collections </a:t>
            </a:r>
            <a:r>
              <a:rPr lang="en-US" sz="3000" dirty="0" smtClean="0">
                <a:solidFill>
                  <a:schemeClr val="bg1">
                    <a:lumMod val="25000"/>
                  </a:schemeClr>
                </a:solidFill>
                <a:latin typeface="Times-Roman"/>
              </a:rPr>
              <a:t>of particles </a:t>
            </a:r>
            <a:r>
              <a:rPr lang="en-US" sz="3000" dirty="0">
                <a:solidFill>
                  <a:schemeClr val="bg1">
                    <a:lumMod val="25000"/>
                  </a:schemeClr>
                </a:solidFill>
                <a:latin typeface="Times-Roman"/>
              </a:rPr>
              <a:t>(N = 106), broadcasting the image and scattering the </a:t>
            </a:r>
            <a:r>
              <a:rPr lang="en-US" sz="3000" dirty="0" smtClean="0">
                <a:solidFill>
                  <a:schemeClr val="bg1">
                    <a:lumMod val="25000"/>
                  </a:schemeClr>
                </a:solidFill>
                <a:latin typeface="Times-Roman"/>
              </a:rPr>
              <a:t>particles has </a:t>
            </a:r>
            <a:r>
              <a:rPr lang="en-US" sz="3000" dirty="0">
                <a:solidFill>
                  <a:schemeClr val="bg1">
                    <a:lumMod val="25000"/>
                  </a:schemeClr>
                </a:solidFill>
                <a:latin typeface="Times-Roman"/>
              </a:rPr>
              <a:t>the better performance.</a:t>
            </a:r>
          </a:p>
        </p:txBody>
      </p:sp>
    </p:spTree>
    <p:extLst>
      <p:ext uri="{BB962C8B-B14F-4D97-AF65-F5344CB8AC3E}">
        <p14:creationId xmlns:p14="http://schemas.microsoft.com/office/powerpoint/2010/main" val="216583608"/>
      </p:ext>
    </p:extLst>
  </p:cSld>
  <p:clrMapOvr>
    <a:masterClrMapping/>
  </p:clrMapOvr>
  <p:transition spd="med"/>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98</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1262590" y="5634121"/>
            <a:ext cx="9267790" cy="830997"/>
          </a:xfrm>
          <a:prstGeom prst="rect">
            <a:avLst/>
          </a:prstGeom>
        </p:spPr>
        <p:txBody>
          <a:bodyPr wrap="square">
            <a:spAutoFit/>
          </a:bodyPr>
          <a:lstStyle/>
          <a:p>
            <a:pPr algn="just"/>
            <a:r>
              <a:rPr lang="en-US" sz="2400" b="1" dirty="0"/>
              <a:t>Figure </a:t>
            </a:r>
            <a:r>
              <a:rPr lang="en-US" sz="2400" b="1" dirty="0" smtClean="0"/>
              <a:t>2.5.2: </a:t>
            </a:r>
            <a:r>
              <a:rPr lang="en-US" sz="2400" dirty="0"/>
              <a:t>Performance comparison of condensation partitioning approaches.</a:t>
            </a:r>
            <a:endParaRPr lang="en-US" sz="3600" dirty="0" smtClean="0">
              <a:solidFill>
                <a:schemeClr val="bg1">
                  <a:lumMod val="25000"/>
                </a:schemeClr>
              </a:solidFill>
              <a:latin typeface="Times-Roman"/>
            </a:endParaRPr>
          </a:p>
        </p:txBody>
      </p:sp>
      <p:pic>
        <p:nvPicPr>
          <p:cNvPr id="3" name="Picture 2"/>
          <p:cNvPicPr>
            <a:picLocks noChangeAspect="1"/>
          </p:cNvPicPr>
          <p:nvPr/>
        </p:nvPicPr>
        <p:blipFill>
          <a:blip r:embed="rId2"/>
          <a:stretch>
            <a:fillRect/>
          </a:stretch>
        </p:blipFill>
        <p:spPr>
          <a:xfrm>
            <a:off x="1794295" y="1439851"/>
            <a:ext cx="8204380" cy="3813754"/>
          </a:xfrm>
          <a:prstGeom prst="rect">
            <a:avLst/>
          </a:prstGeom>
          <a:ln w="28575">
            <a:solidFill>
              <a:schemeClr val="tx1"/>
            </a:solidFill>
          </a:ln>
        </p:spPr>
      </p:pic>
    </p:spTree>
    <p:extLst>
      <p:ext uri="{BB962C8B-B14F-4D97-AF65-F5344CB8AC3E}">
        <p14:creationId xmlns:p14="http://schemas.microsoft.com/office/powerpoint/2010/main" val="1227122937"/>
      </p:ext>
    </p:extLst>
  </p:cSld>
  <p:clrMapOvr>
    <a:masterClrMapping/>
  </p:clrMapOvr>
  <p:transition spd="med"/>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64EF1-EF29-0314-CAB7-C176955AEB1A}"/>
            </a:ext>
          </a:extLst>
        </p:cNvPr>
        <p:cNvGrpSpPr/>
        <p:nvPr/>
      </p:nvGrpSpPr>
      <p:grpSpPr>
        <a:xfrm>
          <a:off x="0" y="0"/>
          <a:ext cx="0" cy="0"/>
          <a:chOff x="0" y="0"/>
          <a:chExt cx="0" cy="0"/>
        </a:xfrm>
      </p:grpSpPr>
      <p:sp>
        <p:nvSpPr>
          <p:cNvPr id="2" name="Slide Number">
            <a:extLst>
              <a:ext uri="{FF2B5EF4-FFF2-40B4-BE49-F238E27FC236}">
                <a16:creationId xmlns:a16="http://schemas.microsoft.com/office/drawing/2014/main" id="{A73DC242-AF22-B35D-3223-61A9E85B5D6C}"/>
              </a:ext>
            </a:extLst>
          </p:cNvPr>
          <p:cNvSpPr txBox="1">
            <a:spLocks noGrp="1"/>
          </p:cNvSpPr>
          <p:nvPr>
            <p:ph type="sldNum" sz="quarter" idx="2"/>
          </p:nvPr>
        </p:nvSpPr>
        <p:spPr>
          <a:xfrm>
            <a:off x="11314137" y="454968"/>
            <a:ext cx="245404" cy="243841"/>
          </a:xfrm>
          <a:prstGeom prst="rect">
            <a:avLst/>
          </a:prstGeom>
        </p:spPr>
        <p:txBody>
          <a:bodyPr/>
          <a:lstStyle/>
          <a:p>
            <a:fld id="{86CB4B4D-7CA3-9044-876B-883B54F8677D}" type="slidenum">
              <a:rPr/>
              <a:t>99</a:t>
            </a:fld>
            <a:endParaRPr dirty="0"/>
          </a:p>
        </p:txBody>
      </p:sp>
      <p:sp>
        <p:nvSpPr>
          <p:cNvPr id="4" name="TextBox 3"/>
          <p:cNvSpPr txBox="1"/>
          <p:nvPr/>
        </p:nvSpPr>
        <p:spPr>
          <a:xfrm>
            <a:off x="369042" y="196176"/>
            <a:ext cx="11604421" cy="70788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algn="ctr"/>
            <a:r>
              <a:rPr lang="en-US" sz="4000" b="1" dirty="0" smtClean="0">
                <a:latin typeface="Times New Roman" panose="02020603050405020304" pitchFamily="18" charset="0"/>
                <a:cs typeface="Times New Roman" panose="02020603050405020304" pitchFamily="18" charset="0"/>
              </a:rPr>
              <a:t>2.5 Video tracking- Learning landmarks</a:t>
            </a:r>
            <a:endParaRPr lang="en-US" sz="4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29699" y="1162852"/>
            <a:ext cx="11407140" cy="2862322"/>
          </a:xfrm>
          <a:prstGeom prst="rect">
            <a:avLst/>
          </a:prstGeom>
        </p:spPr>
        <p:txBody>
          <a:bodyPr wrap="square">
            <a:spAutoFit/>
          </a:bodyPr>
          <a:lstStyle/>
          <a:p>
            <a:pPr marL="457200" indent="-457200" algn="just">
              <a:buFont typeface="Arial" panose="020B0604020202020204" pitchFamily="34" charset="0"/>
              <a:buChar char="•"/>
            </a:pPr>
            <a:r>
              <a:rPr lang="en-US" sz="3000" dirty="0">
                <a:solidFill>
                  <a:schemeClr val="bg1">
                    <a:lumMod val="25000"/>
                  </a:schemeClr>
                </a:solidFill>
                <a:latin typeface="Times-Roman"/>
              </a:rPr>
              <a:t>We would prefer to work with larger </a:t>
            </a:r>
            <a:r>
              <a:rPr lang="en-US" sz="3000" dirty="0" smtClean="0">
                <a:solidFill>
                  <a:schemeClr val="bg1">
                    <a:lumMod val="25000"/>
                  </a:schemeClr>
                </a:solidFill>
                <a:latin typeface="Times-Roman"/>
              </a:rPr>
              <a:t>collections of </a:t>
            </a:r>
            <a:r>
              <a:rPr lang="en-US" sz="3000" dirty="0">
                <a:solidFill>
                  <a:schemeClr val="bg1">
                    <a:lumMod val="25000"/>
                  </a:schemeClr>
                </a:solidFill>
                <a:latin typeface="Times-Roman"/>
              </a:rPr>
              <a:t>particles, since condensation produces a </a:t>
            </a:r>
            <a:r>
              <a:rPr lang="en-US" sz="3000" b="1" dirty="0" smtClean="0">
                <a:solidFill>
                  <a:srgbClr val="00B050"/>
                </a:solidFill>
                <a:latin typeface="Times-Roman"/>
              </a:rPr>
              <a:t>more accurate </a:t>
            </a:r>
            <a:r>
              <a:rPr lang="en-US" sz="3000" dirty="0" smtClean="0">
                <a:solidFill>
                  <a:schemeClr val="bg1">
                    <a:lumMod val="25000"/>
                  </a:schemeClr>
                </a:solidFill>
                <a:latin typeface="Times-Roman"/>
              </a:rPr>
              <a:t>tracking </a:t>
            </a:r>
            <a:r>
              <a:rPr lang="en-US" sz="3000" dirty="0">
                <a:solidFill>
                  <a:schemeClr val="bg1">
                    <a:lumMod val="25000"/>
                  </a:schemeClr>
                </a:solidFill>
                <a:latin typeface="Times-Roman"/>
              </a:rPr>
              <a:t>in that</a:t>
            </a:r>
          </a:p>
          <a:p>
            <a:pPr marL="457200" indent="-457200" algn="just">
              <a:buFont typeface="Arial" panose="020B0604020202020204" pitchFamily="34" charset="0"/>
              <a:buChar char="•"/>
            </a:pPr>
            <a:r>
              <a:rPr lang="en-US" sz="3000" dirty="0">
                <a:solidFill>
                  <a:schemeClr val="bg1">
                    <a:lumMod val="25000"/>
                  </a:schemeClr>
                </a:solidFill>
                <a:latin typeface="Times-Roman"/>
              </a:rPr>
              <a:t>case. </a:t>
            </a:r>
            <a:endParaRPr lang="en-US" sz="3000" dirty="0" smtClean="0">
              <a:solidFill>
                <a:schemeClr val="bg1">
                  <a:lumMod val="25000"/>
                </a:schemeClr>
              </a:solidFill>
              <a:latin typeface="Times-Roman"/>
            </a:endParaRPr>
          </a:p>
          <a:p>
            <a:pPr marL="457200" indent="-457200" algn="just">
              <a:buFont typeface="Arial" panose="020B0604020202020204" pitchFamily="34" charset="0"/>
              <a:buChar char="•"/>
            </a:pPr>
            <a:r>
              <a:rPr lang="en-US" sz="3000" dirty="0" smtClean="0">
                <a:solidFill>
                  <a:schemeClr val="bg1">
                    <a:lumMod val="25000"/>
                  </a:schemeClr>
                </a:solidFill>
                <a:latin typeface="Times-Roman"/>
              </a:rPr>
              <a:t>But </a:t>
            </a:r>
            <a:r>
              <a:rPr lang="en-US" sz="3000" dirty="0">
                <a:solidFill>
                  <a:schemeClr val="bg1">
                    <a:lumMod val="25000"/>
                  </a:schemeClr>
                </a:solidFill>
                <a:latin typeface="Times-Roman"/>
              </a:rPr>
              <a:t>furthermore, scattering the image has the </a:t>
            </a:r>
            <a:r>
              <a:rPr lang="en-US" sz="3000" b="1" dirty="0">
                <a:solidFill>
                  <a:srgbClr val="C00000"/>
                </a:solidFill>
                <a:latin typeface="Times-Roman"/>
              </a:rPr>
              <a:t>disadvantage</a:t>
            </a:r>
            <a:r>
              <a:rPr lang="en-US" sz="3000" dirty="0">
                <a:solidFill>
                  <a:schemeClr val="bg1">
                    <a:lumMod val="25000"/>
                  </a:schemeClr>
                </a:solidFill>
                <a:latin typeface="Times-Roman"/>
              </a:rPr>
              <a:t> that </a:t>
            </a:r>
            <a:r>
              <a:rPr lang="en-US" sz="3000" b="1" dirty="0" smtClean="0">
                <a:solidFill>
                  <a:schemeClr val="bg1">
                    <a:lumMod val="25000"/>
                  </a:schemeClr>
                </a:solidFill>
                <a:latin typeface="Times-Roman"/>
              </a:rPr>
              <a:t>all the </a:t>
            </a:r>
            <a:r>
              <a:rPr lang="en-US" sz="3000" b="1" dirty="0">
                <a:solidFill>
                  <a:schemeClr val="bg1">
                    <a:lumMod val="25000"/>
                  </a:schemeClr>
                </a:solidFill>
                <a:latin typeface="Times-Roman"/>
              </a:rPr>
              <a:t>particles may end up in a small number of row stripes, leaving </a:t>
            </a:r>
            <a:r>
              <a:rPr lang="en-US" sz="3000" b="1" dirty="0" smtClean="0">
                <a:solidFill>
                  <a:schemeClr val="bg1">
                    <a:lumMod val="25000"/>
                  </a:schemeClr>
                </a:solidFill>
                <a:latin typeface="Times-Roman"/>
              </a:rPr>
              <a:t>most processors </a:t>
            </a:r>
            <a:r>
              <a:rPr lang="en-US" sz="3000" b="1" dirty="0">
                <a:solidFill>
                  <a:schemeClr val="bg1">
                    <a:lumMod val="25000"/>
                  </a:schemeClr>
                </a:solidFill>
                <a:latin typeface="Times-Roman"/>
              </a:rPr>
              <a:t>idle.</a:t>
            </a:r>
            <a:endParaRPr lang="en-US" sz="3000" b="1" dirty="0" smtClean="0">
              <a:solidFill>
                <a:schemeClr val="bg1">
                  <a:lumMod val="25000"/>
                </a:schemeClr>
              </a:solidFill>
              <a:latin typeface="Times-Roman"/>
            </a:endParaRPr>
          </a:p>
        </p:txBody>
      </p:sp>
    </p:spTree>
    <p:extLst>
      <p:ext uri="{BB962C8B-B14F-4D97-AF65-F5344CB8AC3E}">
        <p14:creationId xmlns:p14="http://schemas.microsoft.com/office/powerpoint/2010/main" val="2550080743"/>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rgbClr val="000000"/>
      </a:dk1>
      <a:lt1>
        <a:srgbClr val="F2F2F2"/>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Custom 1">
      <a:majorFont>
        <a:latin typeface="Helvetica"/>
        <a:ea typeface="Helvetica"/>
        <a:cs typeface="Helvetica"/>
      </a:majorFont>
      <a:minorFont>
        <a:latin typeface="Calibr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012347"/>
      </a:accent1>
      <a:accent2>
        <a:srgbClr val="003466"/>
      </a:accent2>
      <a:accent3>
        <a:srgbClr val="003F7D"/>
      </a:accent3>
      <a:accent4>
        <a:srgbClr val="FC8C01"/>
      </a:accent4>
      <a:accent5>
        <a:srgbClr val="FE7702"/>
      </a:accent5>
      <a:accent6>
        <a:srgbClr val="FF5004"/>
      </a:accent6>
      <a:hlink>
        <a:srgbClr val="0000FF"/>
      </a:hlink>
      <a:folHlink>
        <a:srgbClr val="FF00FF"/>
      </a:folHlink>
    </a:clrScheme>
    <a:fontScheme name="Office Theme">
      <a:majorFont>
        <a:latin typeface="Helvetica"/>
        <a:ea typeface="Helvetica"/>
        <a:cs typeface="Helvetica"/>
      </a:majorFont>
      <a:minorFont>
        <a:latin typeface="Segoe UI"/>
        <a:ea typeface="Segoe UI"/>
        <a:cs typeface="Segoe U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Segoe U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22044</TotalTime>
  <Words>6467</Words>
  <Application>Microsoft Office PowerPoint</Application>
  <PresentationFormat>Widescreen</PresentationFormat>
  <Paragraphs>569</Paragraphs>
  <Slides>99</Slides>
  <Notes>0</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99</vt:i4>
      </vt:variant>
    </vt:vector>
  </HeadingPairs>
  <TitlesOfParts>
    <vt:vector size="118" baseType="lpstr">
      <vt:lpstr>Arial</vt:lpstr>
      <vt:lpstr>Calibri</vt:lpstr>
      <vt:lpstr>Cambria Math</vt:lpstr>
      <vt:lpstr>CMMI10</vt:lpstr>
      <vt:lpstr>CMMI8</vt:lpstr>
      <vt:lpstr>CMR10</vt:lpstr>
      <vt:lpstr>CMR8</vt:lpstr>
      <vt:lpstr>CMSY10</vt:lpstr>
      <vt:lpstr>CMSY8</vt:lpstr>
      <vt:lpstr>Helvetica</vt:lpstr>
      <vt:lpstr>Lato</vt:lpstr>
      <vt:lpstr>Manrope ExtraBold</vt:lpstr>
      <vt:lpstr>Roboto</vt:lpstr>
      <vt:lpstr>Segoe UI</vt:lpstr>
      <vt:lpstr>Times New Roman</vt:lpstr>
      <vt:lpstr>Times-Bold</vt:lpstr>
      <vt:lpstr>Times-Italic</vt:lpstr>
      <vt:lpstr>Times-Roman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ngopa</dc:creator>
  <cp:lastModifiedBy>admin</cp:lastModifiedBy>
  <cp:revision>933</cp:revision>
  <dcterms:modified xsi:type="dcterms:W3CDTF">2026-03-22T03:21:55Z</dcterms:modified>
</cp:coreProperties>
</file>