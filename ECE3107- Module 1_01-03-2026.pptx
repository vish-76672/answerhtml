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handoutMasterIdLst>
    <p:handoutMasterId r:id="rId47"/>
  </p:handoutMasterIdLst>
  <p:sldIdLst>
    <p:sldId id="256" r:id="rId2"/>
    <p:sldId id="258" r:id="rId3"/>
    <p:sldId id="654" r:id="rId4"/>
    <p:sldId id="690" r:id="rId5"/>
    <p:sldId id="691" r:id="rId6"/>
    <p:sldId id="692" r:id="rId7"/>
    <p:sldId id="693" r:id="rId8"/>
    <p:sldId id="694" r:id="rId9"/>
    <p:sldId id="695" r:id="rId10"/>
    <p:sldId id="696" r:id="rId11"/>
    <p:sldId id="697" r:id="rId12"/>
    <p:sldId id="698" r:id="rId13"/>
    <p:sldId id="699" r:id="rId14"/>
    <p:sldId id="700" r:id="rId15"/>
    <p:sldId id="703" r:id="rId16"/>
    <p:sldId id="704" r:id="rId17"/>
    <p:sldId id="705" r:id="rId18"/>
    <p:sldId id="715" r:id="rId19"/>
    <p:sldId id="708" r:id="rId20"/>
    <p:sldId id="709" r:id="rId21"/>
    <p:sldId id="710" r:id="rId22"/>
    <p:sldId id="711" r:id="rId23"/>
    <p:sldId id="712" r:id="rId24"/>
    <p:sldId id="713" r:id="rId25"/>
    <p:sldId id="707" r:id="rId26"/>
    <p:sldId id="716" r:id="rId27"/>
    <p:sldId id="717" r:id="rId28"/>
    <p:sldId id="718" r:id="rId29"/>
    <p:sldId id="719" r:id="rId30"/>
    <p:sldId id="720" r:id="rId31"/>
    <p:sldId id="721" r:id="rId32"/>
    <p:sldId id="722" r:id="rId33"/>
    <p:sldId id="723" r:id="rId34"/>
    <p:sldId id="724" r:id="rId35"/>
    <p:sldId id="725" r:id="rId36"/>
    <p:sldId id="726" r:id="rId37"/>
    <p:sldId id="727" r:id="rId38"/>
    <p:sldId id="728" r:id="rId39"/>
    <p:sldId id="729" r:id="rId40"/>
    <p:sldId id="730" r:id="rId41"/>
    <p:sldId id="731" r:id="rId42"/>
    <p:sldId id="732" r:id="rId43"/>
    <p:sldId id="733" r:id="rId44"/>
    <p:sldId id="734" r:id="rId4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0A2F"/>
    <a:srgbClr val="FF0000"/>
    <a:srgbClr val="FF66CC"/>
    <a:srgbClr val="545C57"/>
    <a:srgbClr val="0073B6"/>
    <a:srgbClr val="FFF2CC"/>
    <a:srgbClr val="FFFFFF"/>
    <a:srgbClr val="FBE5D6"/>
    <a:srgbClr val="F4B183"/>
    <a:srgbClr val="DEEB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BCE"/>
          </a:solidFill>
        </a:fill>
      </a:tcStyle>
    </a:wholeTbl>
    <a:band2H>
      <a:tcTxStyle/>
      <a:tcStyle>
        <a:tcBdr/>
        <a:fill>
          <a:solidFill>
            <a:srgbClr val="E6E7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DD6"/>
          </a:solidFill>
        </a:fill>
      </a:tcStyle>
    </a:wholeTbl>
    <a:band2H>
      <a:tcTxStyle/>
      <a:tcStyle>
        <a:tcBdr/>
        <a:fill>
          <a:solidFill>
            <a:srgbClr val="E6E8E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FCA"/>
          </a:solidFill>
        </a:fill>
      </a:tcStyle>
    </a:wholeTbl>
    <a:band2H>
      <a:tcTxStyle/>
      <a:tcStyle>
        <a:tcBdr/>
        <a:fill>
          <a:solidFill>
            <a:srgbClr val="FFE8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90" autoAdjust="0"/>
    <p:restoredTop sz="94684" autoAdjust="0"/>
  </p:normalViewPr>
  <p:slideViewPr>
    <p:cSldViewPr snapToGrid="0">
      <p:cViewPr varScale="1">
        <p:scale>
          <a:sx n="37" d="100"/>
          <a:sy n="37" d="100"/>
        </p:scale>
        <p:origin x="52" y="4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6D1AABF-18CB-382E-298C-8196D3F69D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BC5E6A1-C4EE-6883-D5AC-98939827ED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92C540-6F18-412D-936D-4A210F23E2F3}" type="datetimeFigureOut">
              <a:rPr lang="en-IN" smtClean="0"/>
              <a:t>01-03-2026</a:t>
            </a:fld>
            <a:endParaRPr lang="en-IN"/>
          </a:p>
        </p:txBody>
      </p:sp>
      <p:sp>
        <p:nvSpPr>
          <p:cNvPr id="4" name="Footer Placeholder 3">
            <a:extLst>
              <a:ext uri="{FF2B5EF4-FFF2-40B4-BE49-F238E27FC236}">
                <a16:creationId xmlns:a16="http://schemas.microsoft.com/office/drawing/2014/main" id="{B27A6ECF-AA02-CE6E-7EF4-0ADC2665A8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C153CF1-B111-3020-C6D2-F4F873E19E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1A82B2-859D-43C2-B70A-113A1480D004}" type="slidenum">
              <a:rPr lang="en-IN" smtClean="0"/>
              <a:t>‹#›</a:t>
            </a:fld>
            <a:endParaRPr lang="en-IN"/>
          </a:p>
        </p:txBody>
      </p:sp>
    </p:spTree>
    <p:extLst>
      <p:ext uri="{BB962C8B-B14F-4D97-AF65-F5344CB8AC3E}">
        <p14:creationId xmlns:p14="http://schemas.microsoft.com/office/powerpoint/2010/main" val="89010000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latinLnBrk="0">
      <a:defRPr sz="1200">
        <a:latin typeface="+mn-lt"/>
        <a:ea typeface="+mn-ea"/>
        <a:cs typeface="+mn-cs"/>
        <a:sym typeface="Segoe UI"/>
      </a:defRPr>
    </a:lvl1pPr>
    <a:lvl2pPr indent="228600" latinLnBrk="0">
      <a:defRPr sz="1200">
        <a:latin typeface="+mn-lt"/>
        <a:ea typeface="+mn-ea"/>
        <a:cs typeface="+mn-cs"/>
        <a:sym typeface="Segoe UI"/>
      </a:defRPr>
    </a:lvl2pPr>
    <a:lvl3pPr indent="457200" latinLnBrk="0">
      <a:defRPr sz="1200">
        <a:latin typeface="+mn-lt"/>
        <a:ea typeface="+mn-ea"/>
        <a:cs typeface="+mn-cs"/>
        <a:sym typeface="Segoe UI"/>
      </a:defRPr>
    </a:lvl3pPr>
    <a:lvl4pPr indent="685800" latinLnBrk="0">
      <a:defRPr sz="1200">
        <a:latin typeface="+mn-lt"/>
        <a:ea typeface="+mn-ea"/>
        <a:cs typeface="+mn-cs"/>
        <a:sym typeface="Segoe UI"/>
      </a:defRPr>
    </a:lvl4pPr>
    <a:lvl5pPr indent="914400" latinLnBrk="0">
      <a:defRPr sz="1200">
        <a:latin typeface="+mn-lt"/>
        <a:ea typeface="+mn-ea"/>
        <a:cs typeface="+mn-cs"/>
        <a:sym typeface="Segoe UI"/>
      </a:defRPr>
    </a:lvl5pPr>
    <a:lvl6pPr indent="1143000" latinLnBrk="0">
      <a:defRPr sz="1200">
        <a:latin typeface="+mn-lt"/>
        <a:ea typeface="+mn-ea"/>
        <a:cs typeface="+mn-cs"/>
        <a:sym typeface="Segoe UI"/>
      </a:defRPr>
    </a:lvl6pPr>
    <a:lvl7pPr indent="1371600" latinLnBrk="0">
      <a:defRPr sz="1200">
        <a:latin typeface="+mn-lt"/>
        <a:ea typeface="+mn-ea"/>
        <a:cs typeface="+mn-cs"/>
        <a:sym typeface="Segoe UI"/>
      </a:defRPr>
    </a:lvl7pPr>
    <a:lvl8pPr indent="1600200" latinLnBrk="0">
      <a:defRPr sz="1200">
        <a:latin typeface="+mn-lt"/>
        <a:ea typeface="+mn-ea"/>
        <a:cs typeface="+mn-cs"/>
        <a:sym typeface="Segoe UI"/>
      </a:defRPr>
    </a:lvl8pPr>
    <a:lvl9pPr indent="1828800" latinLnBrk="0">
      <a:defRPr sz="1200">
        <a:latin typeface="+mn-lt"/>
        <a:ea typeface="+mn-ea"/>
        <a:cs typeface="+mn-cs"/>
        <a:sym typeface="Segoe UI"/>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pic>
        <p:nvPicPr>
          <p:cNvPr id="5" name="object 3">
            <a:extLst>
              <a:ext uri="{FF2B5EF4-FFF2-40B4-BE49-F238E27FC236}">
                <a16:creationId xmlns:a16="http://schemas.microsoft.com/office/drawing/2014/main" id="{98774FEE-27E5-DCEB-8DB4-6052E39BAE0E}"/>
              </a:ext>
            </a:extLst>
          </p:cNvPr>
          <p:cNvPicPr/>
          <p:nvPr userDrawn="1"/>
        </p:nvPicPr>
        <p:blipFill>
          <a:blip r:embed="rId2" cstate="print"/>
          <a:srcRect t="91915"/>
          <a:stretch>
            <a:fillRect/>
          </a:stretch>
        </p:blipFill>
        <p:spPr>
          <a:xfrm>
            <a:off x="0" y="6303523"/>
            <a:ext cx="12191999" cy="554474"/>
          </a:xfrm>
          <a:prstGeom prst="rect">
            <a:avLst/>
          </a:prstGeom>
        </p:spPr>
      </p:pic>
      <p:sp>
        <p:nvSpPr>
          <p:cNvPr id="6" name="Slide Number"/>
          <p:cNvSpPr txBox="1">
            <a:spLocks noGrp="1"/>
          </p:cNvSpPr>
          <p:nvPr>
            <p:ph type="sldNum" sz="quarter" idx="2"/>
          </p:nvPr>
        </p:nvSpPr>
        <p:spPr>
          <a:xfrm>
            <a:off x="11314137" y="416058"/>
            <a:ext cx="245404" cy="243841"/>
          </a:xfrm>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Rectangle 2"/>
          <p:cNvSpPr/>
          <p:nvPr/>
        </p:nvSpPr>
        <p:spPr>
          <a:xfrm>
            <a:off x="609600" y="423632"/>
            <a:ext cx="45719" cy="262170"/>
          </a:xfrm>
          <a:prstGeom prst="rect">
            <a:avLst/>
          </a:prstGeom>
          <a:solidFill>
            <a:srgbClr val="F39000"/>
          </a:solidFill>
          <a:ln w="12700">
            <a:miter lim="400000"/>
          </a:ln>
        </p:spPr>
        <p:txBody>
          <a:bodyPr lIns="45719" rIns="45719" anchor="ctr"/>
          <a:lstStyle/>
          <a:p>
            <a:pPr algn="ctr">
              <a:defRPr>
                <a:solidFill>
                  <a:srgbClr val="FFFFFF"/>
                </a:solidFill>
              </a:defRPr>
            </a:pPr>
            <a:endParaRPr/>
          </a:p>
        </p:txBody>
      </p:sp>
      <p:sp>
        <p:nvSpPr>
          <p:cNvPr id="5" name="Slide Number"/>
          <p:cNvSpPr txBox="1">
            <a:spLocks noGrp="1"/>
          </p:cNvSpPr>
          <p:nvPr>
            <p:ph type="sldNum" sz="quarter" idx="2"/>
          </p:nvPr>
        </p:nvSpPr>
        <p:spPr>
          <a:xfrm>
            <a:off x="11314137" y="454968"/>
            <a:ext cx="245404" cy="243841"/>
          </a:xfrm>
          <a:prstGeom prst="rect">
            <a:avLst/>
          </a:prstGeom>
          <a:ln w="12700">
            <a:miter lim="400000"/>
          </a:ln>
        </p:spPr>
        <p:txBody>
          <a:bodyPr wrap="none" lIns="45719" rIns="45719">
            <a:spAutoFit/>
          </a:bodyPr>
          <a:lstStyle>
            <a:lvl1pPr algn="r">
              <a:defRPr sz="1000" b="1">
                <a:solidFill>
                  <a:schemeClr val="accent3">
                    <a:alpha val="64999"/>
                  </a:schemeClr>
                </a:solidFill>
                <a:latin typeface="+mj-lt"/>
                <a:ea typeface="+mj-ea"/>
                <a:cs typeface="+mj-cs"/>
                <a:sym typeface="Helvetica"/>
              </a:defRPr>
            </a:lvl1pPr>
          </a:lstStyle>
          <a:p>
            <a:fld id="{86CB4B4D-7CA3-9044-876B-883B54F8677D}" type="slidenum">
              <a:t>‹#›</a:t>
            </a:fld>
            <a:endParaRPr/>
          </a:p>
        </p:txBody>
      </p:sp>
      <p:sp>
        <p:nvSpPr>
          <p:cNvPr id="6" name="Title 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Title Text</a:t>
            </a:r>
          </a:p>
        </p:txBody>
      </p:sp>
      <p:sp>
        <p:nvSpPr>
          <p:cNvPr id="7"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pic>
        <p:nvPicPr>
          <p:cNvPr id="8" name="Picture 7">
            <a:extLst>
              <a:ext uri="{FF2B5EF4-FFF2-40B4-BE49-F238E27FC236}">
                <a16:creationId xmlns:a16="http://schemas.microsoft.com/office/drawing/2014/main" id="{87CD046F-B34F-1446-0826-53E04B5FF5C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6991" y="423631"/>
            <a:ext cx="1209596" cy="26217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1pPr>
      <a:lvl2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2pPr>
      <a:lvl3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3pPr>
      <a:lvl4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4pPr>
      <a:lvl5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5pPr>
      <a:lvl6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6pPr>
      <a:lvl7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7pPr>
      <a:lvl8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8pPr>
      <a:lvl9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p:bodyStyle>
    <p:otherStyle>
      <a:lvl1pPr marL="0" marR="0" indent="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1pPr>
      <a:lvl2pPr marL="0" marR="0" indent="4572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2pPr>
      <a:lvl3pPr marL="0" marR="0" indent="9144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3pPr>
      <a:lvl4pPr marL="0" marR="0" indent="13716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4pPr>
      <a:lvl5pPr marL="0" marR="0" indent="18288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5pPr>
      <a:lvl6pPr marL="0" marR="0" indent="22860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6pPr>
      <a:lvl7pPr marL="0" marR="0" indent="27432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7pPr>
      <a:lvl8pPr marL="0" marR="0" indent="32004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8pPr>
      <a:lvl9pPr marL="0" marR="0" indent="36576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11BAA27-C0F4-A466-A09B-15D5201C28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1" name="Rectangle 1"/>
          <p:cNvSpPr/>
          <p:nvPr/>
        </p:nvSpPr>
        <p:spPr>
          <a:xfrm>
            <a:off x="-1" y="0"/>
            <a:ext cx="12192000" cy="6966857"/>
          </a:xfrm>
          <a:prstGeom prst="rect">
            <a:avLst/>
          </a:prstGeom>
          <a:solidFill>
            <a:srgbClr val="002F5E">
              <a:alpha val="74902"/>
            </a:srgbClr>
          </a:solidFill>
          <a:ln w="12700">
            <a:miter lim="400000"/>
          </a:ln>
        </p:spPr>
        <p:txBody>
          <a:bodyPr lIns="45719" rIns="45719" anchor="ctr"/>
          <a:lstStyle/>
          <a:p>
            <a:pPr algn="ctr">
              <a:defRPr>
                <a:solidFill>
                  <a:srgbClr val="FFFFFF"/>
                </a:solidFill>
              </a:defRPr>
            </a:pPr>
            <a:endParaRPr>
              <a:latin typeface="+mj-lt"/>
            </a:endParaRPr>
          </a:p>
        </p:txBody>
      </p:sp>
      <p:sp>
        <p:nvSpPr>
          <p:cNvPr id="202" name="TextBox 2"/>
          <p:cNvSpPr txBox="1"/>
          <p:nvPr/>
        </p:nvSpPr>
        <p:spPr>
          <a:xfrm>
            <a:off x="567271" y="2277410"/>
            <a:ext cx="11390486" cy="18620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ctr">
              <a:defRPr sz="17300" b="1">
                <a:solidFill>
                  <a:srgbClr val="188CFF">
                    <a:alpha val="15000"/>
                  </a:srgbClr>
                </a:solidFill>
                <a:effectLst>
                  <a:outerShdw blurRad="127000" rotWithShape="0">
                    <a:srgbClr val="000000">
                      <a:alpha val="10000"/>
                    </a:srgbClr>
                  </a:outerShdw>
                </a:effectLst>
                <a:latin typeface="Manrope ExtraBold"/>
                <a:ea typeface="Manrope ExtraBold"/>
                <a:cs typeface="Manrope ExtraBold"/>
                <a:sym typeface="Manrope ExtraBold"/>
              </a:defRPr>
            </a:lvl1pPr>
          </a:lstStyle>
          <a:p>
            <a:r>
              <a:rPr lang="en-IN" sz="11500" dirty="0">
                <a:latin typeface="+mj-lt"/>
              </a:rPr>
              <a:t>Presidency</a:t>
            </a:r>
            <a:endParaRPr sz="13800" dirty="0">
              <a:latin typeface="+mj-lt"/>
            </a:endParaRPr>
          </a:p>
        </p:txBody>
      </p:sp>
      <p:sp>
        <p:nvSpPr>
          <p:cNvPr id="203" name="TextBox 3"/>
          <p:cNvSpPr txBox="1"/>
          <p:nvPr/>
        </p:nvSpPr>
        <p:spPr>
          <a:xfrm>
            <a:off x="3070953" y="3757878"/>
            <a:ext cx="6050093" cy="6588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lnSpc>
                <a:spcPct val="150000"/>
              </a:lnSpc>
              <a:defRPr sz="1600" spc="300">
                <a:solidFill>
                  <a:srgbClr val="FFFFFF"/>
                </a:solidFill>
              </a:defRPr>
            </a:lvl1pPr>
          </a:lstStyle>
          <a:p>
            <a:r>
              <a:rPr lang="en-IN" sz="2800" b="1" dirty="0">
                <a:latin typeface="+mj-lt"/>
              </a:rPr>
              <a:t>School of Engineering</a:t>
            </a:r>
            <a:endParaRPr sz="2800" b="1" dirty="0">
              <a:latin typeface="+mj-lt"/>
            </a:endParaRPr>
          </a:p>
        </p:txBody>
      </p:sp>
      <p:sp>
        <p:nvSpPr>
          <p:cNvPr id="205" name="Rectangle 11"/>
          <p:cNvSpPr/>
          <p:nvPr/>
        </p:nvSpPr>
        <p:spPr>
          <a:xfrm>
            <a:off x="609600" y="380240"/>
            <a:ext cx="45719" cy="305561"/>
          </a:xfrm>
          <a:prstGeom prst="rect">
            <a:avLst/>
          </a:prstGeom>
          <a:solidFill>
            <a:srgbClr val="F39000"/>
          </a:solidFill>
          <a:ln w="12700">
            <a:miter lim="400000"/>
          </a:ln>
        </p:spPr>
        <p:txBody>
          <a:bodyPr lIns="45719" rIns="45719" anchor="ctr"/>
          <a:lstStyle/>
          <a:p>
            <a:pPr algn="ctr">
              <a:defRPr>
                <a:solidFill>
                  <a:srgbClr val="FFFFFF"/>
                </a:solidFill>
              </a:defRPr>
            </a:pPr>
            <a:endParaRPr>
              <a:latin typeface="+mj-lt"/>
            </a:endParaRPr>
          </a:p>
        </p:txBody>
      </p:sp>
      <p:sp>
        <p:nvSpPr>
          <p:cNvPr id="208" name="TextBox 14"/>
          <p:cNvSpPr txBox="1"/>
          <p:nvPr/>
        </p:nvSpPr>
        <p:spPr>
          <a:xfrm>
            <a:off x="11350956" y="454968"/>
            <a:ext cx="162863" cy="2462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r">
              <a:defRPr sz="1000" b="1">
                <a:solidFill>
                  <a:srgbClr val="FFFFFF">
                    <a:alpha val="60000"/>
                  </a:srgbClr>
                </a:solidFill>
                <a:latin typeface="+mj-lt"/>
                <a:ea typeface="+mj-ea"/>
                <a:cs typeface="+mj-cs"/>
                <a:sym typeface="Helvetica"/>
              </a:defRPr>
            </a:lvl1pPr>
          </a:lstStyle>
          <a:p>
            <a:r>
              <a:t>1</a:t>
            </a:r>
          </a:p>
        </p:txBody>
      </p:sp>
      <p:pic>
        <p:nvPicPr>
          <p:cNvPr id="3" name="Picture 2">
            <a:extLst>
              <a:ext uri="{FF2B5EF4-FFF2-40B4-BE49-F238E27FC236}">
                <a16:creationId xmlns:a16="http://schemas.microsoft.com/office/drawing/2014/main" id="{99BBA17B-3BC2-6BF3-E9AA-D4BFBC2AD5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6283" y="380240"/>
            <a:ext cx="1378341" cy="298744"/>
          </a:xfrm>
          <a:prstGeom prst="rect">
            <a:avLst/>
          </a:prstGeom>
        </p:spPr>
      </p:pic>
      <p:pic>
        <p:nvPicPr>
          <p:cNvPr id="5" name="Picture 4">
            <a:extLst>
              <a:ext uri="{FF2B5EF4-FFF2-40B4-BE49-F238E27FC236}">
                <a16:creationId xmlns:a16="http://schemas.microsoft.com/office/drawing/2014/main" id="{EF546ABE-E94D-3667-ECB3-72C0D85515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481411"/>
            <a:ext cx="12192000" cy="469900"/>
          </a:xfrm>
          <a:prstGeom prst="rect">
            <a:avLst/>
          </a:prstGeom>
        </p:spPr>
      </p:pic>
      <p:sp>
        <p:nvSpPr>
          <p:cNvPr id="13" name="TextBox 5"/>
          <p:cNvSpPr txBox="1"/>
          <p:nvPr/>
        </p:nvSpPr>
        <p:spPr>
          <a:xfrm>
            <a:off x="2034614" y="2277410"/>
            <a:ext cx="8295781" cy="1631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ctr">
              <a:defRPr sz="10000" b="1">
                <a:solidFill>
                  <a:srgbClr val="FFFFFF"/>
                </a:solidFill>
                <a:latin typeface="Manrope ExtraBold"/>
                <a:ea typeface="Manrope ExtraBold"/>
                <a:cs typeface="Manrope ExtraBold"/>
                <a:sym typeface="Manrope ExtraBold"/>
              </a:defRPr>
            </a:lvl1pPr>
          </a:lstStyle>
          <a:p>
            <a:r>
              <a:rPr lang="en-IN" dirty="0">
                <a:latin typeface="+mj-lt"/>
              </a:rPr>
              <a:t>Presidency</a:t>
            </a:r>
            <a:endParaRPr dirty="0">
              <a:latin typeface="+mj-lt"/>
            </a:endParaRPr>
          </a:p>
        </p:txBody>
      </p:sp>
      <p:pic>
        <p:nvPicPr>
          <p:cNvPr id="4" name="Picture 3">
            <a:extLst>
              <a:ext uri="{FF2B5EF4-FFF2-40B4-BE49-F238E27FC236}">
                <a16:creationId xmlns:a16="http://schemas.microsoft.com/office/drawing/2014/main" id="{73A40FF4-89C1-E9E6-5D7A-021F33E69862}"/>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6486546"/>
            <a:ext cx="12191999" cy="619125"/>
          </a:xfrm>
          <a:prstGeom prst="rect">
            <a:avLst/>
          </a:prstGeom>
        </p:spPr>
      </p:pic>
      <p:sp>
        <p:nvSpPr>
          <p:cNvPr id="2" name="Slide Number Placeholder 1"/>
          <p:cNvSpPr>
            <a:spLocks noGrp="1"/>
          </p:cNvSpPr>
          <p:nvPr>
            <p:ph type="sldNum" sz="quarter" idx="2"/>
          </p:nvPr>
        </p:nvSpPr>
        <p:spPr/>
        <p:txBody>
          <a:bodyPr/>
          <a:lstStyle/>
          <a:p>
            <a:fld id="{86CB4B4D-7CA3-9044-876B-883B54F8677D}" type="slidenum">
              <a:rPr lang="en-US" smtClean="0"/>
              <a:t>1</a:t>
            </a:fld>
            <a:endParaRPr lang="en-US" dirty="0"/>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6860DEDE-8776-0046-048C-E6DE43CC37B5}"/>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a:t>
            </a:fld>
            <a:endParaRPr dirty="0"/>
          </a:p>
        </p:txBody>
      </p:sp>
      <p:sp>
        <p:nvSpPr>
          <p:cNvPr id="3" name="Rectangle 1">
            <a:extLst>
              <a:ext uri="{FF2B5EF4-FFF2-40B4-BE49-F238E27FC236}">
                <a16:creationId xmlns:a16="http://schemas.microsoft.com/office/drawing/2014/main" id="{E4602A46-9DC8-21BB-8665-CFE4F8DD9EAE}"/>
              </a:ext>
            </a:extLst>
          </p:cNvPr>
          <p:cNvSpPr>
            <a:spLocks noChangeArrowheads="1"/>
          </p:cNvSpPr>
          <p:nvPr/>
        </p:nvSpPr>
        <p:spPr bwMode="auto">
          <a:xfrm>
            <a:off x="152400" y="1828562"/>
            <a:ext cx="11887200"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000" b="1" dirty="0">
                <a:solidFill>
                  <a:srgbClr val="002060"/>
                </a:solidFill>
                <a:latin typeface="Arial" panose="020B0604020202020204" pitchFamily="34" charset="0"/>
              </a:rPr>
              <a:t>Department of </a:t>
            </a:r>
          </a:p>
          <a:p>
            <a:pPr algn="ctr" eaLnBrk="1" hangingPunct="1">
              <a:lnSpc>
                <a:spcPct val="100000"/>
              </a:lnSpc>
              <a:spcBef>
                <a:spcPct val="0"/>
              </a:spcBef>
              <a:buFontTx/>
              <a:buNone/>
            </a:pPr>
            <a:endParaRPr lang="en-US" altLang="en-US" sz="1800" b="1" dirty="0">
              <a:solidFill>
                <a:srgbClr val="002060"/>
              </a:solidFill>
              <a:latin typeface="Arial" panose="020B0604020202020204" pitchFamily="34" charset="0"/>
            </a:endParaRPr>
          </a:p>
          <a:p>
            <a:pPr algn="ctr" eaLnBrk="1" hangingPunct="1">
              <a:lnSpc>
                <a:spcPct val="100000"/>
              </a:lnSpc>
              <a:spcBef>
                <a:spcPct val="0"/>
              </a:spcBef>
              <a:buFontTx/>
              <a:buNone/>
            </a:pPr>
            <a:r>
              <a:rPr lang="en-US" altLang="en-US" sz="4000" b="1" dirty="0" smtClean="0">
                <a:solidFill>
                  <a:srgbClr val="002060"/>
                </a:solidFill>
                <a:latin typeface="Arial" panose="020B0604020202020204" pitchFamily="34" charset="0"/>
              </a:rPr>
              <a:t>Electronics and Communication </a:t>
            </a:r>
            <a:r>
              <a:rPr lang="en-US" altLang="en-US" sz="4000" b="1" dirty="0">
                <a:solidFill>
                  <a:srgbClr val="002060"/>
                </a:solidFill>
                <a:latin typeface="Arial" panose="020B0604020202020204" pitchFamily="34" charset="0"/>
              </a:rPr>
              <a:t>Engineering </a:t>
            </a:r>
          </a:p>
        </p:txBody>
      </p:sp>
    </p:spTree>
    <p:extLst>
      <p:ext uri="{BB962C8B-B14F-4D97-AF65-F5344CB8AC3E}">
        <p14:creationId xmlns:p14="http://schemas.microsoft.com/office/powerpoint/2010/main" val="2633618040"/>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4FF99-1426-541C-5B7F-ED61BE610776}"/>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B9ABBC70-7E27-455C-83CC-7C52E96151B2}"/>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a:t>
            </a:fld>
            <a:endParaRPr dirty="0"/>
          </a:p>
        </p:txBody>
      </p:sp>
      <p:sp>
        <p:nvSpPr>
          <p:cNvPr id="5" name="Rectangle 4">
            <a:extLst>
              <a:ext uri="{FF2B5EF4-FFF2-40B4-BE49-F238E27FC236}">
                <a16:creationId xmlns:a16="http://schemas.microsoft.com/office/drawing/2014/main" id="{A25341BC-113B-C132-C3D1-EDFC0CE55EF4}"/>
              </a:ext>
            </a:extLst>
          </p:cNvPr>
          <p:cNvSpPr/>
          <p:nvPr/>
        </p:nvSpPr>
        <p:spPr>
          <a:xfrm>
            <a:off x="845820" y="805488"/>
            <a:ext cx="11144250" cy="2246769"/>
          </a:xfrm>
          <a:prstGeom prst="rect">
            <a:avLst/>
          </a:prstGeom>
        </p:spPr>
        <p:txBody>
          <a:bodyPr wrap="square">
            <a:spAutoFit/>
          </a:bodyPr>
          <a:lstStyle/>
          <a:p>
            <a:pPr algn="ctr"/>
            <a:r>
              <a:rPr lang="en-US" sz="4000" b="1" dirty="0">
                <a:solidFill>
                  <a:srgbClr val="FF0000"/>
                </a:solidFill>
              </a:rPr>
              <a:t>Basics of </a:t>
            </a:r>
            <a:r>
              <a:rPr lang="en-US" sz="4000" b="1" dirty="0" smtClean="0">
                <a:solidFill>
                  <a:srgbClr val="FF0000"/>
                </a:solidFill>
              </a:rPr>
              <a:t>Electronics and Communication </a:t>
            </a:r>
            <a:r>
              <a:rPr lang="en-US" sz="4000" b="1" dirty="0">
                <a:solidFill>
                  <a:srgbClr val="FF0000"/>
                </a:solidFill>
              </a:rPr>
              <a:t>Engineering (</a:t>
            </a:r>
            <a:r>
              <a:rPr lang="en-US" sz="4000" b="1" dirty="0" smtClean="0">
                <a:solidFill>
                  <a:srgbClr val="FF0000"/>
                </a:solidFill>
              </a:rPr>
              <a:t>ECE3107)</a:t>
            </a:r>
            <a:endParaRPr lang="en-US" sz="4000" b="1" dirty="0">
              <a:solidFill>
                <a:srgbClr val="FF0000"/>
              </a:solidFill>
            </a:endParaRPr>
          </a:p>
          <a:p>
            <a:pPr algn="ctr">
              <a:lnSpc>
                <a:spcPct val="150000"/>
              </a:lnSpc>
            </a:pPr>
            <a:r>
              <a:rPr lang="en-US" sz="4000" b="1" dirty="0">
                <a:solidFill>
                  <a:schemeClr val="accent1">
                    <a:lumMod val="90000"/>
                    <a:lumOff val="10000"/>
                  </a:schemeClr>
                </a:solidFill>
              </a:rPr>
              <a:t>L-T-P-C: 3-0-0-3</a:t>
            </a:r>
          </a:p>
        </p:txBody>
      </p:sp>
      <p:sp>
        <p:nvSpPr>
          <p:cNvPr id="3" name="TextBox 2">
            <a:extLst>
              <a:ext uri="{FF2B5EF4-FFF2-40B4-BE49-F238E27FC236}">
                <a16:creationId xmlns:a16="http://schemas.microsoft.com/office/drawing/2014/main" id="{26BDAB2D-57D1-041B-8526-944C33E338CA}"/>
              </a:ext>
            </a:extLst>
          </p:cNvPr>
          <p:cNvSpPr txBox="1"/>
          <p:nvPr/>
        </p:nvSpPr>
        <p:spPr>
          <a:xfrm>
            <a:off x="2455545" y="3999220"/>
            <a:ext cx="7029450" cy="2400657"/>
          </a:xfrm>
          <a:prstGeom prst="rect">
            <a:avLst/>
          </a:prstGeom>
          <a:noFill/>
        </p:spPr>
        <p:txBody>
          <a:bodyPr wrap="square" rtlCol="0">
            <a:spAutoFit/>
          </a:bodyPr>
          <a:lstStyle/>
          <a:p>
            <a:pPr algn="ctr"/>
            <a:r>
              <a:rPr lang="en-US" sz="2500" dirty="0">
                <a:solidFill>
                  <a:srgbClr val="002060"/>
                </a:solidFill>
                <a:latin typeface="Times New Roman" pitchFamily="18" charset="0"/>
                <a:cs typeface="Times New Roman" pitchFamily="18" charset="0"/>
              </a:rPr>
              <a:t>By</a:t>
            </a:r>
          </a:p>
          <a:p>
            <a:pPr algn="ctr"/>
            <a:r>
              <a:rPr lang="en-US" sz="2500" b="1" dirty="0">
                <a:solidFill>
                  <a:srgbClr val="002060"/>
                </a:solidFill>
                <a:latin typeface="Times New Roman" pitchFamily="18" charset="0"/>
                <a:cs typeface="Times New Roman" pitchFamily="18" charset="0"/>
              </a:rPr>
              <a:t>Dr. </a:t>
            </a:r>
            <a:r>
              <a:rPr lang="en-US" sz="2500" b="1" dirty="0" smtClean="0">
                <a:solidFill>
                  <a:srgbClr val="002060"/>
                </a:solidFill>
                <a:latin typeface="Times New Roman" pitchFamily="18" charset="0"/>
                <a:cs typeface="Times New Roman" pitchFamily="18" charset="0"/>
              </a:rPr>
              <a:t>K. </a:t>
            </a:r>
            <a:r>
              <a:rPr lang="en-US" sz="2500" b="1" dirty="0" err="1" smtClean="0">
                <a:solidFill>
                  <a:srgbClr val="002060"/>
                </a:solidFill>
                <a:latin typeface="Times New Roman" pitchFamily="18" charset="0"/>
                <a:cs typeface="Times New Roman" pitchFamily="18" charset="0"/>
              </a:rPr>
              <a:t>Gowri</a:t>
            </a:r>
            <a:endParaRPr lang="en-US" sz="2500" b="1" dirty="0">
              <a:solidFill>
                <a:srgbClr val="002060"/>
              </a:solidFill>
              <a:latin typeface="Times New Roman" pitchFamily="18" charset="0"/>
              <a:cs typeface="Times New Roman" pitchFamily="18" charset="0"/>
            </a:endParaRPr>
          </a:p>
          <a:p>
            <a:pPr algn="ctr"/>
            <a:r>
              <a:rPr lang="en-US" sz="2500" i="1" dirty="0">
                <a:solidFill>
                  <a:srgbClr val="002060"/>
                </a:solidFill>
                <a:latin typeface="Times New Roman" pitchFamily="18" charset="0"/>
                <a:cs typeface="Times New Roman" pitchFamily="18" charset="0"/>
              </a:rPr>
              <a:t>Assistant Professor – Senior Scale</a:t>
            </a:r>
          </a:p>
          <a:p>
            <a:pPr algn="ctr"/>
            <a:r>
              <a:rPr lang="en-US" sz="2500" i="1" dirty="0">
                <a:solidFill>
                  <a:srgbClr val="002060"/>
                </a:solidFill>
                <a:latin typeface="Times New Roman" pitchFamily="18" charset="0"/>
                <a:cs typeface="Times New Roman" pitchFamily="18" charset="0"/>
              </a:rPr>
              <a:t>Department of </a:t>
            </a:r>
            <a:r>
              <a:rPr lang="en-US" sz="2500" i="1" dirty="0" smtClean="0">
                <a:solidFill>
                  <a:srgbClr val="002060"/>
                </a:solidFill>
                <a:latin typeface="Times New Roman" pitchFamily="18" charset="0"/>
                <a:cs typeface="Times New Roman" pitchFamily="18" charset="0"/>
              </a:rPr>
              <a:t>Electronics and Communication Engineering</a:t>
            </a:r>
            <a:endParaRPr lang="en-US" sz="2500" i="1" dirty="0">
              <a:solidFill>
                <a:srgbClr val="002060"/>
              </a:solidFill>
              <a:latin typeface="Times New Roman" pitchFamily="18" charset="0"/>
              <a:cs typeface="Times New Roman" pitchFamily="18" charset="0"/>
            </a:endParaRPr>
          </a:p>
          <a:p>
            <a:pPr algn="ctr"/>
            <a:r>
              <a:rPr lang="en-US" sz="2500" i="1" dirty="0">
                <a:solidFill>
                  <a:srgbClr val="002060"/>
                </a:solidFill>
                <a:latin typeface="Times New Roman" pitchFamily="18" charset="0"/>
                <a:cs typeface="Times New Roman" pitchFamily="18" charset="0"/>
              </a:rPr>
              <a:t>Presidency University, Bengaluru</a:t>
            </a:r>
          </a:p>
        </p:txBody>
      </p:sp>
    </p:spTree>
    <p:extLst>
      <p:ext uri="{BB962C8B-B14F-4D97-AF65-F5344CB8AC3E}">
        <p14:creationId xmlns:p14="http://schemas.microsoft.com/office/powerpoint/2010/main" val="3306176095"/>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4000" b="1" i="0" u="none" strike="noStrike" cap="none" spc="0" normalizeH="0" baseline="0" dirty="0" smtClean="0">
                <a:ln>
                  <a:noFill/>
                </a:ln>
                <a:solidFill>
                  <a:srgbClr val="000000"/>
                </a:solidFill>
                <a:effectLst/>
                <a:uFillTx/>
                <a:latin typeface="+mn-lt"/>
                <a:ea typeface="+mn-ea"/>
                <a:cs typeface="+mn-cs"/>
                <a:sym typeface="Segoe UI"/>
              </a:rPr>
              <a:t>MODULE</a:t>
            </a:r>
            <a:r>
              <a:rPr kumimoji="0" lang="en-US" sz="4000" b="1" i="0" u="none" strike="noStrike" cap="none" spc="0" normalizeH="0" dirty="0" smtClean="0">
                <a:ln>
                  <a:noFill/>
                </a:ln>
                <a:solidFill>
                  <a:srgbClr val="000000"/>
                </a:solidFill>
                <a:effectLst/>
                <a:uFillTx/>
                <a:latin typeface="+mn-lt"/>
                <a:ea typeface="+mn-ea"/>
                <a:cs typeface="+mn-cs"/>
                <a:sym typeface="Segoe UI"/>
              </a:rPr>
              <a:t> </a:t>
            </a:r>
            <a:r>
              <a:rPr kumimoji="0" lang="en-US" sz="4000" b="1" i="0" u="none" strike="noStrike" cap="none" spc="0" normalizeH="0" dirty="0" smtClean="0">
                <a:ln>
                  <a:noFill/>
                </a:ln>
                <a:solidFill>
                  <a:srgbClr val="000000"/>
                </a:solidFill>
                <a:effectLst/>
                <a:uFillTx/>
                <a:latin typeface="+mn-lt"/>
                <a:ea typeface="+mn-ea"/>
                <a:cs typeface="+mn-cs"/>
                <a:sym typeface="Segoe UI"/>
              </a:rPr>
              <a:t>2</a:t>
            </a:r>
            <a:endParaRPr kumimoji="0" lang="en-US" sz="4000" b="1" i="0" u="none" strike="noStrike" cap="none" spc="0" normalizeH="0" baseline="0" dirty="0">
              <a:ln>
                <a:noFill/>
              </a:ln>
              <a:solidFill>
                <a:srgbClr val="000000"/>
              </a:solidFill>
              <a:effectLst/>
              <a:uFillTx/>
              <a:latin typeface="+mn-lt"/>
              <a:ea typeface="+mn-ea"/>
              <a:cs typeface="+mn-cs"/>
              <a:sym typeface="Segoe UI"/>
            </a:endParaRPr>
          </a:p>
        </p:txBody>
      </p:sp>
      <p:sp>
        <p:nvSpPr>
          <p:cNvPr id="9" name="Rectangle 8"/>
          <p:cNvSpPr/>
          <p:nvPr/>
        </p:nvSpPr>
        <p:spPr>
          <a:xfrm>
            <a:off x="476077" y="1503680"/>
            <a:ext cx="11407140" cy="4339650"/>
          </a:xfrm>
          <a:prstGeom prst="rect">
            <a:avLst/>
          </a:prstGeom>
        </p:spPr>
        <p:txBody>
          <a:bodyPr wrap="square">
            <a:spAutoFit/>
          </a:bodyPr>
          <a:lstStyle/>
          <a:p>
            <a:r>
              <a:rPr lang="en-US" sz="3200" b="1" dirty="0">
                <a:solidFill>
                  <a:srgbClr val="FF0000"/>
                </a:solidFill>
              </a:rPr>
              <a:t>Vision algorithms and applications: </a:t>
            </a:r>
            <a:r>
              <a:rPr lang="en-US" sz="3200" dirty="0">
                <a:solidFill>
                  <a:srgbClr val="FF0000"/>
                </a:solidFill>
              </a:rPr>
              <a:t>	</a:t>
            </a:r>
          </a:p>
          <a:p>
            <a:pPr algn="just"/>
            <a:r>
              <a:rPr lang="en-US" sz="3600" dirty="0"/>
              <a:t>Transforming sensor reading, Mapping Sonar Data, aligning laser scan measurements - Vision and Tracking: Following the road, Iconic image processing, Multiscale image processing </a:t>
            </a:r>
          </a:p>
          <a:p>
            <a:pPr algn="just"/>
            <a:r>
              <a:rPr lang="en-US" sz="3600" dirty="0"/>
              <a:t>Video Tracking - Learning landmarks: Landmark </a:t>
            </a:r>
            <a:r>
              <a:rPr lang="en-US" sz="3600" dirty="0" err="1"/>
              <a:t>spatiograms</a:t>
            </a:r>
            <a:r>
              <a:rPr lang="en-US" sz="3600" dirty="0"/>
              <a:t>, K-means Clustering, EM Clustering. 	</a:t>
            </a:r>
            <a:r>
              <a:rPr lang="en-US" sz="3600" dirty="0" smtClean="0"/>
              <a:t> </a:t>
            </a:r>
            <a:r>
              <a:rPr lang="en-US" sz="3600" dirty="0"/>
              <a:t>	</a:t>
            </a:r>
          </a:p>
          <a:p>
            <a:pPr algn="just"/>
            <a:endParaRPr lang="en-IN" sz="28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2613663"/>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632311"/>
          </a:xfrm>
          <a:prstGeom prst="rect">
            <a:avLst/>
          </a:prstGeom>
        </p:spPr>
        <p:txBody>
          <a:bodyPr wrap="square">
            <a:spAutoFit/>
          </a:bodyPr>
          <a:lstStyle/>
          <a:p>
            <a:pPr algn="just"/>
            <a:r>
              <a:rPr lang="en-US" sz="4000" b="1" dirty="0" smtClean="0">
                <a:solidFill>
                  <a:schemeClr val="accent3">
                    <a:lumMod val="60000"/>
                    <a:lumOff val="40000"/>
                  </a:schemeClr>
                </a:solidFill>
                <a:latin typeface="Times New Roman" panose="02020603050405020304" pitchFamily="18" charset="0"/>
                <a:ea typeface="Times New Roman" panose="02020603050405020304" pitchFamily="18" charset="0"/>
              </a:rPr>
              <a:t>Introduction: </a:t>
            </a:r>
          </a:p>
          <a:p>
            <a:pPr marL="571500" indent="-571500" algn="just">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The </a:t>
            </a:r>
            <a:r>
              <a:rPr lang="en-US" sz="3200" dirty="0">
                <a:latin typeface="Times New Roman" panose="02020603050405020304" pitchFamily="18" charset="0"/>
                <a:ea typeface="Times New Roman" panose="02020603050405020304" pitchFamily="18" charset="0"/>
              </a:rPr>
              <a:t>presence of sensors in the ubiquitous environment has led to the production of an enormous amount of data</a:t>
            </a:r>
            <a:r>
              <a:rPr lang="en-US" sz="32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These </a:t>
            </a:r>
            <a:r>
              <a:rPr lang="en-US" sz="3200" dirty="0">
                <a:latin typeface="Times New Roman" panose="02020603050405020304" pitchFamily="18" charset="0"/>
                <a:ea typeface="Times New Roman" panose="02020603050405020304" pitchFamily="18" charset="0"/>
              </a:rPr>
              <a:t>sensors belong to</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diverse</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categories including </a:t>
            </a:r>
            <a:r>
              <a:rPr lang="en-US" sz="3200" b="1" dirty="0">
                <a:latin typeface="Times New Roman" panose="02020603050405020304" pitchFamily="18" charset="0"/>
                <a:ea typeface="Times New Roman" panose="02020603050405020304" pitchFamily="18" charset="0"/>
              </a:rPr>
              <a:t>planar pressure, thermal, optical, acoustic, and proximity </a:t>
            </a:r>
            <a:r>
              <a:rPr lang="en-US" sz="3200" b="1" dirty="0" smtClean="0">
                <a:latin typeface="Times New Roman" panose="02020603050405020304" pitchFamily="18" charset="0"/>
                <a:ea typeface="Times New Roman" panose="02020603050405020304" pitchFamily="18" charset="0"/>
              </a:rPr>
              <a:t>modalities</a:t>
            </a:r>
            <a:r>
              <a:rPr lang="en-US" sz="3200" b="1" dirty="0">
                <a:latin typeface="Times New Roman" panose="02020603050405020304" pitchFamily="18" charset="0"/>
                <a:ea typeface="Times New Roman" panose="02020603050405020304" pitchFamily="18" charset="0"/>
              </a:rPr>
              <a:t>. </a:t>
            </a:r>
            <a:endParaRPr lang="en-US" sz="3200" b="1"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They provide information for activity recognition and context-aware models that could be used for a wide range of applications such as </a:t>
            </a:r>
            <a:r>
              <a:rPr lang="en-US" sz="3200" b="1" dirty="0">
                <a:solidFill>
                  <a:srgbClr val="FF0000"/>
                </a:solidFill>
                <a:latin typeface="Times New Roman" panose="02020603050405020304" pitchFamily="18" charset="0"/>
                <a:ea typeface="Times New Roman" panose="02020603050405020304" pitchFamily="18" charset="0"/>
              </a:rPr>
              <a:t>automatic monitoring in the smart </a:t>
            </a:r>
            <a:r>
              <a:rPr lang="en-US" sz="3200" b="1" spc="-20" dirty="0">
                <a:solidFill>
                  <a:srgbClr val="FF0000"/>
                </a:solidFill>
                <a:latin typeface="Times New Roman" panose="02020603050405020304" pitchFamily="18" charset="0"/>
                <a:ea typeface="Times New Roman" panose="02020603050405020304" pitchFamily="18" charset="0"/>
              </a:rPr>
              <a:t>environment</a:t>
            </a:r>
            <a:r>
              <a:rPr lang="en-US" sz="3200" b="1" spc="-50"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and</a:t>
            </a:r>
            <a:r>
              <a:rPr lang="en-US" sz="3200" b="1" spc="-45"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wellness</a:t>
            </a:r>
            <a:r>
              <a:rPr lang="en-US" sz="3200" b="1" spc="-45"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scene,</a:t>
            </a:r>
            <a:r>
              <a:rPr lang="en-US" sz="3200" b="1" spc="-45"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computer-human-interaction, </a:t>
            </a:r>
            <a:r>
              <a:rPr lang="en-US" sz="3200" b="1" dirty="0">
                <a:solidFill>
                  <a:srgbClr val="FF0000"/>
                </a:solidFill>
                <a:latin typeface="Times New Roman" panose="02020603050405020304" pitchFamily="18" charset="0"/>
                <a:ea typeface="Times New Roman" panose="02020603050405020304" pitchFamily="18" charset="0"/>
              </a:rPr>
              <a:t>user experience, </a:t>
            </a:r>
            <a:r>
              <a:rPr lang="en-US" sz="3200" dirty="0">
                <a:latin typeface="Times New Roman" panose="02020603050405020304" pitchFamily="18" charset="0"/>
                <a:ea typeface="Times New Roman" panose="02020603050405020304" pitchFamily="18" charset="0"/>
              </a:rPr>
              <a:t>etc</a:t>
            </a:r>
            <a:r>
              <a:rPr lang="en-US" sz="3200" dirty="0" smtClean="0">
                <a:latin typeface="Times New Roman" panose="02020603050405020304" pitchFamily="18" charset="0"/>
                <a:ea typeface="Times New Roman" panose="02020603050405020304" pitchFamily="18" charset="0"/>
              </a:rPr>
              <a:t>.</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1499399"/>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There has been extensive research on wearable</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pervasive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sensors,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which</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record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sense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 in the context of </a:t>
            </a:r>
            <a:r>
              <a:rPr lang="en-US" sz="3200" b="1" dirty="0">
                <a:latin typeface="Times New Roman" panose="02020603050405020304" pitchFamily="18" charset="0"/>
                <a:ea typeface="Times New Roman" panose="02020603050405020304" pitchFamily="18" charset="0"/>
              </a:rPr>
              <a:t>human activities;</a:t>
            </a:r>
            <a:r>
              <a:rPr lang="en-US" sz="3200" dirty="0">
                <a:latin typeface="Times New Roman" panose="02020603050405020304" pitchFamily="18" charset="0"/>
                <a:ea typeface="Times New Roman" panose="02020603050405020304" pitchFamily="18" charset="0"/>
              </a:rPr>
              <a:t> ranging from physical </a:t>
            </a:r>
            <a:r>
              <a:rPr lang="en-US" sz="3200" spc="-20" dirty="0">
                <a:latin typeface="Times New Roman" panose="02020603050405020304" pitchFamily="18" charset="0"/>
                <a:ea typeface="Times New Roman" panose="02020603050405020304" pitchFamily="18" charset="0"/>
              </a:rPr>
              <a:t>activities</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(running,</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sleeping,</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walking,</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etc.),</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such</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as</a:t>
            </a:r>
            <a:r>
              <a:rPr lang="en-US" sz="3200" spc="-45" dirty="0">
                <a:latin typeface="Times New Roman" panose="02020603050405020304" pitchFamily="18" charset="0"/>
                <a:ea typeface="Times New Roman" panose="02020603050405020304" pitchFamily="18" charset="0"/>
              </a:rPr>
              <a:t> </a:t>
            </a:r>
            <a:r>
              <a:rPr lang="en-US" sz="3200" b="1" spc="-20" dirty="0">
                <a:latin typeface="Times New Roman" panose="02020603050405020304" pitchFamily="18" charset="0"/>
                <a:ea typeface="Times New Roman" panose="02020603050405020304" pitchFamily="18" charset="0"/>
              </a:rPr>
              <a:t>monitoring </a:t>
            </a:r>
            <a:r>
              <a:rPr lang="en-US" sz="3200" b="1" dirty="0">
                <a:latin typeface="Times New Roman" panose="02020603050405020304" pitchFamily="18" charset="0"/>
                <a:ea typeface="Times New Roman" panose="02020603050405020304" pitchFamily="18" charset="0"/>
              </a:rPr>
              <a:t>gym</a:t>
            </a:r>
            <a:r>
              <a:rPr lang="en-US" sz="3200" b="1" spc="-5" dirty="0">
                <a:latin typeface="Times New Roman" panose="02020603050405020304" pitchFamily="18" charset="0"/>
                <a:ea typeface="Times New Roman" panose="02020603050405020304" pitchFamily="18" charset="0"/>
              </a:rPr>
              <a:t> </a:t>
            </a:r>
            <a:r>
              <a:rPr lang="en-US" sz="3200" b="1" dirty="0" smtClean="0">
                <a:latin typeface="Times New Roman" panose="02020603050405020304" pitchFamily="18" charset="0"/>
                <a:ea typeface="Times New Roman" panose="02020603050405020304" pitchFamily="18" charset="0"/>
              </a:rPr>
              <a:t>exercises</a:t>
            </a:r>
            <a:r>
              <a:rPr lang="en-US" sz="3200" dirty="0" smtClean="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analyzing gait </a:t>
            </a:r>
            <a:r>
              <a:rPr lang="en-US" sz="3200" b="1" dirty="0" smtClean="0">
                <a:latin typeface="Times New Roman" panose="02020603050405020304" pitchFamily="18" charset="0"/>
                <a:ea typeface="Times New Roman" panose="02020603050405020304" pitchFamily="18" charset="0"/>
              </a:rPr>
              <a:t>patterns, </a:t>
            </a:r>
            <a:r>
              <a:rPr lang="en-US" sz="3200" b="1" dirty="0">
                <a:latin typeface="Times New Roman" panose="02020603050405020304" pitchFamily="18" charset="0"/>
                <a:ea typeface="Times New Roman" panose="02020603050405020304" pitchFamily="18" charset="0"/>
              </a:rPr>
              <a:t>to biological </a:t>
            </a:r>
            <a:r>
              <a:rPr lang="en-US" sz="3200" b="1" spc="-10" dirty="0">
                <a:latin typeface="Times New Roman" panose="02020603050405020304" pitchFamily="18" charset="0"/>
                <a:ea typeface="Times New Roman" panose="02020603050405020304" pitchFamily="18" charset="0"/>
              </a:rPr>
              <a:t>activities</a:t>
            </a:r>
            <a:r>
              <a:rPr lang="en-US" sz="3200" spc="-10" dirty="0">
                <a:latin typeface="Times New Roman" panose="02020603050405020304" pitchFamily="18" charset="0"/>
                <a:ea typeface="Times New Roman" panose="02020603050405020304" pitchFamily="18" charset="0"/>
              </a:rPr>
              <a:t> (breathing, eating,</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etc.),</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such</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as</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breathing</a:t>
            </a:r>
            <a:r>
              <a:rPr lang="en-US" sz="3200" spc="-30" dirty="0">
                <a:latin typeface="Times New Roman" panose="02020603050405020304" pitchFamily="18" charset="0"/>
                <a:ea typeface="Times New Roman" panose="02020603050405020304" pitchFamily="18" charset="0"/>
              </a:rPr>
              <a:t> </a:t>
            </a:r>
            <a:r>
              <a:rPr lang="en-US" sz="3200" spc="-10" dirty="0" smtClean="0">
                <a:latin typeface="Times New Roman" panose="02020603050405020304" pitchFamily="18" charset="0"/>
                <a:ea typeface="Times New Roman" panose="02020603050405020304" pitchFamily="18" charset="0"/>
              </a:rPr>
              <a:t>detection</a:t>
            </a:r>
            <a:r>
              <a:rPr lang="en-US" sz="3200" dirty="0" smtClean="0">
                <a:latin typeface="Times New Roman" panose="02020603050405020304" pitchFamily="18" charset="0"/>
                <a:ea typeface="Times New Roman" panose="02020603050405020304" pitchFamily="18" charset="0"/>
              </a:rPr>
              <a:t>, eating </a:t>
            </a:r>
            <a:r>
              <a:rPr lang="en-US" sz="3200" dirty="0">
                <a:latin typeface="Times New Roman" panose="02020603050405020304" pitchFamily="18" charset="0"/>
                <a:ea typeface="Times New Roman" panose="02020603050405020304" pitchFamily="18" charset="0"/>
              </a:rPr>
              <a:t>and drinking arm gesture </a:t>
            </a:r>
            <a:r>
              <a:rPr lang="en-US" sz="3200" dirty="0" smtClean="0">
                <a:latin typeface="Times New Roman" panose="02020603050405020304" pitchFamily="18" charset="0"/>
                <a:ea typeface="Times New Roman" panose="02020603050405020304" pitchFamily="18" charset="0"/>
              </a:rPr>
              <a:t>detection.</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The </a:t>
            </a:r>
            <a:r>
              <a:rPr lang="en-US" sz="3200" spc="-10" dirty="0">
                <a:latin typeface="Times New Roman" panose="02020603050405020304" pitchFamily="18" charset="0"/>
                <a:ea typeface="Times New Roman" panose="02020603050405020304" pitchFamily="18" charset="0"/>
              </a:rPr>
              <a:t>task</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extracting</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useful</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information</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from</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raw</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sensor</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data </a:t>
            </a:r>
            <a:r>
              <a:rPr lang="en-US" sz="3200" dirty="0">
                <a:latin typeface="Times New Roman" panose="02020603050405020304" pitchFamily="18" charset="0"/>
                <a:ea typeface="Times New Roman" panose="02020603050405020304" pitchFamily="18" charset="0"/>
              </a:rPr>
              <a:t>has</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been</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performed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using</a:t>
            </a:r>
            <a:r>
              <a:rPr lang="en-US" sz="3200" spc="-65" dirty="0">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various</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machine</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learning</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and</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data mining</a:t>
            </a:r>
            <a:r>
              <a:rPr lang="en-US" sz="3200" b="1" spc="-20" dirty="0">
                <a:solidFill>
                  <a:srgbClr val="FF0000"/>
                </a:solidFill>
                <a:latin typeface="Times New Roman" panose="02020603050405020304" pitchFamily="18" charset="0"/>
                <a:ea typeface="Times New Roman" panose="02020603050405020304" pitchFamily="18" charset="0"/>
              </a:rPr>
              <a:t> </a:t>
            </a:r>
            <a:r>
              <a:rPr lang="en-US" sz="3200" b="1" dirty="0" smtClean="0">
                <a:solidFill>
                  <a:srgbClr val="FF0000"/>
                </a:solidFill>
                <a:latin typeface="Times New Roman" panose="02020603050405020304" pitchFamily="18" charset="0"/>
                <a:ea typeface="Times New Roman" panose="02020603050405020304" pitchFamily="18" charset="0"/>
              </a:rPr>
              <a:t>techniques</a:t>
            </a:r>
            <a:r>
              <a:rPr lang="en-US" sz="3200" dirty="0" smtClean="0">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3654861844"/>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4524315"/>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Usually, when</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raw</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sensor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concerned,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feature</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extraction is</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done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using</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statistical</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methods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involving</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calculation</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 </a:t>
            </a:r>
            <a:r>
              <a:rPr lang="en-US" sz="3200" spc="-20" dirty="0">
                <a:latin typeface="Times New Roman" panose="02020603050405020304" pitchFamily="18" charset="0"/>
                <a:ea typeface="Times New Roman" panose="02020603050405020304" pitchFamily="18" charset="0"/>
              </a:rPr>
              <a:t>the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mean,</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standard</a:t>
            </a:r>
            <a:r>
              <a:rPr lang="en-US" sz="3200" spc="-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deviation,</a:t>
            </a:r>
            <a:r>
              <a:rPr lang="en-US" sz="3200" spc="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maximum</a:t>
            </a:r>
            <a:r>
              <a:rPr lang="en-US" sz="3200" spc="-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and</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minimum</a:t>
            </a:r>
            <a:r>
              <a:rPr lang="en-US" sz="3200" spc="1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values</a:t>
            </a:r>
            <a:r>
              <a:rPr lang="en-US" sz="3200" spc="-2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spc="-20" dirty="0">
                <a:latin typeface="Times New Roman" panose="02020603050405020304" pitchFamily="18" charset="0"/>
                <a:ea typeface="Times New Roman" panose="02020603050405020304" pitchFamily="18" charset="0"/>
              </a:rPr>
              <a:t>These features</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have</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proven to</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be</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quite</a:t>
            </a:r>
            <a:r>
              <a:rPr lang="en-US" sz="3200" spc="-3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reliable in tasks</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related </a:t>
            </a:r>
            <a:r>
              <a:rPr lang="en-US" sz="3200" dirty="0">
                <a:latin typeface="Times New Roman" panose="02020603050405020304" pitchFamily="18" charset="0"/>
                <a:ea typeface="Times New Roman" panose="02020603050405020304" pitchFamily="18" charset="0"/>
              </a:rPr>
              <a:t>to</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classification,</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recognition</a:t>
            </a:r>
            <a:r>
              <a:rPr lang="en-US" sz="3200" spc="7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 </a:t>
            </a:r>
            <a:r>
              <a:rPr lang="en-US" sz="3200" dirty="0" smtClean="0">
                <a:latin typeface="Times New Roman" panose="02020603050405020304" pitchFamily="18" charset="0"/>
                <a:ea typeface="Times New Roman" panose="02020603050405020304" pitchFamily="18" charset="0"/>
              </a:rPr>
              <a:t>segmentation</a:t>
            </a:r>
            <a:r>
              <a:rPr lang="en-US" sz="3200" spc="6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b="1" dirty="0">
                <a:latin typeface="Times New Roman" panose="02020603050405020304" pitchFamily="18" charset="0"/>
                <a:ea typeface="Times New Roman" panose="02020603050405020304" pitchFamily="18" charset="0"/>
              </a:rPr>
              <a:t>Deep </a:t>
            </a:r>
            <a:r>
              <a:rPr lang="en-US" sz="3200" b="1" dirty="0" smtClean="0">
                <a:latin typeface="Times New Roman" panose="02020603050405020304" pitchFamily="18" charset="0"/>
                <a:ea typeface="Times New Roman" panose="02020603050405020304" pitchFamily="18" charset="0"/>
              </a:rPr>
              <a:t>learning, </a:t>
            </a:r>
            <a:r>
              <a:rPr lang="en-US" sz="3200" b="1" spc="-20" dirty="0">
                <a:latin typeface="Times New Roman" panose="02020603050405020304" pitchFamily="18" charset="0"/>
                <a:ea typeface="Times New Roman" panose="02020603050405020304" pitchFamily="18" charset="0"/>
              </a:rPr>
              <a:t>Convolutional</a:t>
            </a:r>
            <a:r>
              <a:rPr lang="en-US" sz="3200" b="1" spc="40" dirty="0">
                <a:latin typeface="Times New Roman" panose="02020603050405020304" pitchFamily="18" charset="0"/>
                <a:ea typeface="Times New Roman" panose="02020603050405020304" pitchFamily="18" charset="0"/>
              </a:rPr>
              <a:t> </a:t>
            </a:r>
            <a:r>
              <a:rPr lang="en-US" sz="3200" b="1" spc="-20" dirty="0">
                <a:latin typeface="Times New Roman" panose="02020603050405020304" pitchFamily="18" charset="0"/>
                <a:ea typeface="Times New Roman" panose="02020603050405020304" pitchFamily="18" charset="0"/>
              </a:rPr>
              <a:t>neural networks </a:t>
            </a:r>
            <a:r>
              <a:rPr lang="en-US" sz="3200" b="1" spc="-20" dirty="0" smtClean="0">
                <a:latin typeface="Times New Roman" panose="02020603050405020304" pitchFamily="18" charset="0"/>
                <a:ea typeface="Times New Roman" panose="02020603050405020304" pitchFamily="18" charset="0"/>
              </a:rPr>
              <a:t>(CNN), </a:t>
            </a:r>
            <a:r>
              <a:rPr lang="en-US" sz="3200" b="1" spc="-10" dirty="0">
                <a:latin typeface="Times New Roman" panose="02020603050405020304" pitchFamily="18" charset="0"/>
                <a:ea typeface="Times New Roman" panose="02020603050405020304" pitchFamily="18" charset="0"/>
              </a:rPr>
              <a:t>Recurrent</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neural</a:t>
            </a:r>
            <a:r>
              <a:rPr lang="en-US" sz="3200" b="1" spc="-4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networks</a:t>
            </a:r>
            <a:r>
              <a:rPr lang="en-US" sz="3200" b="1" spc="-30"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(RNN</a:t>
            </a:r>
            <a:r>
              <a:rPr lang="en-US" sz="3200" b="1" spc="-10" dirty="0" smtClean="0">
                <a:latin typeface="Times New Roman" panose="02020603050405020304" pitchFamily="18" charset="0"/>
                <a:ea typeface="Times New Roman" panose="02020603050405020304" pitchFamily="18" charset="0"/>
              </a:rPr>
              <a:t>) </a:t>
            </a:r>
            <a:r>
              <a:rPr lang="en-US" sz="3200" spc="-10" dirty="0" smtClean="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popular in</a:t>
            </a:r>
            <a:r>
              <a:rPr lang="en-US" sz="3200" spc="-35"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achieving</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superhuman accuracy on</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image</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classification </a:t>
            </a:r>
            <a:r>
              <a:rPr lang="en-US" sz="3200" spc="-10" dirty="0" smtClean="0">
                <a:latin typeface="Times New Roman" panose="02020603050405020304" pitchFamily="18" charset="0"/>
                <a:ea typeface="Times New Roman" panose="02020603050405020304" pitchFamily="18" charset="0"/>
              </a:rPr>
              <a:t>tasks.</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8804553"/>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400581"/>
          </a:xfrm>
          <a:prstGeom prst="rect">
            <a:avLst/>
          </a:prstGeom>
        </p:spPr>
        <p:txBody>
          <a:bodyPr wrap="square">
            <a:spAutoFit/>
          </a:bodyPr>
          <a:lstStyle/>
          <a:p>
            <a:pPr marL="577850" marR="163195" indent="-457200" algn="just">
              <a:lnSpc>
                <a:spcPct val="98000"/>
              </a:lnSpc>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Both, CNN and RNN have been used in combination to create systems which are</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capable</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 understanding images, and to provide temporal</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context to</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these</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individual</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images</a:t>
            </a:r>
            <a:r>
              <a:rPr lang="en-US" sz="3200" dirty="0" smtClean="0">
                <a:latin typeface="Times New Roman" panose="02020603050405020304" pitchFamily="18" charset="0"/>
                <a:ea typeface="Times New Roman" panose="02020603050405020304" pitchFamily="18" charset="0"/>
              </a:rPr>
              <a:t>.</a:t>
            </a:r>
          </a:p>
          <a:p>
            <a:pPr marL="577850" marR="163195" indent="-457200" algn="just">
              <a:lnSpc>
                <a:spcPct val="98000"/>
              </a:lnSpc>
              <a:buFont typeface="Arial" panose="020B0604020202020204" pitchFamily="34" charset="0"/>
              <a:buChar char="•"/>
            </a:pPr>
            <a:r>
              <a:rPr lang="en-US" sz="3200" b="1" dirty="0" smtClean="0">
                <a:solidFill>
                  <a:srgbClr val="FF0000"/>
                </a:solidFill>
                <a:latin typeface="Times New Roman" panose="02020603050405020304" pitchFamily="18" charset="0"/>
                <a:ea typeface="Times New Roman" panose="02020603050405020304" pitchFamily="18" charset="0"/>
              </a:rPr>
              <a:t>Limitations: </a:t>
            </a:r>
            <a:r>
              <a:rPr lang="en-US" sz="3200" spc="-30" dirty="0">
                <a:latin typeface="Times New Roman" panose="02020603050405020304" pitchFamily="18" charset="0"/>
                <a:ea typeface="Times New Roman" panose="02020603050405020304" pitchFamily="18" charset="0"/>
              </a:rPr>
              <a:t>requirement </a:t>
            </a:r>
            <a:r>
              <a:rPr lang="en-US" sz="3200" dirty="0">
                <a:latin typeface="Times New Roman" panose="02020603050405020304" pitchFamily="18" charset="0"/>
                <a:ea typeface="Times New Roman" panose="02020603050405020304" pitchFamily="18" charset="0"/>
              </a:rPr>
              <a:t>of</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large</a:t>
            </a:r>
            <a:r>
              <a:rPr lang="en-US" sz="3200" spc="1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amounts</a:t>
            </a:r>
            <a:r>
              <a:rPr lang="en-US" sz="3200" spc="1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labeled</a:t>
            </a:r>
            <a:r>
              <a:rPr lang="en-US" sz="3200" spc="1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a:t>
            </a:r>
            <a:r>
              <a:rPr lang="en-US" sz="3200" spc="1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 facilitate</a:t>
            </a:r>
            <a:r>
              <a:rPr lang="en-US" sz="3200" spc="1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 training of these very deep </a:t>
            </a:r>
            <a:r>
              <a:rPr lang="en-US" sz="3200" dirty="0" smtClean="0">
                <a:latin typeface="Times New Roman" panose="02020603050405020304" pitchFamily="18" charset="0"/>
                <a:ea typeface="Times New Roman" panose="02020603050405020304" pitchFamily="18" charset="0"/>
              </a:rPr>
              <a:t>networks.</a:t>
            </a:r>
          </a:p>
          <a:p>
            <a:pPr marL="577850" marR="163195" indent="-457200" algn="just">
              <a:lnSpc>
                <a:spcPct val="98000"/>
              </a:lnSpc>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While </a:t>
            </a:r>
            <a:r>
              <a:rPr lang="en-US" sz="3200" dirty="0">
                <a:latin typeface="Times New Roman" panose="02020603050405020304" pitchFamily="18" charset="0"/>
                <a:ea typeface="Times New Roman" panose="02020603050405020304" pitchFamily="18" charset="0"/>
              </a:rPr>
              <a:t>the computer vision </a:t>
            </a:r>
            <a:r>
              <a:rPr lang="en-US" sz="3200" spc="-10" dirty="0">
                <a:latin typeface="Times New Roman" panose="02020603050405020304" pitchFamily="18" charset="0"/>
                <a:ea typeface="Times New Roman" panose="02020603050405020304" pitchFamily="18" charset="0"/>
              </a:rPr>
              <a:t>community</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has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facilitated</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this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requirement</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with</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large</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labeled </a:t>
            </a:r>
            <a:r>
              <a:rPr lang="en-US" sz="3200" dirty="0">
                <a:latin typeface="Times New Roman" panose="02020603050405020304" pitchFamily="18" charset="0"/>
                <a:ea typeface="Times New Roman" panose="02020603050405020304" pitchFamily="18" charset="0"/>
              </a:rPr>
              <a:t>datasets, such as, the ImageNet </a:t>
            </a:r>
            <a:r>
              <a:rPr lang="en-US" sz="3200" dirty="0" smtClean="0">
                <a:latin typeface="Times New Roman" panose="02020603050405020304" pitchFamily="18" charset="0"/>
                <a:ea typeface="Times New Roman" panose="02020603050405020304" pitchFamily="18" charset="0"/>
              </a:rPr>
              <a:t>and MS-COCO </a:t>
            </a:r>
            <a:r>
              <a:rPr lang="en-US" sz="3200" dirty="0">
                <a:latin typeface="Times New Roman" panose="02020603050405020304" pitchFamily="18" charset="0"/>
                <a:ea typeface="Times New Roman" panose="02020603050405020304" pitchFamily="18" charset="0"/>
              </a:rPr>
              <a:t>datasets for</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object</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recognition, classification,</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detection and captioning;</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various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other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tasks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not</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many</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labeled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datasets </a:t>
            </a:r>
            <a:r>
              <a:rPr lang="en-US" sz="3200" spc="-10" dirty="0">
                <a:latin typeface="Times New Roman" panose="02020603050405020304" pitchFamily="18" charset="0"/>
                <a:ea typeface="Times New Roman" panose="02020603050405020304" pitchFamily="18" charset="0"/>
              </a:rPr>
              <a:t>exist.</a:t>
            </a:r>
            <a:endParaRPr lang="en-US" sz="3200" dirty="0">
              <a:latin typeface="Times New Roman" panose="02020603050405020304" pitchFamily="18" charset="0"/>
              <a:ea typeface="Times New Roman" panose="02020603050405020304" pitchFamily="18" charset="0"/>
            </a:endParaRPr>
          </a:p>
          <a:p>
            <a:pPr marL="577850" marR="163195" indent="-457200" algn="just">
              <a:lnSpc>
                <a:spcPct val="98000"/>
              </a:lnSpc>
              <a:buFont typeface="Arial" panose="020B0604020202020204" pitchFamily="34" charset="0"/>
              <a:buChar char="•"/>
            </a:pPr>
            <a:endParaRPr lang="en-US" sz="3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14284513"/>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spc="-20" dirty="0" smtClean="0">
                <a:latin typeface="Times New Roman" panose="02020603050405020304" pitchFamily="18" charset="0"/>
                <a:ea typeface="Times New Roman" panose="02020603050405020304" pitchFamily="18" charset="0"/>
              </a:rPr>
              <a:t>The</a:t>
            </a:r>
            <a:r>
              <a:rPr lang="en-US" sz="3200" spc="-50" dirty="0" smtClean="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above-mentioned </a:t>
            </a:r>
            <a:r>
              <a:rPr lang="en-US" sz="3200" dirty="0">
                <a:latin typeface="Times New Roman" panose="02020603050405020304" pitchFamily="18" charset="0"/>
                <a:ea typeface="Times New Roman" panose="02020603050405020304" pitchFamily="18" charset="0"/>
              </a:rPr>
              <a:t>limitation</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bypassed</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by</a:t>
            </a:r>
            <a:r>
              <a:rPr lang="en-US" sz="3200" spc="-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performing</a:t>
            </a:r>
            <a:r>
              <a:rPr lang="en-US" sz="3200" spc="-40" dirty="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transfer</a:t>
            </a:r>
            <a:r>
              <a:rPr lang="en-US" sz="3200" b="1" spc="-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learning, i.e., using labeled data from one domain and transferring</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learned knowledge</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target</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domain.</a:t>
            </a:r>
            <a:r>
              <a:rPr lang="en-US" sz="3200" spc="-25" dirty="0">
                <a:latin typeface="Times New Roman" panose="02020603050405020304" pitchFamily="18" charset="0"/>
                <a:ea typeface="Times New Roman" panose="02020603050405020304" pitchFamily="18" charset="0"/>
              </a:rPr>
              <a:t> </a:t>
            </a:r>
            <a:r>
              <a:rPr lang="en-IN" sz="3200" dirty="0" smtClean="0">
                <a:ea typeface="Calibri" panose="020F0502020204030204" pitchFamily="34" charset="0"/>
                <a:cs typeface="Calibri" panose="020F0502020204030204" pitchFamily="34" charset="0"/>
              </a:rPr>
              <a:t> </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Transfer</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learning involves using the knowledge acquired on a specific task, and</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adapting this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knowledge to</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different, but related </a:t>
            </a:r>
            <a:r>
              <a:rPr lang="en-US" sz="3200" dirty="0" smtClean="0">
                <a:latin typeface="Times New Roman" panose="02020603050405020304" pitchFamily="18" charset="0"/>
                <a:ea typeface="Times New Roman" panose="02020603050405020304" pitchFamily="18" charset="0"/>
              </a:rPr>
              <a:t>task.</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A</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common</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scenario</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 </a:t>
            </a:r>
            <a:r>
              <a:rPr lang="en-US" sz="3200" spc="-30" dirty="0">
                <a:latin typeface="Times New Roman" panose="02020603050405020304" pitchFamily="18" charset="0"/>
                <a:ea typeface="Times New Roman" panose="02020603050405020304" pitchFamily="18" charset="0"/>
              </a:rPr>
              <a:t>transfer</a:t>
            </a:r>
            <a:r>
              <a:rPr lang="en-US" sz="3200" spc="-3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learning involves using a</a:t>
            </a:r>
            <a:r>
              <a:rPr lang="en-US" sz="3200" spc="-4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convolutional</a:t>
            </a:r>
            <a:r>
              <a:rPr lang="en-US" sz="3200" spc="8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neural</a:t>
            </a:r>
            <a:r>
              <a:rPr lang="en-US" sz="320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network </a:t>
            </a:r>
            <a:r>
              <a:rPr lang="en-US" sz="3200" dirty="0">
                <a:latin typeface="Times New Roman" panose="02020603050405020304" pitchFamily="18" charset="0"/>
                <a:ea typeface="Times New Roman" panose="02020603050405020304" pitchFamily="18" charset="0"/>
              </a:rPr>
              <a:t>trained</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on</a:t>
            </a:r>
            <a:r>
              <a:rPr lang="en-US" sz="3200" spc="1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very</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large</a:t>
            </a:r>
            <a:r>
              <a:rPr lang="en-US" sz="3200" spc="1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dataset,</a:t>
            </a:r>
            <a:r>
              <a:rPr lang="en-US" sz="3200" spc="17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1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then</a:t>
            </a:r>
            <a:r>
              <a:rPr lang="en-US" sz="3200" spc="155"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fine-tuning </a:t>
            </a:r>
            <a:r>
              <a:rPr lang="en-US" sz="3200" dirty="0">
                <a:latin typeface="Times New Roman" panose="02020603050405020304" pitchFamily="18" charset="0"/>
                <a:ea typeface="Times New Roman" panose="02020603050405020304" pitchFamily="18" charset="0"/>
              </a:rPr>
              <a:t>it on the target dataset which is relatively small in size. </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09097774"/>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10</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076133"/>
          </a:xfrm>
          <a:prstGeom prst="rect">
            <a:avLst/>
          </a:prstGeom>
        </p:spPr>
        <p:txBody>
          <a:bodyPr wrap="square">
            <a:spAutoFit/>
          </a:bodyPr>
          <a:lstStyle/>
          <a:p>
            <a:pPr marL="847725" marR="2540" indent="-457200" algn="just">
              <a:lnSpc>
                <a:spcPct val="92000"/>
              </a:lnSpc>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A</a:t>
            </a:r>
            <a:r>
              <a:rPr lang="en-US" sz="3200" spc="1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domain</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is</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said</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be</a:t>
            </a:r>
            <a:r>
              <a:rPr lang="en-US" sz="3200" spc="200" dirty="0">
                <a:latin typeface="Times New Roman" panose="02020603050405020304" pitchFamily="18" charset="0"/>
                <a:ea typeface="Times New Roman" panose="02020603050405020304" pitchFamily="18" charset="0"/>
              </a:rPr>
              <a:t> </a:t>
            </a:r>
            <a:r>
              <a:rPr lang="en-US" sz="3200" b="1" dirty="0" smtClean="0">
                <a:latin typeface="Times New Roman" panose="02020603050405020304" pitchFamily="18" charset="0"/>
                <a:ea typeface="Times New Roman" panose="02020603050405020304" pitchFamily="18" charset="0"/>
              </a:rPr>
              <a:t>easily</a:t>
            </a:r>
            <a:r>
              <a:rPr lang="en-US" sz="3200" b="1" spc="200" dirty="0" smtClean="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visually</a:t>
            </a:r>
            <a:r>
              <a:rPr lang="en-US" sz="3200" b="1" spc="200" dirty="0">
                <a:latin typeface="Times New Roman" panose="02020603050405020304" pitchFamily="18" charset="0"/>
                <a:ea typeface="Times New Roman" panose="02020603050405020304" pitchFamily="18" charset="0"/>
              </a:rPr>
              <a:t> </a:t>
            </a:r>
            <a:r>
              <a:rPr lang="en-US" sz="3200" b="1" dirty="0" smtClean="0">
                <a:latin typeface="Times New Roman" panose="02020603050405020304" pitchFamily="18" charset="0"/>
                <a:ea typeface="Times New Roman" panose="02020603050405020304" pitchFamily="18" charset="0"/>
              </a:rPr>
              <a:t>interpretable</a:t>
            </a:r>
            <a:r>
              <a:rPr lang="en-US" sz="3200" b="1" spc="14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if by</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looking</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at</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its</a:t>
            </a:r>
            <a:r>
              <a:rPr lang="en-US" sz="3200" spc="-55"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visual</a:t>
            </a:r>
            <a:r>
              <a:rPr lang="en-US" sz="3200" spc="-3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representation,</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human</a:t>
            </a:r>
            <a:r>
              <a:rPr lang="en-US" sz="3200" spc="-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extract </a:t>
            </a:r>
            <a:r>
              <a:rPr lang="en-US" sz="3200" spc="-10" dirty="0">
                <a:latin typeface="Times New Roman" panose="02020603050405020304" pitchFamily="18" charset="0"/>
                <a:ea typeface="Times New Roman" panose="02020603050405020304" pitchFamily="18" charset="0"/>
              </a:rPr>
              <a:t>relevant</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information</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and</a:t>
            </a:r>
            <a:r>
              <a:rPr lang="en-US" sz="3200" spc="35" dirty="0">
                <a:latin typeface="Times New Roman" panose="02020603050405020304" pitchFamily="18" charset="0"/>
                <a:ea typeface="Times New Roman" panose="02020603050405020304" pitchFamily="18" charset="0"/>
              </a:rPr>
              <a:t> </a:t>
            </a:r>
            <a:r>
              <a:rPr lang="en-US" sz="3200" spc="-10" dirty="0" smtClean="0">
                <a:latin typeface="Times New Roman" panose="02020603050405020304" pitchFamily="18" charset="0"/>
                <a:ea typeface="Times New Roman" panose="02020603050405020304" pitchFamily="18" charset="0"/>
              </a:rPr>
              <a:t>sense</a:t>
            </a:r>
            <a:r>
              <a:rPr lang="en-US" sz="3200" spc="20"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 meaning</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it</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conveys</a:t>
            </a:r>
            <a:r>
              <a:rPr lang="en-US" sz="3200" spc="-10" dirty="0" smtClean="0">
                <a:latin typeface="Times New Roman" panose="02020603050405020304" pitchFamily="18" charset="0"/>
                <a:ea typeface="Times New Roman" panose="02020603050405020304" pitchFamily="18" charset="0"/>
              </a:rPr>
              <a:t>.</a:t>
            </a:r>
          </a:p>
          <a:p>
            <a:pPr marL="847725" marR="2540" indent="-457200" algn="just">
              <a:lnSpc>
                <a:spcPct val="92000"/>
              </a:lnSpc>
              <a:buFont typeface="Arial" panose="020B0604020202020204" pitchFamily="34" charset="0"/>
              <a:buChar char="•"/>
            </a:pPr>
            <a:r>
              <a:rPr lang="en-US" sz="3200" spc="-20" dirty="0">
                <a:latin typeface="Times New Roman" panose="02020603050405020304" pitchFamily="18" charset="0"/>
                <a:ea typeface="Times New Roman" panose="02020603050405020304" pitchFamily="18" charset="0"/>
              </a:rPr>
              <a:t>For</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example,</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images</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of</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everyday</a:t>
            </a:r>
            <a:r>
              <a:rPr lang="en-US" sz="3200" spc="-1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objects such</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as</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automobiles, </a:t>
            </a:r>
            <a:r>
              <a:rPr lang="en-US" sz="3200" dirty="0">
                <a:latin typeface="Times New Roman" panose="02020603050405020304" pitchFamily="18" charset="0"/>
                <a:ea typeface="Times New Roman" panose="02020603050405020304" pitchFamily="18" charset="0"/>
              </a:rPr>
              <a:t>animals, landscapes; documents, X-ray, and MRI</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scan</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 all belong to the category of easily visually interpretable images</a:t>
            </a:r>
            <a:r>
              <a:rPr lang="en-US" sz="3200" dirty="0" smtClean="0">
                <a:latin typeface="Times New Roman" panose="02020603050405020304" pitchFamily="18" charset="0"/>
                <a:ea typeface="Times New Roman" panose="02020603050405020304" pitchFamily="18" charset="0"/>
              </a:rPr>
              <a:t>.</a:t>
            </a:r>
          </a:p>
          <a:p>
            <a:pPr marL="847725" marR="2540" indent="-457200" algn="just">
              <a:lnSpc>
                <a:spcPct val="92000"/>
              </a:lnSpc>
              <a:buFont typeface="Arial" panose="020B0604020202020204" pitchFamily="34" charset="0"/>
              <a:buChar char="•"/>
            </a:pPr>
            <a:r>
              <a:rPr lang="en-US" sz="3200" b="1" dirty="0" smtClean="0">
                <a:latin typeface="Times New Roman" panose="02020603050405020304" pitchFamily="18" charset="0"/>
                <a:ea typeface="Times New Roman" panose="02020603050405020304" pitchFamily="18" charset="0"/>
              </a:rPr>
              <a:t>An</a:t>
            </a:r>
            <a:r>
              <a:rPr lang="en-US" sz="3200" b="1" spc="-40" dirty="0" smtClean="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average</a:t>
            </a:r>
            <a:r>
              <a:rPr lang="en-US" sz="3200" b="1" spc="-30" dirty="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human </a:t>
            </a:r>
            <a:r>
              <a:rPr lang="en-US" sz="3200" b="1" spc="-10" dirty="0">
                <a:latin typeface="Times New Roman" panose="02020603050405020304" pitchFamily="18" charset="0"/>
                <a:ea typeface="Times New Roman" panose="02020603050405020304" pitchFamily="18" charset="0"/>
              </a:rPr>
              <a:t>can</a:t>
            </a:r>
            <a:r>
              <a:rPr lang="en-US" sz="3200" b="1" spc="-30"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easily</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learn</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to</a:t>
            </a:r>
            <a:r>
              <a:rPr lang="en-US" sz="3200" b="1" spc="-5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distinguish between different</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classes</a:t>
            </a:r>
            <a:r>
              <a:rPr lang="en-US" sz="3200" spc="-10" dirty="0">
                <a:latin typeface="Times New Roman" panose="02020603050405020304" pitchFamily="18" charset="0"/>
                <a:ea typeface="Times New Roman" panose="02020603050405020304" pitchFamily="18" charset="0"/>
              </a:rPr>
              <a:t>,</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e.g., </a:t>
            </a:r>
            <a:r>
              <a:rPr lang="en-US" sz="3200" spc="-20" dirty="0">
                <a:latin typeface="Times New Roman" panose="02020603050405020304" pitchFamily="18" charset="0"/>
                <a:ea typeface="Times New Roman" panose="02020603050405020304" pitchFamily="18" charset="0"/>
              </a:rPr>
              <a:t>several</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sub-species of </a:t>
            </a:r>
            <a:r>
              <a:rPr lang="en-US" sz="3200" spc="-20" dirty="0" smtClean="0">
                <a:latin typeface="Times New Roman" panose="02020603050405020304" pitchFamily="18" charset="0"/>
                <a:ea typeface="Times New Roman" panose="02020603050405020304" pitchFamily="18" charset="0"/>
              </a:rPr>
              <a:t>animals,</a:t>
            </a:r>
            <a:r>
              <a:rPr lang="en-US" sz="3200" spc="-20" dirty="0">
                <a:latin typeface="Times New Roman" panose="02020603050405020304" pitchFamily="18" charset="0"/>
                <a:ea typeface="Times New Roman" panose="02020603050405020304" pitchFamily="18" charset="0"/>
              </a:rPr>
              <a:t> or</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several models </a:t>
            </a:r>
            <a:r>
              <a:rPr lang="en-US" sz="3200" dirty="0">
                <a:latin typeface="Times New Roman" panose="02020603050405020304" pitchFamily="18" charset="0"/>
                <a:ea typeface="Times New Roman" panose="02020603050405020304" pitchFamily="18" charset="0"/>
              </a:rPr>
              <a:t>of </a:t>
            </a:r>
            <a:r>
              <a:rPr lang="en-US" sz="3200" dirty="0" smtClean="0">
                <a:latin typeface="Times New Roman" panose="02020603050405020304" pitchFamily="18" charset="0"/>
                <a:ea typeface="Times New Roman" panose="02020603050405020304" pitchFamily="18" charset="0"/>
              </a:rPr>
              <a:t>automobiles.</a:t>
            </a:r>
          </a:p>
          <a:p>
            <a:pPr marL="847725" marR="2540" indent="-457200" algn="just">
              <a:lnSpc>
                <a:spcPct val="92000"/>
              </a:lnSpc>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Doctors</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or</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radiologists analyze and</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interpret MRI</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or</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X-ray data</a:t>
            </a:r>
            <a:r>
              <a:rPr lang="en-US" sz="3200" spc="-1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to</a:t>
            </a:r>
            <a:r>
              <a:rPr lang="en-US" sz="3200" spc="-25"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detect </a:t>
            </a:r>
            <a:r>
              <a:rPr lang="en-US" sz="3200" spc="-10" dirty="0">
                <a:latin typeface="Times New Roman" panose="02020603050405020304" pitchFamily="18" charset="0"/>
                <a:ea typeface="Times New Roman" panose="02020603050405020304" pitchFamily="18" charset="0"/>
              </a:rPr>
              <a:t>irregularities</a:t>
            </a:r>
            <a:r>
              <a:rPr lang="en-US" sz="3200" spc="10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a:t>
            </a:r>
            <a:r>
              <a:rPr lang="en-US" sz="3200" spc="1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healthy</a:t>
            </a:r>
            <a:r>
              <a:rPr lang="en-US" sz="3200" spc="1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organs.</a:t>
            </a:r>
            <a:r>
              <a:rPr lang="en-US" sz="3200" spc="165" dirty="0">
                <a:latin typeface="Times New Roman" panose="02020603050405020304" pitchFamily="18" charset="0"/>
                <a:ea typeface="Times New Roman" panose="02020603050405020304" pitchFamily="18" charset="0"/>
              </a:rPr>
              <a:t> </a:t>
            </a:r>
            <a:r>
              <a:rPr lang="en-US" sz="3200" spc="-20" dirty="0" smtClean="0">
                <a:latin typeface="Times New Roman" panose="02020603050405020304" pitchFamily="18" charset="0"/>
                <a:ea typeface="Times New Roman" panose="02020603050405020304" pitchFamily="18" charset="0"/>
              </a:rPr>
              <a:t> </a:t>
            </a:r>
            <a:endParaRPr lang="en-US" sz="36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52042564"/>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11</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170646"/>
          </a:xfrm>
          <a:prstGeom prst="rect">
            <a:avLst/>
          </a:prstGeom>
        </p:spPr>
        <p:txBody>
          <a:bodyPr wrap="square">
            <a:spAutoFit/>
          </a:bodyPr>
          <a:lstStyle/>
          <a:p>
            <a:pPr marL="571500" indent="-571500" algn="just">
              <a:buFont typeface="Arial" panose="020B0604020202020204" pitchFamily="34" charset="0"/>
              <a:buChar char="•"/>
            </a:pPr>
            <a:r>
              <a:rPr lang="en-US" sz="3000" spc="-10" dirty="0">
                <a:latin typeface="Times New Roman" panose="02020603050405020304" pitchFamily="18" charset="0"/>
                <a:ea typeface="Times New Roman" panose="02020603050405020304" pitchFamily="18" charset="0"/>
              </a:rPr>
              <a:t>The</a:t>
            </a:r>
            <a:r>
              <a:rPr lang="en-US" sz="3000" spc="14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application</a:t>
            </a:r>
            <a:r>
              <a:rPr lang="en-US" sz="3000" spc="19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of</a:t>
            </a:r>
            <a:r>
              <a:rPr lang="en-US" sz="3000" spc="180" dirty="0">
                <a:latin typeface="Times New Roman" panose="02020603050405020304" pitchFamily="18" charset="0"/>
                <a:ea typeface="Times New Roman" panose="02020603050405020304" pitchFamily="18" charset="0"/>
              </a:rPr>
              <a:t> </a:t>
            </a:r>
            <a:r>
              <a:rPr lang="en-US" sz="3000" spc="-25" dirty="0" smtClean="0">
                <a:latin typeface="Times New Roman" panose="02020603050405020304" pitchFamily="18" charset="0"/>
                <a:ea typeface="Times New Roman" panose="02020603050405020304" pitchFamily="18" charset="0"/>
              </a:rPr>
              <a:t>transfer </a:t>
            </a:r>
            <a:r>
              <a:rPr lang="en-US" sz="3000" dirty="0" smtClean="0">
                <a:latin typeface="Times New Roman" panose="02020603050405020304" pitchFamily="18" charset="0"/>
                <a:ea typeface="Times New Roman" panose="02020603050405020304" pitchFamily="18" charset="0"/>
              </a:rPr>
              <a:t>learning </a:t>
            </a:r>
            <a:r>
              <a:rPr lang="en-US" sz="3000" dirty="0">
                <a:latin typeface="Times New Roman" panose="02020603050405020304" pitchFamily="18" charset="0"/>
                <a:ea typeface="Times New Roman" panose="02020603050405020304" pitchFamily="18" charset="0"/>
              </a:rPr>
              <a:t>on such images is</a:t>
            </a:r>
            <a:r>
              <a:rPr lang="en-US" sz="3000" spc="-3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feasible for mainly </a:t>
            </a:r>
            <a:r>
              <a:rPr lang="en-US" sz="3000" b="1" dirty="0">
                <a:latin typeface="Times New Roman" panose="02020603050405020304" pitchFamily="18" charset="0"/>
                <a:ea typeface="Times New Roman" panose="02020603050405020304" pitchFamily="18" charset="0"/>
              </a:rPr>
              <a:t>two</a:t>
            </a:r>
            <a:r>
              <a:rPr lang="en-US" sz="3000" b="1" spc="-15" dirty="0">
                <a:latin typeface="Times New Roman" panose="02020603050405020304" pitchFamily="18" charset="0"/>
                <a:ea typeface="Times New Roman" panose="02020603050405020304" pitchFamily="18" charset="0"/>
              </a:rPr>
              <a:t> </a:t>
            </a:r>
            <a:r>
              <a:rPr lang="en-US" sz="3000" b="1" dirty="0">
                <a:latin typeface="Times New Roman" panose="02020603050405020304" pitchFamily="18" charset="0"/>
                <a:ea typeface="Times New Roman" panose="02020603050405020304" pitchFamily="18" charset="0"/>
              </a:rPr>
              <a:t>reasons</a:t>
            </a:r>
            <a:r>
              <a:rPr lang="en-US" sz="3000" dirty="0">
                <a:latin typeface="Times New Roman" panose="02020603050405020304" pitchFamily="18" charset="0"/>
                <a:ea typeface="Times New Roman" panose="02020603050405020304" pitchFamily="18" charset="0"/>
              </a:rPr>
              <a:t>. </a:t>
            </a:r>
            <a:r>
              <a:rPr lang="en-US" sz="3000" spc="-25" dirty="0" smtClean="0">
                <a:latin typeface="Times New Roman" panose="02020603050405020304" pitchFamily="18" charset="0"/>
                <a:ea typeface="Times New Roman" panose="02020603050405020304" pitchFamily="18" charset="0"/>
              </a:rPr>
              <a:t>  </a:t>
            </a:r>
          </a:p>
          <a:p>
            <a:pPr marL="514350" indent="106363" algn="just">
              <a:buAutoNum type="arabicPeriod"/>
            </a:pPr>
            <a:r>
              <a:rPr lang="en-US" sz="3000" dirty="0" smtClean="0">
                <a:latin typeface="Times New Roman" panose="02020603050405020304" pitchFamily="18" charset="0"/>
                <a:ea typeface="Times New Roman" panose="02020603050405020304" pitchFamily="18" charset="0"/>
              </a:rPr>
              <a:t> It </a:t>
            </a:r>
            <a:r>
              <a:rPr lang="en-US" sz="3000" dirty="0">
                <a:latin typeface="Times New Roman" panose="02020603050405020304" pitchFamily="18" charset="0"/>
                <a:ea typeface="Times New Roman" panose="02020603050405020304" pitchFamily="18" charset="0"/>
              </a:rPr>
              <a:t>is possible due to their nature of being visually </a:t>
            </a:r>
            <a:r>
              <a:rPr lang="en-US" sz="3000" dirty="0" smtClean="0">
                <a:latin typeface="Times New Roman" panose="02020603050405020304" pitchFamily="18" charset="0"/>
                <a:ea typeface="Times New Roman" panose="02020603050405020304" pitchFamily="18" charset="0"/>
              </a:rPr>
              <a:t>meaningful.</a:t>
            </a:r>
          </a:p>
          <a:p>
            <a:pPr marL="514350" indent="106363" algn="just">
              <a:buAutoNum type="arabicPeriod"/>
            </a:pPr>
            <a:r>
              <a:rPr lang="en-US" sz="3000" dirty="0" smtClean="0">
                <a:latin typeface="Times New Roman" panose="02020603050405020304" pitchFamily="18" charset="0"/>
                <a:ea typeface="Times New Roman" panose="02020603050405020304" pitchFamily="18" charset="0"/>
              </a:rPr>
              <a:t> There </a:t>
            </a:r>
            <a:r>
              <a:rPr lang="en-US" sz="3000" dirty="0">
                <a:latin typeface="Times New Roman" panose="02020603050405020304" pitchFamily="18" charset="0"/>
                <a:ea typeface="Times New Roman" panose="02020603050405020304" pitchFamily="18" charset="0"/>
              </a:rPr>
              <a:t>are large datasets from the </a:t>
            </a:r>
            <a:r>
              <a:rPr lang="en-US" sz="3000" spc="-10" dirty="0">
                <a:latin typeface="Times New Roman" panose="02020603050405020304" pitchFamily="18" charset="0"/>
                <a:ea typeface="Times New Roman" panose="02020603050405020304" pitchFamily="18" charset="0"/>
              </a:rPr>
              <a:t>same</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domain</a:t>
            </a:r>
            <a:r>
              <a:rPr lang="en-US" sz="3000" spc="-5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available</a:t>
            </a:r>
            <a:r>
              <a:rPr lang="en-US" sz="3000" spc="-5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within</a:t>
            </a:r>
            <a:r>
              <a:rPr lang="en-US" sz="3000" spc="-4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the</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community</a:t>
            </a:r>
            <a:r>
              <a:rPr lang="en-US" sz="300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to</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carry</a:t>
            </a:r>
            <a:r>
              <a:rPr lang="en-US" sz="3000" spc="-3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out</a:t>
            </a:r>
            <a:r>
              <a:rPr lang="en-US" sz="3000" spc="-5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the </a:t>
            </a:r>
            <a:r>
              <a:rPr lang="en-US" sz="3000" dirty="0">
                <a:latin typeface="Times New Roman" panose="02020603050405020304" pitchFamily="18" charset="0"/>
                <a:ea typeface="Times New Roman" panose="02020603050405020304" pitchFamily="18" charset="0"/>
              </a:rPr>
              <a:t>transfer learning</a:t>
            </a:r>
            <a:r>
              <a:rPr lang="en-US" sz="3000" spc="20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tasks</a:t>
            </a:r>
            <a:r>
              <a:rPr lang="en-US" sz="30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However, there exists types of data, such as sensor data, which</a:t>
            </a:r>
            <a:r>
              <a:rPr lang="en-US" sz="3000" spc="-7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are</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not</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easily</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visually</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interpretable,</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and</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it</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is</a:t>
            </a:r>
            <a:r>
              <a:rPr lang="en-US" sz="3000" spc="-7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unclear</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if it</a:t>
            </a:r>
            <a:r>
              <a:rPr lang="en-US" sz="3000" spc="-3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would be</a:t>
            </a:r>
            <a:r>
              <a:rPr lang="en-US" sz="3000" spc="-2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possible to</a:t>
            </a:r>
            <a:r>
              <a:rPr lang="en-US" sz="3000" spc="-3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visually interpret</a:t>
            </a:r>
            <a:r>
              <a:rPr lang="en-US" sz="3000" spc="-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them</a:t>
            </a:r>
            <a:r>
              <a:rPr lang="en-US" sz="30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Not</a:t>
            </a:r>
            <a:r>
              <a:rPr lang="en-US" sz="3000" spc="-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visually interpretable data can be, for example, position updates of </a:t>
            </a:r>
            <a:r>
              <a:rPr lang="en-US" sz="3000" spc="-10" dirty="0">
                <a:latin typeface="Times New Roman" panose="02020603050405020304" pitchFamily="18" charset="0"/>
                <a:ea typeface="Times New Roman" panose="02020603050405020304" pitchFamily="18" charset="0"/>
              </a:rPr>
              <a:t>moving</a:t>
            </a:r>
            <a:r>
              <a:rPr lang="en-US" sz="3000" spc="-2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objects</a:t>
            </a:r>
            <a:r>
              <a:rPr lang="en-US" sz="3000" spc="-3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in</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location-based</a:t>
            </a:r>
            <a:r>
              <a:rPr lang="en-US" sz="3000" spc="-4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services,</a:t>
            </a:r>
            <a:r>
              <a:rPr lang="en-US" sz="3000" spc="-2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fluctuations in</a:t>
            </a:r>
            <a:r>
              <a:rPr lang="en-US" sz="3000" spc="-3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the </a:t>
            </a:r>
            <a:r>
              <a:rPr lang="en-US" sz="3000" spc="-20" dirty="0">
                <a:latin typeface="Times New Roman" panose="02020603050405020304" pitchFamily="18" charset="0"/>
                <a:ea typeface="Times New Roman" panose="02020603050405020304" pitchFamily="18" charset="0"/>
              </a:rPr>
              <a:t>stock</a:t>
            </a:r>
            <a:r>
              <a:rPr lang="en-US" sz="3000" spc="-50"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market,</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medical</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experimental</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observations,</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or</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streaming </a:t>
            </a:r>
            <a:r>
              <a:rPr lang="en-US" sz="3000" dirty="0">
                <a:latin typeface="Times New Roman" panose="02020603050405020304" pitchFamily="18" charset="0"/>
                <a:ea typeface="Times New Roman" panose="02020603050405020304" pitchFamily="18" charset="0"/>
              </a:rPr>
              <a:t>sensor data. </a:t>
            </a:r>
          </a:p>
        </p:txBody>
      </p:sp>
    </p:spTree>
    <p:extLst>
      <p:ext uri="{BB962C8B-B14F-4D97-AF65-F5344CB8AC3E}">
        <p14:creationId xmlns:p14="http://schemas.microsoft.com/office/powerpoint/2010/main" val="1585349059"/>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12</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478423"/>
          </a:xfrm>
          <a:prstGeom prst="rect">
            <a:avLst/>
          </a:prstGeom>
        </p:spPr>
        <p:txBody>
          <a:bodyPr wrap="square">
            <a:spAutoFit/>
          </a:bodyPr>
          <a:lstStyle/>
          <a:p>
            <a:pPr algn="just"/>
            <a:r>
              <a:rPr lang="en-IN" sz="4000" b="1" dirty="0" smtClean="0">
                <a:solidFill>
                  <a:schemeClr val="accent3">
                    <a:lumMod val="60000"/>
                    <a:lumOff val="40000"/>
                  </a:schemeClr>
                </a:solidFill>
                <a:ea typeface="Calibri" panose="020F0502020204030204" pitchFamily="34" charset="0"/>
                <a:cs typeface="Calibri" panose="020F0502020204030204" pitchFamily="34" charset="0"/>
              </a:rPr>
              <a:t>Sensors:</a:t>
            </a:r>
          </a:p>
          <a:p>
            <a:pPr marL="571500" indent="-571500" algn="just">
              <a:buFont typeface="Arial" panose="020B0604020202020204" pitchFamily="34" charset="0"/>
              <a:buChar char="•"/>
            </a:pPr>
            <a:r>
              <a:rPr lang="en-US" sz="3100" dirty="0">
                <a:solidFill>
                  <a:srgbClr val="333333"/>
                </a:solidFill>
                <a:latin typeface="Roboto"/>
              </a:rPr>
              <a:t>Over the past decades, the availability of sensors has increased substantially and enabled makers and designers to prototype interactive objects rapidly and at low cost</a:t>
            </a:r>
            <a:r>
              <a:rPr lang="en-US" sz="3100" dirty="0" smtClean="0">
                <a:solidFill>
                  <a:srgbClr val="333333"/>
                </a:solidFill>
                <a:latin typeface="Roboto"/>
              </a:rPr>
              <a:t>.</a:t>
            </a:r>
          </a:p>
          <a:p>
            <a:pPr marL="571500" indent="-571500" algn="just">
              <a:buFont typeface="Arial" panose="020B0604020202020204" pitchFamily="34" charset="0"/>
              <a:buChar char="•"/>
            </a:pPr>
            <a:r>
              <a:rPr lang="en-US" sz="3100" dirty="0" smtClean="0">
                <a:solidFill>
                  <a:srgbClr val="333333"/>
                </a:solidFill>
                <a:latin typeface="Roboto"/>
              </a:rPr>
              <a:t>However</a:t>
            </a:r>
            <a:r>
              <a:rPr lang="en-US" sz="3100" dirty="0">
                <a:solidFill>
                  <a:srgbClr val="333333"/>
                </a:solidFill>
                <a:latin typeface="Roboto"/>
              </a:rPr>
              <a:t>, this large variety of components also comes with the challenge of selecting the right sensor from many similar components to </a:t>
            </a:r>
            <a:r>
              <a:rPr lang="en-US" sz="3100" dirty="0" smtClean="0">
                <a:solidFill>
                  <a:srgbClr val="333333"/>
                </a:solidFill>
                <a:latin typeface="Roboto"/>
              </a:rPr>
              <a:t>find </a:t>
            </a:r>
            <a:r>
              <a:rPr lang="en-US" sz="3100" dirty="0">
                <a:solidFill>
                  <a:srgbClr val="333333"/>
                </a:solidFill>
                <a:latin typeface="Roboto"/>
              </a:rPr>
              <a:t>the one that best </a:t>
            </a:r>
            <a:r>
              <a:rPr lang="en-US" sz="3100" dirty="0" smtClean="0">
                <a:solidFill>
                  <a:srgbClr val="333333"/>
                </a:solidFill>
                <a:latin typeface="Roboto"/>
              </a:rPr>
              <a:t>fits </a:t>
            </a:r>
            <a:r>
              <a:rPr lang="en-US" sz="3100" dirty="0">
                <a:solidFill>
                  <a:srgbClr val="333333"/>
                </a:solidFill>
                <a:latin typeface="Roboto"/>
              </a:rPr>
              <a:t>the use case at hand. </a:t>
            </a:r>
            <a:endParaRPr lang="en-US" sz="3100" dirty="0" smtClean="0">
              <a:solidFill>
                <a:srgbClr val="333333"/>
              </a:solidFill>
              <a:latin typeface="Roboto"/>
            </a:endParaRPr>
          </a:p>
          <a:p>
            <a:pPr marL="571500" indent="-571500" algn="just">
              <a:buFont typeface="Arial" panose="020B0604020202020204" pitchFamily="34" charset="0"/>
              <a:buChar char="•"/>
            </a:pPr>
            <a:r>
              <a:rPr lang="en-US" sz="3100" dirty="0" smtClean="0">
                <a:solidFill>
                  <a:srgbClr val="333333"/>
                </a:solidFill>
                <a:latin typeface="Roboto"/>
              </a:rPr>
              <a:t>Since </a:t>
            </a:r>
            <a:r>
              <a:rPr lang="en-US" sz="3100" dirty="0">
                <a:solidFill>
                  <a:srgbClr val="333333"/>
                </a:solidFill>
                <a:latin typeface="Roboto"/>
              </a:rPr>
              <a:t>each sensor has its own </a:t>
            </a:r>
            <a:r>
              <a:rPr lang="en-US" sz="3100" dirty="0" smtClean="0">
                <a:solidFill>
                  <a:srgbClr val="333333"/>
                </a:solidFill>
                <a:latin typeface="Roboto"/>
              </a:rPr>
              <a:t>specification</a:t>
            </a:r>
            <a:r>
              <a:rPr lang="en-US" sz="3100" dirty="0">
                <a:solidFill>
                  <a:srgbClr val="333333"/>
                </a:solidFill>
                <a:latin typeface="Roboto"/>
              </a:rPr>
              <a:t>, understanding what each sensor can sense and how it will work on a prototype can be a time-consuming process.</a:t>
            </a:r>
            <a:endParaRPr lang="en-IN" sz="31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62422269"/>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13</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201424"/>
          </a:xfrm>
          <a:prstGeom prst="rect">
            <a:avLst/>
          </a:prstGeom>
        </p:spPr>
        <p:txBody>
          <a:bodyPr wrap="square">
            <a:spAutoFit/>
          </a:bodyPr>
          <a:lstStyle/>
          <a:p>
            <a:pPr algn="just"/>
            <a:r>
              <a:rPr lang="en-IN" sz="4400" b="1" dirty="0" smtClean="0">
                <a:solidFill>
                  <a:srgbClr val="C00000"/>
                </a:solidFill>
                <a:ea typeface="Calibri" panose="020F0502020204030204" pitchFamily="34" charset="0"/>
                <a:cs typeface="Calibri" panose="020F0502020204030204" pitchFamily="34" charset="0"/>
              </a:rPr>
              <a:t>Limitations of reading sensor data:</a:t>
            </a:r>
          </a:p>
          <a:p>
            <a:pPr marL="571500" indent="-571500" algn="just">
              <a:buFont typeface="+mj-lt"/>
              <a:buAutoNum type="arabicPeriod"/>
            </a:pPr>
            <a:r>
              <a:rPr lang="en-US" sz="3200" dirty="0" smtClean="0">
                <a:solidFill>
                  <a:srgbClr val="333333"/>
                </a:solidFill>
                <a:latin typeface="Roboto"/>
              </a:rPr>
              <a:t>Extracting </a:t>
            </a:r>
            <a:r>
              <a:rPr lang="en-US" sz="3200" dirty="0">
                <a:solidFill>
                  <a:srgbClr val="333333"/>
                </a:solidFill>
                <a:latin typeface="Roboto"/>
              </a:rPr>
              <a:t>information from a datasheet can be cumbersome and confusing since the sensing information may be buried among the chip design, schematic, and other technical aspects</a:t>
            </a:r>
            <a:r>
              <a:rPr lang="en-US" sz="3200" dirty="0" smtClean="0">
                <a:solidFill>
                  <a:srgbClr val="333333"/>
                </a:solidFill>
                <a:latin typeface="Roboto"/>
              </a:rPr>
              <a:t>.</a:t>
            </a:r>
          </a:p>
          <a:p>
            <a:pPr marL="571500" indent="-571500" algn="just">
              <a:buFont typeface="+mj-lt"/>
              <a:buAutoNum type="arabicPeriod"/>
            </a:pPr>
            <a:r>
              <a:rPr lang="en-US" sz="3200" dirty="0" smtClean="0">
                <a:solidFill>
                  <a:srgbClr val="333333"/>
                </a:solidFill>
                <a:latin typeface="Roboto"/>
              </a:rPr>
              <a:t>Datasheets </a:t>
            </a:r>
            <a:r>
              <a:rPr lang="en-US" sz="3200" dirty="0">
                <a:solidFill>
                  <a:srgbClr val="333333"/>
                </a:solidFill>
                <a:latin typeface="Roboto"/>
              </a:rPr>
              <a:t>are not standardized, which makes comparing sensors with each other a </a:t>
            </a:r>
            <a:r>
              <a:rPr lang="en-US" sz="3200" dirty="0" smtClean="0">
                <a:solidFill>
                  <a:srgbClr val="333333"/>
                </a:solidFill>
                <a:latin typeface="Roboto"/>
              </a:rPr>
              <a:t>difficult </a:t>
            </a:r>
            <a:r>
              <a:rPr lang="en-US" sz="3200" dirty="0">
                <a:solidFill>
                  <a:srgbClr val="333333"/>
                </a:solidFill>
                <a:latin typeface="Roboto"/>
              </a:rPr>
              <a:t>task. </a:t>
            </a:r>
            <a:endParaRPr lang="en-US" sz="3200" dirty="0" smtClean="0">
              <a:solidFill>
                <a:srgbClr val="333333"/>
              </a:solidFill>
              <a:latin typeface="Roboto"/>
            </a:endParaRPr>
          </a:p>
          <a:p>
            <a:pPr marL="571500" indent="-571500" algn="just">
              <a:buFont typeface="+mj-lt"/>
              <a:buAutoNum type="arabicPeriod"/>
            </a:pPr>
            <a:r>
              <a:rPr lang="en-US" sz="3200" dirty="0" smtClean="0">
                <a:solidFill>
                  <a:srgbClr val="333333"/>
                </a:solidFill>
                <a:latin typeface="Roboto"/>
              </a:rPr>
              <a:t>Since </a:t>
            </a:r>
            <a:r>
              <a:rPr lang="en-US" sz="3200" dirty="0">
                <a:solidFill>
                  <a:srgbClr val="333333"/>
                </a:solidFill>
                <a:latin typeface="Roboto"/>
              </a:rPr>
              <a:t>datasheets are text documents, it can be hard to picture what sensors can sense when placed on a prototype.</a:t>
            </a:r>
            <a:endParaRPr lang="en-IN" sz="3200" b="1" dirty="0">
              <a:solidFill>
                <a:srgbClr val="C0000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99969642"/>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14</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152401" y="2046056"/>
            <a:ext cx="11407140" cy="2185214"/>
          </a:xfrm>
          <a:prstGeom prst="rect">
            <a:avLst/>
          </a:prstGeom>
        </p:spPr>
        <p:txBody>
          <a:bodyPr wrap="square">
            <a:spAutoFit/>
          </a:bodyPr>
          <a:lstStyle/>
          <a:p>
            <a:pPr algn="just"/>
            <a:r>
              <a:rPr lang="en-US" sz="4000" b="1" dirty="0" smtClean="0">
                <a:solidFill>
                  <a:srgbClr val="C00000"/>
                </a:solidFill>
                <a:latin typeface="Roboto"/>
              </a:rPr>
              <a:t>Different </a:t>
            </a:r>
            <a:r>
              <a:rPr lang="en-US" sz="4000" b="1" dirty="0">
                <a:solidFill>
                  <a:srgbClr val="C00000"/>
                </a:solidFill>
                <a:latin typeface="Roboto"/>
              </a:rPr>
              <a:t>Stages of Prototyping with </a:t>
            </a:r>
            <a:r>
              <a:rPr lang="en-US" sz="4000" b="1" dirty="0" smtClean="0">
                <a:solidFill>
                  <a:srgbClr val="C00000"/>
                </a:solidFill>
                <a:latin typeface="Roboto"/>
              </a:rPr>
              <a:t>Sensors</a:t>
            </a:r>
          </a:p>
          <a:p>
            <a:pPr marL="571500" indent="-571500" algn="just">
              <a:buFont typeface="+mj-lt"/>
              <a:buAutoNum type="arabicPeriod"/>
            </a:pPr>
            <a:r>
              <a:rPr lang="en-US" sz="3200" dirty="0">
                <a:solidFill>
                  <a:srgbClr val="333333"/>
                </a:solidFill>
                <a:latin typeface="Roboto"/>
              </a:rPr>
              <a:t>Sensor </a:t>
            </a:r>
            <a:r>
              <a:rPr lang="en-US" sz="3200" dirty="0" smtClean="0">
                <a:solidFill>
                  <a:srgbClr val="333333"/>
                </a:solidFill>
                <a:latin typeface="Roboto"/>
              </a:rPr>
              <a:t>Specifications </a:t>
            </a:r>
            <a:r>
              <a:rPr lang="en-US" sz="3200" dirty="0">
                <a:solidFill>
                  <a:srgbClr val="333333"/>
                </a:solidFill>
                <a:latin typeface="Roboto"/>
              </a:rPr>
              <a:t>from </a:t>
            </a:r>
            <a:r>
              <a:rPr lang="en-US" sz="3200" dirty="0" smtClean="0">
                <a:solidFill>
                  <a:srgbClr val="333333"/>
                </a:solidFill>
                <a:latin typeface="Roboto"/>
              </a:rPr>
              <a:t>Datasheet</a:t>
            </a:r>
          </a:p>
          <a:p>
            <a:pPr marL="571500" indent="-571500" algn="just">
              <a:buFont typeface="+mj-lt"/>
              <a:buAutoNum type="arabicPeriod"/>
            </a:pPr>
            <a:r>
              <a:rPr lang="en-US" sz="3200" dirty="0">
                <a:solidFill>
                  <a:srgbClr val="333333"/>
                </a:solidFill>
                <a:latin typeface="Roboto"/>
              </a:rPr>
              <a:t>Sensor Data Overlay over the Physical Prototype via </a:t>
            </a:r>
            <a:r>
              <a:rPr lang="en-US" sz="3200" dirty="0" smtClean="0">
                <a:solidFill>
                  <a:srgbClr val="333333"/>
                </a:solidFill>
                <a:latin typeface="Roboto"/>
              </a:rPr>
              <a:t>AR</a:t>
            </a:r>
          </a:p>
          <a:p>
            <a:pPr marL="571500" indent="-571500" algn="just">
              <a:buFont typeface="+mj-lt"/>
              <a:buAutoNum type="arabicPeriod"/>
            </a:pPr>
            <a:r>
              <a:rPr lang="en-US" sz="3200" dirty="0">
                <a:solidFill>
                  <a:srgbClr val="333333"/>
                </a:solidFill>
                <a:latin typeface="Roboto"/>
              </a:rPr>
              <a:t>Live and Recorded Sensor Data </a:t>
            </a:r>
            <a:r>
              <a:rPr lang="en-US" sz="3200" dirty="0" smtClean="0">
                <a:solidFill>
                  <a:srgbClr val="333333"/>
                </a:solidFill>
                <a:latin typeface="Roboto"/>
              </a:rPr>
              <a:t>Visualization</a:t>
            </a:r>
            <a:r>
              <a:rPr lang="en-US" sz="3200" dirty="0">
                <a:solidFill>
                  <a:srgbClr val="333333"/>
                </a:solidFill>
                <a:latin typeface="Roboto"/>
              </a:rPr>
              <a:t> </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8005117"/>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15</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329007" y="222946"/>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930830"/>
            <a:ext cx="11407140" cy="4154984"/>
          </a:xfrm>
          <a:prstGeom prst="rect">
            <a:avLst/>
          </a:prstGeom>
        </p:spPr>
        <p:txBody>
          <a:bodyPr wrap="square">
            <a:spAutoFit/>
          </a:bodyPr>
          <a:lstStyle/>
          <a:p>
            <a:pPr algn="just"/>
            <a:r>
              <a:rPr lang="en-IN" sz="4000" b="1" dirty="0">
                <a:solidFill>
                  <a:srgbClr val="C00000"/>
                </a:solidFill>
                <a:ea typeface="Calibri" panose="020F0502020204030204" pitchFamily="34" charset="0"/>
                <a:cs typeface="Calibri" panose="020F0502020204030204" pitchFamily="34" charset="0"/>
              </a:rPr>
              <a:t>Library of visualization primitives:</a:t>
            </a:r>
          </a:p>
          <a:p>
            <a:pPr algn="just"/>
            <a:r>
              <a:rPr lang="en-US" sz="3200" b="1" dirty="0" smtClean="0">
                <a:solidFill>
                  <a:srgbClr val="7030A0"/>
                </a:solidFill>
                <a:latin typeface="Roboto"/>
              </a:rPr>
              <a:t>Dimensionality</a:t>
            </a:r>
            <a:r>
              <a:rPr lang="en-US" sz="3200" b="1" dirty="0">
                <a:solidFill>
                  <a:srgbClr val="7030A0"/>
                </a:solidFill>
                <a:latin typeface="Roboto"/>
              </a:rPr>
              <a:t>: </a:t>
            </a:r>
            <a:endParaRPr lang="en-US" sz="3200" b="1" dirty="0" smtClean="0">
              <a:solidFill>
                <a:srgbClr val="7030A0"/>
              </a:solidFill>
              <a:latin typeface="Roboto"/>
            </a:endParaRPr>
          </a:p>
          <a:p>
            <a:pPr marL="457200" indent="-4572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represent discrete data as a point and continuous data as a bar. </a:t>
            </a:r>
          </a:p>
          <a:p>
            <a:pPr marL="457200" indent="-4572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represent directional data as bars in </a:t>
            </a:r>
            <a:r>
              <a:rPr lang="en-US" sz="3200" dirty="0" smtClean="0">
                <a:solidFill>
                  <a:srgbClr val="333333"/>
                </a:solidFill>
                <a:latin typeface="Roboto"/>
              </a:rPr>
              <a:t>different directions.</a:t>
            </a:r>
          </a:p>
          <a:p>
            <a:pPr marL="457200" indent="-4572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volumetric data, we display the data as a 3D volumetric shape (e.g., a cone or hemisphere). Dimensional information is rendered as a black outline with no </a:t>
            </a:r>
            <a:r>
              <a:rPr lang="en-US" sz="3200" dirty="0" smtClean="0">
                <a:solidFill>
                  <a:srgbClr val="333333"/>
                </a:solidFill>
                <a:latin typeface="Roboto"/>
              </a:rPr>
              <a:t>infill</a:t>
            </a:r>
            <a:r>
              <a:rPr lang="en-US" sz="3200" dirty="0">
                <a:solidFill>
                  <a:srgbClr val="333333"/>
                </a:solidFill>
                <a:latin typeface="Roboto"/>
              </a:rPr>
              <a:t>.</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892354" y="5036355"/>
            <a:ext cx="8326012" cy="1514686"/>
          </a:xfrm>
          <a:prstGeom prst="rect">
            <a:avLst/>
          </a:prstGeom>
          <a:ln w="28575">
            <a:solidFill>
              <a:schemeClr val="tx1"/>
            </a:solidFill>
          </a:ln>
        </p:spPr>
      </p:pic>
    </p:spTree>
    <p:extLst>
      <p:ext uri="{BB962C8B-B14F-4D97-AF65-F5344CB8AC3E}">
        <p14:creationId xmlns:p14="http://schemas.microsoft.com/office/powerpoint/2010/main" val="1867670330"/>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16</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201424"/>
          </a:xfrm>
          <a:prstGeom prst="rect">
            <a:avLst/>
          </a:prstGeom>
        </p:spPr>
        <p:txBody>
          <a:bodyPr wrap="square">
            <a:spAutoFit/>
          </a:bodyPr>
          <a:lstStyle/>
          <a:p>
            <a:pPr algn="just"/>
            <a:r>
              <a:rPr lang="en-US" sz="3000" b="1" dirty="0" smtClean="0">
                <a:solidFill>
                  <a:srgbClr val="7030A0"/>
                </a:solidFill>
                <a:latin typeface="Roboto"/>
              </a:rPr>
              <a:t>Range</a:t>
            </a:r>
          </a:p>
          <a:p>
            <a:pPr marL="571500" indent="-571500" algn="just">
              <a:buFont typeface="Arial" panose="020B0604020202020204" pitchFamily="34" charset="0"/>
              <a:buChar char="•"/>
            </a:pPr>
            <a:r>
              <a:rPr lang="en-US" sz="3000" dirty="0" smtClean="0">
                <a:solidFill>
                  <a:srgbClr val="333333"/>
                </a:solidFill>
                <a:latin typeface="Roboto"/>
              </a:rPr>
              <a:t>To </a:t>
            </a:r>
            <a:r>
              <a:rPr lang="en-US" sz="3000" dirty="0">
                <a:solidFill>
                  <a:srgbClr val="333333"/>
                </a:solidFill>
                <a:latin typeface="Roboto"/>
              </a:rPr>
              <a:t>visualize the range of a sensor, we use the min/max values from the datasheet as the bounds of the visualization. </a:t>
            </a:r>
            <a:endParaRPr lang="en-US" sz="3000" dirty="0" smtClean="0">
              <a:solidFill>
                <a:srgbClr val="333333"/>
              </a:solidFill>
              <a:latin typeface="Roboto"/>
            </a:endParaRPr>
          </a:p>
          <a:p>
            <a:pPr marL="571500" indent="-571500" algn="just">
              <a:buFont typeface="Arial" panose="020B0604020202020204" pitchFamily="34" charset="0"/>
              <a:buChar char="•"/>
            </a:pPr>
            <a:r>
              <a:rPr lang="en-US" sz="3000" dirty="0" smtClean="0">
                <a:solidFill>
                  <a:srgbClr val="333333"/>
                </a:solidFill>
                <a:latin typeface="Roboto"/>
              </a:rPr>
              <a:t>For </a:t>
            </a:r>
            <a:r>
              <a:rPr lang="en-US" sz="3000" dirty="0">
                <a:solidFill>
                  <a:srgbClr val="333333"/>
                </a:solidFill>
                <a:latin typeface="Roboto"/>
              </a:rPr>
              <a:t>continuous non-spatial and directional data, we </a:t>
            </a:r>
            <a:r>
              <a:rPr lang="en-US" sz="3000" dirty="0" smtClean="0">
                <a:solidFill>
                  <a:srgbClr val="333333"/>
                </a:solidFill>
                <a:latin typeface="Roboto"/>
              </a:rPr>
              <a:t>define </a:t>
            </a:r>
            <a:r>
              <a:rPr lang="en-US" sz="3000" dirty="0">
                <a:solidFill>
                  <a:srgbClr val="333333"/>
                </a:solidFill>
                <a:latin typeface="Roboto"/>
              </a:rPr>
              <a:t>the lower bound of the visualization to be equal to the minimum value and the upper bound of the visualization to be equal to the maximum value </a:t>
            </a:r>
            <a:r>
              <a:rPr lang="en-US" sz="3000" dirty="0" smtClean="0">
                <a:solidFill>
                  <a:srgbClr val="333333"/>
                </a:solidFill>
                <a:latin typeface="Roboto"/>
              </a:rPr>
              <a:t>specified </a:t>
            </a:r>
            <a:r>
              <a:rPr lang="en-US" sz="3000" dirty="0">
                <a:solidFill>
                  <a:srgbClr val="333333"/>
                </a:solidFill>
                <a:latin typeface="Roboto"/>
              </a:rPr>
              <a:t>in the datasheet. </a:t>
            </a:r>
            <a:endParaRPr lang="en-US" sz="3000" dirty="0" smtClean="0">
              <a:solidFill>
                <a:srgbClr val="333333"/>
              </a:solidFill>
              <a:latin typeface="Roboto"/>
            </a:endParaRPr>
          </a:p>
          <a:p>
            <a:pPr marL="571500" indent="-571500" algn="just">
              <a:buFont typeface="Arial" panose="020B0604020202020204" pitchFamily="34" charset="0"/>
              <a:buChar char="•"/>
            </a:pPr>
            <a:r>
              <a:rPr lang="en-US" sz="3000" dirty="0">
                <a:solidFill>
                  <a:srgbClr val="333333"/>
                </a:solidFill>
                <a:latin typeface="Roboto"/>
              </a:rPr>
              <a:t>For spatial data, the visualization shows the lower and upper bounds of the sensing volume in the size as </a:t>
            </a:r>
            <a:r>
              <a:rPr lang="en-US" sz="3000" dirty="0" smtClean="0">
                <a:solidFill>
                  <a:srgbClr val="333333"/>
                </a:solidFill>
                <a:latin typeface="Roboto"/>
              </a:rPr>
              <a:t>specified </a:t>
            </a:r>
            <a:r>
              <a:rPr lang="en-US" sz="3000" dirty="0">
                <a:solidFill>
                  <a:srgbClr val="333333"/>
                </a:solidFill>
                <a:latin typeface="Roboto"/>
              </a:rPr>
              <a:t>in the datasheet.</a:t>
            </a:r>
            <a:endParaRPr lang="en-US" sz="3000" dirty="0" smtClean="0">
              <a:solidFill>
                <a:srgbClr val="333333"/>
              </a:solidFill>
              <a:latin typeface="Roboto"/>
            </a:endParaRP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20874503"/>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17</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3046988"/>
          </a:xfrm>
          <a:prstGeom prst="rect">
            <a:avLst/>
          </a:prstGeom>
        </p:spPr>
        <p:txBody>
          <a:bodyPr wrap="square">
            <a:spAutoFit/>
          </a:bodyPr>
          <a:lstStyle/>
          <a:p>
            <a:pPr algn="just"/>
            <a:r>
              <a:rPr lang="en-US" sz="3200" b="1" dirty="0">
                <a:solidFill>
                  <a:srgbClr val="7030A0"/>
                </a:solidFill>
                <a:latin typeface="Roboto"/>
              </a:rPr>
              <a:t>Resolution: </a:t>
            </a:r>
            <a:endParaRPr lang="en-US" sz="3200" b="1" dirty="0" smtClean="0">
              <a:solidFill>
                <a:srgbClr val="7030A0"/>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visualize resolution by splitting the bar or volume into segments, with smaller segments representing higher sensor resolutions than larger segments. </a:t>
            </a:r>
            <a:endParaRPr lang="en-US" sz="3200" dirty="0" smtClean="0">
              <a:solidFill>
                <a:srgbClr val="333333"/>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compute the segment size by dividing the sensor’s output bit resolution by the range of the sensor. </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690322" y="4209840"/>
            <a:ext cx="8730076" cy="2394897"/>
          </a:xfrm>
          <a:prstGeom prst="rect">
            <a:avLst/>
          </a:prstGeom>
          <a:ln w="28575">
            <a:solidFill>
              <a:schemeClr val="tx1"/>
            </a:solidFill>
          </a:ln>
        </p:spPr>
      </p:pic>
    </p:spTree>
    <p:extLst>
      <p:ext uri="{BB962C8B-B14F-4D97-AF65-F5344CB8AC3E}">
        <p14:creationId xmlns:p14="http://schemas.microsoft.com/office/powerpoint/2010/main" val="1941559167"/>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000" b="1" i="0" u="none" strike="noStrike" kern="0" cap="none" spc="0" normalizeH="0" baseline="0" noProof="0">
                <a:ln>
                  <a:noFill/>
                </a:ln>
                <a:solidFill>
                  <a:srgbClr val="003F7D">
                    <a:alpha val="64999"/>
                  </a:srgbClr>
                </a:solidFill>
                <a:effectLst/>
                <a:uLnTx/>
                <a:uFillTx/>
                <a:latin typeface="Helvetica"/>
                <a:cs typeface="Helvetica"/>
                <a:sym typeface="Helvetica"/>
              </a:rPr>
              <a:pPr marL="0" marR="0" lvl="0" indent="0" algn="r" defTabSz="914400" rtl="0" eaLnBrk="1" fontAlgn="auto" latinLnBrk="0" hangingPunct="0">
                <a:lnSpc>
                  <a:spcPct val="100000"/>
                </a:lnSpc>
                <a:spcBef>
                  <a:spcPts val="0"/>
                </a:spcBef>
                <a:spcAft>
                  <a:spcPts val="0"/>
                </a:spcAft>
                <a:buClrTx/>
                <a:buSzTx/>
                <a:buFontTx/>
                <a:buNone/>
                <a:tabLst/>
                <a:defRPr/>
              </a:pPr>
              <a:t>18</a:t>
            </a:fld>
            <a:endParaRPr kumimoji="0" sz="1000" b="1" i="0" u="none" strike="noStrike" kern="0" cap="none" spc="0" normalizeH="0" baseline="0" noProof="0" dirty="0">
              <a:ln>
                <a:noFill/>
              </a:ln>
              <a:solidFill>
                <a:srgbClr val="003F7D">
                  <a:alpha val="64999"/>
                </a:srgbClr>
              </a:solidFill>
              <a:effectLst/>
              <a:uLnTx/>
              <a:uFillTx/>
              <a:latin typeface="Helvetica"/>
              <a:cs typeface="Helvetica"/>
              <a:sym typeface="Helvetica"/>
            </a:endParaRPr>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marL="228600" marR="0" lvl="0" indent="-228600" algn="just" defTabSz="914400" rtl="0" eaLnBrk="0" fontAlgn="auto" latinLnBrk="0" hangingPunct="1">
              <a:lnSpc>
                <a:spcPct val="150000"/>
              </a:lnSpc>
              <a:spcBef>
                <a:spcPts val="1000"/>
              </a:spcBef>
              <a:spcAft>
                <a:spcPts val="0"/>
              </a:spcAft>
              <a:buClrTx/>
              <a:buSzPct val="100000"/>
              <a:buFont typeface="Arial" panose="020B0604020202020204" pitchFamily="34" charset="0"/>
              <a:buChar char="•"/>
              <a:tabLst/>
              <a:defRPr/>
            </a:pPr>
            <a:endParaRPr kumimoji="0" lang="en-US" altLang="en-US" sz="2500" b="1" i="0" u="none" strike="noStrike" kern="0" cap="none" spc="0" normalizeH="0" baseline="0" noProof="0" dirty="0">
              <a:ln>
                <a:noFill/>
              </a:ln>
              <a:solidFill>
                <a:srgbClr val="00B050"/>
              </a:solidFill>
              <a:effectLst/>
              <a:uLnTx/>
              <a:uFillTx/>
              <a:latin typeface="Calibri"/>
              <a:cs typeface="Segoe UI"/>
              <a:sym typeface="Segoe UI"/>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4000" b="0" i="0" u="none" strike="noStrike" kern="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sym typeface="Segoe UI"/>
              </a:rPr>
              <a:t>2.1 Transforming </a:t>
            </a:r>
            <a:r>
              <a:rPr kumimoji="0" lang="en-US" sz="4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Segoe UI"/>
              </a:rPr>
              <a:t>sensor </a:t>
            </a:r>
            <a:r>
              <a:rPr kumimoji="0" lang="en-US" sz="4000" b="0" i="0" u="none" strike="noStrike" kern="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sym typeface="Segoe UI"/>
              </a:rPr>
              <a:t>reading</a:t>
            </a:r>
            <a:endParaRPr kumimoji="0" lang="en-US" sz="4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509200"/>
          </a:xfrm>
          <a:prstGeom prst="rect">
            <a:avLst/>
          </a:prstGeom>
        </p:spPr>
        <p:txBody>
          <a:bodyPr wrap="square">
            <a:spAutoFit/>
          </a:bodyPr>
          <a:lstStyle/>
          <a:p>
            <a:pPr lvl="0" algn="just"/>
            <a:r>
              <a:rPr lang="en-US" sz="3200" b="1" dirty="0">
                <a:solidFill>
                  <a:srgbClr val="7030A0"/>
                </a:solidFill>
                <a:latin typeface="Roboto"/>
              </a:rPr>
              <a:t>Sensor </a:t>
            </a:r>
            <a:r>
              <a:rPr lang="en-US" sz="3200" b="1" dirty="0" smtClean="0">
                <a:solidFill>
                  <a:srgbClr val="7030A0"/>
                </a:solidFill>
                <a:latin typeface="Roboto"/>
              </a:rPr>
              <a:t>Values</a:t>
            </a:r>
          </a:p>
          <a:p>
            <a:pPr marL="571500" lvl="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visualize live sensor values by </a:t>
            </a:r>
            <a:r>
              <a:rPr lang="en-US" sz="3200" dirty="0" err="1">
                <a:solidFill>
                  <a:srgbClr val="333333"/>
                </a:solidFill>
                <a:latin typeface="Roboto"/>
              </a:rPr>
              <a:t>flling</a:t>
            </a:r>
            <a:r>
              <a:rPr lang="en-US" sz="3200" dirty="0">
                <a:solidFill>
                  <a:srgbClr val="333333"/>
                </a:solidFill>
                <a:latin typeface="Roboto"/>
              </a:rPr>
              <a:t> in the point, bar, or volume. </a:t>
            </a:r>
            <a:endParaRPr lang="en-US" sz="3200" dirty="0" smtClean="0">
              <a:solidFill>
                <a:srgbClr val="333333"/>
              </a:solidFill>
              <a:latin typeface="Roboto"/>
            </a:endParaRPr>
          </a:p>
          <a:p>
            <a:pPr marL="571500" lvl="0" indent="-5715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discrete values, if a ’zero’ is read, the point is rendered in 0% opacity and if a ’one’ is read, it is rendered in 100% opacity. </a:t>
            </a:r>
            <a:endParaRPr lang="en-US" sz="3200" dirty="0" smtClean="0">
              <a:solidFill>
                <a:srgbClr val="333333"/>
              </a:solidFill>
              <a:latin typeface="Roboto"/>
            </a:endParaRPr>
          </a:p>
          <a:p>
            <a:pPr marL="571500" lvl="0" indent="-571500" algn="just">
              <a:buFont typeface="Arial" panose="020B0604020202020204" pitchFamily="34" charset="0"/>
              <a:buChar char="•"/>
            </a:pPr>
            <a:r>
              <a:rPr lang="en-US" sz="3200" dirty="0" smtClean="0">
                <a:solidFill>
                  <a:srgbClr val="333333"/>
                </a:solidFill>
                <a:latin typeface="Roboto"/>
              </a:rPr>
              <a:t>Makers </a:t>
            </a:r>
            <a:r>
              <a:rPr lang="en-US" sz="3200" dirty="0">
                <a:solidFill>
                  <a:srgbClr val="333333"/>
                </a:solidFill>
                <a:latin typeface="Roboto"/>
              </a:rPr>
              <a:t>can </a:t>
            </a:r>
            <a:r>
              <a:rPr lang="en-US" sz="3200" dirty="0" smtClean="0">
                <a:solidFill>
                  <a:srgbClr val="333333"/>
                </a:solidFill>
                <a:latin typeface="Roboto"/>
              </a:rPr>
              <a:t>differentiate </a:t>
            </a:r>
            <a:r>
              <a:rPr lang="en-US" sz="3200" dirty="0">
                <a:solidFill>
                  <a:srgbClr val="333333"/>
                </a:solidFill>
                <a:latin typeface="Roboto"/>
              </a:rPr>
              <a:t>between a ’zero’ reading and ’no data’ using the text label that shows the current value. </a:t>
            </a:r>
            <a:endParaRPr lang="en-US" sz="3200" dirty="0" smtClean="0">
              <a:solidFill>
                <a:srgbClr val="333333"/>
              </a:solidFill>
              <a:latin typeface="Roboto"/>
            </a:endParaRPr>
          </a:p>
          <a:p>
            <a:pPr marL="571500" lvl="0" indent="-5715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continuous values, the larger the received sensor values, the more of the bar or the volume is rendered in 100% opacity.</a:t>
            </a:r>
            <a:endParaRPr kumimoji="0" lang="en-IN" sz="3200" b="0" i="0" u="none" strike="noStrike" kern="0" cap="none" spc="0" normalizeH="0" baseline="0" noProof="0" dirty="0">
              <a:ln>
                <a:noFill/>
              </a:ln>
              <a:solidFill>
                <a:srgbClr val="000000"/>
              </a:solidFill>
              <a:effectLst/>
              <a:uLnTx/>
              <a:uFillTx/>
              <a:latin typeface="Calibri"/>
              <a:ea typeface="Calibri" panose="020F0502020204030204" pitchFamily="34" charset="0"/>
              <a:cs typeface="Calibri" panose="020F0502020204030204" pitchFamily="34" charset="0"/>
              <a:sym typeface="Segoe UI"/>
            </a:endParaRPr>
          </a:p>
        </p:txBody>
      </p:sp>
    </p:spTree>
    <p:extLst>
      <p:ext uri="{BB962C8B-B14F-4D97-AF65-F5344CB8AC3E}">
        <p14:creationId xmlns:p14="http://schemas.microsoft.com/office/powerpoint/2010/main" val="1390636030"/>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19</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4031873"/>
          </a:xfrm>
          <a:prstGeom prst="rect">
            <a:avLst/>
          </a:prstGeom>
        </p:spPr>
        <p:txBody>
          <a:bodyPr wrap="square">
            <a:spAutoFit/>
          </a:bodyPr>
          <a:lstStyle/>
          <a:p>
            <a:pPr algn="just"/>
            <a:r>
              <a:rPr lang="en-US" sz="3200" b="1" dirty="0">
                <a:solidFill>
                  <a:srgbClr val="7030A0"/>
                </a:solidFill>
                <a:latin typeface="Roboto"/>
              </a:rPr>
              <a:t>Textual </a:t>
            </a:r>
            <a:r>
              <a:rPr lang="en-US" sz="3200" b="1" dirty="0" smtClean="0">
                <a:solidFill>
                  <a:srgbClr val="7030A0"/>
                </a:solidFill>
                <a:latin typeface="Roboto"/>
              </a:rPr>
              <a:t>information</a:t>
            </a:r>
          </a:p>
          <a:p>
            <a:pPr marL="57150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use labels to display the range (min/max), the resolution, and the current sensor value. </a:t>
            </a:r>
            <a:endParaRPr lang="en-US" sz="3200" dirty="0" smtClean="0">
              <a:solidFill>
                <a:srgbClr val="333333"/>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directional data, we also label the axes information, and for volumetric data, we label the angle of the </a:t>
            </a:r>
            <a:r>
              <a:rPr lang="en-US" sz="3200" dirty="0" err="1">
                <a:solidFill>
                  <a:srgbClr val="333333"/>
                </a:solidFill>
                <a:latin typeface="Roboto"/>
              </a:rPr>
              <a:t>feld</a:t>
            </a:r>
            <a:r>
              <a:rPr lang="en-US" sz="3200" dirty="0">
                <a:solidFill>
                  <a:srgbClr val="333333"/>
                </a:solidFill>
                <a:latin typeface="Roboto"/>
              </a:rPr>
              <a:t> of view. </a:t>
            </a:r>
            <a:endParaRPr lang="en-US" sz="3200" dirty="0" smtClean="0">
              <a:solidFill>
                <a:srgbClr val="333333"/>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Makers </a:t>
            </a:r>
            <a:r>
              <a:rPr lang="en-US" sz="3200" dirty="0">
                <a:solidFill>
                  <a:srgbClr val="333333"/>
                </a:solidFill>
                <a:latin typeface="Roboto"/>
              </a:rPr>
              <a:t>can choose in the user interface which information they want to display.</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09474901"/>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20</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pic>
        <p:nvPicPr>
          <p:cNvPr id="3" name="Picture 2"/>
          <p:cNvPicPr>
            <a:picLocks noChangeAspect="1"/>
          </p:cNvPicPr>
          <p:nvPr/>
        </p:nvPicPr>
        <p:blipFill>
          <a:blip r:embed="rId2"/>
          <a:stretch>
            <a:fillRect/>
          </a:stretch>
        </p:blipFill>
        <p:spPr>
          <a:xfrm>
            <a:off x="545088" y="1762117"/>
            <a:ext cx="11148348" cy="3073017"/>
          </a:xfrm>
          <a:prstGeom prst="rect">
            <a:avLst/>
          </a:prstGeom>
          <a:ln w="28575">
            <a:solidFill>
              <a:schemeClr val="tx1"/>
            </a:solidFill>
          </a:ln>
        </p:spPr>
      </p:pic>
    </p:spTree>
    <p:extLst>
      <p:ext uri="{BB962C8B-B14F-4D97-AF65-F5344CB8AC3E}">
        <p14:creationId xmlns:p14="http://schemas.microsoft.com/office/powerpoint/2010/main" val="3845610285"/>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21</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84775"/>
          </a:xfrm>
          <a:prstGeom prst="rect">
            <a:avLst/>
          </a:prstGeom>
        </p:spPr>
        <p:txBody>
          <a:bodyPr wrap="square">
            <a:spAutoFit/>
          </a:bodyPr>
          <a:lstStyle/>
          <a:p>
            <a:pPr algn="just"/>
            <a:r>
              <a:rPr lang="en-US" sz="3200" b="1" dirty="0">
                <a:solidFill>
                  <a:srgbClr val="7030A0"/>
                </a:solidFill>
                <a:latin typeface="Roboto"/>
              </a:rPr>
              <a:t>Additional Visualizations </a:t>
            </a:r>
            <a:r>
              <a:rPr lang="en-US" sz="3200" b="1" dirty="0" smtClean="0">
                <a:solidFill>
                  <a:srgbClr val="7030A0"/>
                </a:solidFill>
                <a:latin typeface="Roboto"/>
              </a:rPr>
              <a:t>Attributes:</a:t>
            </a:r>
          </a:p>
        </p:txBody>
      </p:sp>
      <p:pic>
        <p:nvPicPr>
          <p:cNvPr id="3" name="Picture 2"/>
          <p:cNvPicPr>
            <a:picLocks noChangeAspect="1"/>
          </p:cNvPicPr>
          <p:nvPr/>
        </p:nvPicPr>
        <p:blipFill>
          <a:blip r:embed="rId2"/>
          <a:stretch>
            <a:fillRect/>
          </a:stretch>
        </p:blipFill>
        <p:spPr>
          <a:xfrm>
            <a:off x="3229876" y="1843348"/>
            <a:ext cx="6113019" cy="4601376"/>
          </a:xfrm>
          <a:prstGeom prst="rect">
            <a:avLst/>
          </a:prstGeom>
          <a:ln w="28575">
            <a:solidFill>
              <a:schemeClr val="tx1"/>
            </a:solidFill>
          </a:ln>
        </p:spPr>
      </p:pic>
    </p:spTree>
    <p:extLst>
      <p:ext uri="{BB962C8B-B14F-4D97-AF65-F5344CB8AC3E}">
        <p14:creationId xmlns:p14="http://schemas.microsoft.com/office/powerpoint/2010/main" val="3878508155"/>
      </p:ext>
    </p:extLst>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22</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pic>
        <p:nvPicPr>
          <p:cNvPr id="3" name="Picture 2"/>
          <p:cNvPicPr>
            <a:picLocks noChangeAspect="1"/>
          </p:cNvPicPr>
          <p:nvPr/>
        </p:nvPicPr>
        <p:blipFill>
          <a:blip r:embed="rId2"/>
          <a:stretch>
            <a:fillRect/>
          </a:stretch>
        </p:blipFill>
        <p:spPr>
          <a:xfrm>
            <a:off x="556000" y="1879063"/>
            <a:ext cx="10880564" cy="3590085"/>
          </a:xfrm>
          <a:prstGeom prst="rect">
            <a:avLst/>
          </a:prstGeom>
          <a:ln w="28575">
            <a:solidFill>
              <a:schemeClr val="tx1"/>
            </a:solidFill>
          </a:ln>
        </p:spPr>
      </p:pic>
    </p:spTree>
    <p:extLst>
      <p:ext uri="{BB962C8B-B14F-4D97-AF65-F5344CB8AC3E}">
        <p14:creationId xmlns:p14="http://schemas.microsoft.com/office/powerpoint/2010/main" val="4111425394"/>
      </p:ext>
    </p:extLst>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23</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4278094"/>
          </a:xfrm>
          <a:prstGeom prst="rect">
            <a:avLst/>
          </a:prstGeom>
        </p:spPr>
        <p:txBody>
          <a:bodyPr wrap="square">
            <a:spAutoFit/>
          </a:bodyPr>
          <a:lstStyle/>
          <a:p>
            <a:pPr algn="just"/>
            <a:r>
              <a:rPr lang="en-US" sz="4000" b="1" dirty="0" smtClean="0">
                <a:solidFill>
                  <a:srgbClr val="00B050"/>
                </a:solidFill>
                <a:latin typeface="Lato"/>
              </a:rPr>
              <a:t>Steps to transform sensor reading:</a:t>
            </a:r>
          </a:p>
          <a:p>
            <a:pPr algn="just"/>
            <a:endParaRPr lang="en-US" sz="4000" b="1" dirty="0" smtClean="0">
              <a:solidFill>
                <a:srgbClr val="00B050"/>
              </a:solidFill>
              <a:latin typeface="Lato"/>
            </a:endParaRPr>
          </a:p>
          <a:p>
            <a:pPr marL="571500" indent="-571500" algn="just">
              <a:buFont typeface="+mj-lt"/>
              <a:buAutoNum type="arabicPeriod"/>
            </a:pPr>
            <a:r>
              <a:rPr lang="en-US" sz="3200" b="1" dirty="0">
                <a:solidFill>
                  <a:srgbClr val="333333"/>
                </a:solidFill>
                <a:latin typeface="Roboto"/>
              </a:rPr>
              <a:t>Loading Sensor Information from Sensor </a:t>
            </a:r>
            <a:r>
              <a:rPr lang="en-US" sz="3200" b="1" dirty="0" smtClean="0">
                <a:solidFill>
                  <a:srgbClr val="333333"/>
                </a:solidFill>
                <a:latin typeface="Roboto"/>
              </a:rPr>
              <a:t>Database</a:t>
            </a:r>
          </a:p>
          <a:p>
            <a:pPr marL="571500" indent="-571500" algn="just">
              <a:buFont typeface="+mj-lt"/>
              <a:buAutoNum type="arabicPeriod"/>
            </a:pPr>
            <a:r>
              <a:rPr lang="en-US" sz="3200" b="1" dirty="0">
                <a:solidFill>
                  <a:srgbClr val="333333"/>
                </a:solidFill>
                <a:latin typeface="Roboto"/>
              </a:rPr>
              <a:t>Visualizing Sensor </a:t>
            </a:r>
            <a:r>
              <a:rPr lang="en-US" sz="3200" b="1" dirty="0" smtClean="0">
                <a:solidFill>
                  <a:srgbClr val="333333"/>
                </a:solidFill>
                <a:latin typeface="Roboto"/>
              </a:rPr>
              <a:t>Data</a:t>
            </a:r>
          </a:p>
          <a:p>
            <a:pPr marL="571500" indent="-571500" algn="just">
              <a:buFont typeface="+mj-lt"/>
              <a:buAutoNum type="arabicPeriod"/>
            </a:pPr>
            <a:r>
              <a:rPr lang="en-US" sz="3200" b="1" dirty="0" smtClean="0">
                <a:solidFill>
                  <a:srgbClr val="333333"/>
                </a:solidFill>
                <a:latin typeface="Roboto"/>
              </a:rPr>
              <a:t>Augmented Reality visualization</a:t>
            </a:r>
          </a:p>
          <a:p>
            <a:pPr marL="571500" indent="-571500" algn="just">
              <a:buFont typeface="+mj-lt"/>
              <a:buAutoNum type="arabicPeriod"/>
            </a:pPr>
            <a:r>
              <a:rPr lang="en-US" sz="3200" b="1" dirty="0">
                <a:solidFill>
                  <a:srgbClr val="333333"/>
                </a:solidFill>
                <a:latin typeface="Roboto"/>
              </a:rPr>
              <a:t>Reading Live Sensor </a:t>
            </a:r>
            <a:r>
              <a:rPr lang="en-US" sz="3200" b="1" dirty="0" smtClean="0">
                <a:solidFill>
                  <a:srgbClr val="333333"/>
                </a:solidFill>
                <a:latin typeface="Roboto"/>
              </a:rPr>
              <a:t>Values</a:t>
            </a:r>
            <a:endParaRPr lang="en-US" sz="3200" b="1" dirty="0">
              <a:solidFill>
                <a:srgbClr val="333333"/>
              </a:solidFill>
              <a:latin typeface="Roboto"/>
            </a:endParaRPr>
          </a:p>
          <a:p>
            <a:pPr marL="571500" indent="-571500" algn="just">
              <a:buFont typeface="+mj-lt"/>
              <a:buAutoNum type="arabicPeriod"/>
            </a:pPr>
            <a:r>
              <a:rPr lang="en-US" sz="3200" b="1" dirty="0">
                <a:solidFill>
                  <a:srgbClr val="333333"/>
                </a:solidFill>
                <a:latin typeface="Roboto"/>
              </a:rPr>
              <a:t>Recording Sensing </a:t>
            </a:r>
            <a:r>
              <a:rPr lang="en-US" sz="3200" b="1" dirty="0" smtClean="0">
                <a:solidFill>
                  <a:srgbClr val="333333"/>
                </a:solidFill>
                <a:latin typeface="Roboto"/>
              </a:rPr>
              <a:t>Data</a:t>
            </a:r>
          </a:p>
          <a:p>
            <a:pPr marL="571500" indent="-571500" algn="just">
              <a:buFont typeface="+mj-lt"/>
              <a:buAutoNum type="arabicPeriod"/>
            </a:pPr>
            <a:r>
              <a:rPr lang="en-US" sz="3200" b="1" dirty="0">
                <a:solidFill>
                  <a:srgbClr val="333333"/>
                </a:solidFill>
                <a:latin typeface="Roboto"/>
              </a:rPr>
              <a:t>Sensing Area </a:t>
            </a:r>
            <a:r>
              <a:rPr lang="en-US" sz="3200" b="1" dirty="0" smtClean="0">
                <a:solidFill>
                  <a:srgbClr val="333333"/>
                </a:solidFill>
                <a:latin typeface="Roboto"/>
              </a:rPr>
              <a:t>Overlap</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093759"/>
      </p:ext>
    </p:extLst>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24</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2.2 Mapping SONAR Data</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170646"/>
          </a:xfrm>
          <a:prstGeom prst="rect">
            <a:avLst/>
          </a:prstGeom>
        </p:spPr>
        <p:txBody>
          <a:bodyPr wrap="square">
            <a:spAutoFit/>
          </a:bodyPr>
          <a:lstStyle/>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Advances in technology have since enabled the deployment of Remotely Operated Vehicles (ROVs) and Autonomous Underwater Vehicles (AUVs), which have revolutionized ocean exploration by automating complex tasks and reducing dependence on human </a:t>
            </a:r>
            <a:r>
              <a:rPr lang="en-US" sz="3000" dirty="0" smtClean="0">
                <a:latin typeface="Times New Roman" panose="02020603050405020304" pitchFamily="18" charset="0"/>
                <a:ea typeface="Times New Roman" panose="02020603050405020304" pitchFamily="18" charset="0"/>
              </a:rPr>
              <a:t>operators.</a:t>
            </a: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Despite these technological advancements,</a:t>
            </a:r>
            <a:r>
              <a:rPr lang="en-US" sz="3000" spc="20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underwater</a:t>
            </a:r>
            <a:r>
              <a:rPr lang="en-US" sz="3000" spc="20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navigation and object detection remain challenging due to the limitations of optical sensors. </a:t>
            </a:r>
            <a:endParaRPr lang="en-US" sz="300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Water turbidity, light attenuation, and scattering severely degrade visual data quality,</a:t>
            </a:r>
            <a:r>
              <a:rPr lang="en-US" sz="3000" spc="18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making</a:t>
            </a:r>
            <a:r>
              <a:rPr lang="en-US" sz="3000" spc="15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camera-based</a:t>
            </a:r>
            <a:r>
              <a:rPr lang="en-US" sz="3000" spc="19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imaging</a:t>
            </a:r>
            <a:r>
              <a:rPr lang="en-US" sz="3000" spc="21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unreliable</a:t>
            </a:r>
            <a:r>
              <a:rPr lang="en-US" sz="3000" spc="19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in</a:t>
            </a:r>
            <a:r>
              <a:rPr lang="en-US" sz="3000" spc="16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most</a:t>
            </a:r>
            <a:r>
              <a:rPr lang="en-US" sz="3000" spc="15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sub-sea</a:t>
            </a:r>
            <a:r>
              <a:rPr lang="en-US" sz="3000" spc="140" dirty="0">
                <a:latin typeface="Times New Roman" panose="02020603050405020304" pitchFamily="18" charset="0"/>
                <a:ea typeface="Times New Roman" panose="02020603050405020304" pitchFamily="18" charset="0"/>
              </a:rPr>
              <a:t> </a:t>
            </a:r>
            <a:r>
              <a:rPr lang="en-US" sz="3000" dirty="0" smtClean="0">
                <a:latin typeface="Times New Roman" panose="02020603050405020304" pitchFamily="18" charset="0"/>
                <a:ea typeface="Times New Roman" panose="02020603050405020304" pitchFamily="18" charset="0"/>
              </a:rPr>
              <a:t>operations</a:t>
            </a:r>
            <a:r>
              <a:rPr lang="en-US" sz="3000" spc="180" dirty="0" smtClean="0">
                <a:latin typeface="Times New Roman" panose="02020603050405020304" pitchFamily="18" charset="0"/>
                <a:ea typeface="Times New Roman" panose="02020603050405020304" pitchFamily="18" charset="0"/>
              </a:rPr>
              <a:t>.</a:t>
            </a:r>
            <a:endParaRPr lang="en-IN" sz="30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1389373"/>
      </p:ext>
    </p:extLst>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25</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a:t>
            </a:r>
            <a:r>
              <a:rPr lang="en-US" sz="4000" dirty="0" smtClean="0">
                <a:latin typeface="Times New Roman" panose="02020603050405020304" pitchFamily="18" charset="0"/>
                <a:cs typeface="Times New Roman" panose="02020603050405020304" pitchFamily="18" charset="0"/>
              </a:rPr>
              <a:t>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4524315"/>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 technology has</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emerged as a viable solution for underwater detection and navigation, as</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it</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operates using</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acoustic waves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that</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 penetrate murky waters and function</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independently </a:t>
            </a:r>
            <a:r>
              <a:rPr lang="en-US" sz="3200" dirty="0" smtClean="0">
                <a:latin typeface="Times New Roman" panose="02020603050405020304" pitchFamily="18" charset="0"/>
                <a:ea typeface="Times New Roman" panose="02020603050405020304" pitchFamily="18" charset="0"/>
              </a:rPr>
              <a:t>at</a:t>
            </a:r>
            <a:r>
              <a:rPr lang="en-US" sz="3200" i="1" spc="-1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ambient lighting</a:t>
            </a:r>
            <a:r>
              <a:rPr lang="en-US" sz="3200" spc="-1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conditions.</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systems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are</a:t>
            </a:r>
            <a:r>
              <a:rPr lang="en-US" sz="3200" spc="-6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generally </a:t>
            </a:r>
            <a:r>
              <a:rPr lang="en-US" sz="3200" dirty="0">
                <a:latin typeface="Times New Roman" panose="02020603050405020304" pitchFamily="18" charset="0"/>
                <a:ea typeface="Times New Roman" panose="02020603050405020304" pitchFamily="18" charset="0"/>
              </a:rPr>
              <a:t>categorized into </a:t>
            </a:r>
            <a:r>
              <a:rPr lang="en-US" sz="3200" i="1" dirty="0">
                <a:latin typeface="Times New Roman" panose="02020603050405020304" pitchFamily="18" charset="0"/>
                <a:ea typeface="Times New Roman" panose="02020603050405020304" pitchFamily="18" charset="0"/>
              </a:rPr>
              <a:t>single-beam </a:t>
            </a:r>
            <a:r>
              <a:rPr lang="en-US" sz="3200" dirty="0">
                <a:latin typeface="Times New Roman" panose="02020603050405020304" pitchFamily="18" charset="0"/>
                <a:ea typeface="Times New Roman" panose="02020603050405020304" pitchFamily="18" charset="0"/>
              </a:rPr>
              <a:t>and </a:t>
            </a:r>
            <a:r>
              <a:rPr lang="en-US" sz="3200" i="1" dirty="0">
                <a:latin typeface="Times New Roman" panose="02020603050405020304" pitchFamily="18" charset="0"/>
                <a:ea typeface="Times New Roman" panose="02020603050405020304" pitchFamily="18" charset="0"/>
              </a:rPr>
              <a:t>multi-beam </a:t>
            </a:r>
            <a:r>
              <a:rPr lang="en-US" sz="3200" dirty="0">
                <a:latin typeface="Times New Roman" panose="02020603050405020304" pitchFamily="18" charset="0"/>
                <a:ea typeface="Times New Roman" panose="02020603050405020304" pitchFamily="18" charset="0"/>
              </a:rPr>
              <a:t>types</a:t>
            </a:r>
            <a:r>
              <a:rPr lang="en-US" sz="32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Multi-beam sonars </a:t>
            </a:r>
            <a:r>
              <a:rPr lang="en-US" sz="3200" dirty="0" smtClean="0">
                <a:latin typeface="Times New Roman" panose="02020603050405020304" pitchFamily="18" charset="0"/>
                <a:ea typeface="Times New Roman" panose="02020603050405020304" pitchFamily="18" charset="0"/>
              </a:rPr>
              <a:t>provide </a:t>
            </a:r>
            <a:r>
              <a:rPr lang="en-US" sz="3200" dirty="0">
                <a:latin typeface="Times New Roman" panose="02020603050405020304" pitchFamily="18" charset="0"/>
                <a:ea typeface="Times New Roman" panose="02020603050405020304" pitchFamily="18" charset="0"/>
              </a:rPr>
              <a:t>extensive spatial coverage and high-resolution 3D reconstructions, but their cost</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complexity limit</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accessibility</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smaller</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research 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commercial</a:t>
            </a:r>
            <a:r>
              <a:rPr lang="en-US" sz="3200" spc="3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platforms.</a:t>
            </a:r>
          </a:p>
        </p:txBody>
      </p:sp>
    </p:spTree>
    <p:extLst>
      <p:ext uri="{BB962C8B-B14F-4D97-AF65-F5344CB8AC3E}">
        <p14:creationId xmlns:p14="http://schemas.microsoft.com/office/powerpoint/2010/main" val="1883460215"/>
      </p:ext>
    </p:extLst>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26</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 technology has</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emerged as a viable solution for underwater detection and navigation, as</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it</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operates using</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acoustic waves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that</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 penetrate murky waters and function</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independently </a:t>
            </a:r>
            <a:r>
              <a:rPr lang="en-US" sz="3200" dirty="0" smtClean="0">
                <a:latin typeface="Times New Roman" panose="02020603050405020304" pitchFamily="18" charset="0"/>
                <a:ea typeface="Times New Roman" panose="02020603050405020304" pitchFamily="18" charset="0"/>
              </a:rPr>
              <a:t>at</a:t>
            </a:r>
            <a:r>
              <a:rPr lang="en-US" sz="3200" i="1" spc="-1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ambient lighting</a:t>
            </a:r>
            <a:r>
              <a:rPr lang="en-US" sz="3200" spc="-1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conditions.</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systems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are</a:t>
            </a:r>
            <a:r>
              <a:rPr lang="en-US" sz="3200" spc="-6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generally </a:t>
            </a:r>
            <a:r>
              <a:rPr lang="en-US" sz="3200" dirty="0">
                <a:latin typeface="Times New Roman" panose="02020603050405020304" pitchFamily="18" charset="0"/>
                <a:ea typeface="Times New Roman" panose="02020603050405020304" pitchFamily="18" charset="0"/>
              </a:rPr>
              <a:t>categorized into </a:t>
            </a:r>
            <a:r>
              <a:rPr lang="en-US" sz="3200" b="1" i="1" dirty="0">
                <a:solidFill>
                  <a:srgbClr val="00B050"/>
                </a:solidFill>
                <a:latin typeface="Times New Roman" panose="02020603050405020304" pitchFamily="18" charset="0"/>
                <a:ea typeface="Times New Roman" panose="02020603050405020304" pitchFamily="18" charset="0"/>
              </a:rPr>
              <a:t>single-beam </a:t>
            </a:r>
            <a:r>
              <a:rPr lang="en-US" sz="3200" b="1" dirty="0">
                <a:solidFill>
                  <a:srgbClr val="00B050"/>
                </a:solidFill>
                <a:latin typeface="Times New Roman" panose="02020603050405020304" pitchFamily="18" charset="0"/>
                <a:ea typeface="Times New Roman" panose="02020603050405020304" pitchFamily="18" charset="0"/>
              </a:rPr>
              <a:t>and </a:t>
            </a:r>
            <a:r>
              <a:rPr lang="en-US" sz="3200" b="1" i="1" dirty="0">
                <a:solidFill>
                  <a:srgbClr val="00B050"/>
                </a:solidFill>
                <a:latin typeface="Times New Roman" panose="02020603050405020304" pitchFamily="18" charset="0"/>
                <a:ea typeface="Times New Roman" panose="02020603050405020304" pitchFamily="18" charset="0"/>
              </a:rPr>
              <a:t>multi-beam </a:t>
            </a:r>
            <a:r>
              <a:rPr lang="en-US" sz="3200" dirty="0">
                <a:latin typeface="Times New Roman" panose="02020603050405020304" pitchFamily="18" charset="0"/>
                <a:ea typeface="Times New Roman" panose="02020603050405020304" pitchFamily="18" charset="0"/>
              </a:rPr>
              <a:t>types</a:t>
            </a:r>
            <a:r>
              <a:rPr lang="en-US" sz="32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b="1" dirty="0">
                <a:solidFill>
                  <a:srgbClr val="00B050"/>
                </a:solidFill>
                <a:latin typeface="Times New Roman" panose="02020603050405020304" pitchFamily="18" charset="0"/>
                <a:ea typeface="Times New Roman" panose="02020603050405020304" pitchFamily="18" charset="0"/>
              </a:rPr>
              <a:t>Multi-beam</a:t>
            </a:r>
            <a:r>
              <a:rPr lang="en-US" sz="3200" dirty="0">
                <a:latin typeface="Times New Roman" panose="02020603050405020304" pitchFamily="18" charset="0"/>
                <a:ea typeface="Times New Roman" panose="02020603050405020304" pitchFamily="18" charset="0"/>
              </a:rPr>
              <a:t> sonars </a:t>
            </a:r>
            <a:r>
              <a:rPr lang="en-US" sz="3200" dirty="0" smtClean="0">
                <a:latin typeface="Times New Roman" panose="02020603050405020304" pitchFamily="18" charset="0"/>
                <a:ea typeface="Times New Roman" panose="02020603050405020304" pitchFamily="18" charset="0"/>
              </a:rPr>
              <a:t>provide </a:t>
            </a:r>
            <a:r>
              <a:rPr lang="en-US" sz="3200" dirty="0">
                <a:latin typeface="Times New Roman" panose="02020603050405020304" pitchFamily="18" charset="0"/>
                <a:ea typeface="Times New Roman" panose="02020603050405020304" pitchFamily="18" charset="0"/>
              </a:rPr>
              <a:t>extensive spatial coverage and high-resolution 3D reconstructions, but their cost</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complexity limit</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accessibility</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smaller</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research 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commercial</a:t>
            </a:r>
            <a:r>
              <a:rPr lang="en-US" sz="3200" spc="3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platforms.</a:t>
            </a: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44319044"/>
      </p:ext>
    </p:extLst>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27</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Single-beam</a:t>
            </a:r>
            <a:r>
              <a:rPr lang="en-US" sz="3200" spc="115"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sonars—such</a:t>
            </a:r>
            <a:r>
              <a:rPr lang="en-US" sz="3200" spc="1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as the Blue Robotics Ping360—employ</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mechanically rotating transducer to</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sweep across</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specified range,</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generating 2D polar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representations</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surrounding</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environment.</a:t>
            </a:r>
            <a:r>
              <a:rPr lang="en-US" sz="3200" spc="-40" dirty="0">
                <a:latin typeface="Times New Roman" panose="02020603050405020304" pitchFamily="18" charset="0"/>
                <a:ea typeface="Times New Roman" panose="02020603050405020304" pitchFamily="18" charset="0"/>
              </a:rPr>
              <a:t> </a:t>
            </a:r>
            <a:endParaRPr lang="en-US" sz="320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10" dirty="0">
                <a:latin typeface="Times New Roman" panose="02020603050405020304" pitchFamily="18" charset="0"/>
                <a:ea typeface="Times New Roman" panose="02020603050405020304" pitchFamily="18" charset="0"/>
              </a:rPr>
              <a:t>The</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sonar</a:t>
            </a:r>
            <a:r>
              <a:rPr lang="en-US" sz="3200" spc="7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scanned</a:t>
            </a:r>
            <a:r>
              <a:rPr lang="en-US" sz="3200" spc="1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 environment</a:t>
            </a:r>
            <a:r>
              <a:rPr lang="en-US" sz="3200" spc="1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incrementally,</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recording</a:t>
            </a:r>
            <a:r>
              <a:rPr lang="en-US" sz="3200" spc="9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intensity</a:t>
            </a:r>
            <a:r>
              <a:rPr lang="en-US" sz="3200" spc="1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values within</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 range</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0-255 at each angular</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position. </a:t>
            </a:r>
            <a:endParaRPr lang="en-US" sz="3200" spc="-1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10" dirty="0" smtClean="0">
                <a:latin typeface="Times New Roman" panose="02020603050405020304" pitchFamily="18" charset="0"/>
                <a:ea typeface="Times New Roman" panose="02020603050405020304" pitchFamily="18" charset="0"/>
              </a:rPr>
              <a:t>These </a:t>
            </a:r>
            <a:r>
              <a:rPr lang="en-US" sz="3200" spc="-10" dirty="0">
                <a:latin typeface="Times New Roman" panose="02020603050405020304" pitchFamily="18" charset="0"/>
                <a:ea typeface="Times New Roman" panose="02020603050405020304" pitchFamily="18" charset="0"/>
              </a:rPr>
              <a:t>intensity</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values represent the</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strength</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acoustic</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reflections</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from</a:t>
            </a:r>
            <a:r>
              <a:rPr lang="en-US" sz="3200" spc="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objects</a:t>
            </a:r>
            <a:r>
              <a:rPr lang="en-US" sz="3200" spc="3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within</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field</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view.</a:t>
            </a:r>
            <a:r>
              <a:rPr lang="en-US" sz="3200" spc="-20" dirty="0">
                <a:latin typeface="Times New Roman" panose="02020603050405020304" pitchFamily="18" charset="0"/>
                <a:ea typeface="Times New Roman" panose="02020603050405020304" pitchFamily="18" charset="0"/>
              </a:rPr>
              <a:t> </a:t>
            </a:r>
            <a:endParaRPr lang="en-US" sz="3200" spc="-2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10" dirty="0" smtClean="0">
                <a:latin typeface="Times New Roman" panose="02020603050405020304" pitchFamily="18" charset="0"/>
                <a:ea typeface="Times New Roman" panose="02020603050405020304" pitchFamily="18" charset="0"/>
              </a:rPr>
              <a:t>The</a:t>
            </a:r>
            <a:r>
              <a:rPr lang="en-US" sz="3200" spc="-15"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raw Ping360</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sonar</a:t>
            </a:r>
            <a:r>
              <a:rPr lang="en-US" sz="3200" spc="1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output</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is</a:t>
            </a:r>
            <a:r>
              <a:rPr lang="en-US" sz="3200" spc="-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inherently</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represented</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polar</a:t>
            </a:r>
            <a:r>
              <a:rPr lang="en-US" sz="3200" spc="1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coordinates</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(range</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versus bearing).</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6698771"/>
      </p:ext>
    </p:extLst>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28</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571500" indent="-571500" algn="just">
              <a:buFont typeface="Arial" panose="020B0604020202020204" pitchFamily="34" charset="0"/>
              <a:buChar char="•"/>
            </a:pPr>
            <a:r>
              <a:rPr lang="en-US" sz="3200" spc="-10" dirty="0">
                <a:latin typeface="Times New Roman" panose="02020603050405020304" pitchFamily="18" charset="0"/>
                <a:ea typeface="Times New Roman" panose="02020603050405020304" pitchFamily="18" charset="0"/>
              </a:rPr>
              <a:t>Each</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beam</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corresponds</a:t>
            </a:r>
            <a:r>
              <a:rPr lang="en-US" sz="3200" spc="7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to</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specific</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bearing</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angle,</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and</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each</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range</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bin </a:t>
            </a:r>
            <a:r>
              <a:rPr lang="en-US" sz="3200" spc="-20" dirty="0">
                <a:latin typeface="Times New Roman" panose="02020603050405020304" pitchFamily="18" charset="0"/>
                <a:ea typeface="Times New Roman" panose="02020603050405020304" pitchFamily="18" charset="0"/>
              </a:rPr>
              <a:t>encodes</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the reflected</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amplitude. </a:t>
            </a:r>
            <a:endParaRPr lang="en-US" sz="3200" spc="-2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20" dirty="0" smtClean="0">
                <a:latin typeface="Times New Roman" panose="02020603050405020304" pitchFamily="18" charset="0"/>
                <a:ea typeface="Times New Roman" panose="02020603050405020304" pitchFamily="18" charset="0"/>
              </a:rPr>
              <a:t>For</a:t>
            </a:r>
            <a:r>
              <a:rPr lang="en-US" sz="3200" spc="-25" dirty="0" smtClean="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interpretability and machine learning analysis, these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polar</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data</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are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converted</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into</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Cartesian</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occupancy</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maps,</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where both axes</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rep- </a:t>
            </a:r>
            <a:r>
              <a:rPr lang="en-US" sz="3200" spc="-10" dirty="0">
                <a:latin typeface="Times New Roman" panose="02020603050405020304" pitchFamily="18" charset="0"/>
                <a:ea typeface="Times New Roman" panose="02020603050405020304" pitchFamily="18" charset="0"/>
              </a:rPr>
              <a:t>resent</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spatial</a:t>
            </a:r>
            <a:r>
              <a:rPr lang="en-US" sz="3200" spc="6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distance</a:t>
            </a:r>
            <a:r>
              <a:rPr lang="en-US" sz="3200" spc="-1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spc="-20" dirty="0" smtClean="0">
                <a:latin typeface="Times New Roman" panose="02020603050405020304" pitchFamily="18" charset="0"/>
                <a:ea typeface="Times New Roman" panose="02020603050405020304" pitchFamily="18" charset="0"/>
              </a:rPr>
              <a:t>Signal filtering</a:t>
            </a:r>
            <a:r>
              <a:rPr lang="en-US" sz="3200" spc="-45" dirty="0" smtClean="0">
                <a:latin typeface="Times New Roman" panose="02020603050405020304" pitchFamily="18" charset="0"/>
                <a:ea typeface="Times New Roman" panose="02020603050405020304" pitchFamily="18" charset="0"/>
              </a:rPr>
              <a:t> </a:t>
            </a:r>
            <a:r>
              <a:rPr lang="en-US" sz="3200" spc="-20" dirty="0" smtClean="0">
                <a:latin typeface="Times New Roman" panose="02020603050405020304" pitchFamily="18" charset="0"/>
                <a:ea typeface="Times New Roman" panose="02020603050405020304" pitchFamily="18" charset="0"/>
              </a:rPr>
              <a:t>is used to ensure only</a:t>
            </a:r>
            <a:r>
              <a:rPr lang="en-US" sz="3200" spc="-30" dirty="0" smtClean="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valid</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data</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points</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within</a:t>
            </a:r>
            <a:r>
              <a:rPr lang="en-US" sz="3200" spc="-1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the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useful</a:t>
            </a:r>
            <a:r>
              <a:rPr lang="en-US" sz="3200" spc="-3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scanning range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were</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retained</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for</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analysis.</a:t>
            </a:r>
            <a:r>
              <a:rPr lang="en-US" sz="3200" spc="-45" dirty="0">
                <a:latin typeface="Times New Roman" panose="02020603050405020304" pitchFamily="18" charset="0"/>
                <a:ea typeface="Times New Roman" panose="02020603050405020304" pitchFamily="18" charset="0"/>
              </a:rPr>
              <a:t> </a:t>
            </a:r>
            <a:endParaRPr lang="en-US" sz="3200" spc="-45"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20" dirty="0">
                <a:latin typeface="Times New Roman" panose="02020603050405020304" pitchFamily="18" charset="0"/>
                <a:ea typeface="Times New Roman" panose="02020603050405020304" pitchFamily="18" charset="0"/>
              </a:rPr>
              <a:t>Following this,</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statistical threshold approach</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was </a:t>
            </a:r>
            <a:r>
              <a:rPr lang="en-US" sz="3200" dirty="0">
                <a:latin typeface="Times New Roman" panose="02020603050405020304" pitchFamily="18" charset="0"/>
                <a:ea typeface="Times New Roman" panose="02020603050405020304" pitchFamily="18" charset="0"/>
              </a:rPr>
              <a:t>applied</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further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refine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region</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interest</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(ROI)</a:t>
            </a:r>
            <a:r>
              <a:rPr lang="en-US" sz="3200" spc="-70" dirty="0">
                <a:latin typeface="Times New Roman" panose="02020603050405020304" pitchFamily="18" charset="0"/>
                <a:ea typeface="Times New Roman" panose="02020603050405020304" pitchFamily="18" charset="0"/>
              </a:rPr>
              <a:t> </a:t>
            </a:r>
            <a:r>
              <a:rPr lang="en-US" sz="3200" spc="-7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spc="-30" dirty="0">
                <a:latin typeface="Times New Roman" panose="02020603050405020304" pitchFamily="18" charset="0"/>
                <a:ea typeface="Times New Roman" panose="02020603050405020304" pitchFamily="18" charset="0"/>
              </a:rPr>
              <a:t>This</a:t>
            </a:r>
            <a:r>
              <a:rPr lang="en-US" sz="3200" spc="-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approach</a:t>
            </a:r>
            <a:r>
              <a:rPr lang="en-US" sz="320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ensured</a:t>
            </a:r>
            <a:r>
              <a:rPr lang="en-US" sz="320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the</a:t>
            </a:r>
            <a:r>
              <a:rPr lang="en-US" sz="3200" spc="-3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removal</a:t>
            </a:r>
            <a:r>
              <a:rPr lang="en-US" sz="3200" spc="-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of </a:t>
            </a:r>
            <a:r>
              <a:rPr lang="en-US" sz="3200" spc="-20" dirty="0">
                <a:latin typeface="Times New Roman" panose="02020603050405020304" pitchFamily="18" charset="0"/>
                <a:ea typeface="Times New Roman" panose="02020603050405020304" pitchFamily="18" charset="0"/>
              </a:rPr>
              <a:t>noise while preserving</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significant</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reflections from </a:t>
            </a:r>
            <a:r>
              <a:rPr lang="en-US" sz="3200" spc="-20" dirty="0" smtClean="0">
                <a:latin typeface="Times New Roman" panose="02020603050405020304" pitchFamily="18" charset="0"/>
                <a:ea typeface="Times New Roman" panose="02020603050405020304" pitchFamily="18" charset="0"/>
              </a:rPr>
              <a:t>objects.</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21132056"/>
      </p:ext>
    </p:extLst>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29</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046988"/>
          </a:xfrm>
          <a:prstGeom prst="rect">
            <a:avLst/>
          </a:prstGeom>
        </p:spPr>
        <p:txBody>
          <a:bodyPr wrap="square">
            <a:spAutoFit/>
          </a:bodyPr>
          <a:lstStyle/>
          <a:p>
            <a:pPr marL="571500" indent="-571500" algn="just">
              <a:buFont typeface="Arial" panose="020B0604020202020204" pitchFamily="34" charset="0"/>
              <a:buChar char="•"/>
            </a:pPr>
            <a:r>
              <a:rPr lang="en-US" sz="3200" spc="-10" dirty="0" smtClean="0">
                <a:latin typeface="Times New Roman" panose="02020603050405020304" pitchFamily="18" charset="0"/>
                <a:ea typeface="Times New Roman" panose="02020603050405020304" pitchFamily="18" charset="0"/>
              </a:rPr>
              <a:t>The</a:t>
            </a:r>
            <a:r>
              <a:rPr lang="en-US" sz="3200" spc="-50"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data</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is</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manually inspected and</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transformed into</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polar</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coordinates and</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converted</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into</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grayscale image</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format</a:t>
            </a:r>
            <a:r>
              <a:rPr lang="en-US" sz="3200" spc="-3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for</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training the </a:t>
            </a:r>
            <a:r>
              <a:rPr lang="en-US" sz="3200" spc="-10" dirty="0" smtClean="0">
                <a:latin typeface="Times New Roman" panose="02020603050405020304" pitchFamily="18" charset="0"/>
                <a:ea typeface="Times New Roman" panose="02020603050405020304" pitchFamily="18" charset="0"/>
              </a:rPr>
              <a:t>deep learning networks.</a:t>
            </a:r>
          </a:p>
          <a:p>
            <a:pPr marL="571500" indent="-571500" algn="just">
              <a:buFont typeface="Arial" panose="020B0604020202020204" pitchFamily="34" charset="0"/>
              <a:buChar char="•"/>
            </a:pPr>
            <a:r>
              <a:rPr lang="en-US" sz="3200" spc="-10" dirty="0">
                <a:latin typeface="Times New Roman" panose="02020603050405020304" pitchFamily="18" charset="0"/>
                <a:ea typeface="Times New Roman" panose="02020603050405020304" pitchFamily="18" charset="0"/>
              </a:rPr>
              <a:t>With</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this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types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input,</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model</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learns</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to</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separate</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objects</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from</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back- </a:t>
            </a:r>
            <a:r>
              <a:rPr lang="en-US" sz="3200" dirty="0">
                <a:latin typeface="Times New Roman" panose="02020603050405020304" pitchFamily="18" charset="0"/>
                <a:ea typeface="Times New Roman" panose="02020603050405020304" pitchFamily="18" charset="0"/>
              </a:rPr>
              <a:t>ground</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based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on</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intensity</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variations</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detected</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by</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sonar.</a:t>
            </a:r>
            <a:r>
              <a:rPr lang="en-US" sz="3200" spc="-65" dirty="0">
                <a:latin typeface="Times New Roman" panose="02020603050405020304" pitchFamily="18" charset="0"/>
                <a:ea typeface="Times New Roman" panose="02020603050405020304" pitchFamily="18" charset="0"/>
              </a:rPr>
              <a:t> </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34053625"/>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30</a:t>
            </a:fld>
            <a:endParaRPr dirty="0"/>
          </a:p>
        </p:txBody>
      </p:sp>
      <p:sp>
        <p:nvSpPr>
          <p:cNvPr id="4" name="TextBox 3"/>
          <p:cNvSpPr txBox="1"/>
          <p:nvPr/>
        </p:nvSpPr>
        <p:spPr>
          <a:xfrm>
            <a:off x="2204720" y="454968"/>
            <a:ext cx="980325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139869"/>
          </a:xfrm>
          <a:prstGeom prst="rect">
            <a:avLst/>
          </a:prstGeom>
        </p:spPr>
        <p:txBody>
          <a:bodyPr wrap="square">
            <a:spAutoFit/>
          </a:bodyPr>
          <a:lstStyle/>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rPr>
              <a:t>Precise</a:t>
            </a:r>
            <a:r>
              <a:rPr lang="en-US" sz="3200" spc="200"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localization</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is</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prerequisite</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for</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many</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autonomous </a:t>
            </a:r>
            <a:r>
              <a:rPr lang="en-US" sz="3200" dirty="0">
                <a:solidFill>
                  <a:srgbClr val="231F20"/>
                </a:solidFill>
                <a:latin typeface="Times New Roman" panose="02020603050405020304" pitchFamily="18" charset="0"/>
                <a:ea typeface="Times New Roman" panose="02020603050405020304" pitchFamily="18" charset="0"/>
              </a:rPr>
              <a:t>systems, such as robotics, unmanned aerial </a:t>
            </a:r>
            <a:r>
              <a:rPr lang="en-US" sz="3200" dirty="0" smtClean="0">
                <a:solidFill>
                  <a:srgbClr val="231F20"/>
                </a:solidFill>
                <a:latin typeface="Times New Roman" panose="02020603050405020304" pitchFamily="18" charset="0"/>
                <a:ea typeface="Times New Roman" panose="02020603050405020304" pitchFamily="18" charset="0"/>
              </a:rPr>
              <a:t>vehicles</a:t>
            </a:r>
            <a:r>
              <a:rPr lang="en-US" sz="3200" dirty="0">
                <a:solidFill>
                  <a:srgbClr val="231F20"/>
                </a:solidFill>
                <a:latin typeface="Times New Roman" panose="02020603050405020304" pitchFamily="18" charset="0"/>
                <a:ea typeface="Times New Roman" panose="02020603050405020304" pitchFamily="18" charset="0"/>
              </a:rPr>
              <a:t>,</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etc.</a:t>
            </a:r>
          </a:p>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rPr>
              <a:t>Also</a:t>
            </a:r>
            <a:r>
              <a:rPr lang="en-US" sz="3200" dirty="0">
                <a:solidFill>
                  <a:srgbClr val="231F20"/>
                </a:solidFill>
                <a:latin typeface="Times New Roman" panose="02020603050405020304" pitchFamily="18" charset="0"/>
                <a:ea typeface="Times New Roman" panose="02020603050405020304" pitchFamily="18" charset="0"/>
              </a:rPr>
              <a:t>,</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indoor</a:t>
            </a:r>
            <a:r>
              <a:rPr lang="en-US" sz="3200" spc="-6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positioning</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is</a:t>
            </a:r>
            <a:r>
              <a:rPr lang="en-US" sz="3200" spc="-6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an</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especially</a:t>
            </a:r>
            <a:r>
              <a:rPr lang="en-US" sz="3200" spc="-6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challenging problem,</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where</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localization</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cannot</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be</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achieved</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by</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GPS</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due to</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the</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satellite</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signal</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being</a:t>
            </a:r>
            <a:r>
              <a:rPr lang="en-US" sz="3200" spc="1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greatly</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attenuated.</a:t>
            </a:r>
          </a:p>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rPr>
              <a:t>While</a:t>
            </a:r>
            <a:r>
              <a:rPr lang="en-US" sz="3200" spc="105"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the</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traditional</a:t>
            </a:r>
            <a:r>
              <a:rPr lang="en-US" sz="3200" spc="100"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radio-based</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indoor</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positioning</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technologies,</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such</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as Bluetooth,</a:t>
            </a:r>
            <a:r>
              <a:rPr lang="en-US" sz="3200" spc="7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Wi-Fi,</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Radio-frequency</a:t>
            </a:r>
            <a:r>
              <a:rPr lang="en-US" sz="3200" spc="7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Identification</a:t>
            </a:r>
            <a:r>
              <a:rPr lang="en-US" sz="3200" spc="7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(RFID)</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and ultra-wideband</a:t>
            </a:r>
            <a:r>
              <a:rPr lang="en-US" sz="3200" spc="-3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(UWB),</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still</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have</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some</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disadvantages</a:t>
            </a:r>
            <a:r>
              <a:rPr lang="en-US" sz="3200" spc="-3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terms of</a:t>
            </a:r>
            <a:r>
              <a:rPr lang="en-US" sz="3200" spc="-1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low</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accuracy,</a:t>
            </a:r>
            <a:r>
              <a:rPr lang="en-US" sz="3200" spc="-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high</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latency,</a:t>
            </a:r>
            <a:r>
              <a:rPr lang="en-US" sz="3200" spc="-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electromagnetic</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interference</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spc="-25" dirty="0" smtClean="0">
                <a:solidFill>
                  <a:srgbClr val="231F20"/>
                </a:solidFill>
                <a:latin typeface="Times New Roman" panose="02020603050405020304" pitchFamily="18" charset="0"/>
                <a:ea typeface="Times New Roman" panose="02020603050405020304" pitchFamily="18" charset="0"/>
              </a:rPr>
              <a:t>or </a:t>
            </a:r>
            <a:r>
              <a:rPr lang="en-US" sz="3200" dirty="0" smtClean="0">
                <a:solidFill>
                  <a:srgbClr val="231F20"/>
                </a:solidFill>
                <a:latin typeface="Times New Roman" panose="02020603050405020304" pitchFamily="18" charset="0"/>
                <a:ea typeface="Times New Roman" panose="02020603050405020304" pitchFamily="18" charset="0"/>
              </a:rPr>
              <a:t>high</a:t>
            </a:r>
            <a:r>
              <a:rPr lang="en-US" sz="3200" spc="-55"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hardware</a:t>
            </a:r>
            <a:r>
              <a:rPr lang="en-US" sz="3200" spc="-5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cost.</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94927475"/>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31</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300874"/>
            <a:ext cx="11407140" cy="4708981"/>
          </a:xfrm>
          <a:prstGeom prst="rect">
            <a:avLst/>
          </a:prstGeom>
        </p:spPr>
        <p:txBody>
          <a:bodyPr wrap="square">
            <a:spAutoFit/>
          </a:bodyPr>
          <a:lstStyle/>
          <a:p>
            <a:pPr marL="571500" indent="-571500" algn="just">
              <a:buFont typeface="Arial" panose="020B0604020202020204" pitchFamily="34" charset="0"/>
              <a:buChar char="•"/>
            </a:pPr>
            <a:r>
              <a:rPr lang="en-US" sz="3000" dirty="0" smtClean="0">
                <a:solidFill>
                  <a:srgbClr val="231F20"/>
                </a:solidFill>
                <a:latin typeface="Times New Roman" panose="02020603050405020304" pitchFamily="18" charset="0"/>
                <a:ea typeface="Times New Roman" panose="02020603050405020304" pitchFamily="18" charset="0"/>
              </a:rPr>
              <a:t>The </a:t>
            </a:r>
            <a:r>
              <a:rPr lang="en-US" sz="3000" dirty="0">
                <a:solidFill>
                  <a:srgbClr val="231F20"/>
                </a:solidFill>
                <a:latin typeface="Times New Roman" panose="02020603050405020304" pitchFamily="18" charset="0"/>
                <a:ea typeface="Times New Roman" panose="02020603050405020304" pitchFamily="18" charset="0"/>
              </a:rPr>
              <a:t>localization technology based on visible light communication (VLC), which is referred as visible light positioning (VLP), has attracted intensive attention as it can </a:t>
            </a:r>
            <a:r>
              <a:rPr lang="en-US" sz="3000" spc="-10" dirty="0">
                <a:solidFill>
                  <a:srgbClr val="231F20"/>
                </a:solidFill>
                <a:latin typeface="Times New Roman" panose="02020603050405020304" pitchFamily="18" charset="0"/>
                <a:ea typeface="Times New Roman" panose="02020603050405020304" pitchFamily="18" charset="0"/>
              </a:rPr>
              <a:t>provide</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high</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accuracy</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positioning</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based</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on</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the</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existing</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lighting </a:t>
            </a:r>
            <a:r>
              <a:rPr lang="en-US" sz="3000" dirty="0">
                <a:solidFill>
                  <a:srgbClr val="231F20"/>
                </a:solidFill>
                <a:latin typeface="Times New Roman" panose="02020603050405020304" pitchFamily="18" charset="0"/>
                <a:ea typeface="Times New Roman" panose="02020603050405020304" pitchFamily="18" charset="0"/>
              </a:rPr>
              <a:t>infrastructure</a:t>
            </a:r>
            <a:r>
              <a:rPr lang="en-US" sz="3000" dirty="0" smtClean="0">
                <a:solidFill>
                  <a:srgbClr val="231F20"/>
                </a:solidFill>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000" dirty="0">
                <a:solidFill>
                  <a:srgbClr val="231F20"/>
                </a:solidFill>
                <a:latin typeface="Times New Roman" panose="02020603050405020304" pitchFamily="18" charset="0"/>
                <a:ea typeface="Times New Roman" panose="02020603050405020304" pitchFamily="18" charset="0"/>
              </a:rPr>
              <a:t>The</a:t>
            </a:r>
            <a:r>
              <a:rPr lang="en-US" sz="3000" spc="-4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modulated</a:t>
            </a:r>
            <a:r>
              <a:rPr lang="en-US" sz="3000" spc="-4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LED</a:t>
            </a:r>
            <a:r>
              <a:rPr lang="en-US" sz="3000" spc="-4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broadcasts</a:t>
            </a:r>
            <a:r>
              <a:rPr lang="en-US" sz="3000" spc="-4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its</a:t>
            </a:r>
            <a:r>
              <a:rPr lang="en-US" sz="3000" spc="-4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unique identity (ID) via switching at a high frequency imperceptible to</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the</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human</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eye,</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but</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which</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can</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be</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recognized</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by</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photodiodes (PD) </a:t>
            </a:r>
            <a:r>
              <a:rPr lang="en-US" sz="3000" dirty="0" smtClean="0">
                <a:solidFill>
                  <a:srgbClr val="231F20"/>
                </a:solidFill>
                <a:latin typeface="Times New Roman" panose="02020603050405020304" pitchFamily="18" charset="0"/>
                <a:ea typeface="Times New Roman" panose="02020603050405020304" pitchFamily="18" charset="0"/>
              </a:rPr>
              <a:t>and </a:t>
            </a:r>
            <a:r>
              <a:rPr lang="en-US" sz="3000" dirty="0">
                <a:solidFill>
                  <a:srgbClr val="231F20"/>
                </a:solidFill>
                <a:latin typeface="Times New Roman" panose="02020603050405020304" pitchFamily="18" charset="0"/>
                <a:ea typeface="Times New Roman" panose="02020603050405020304" pitchFamily="18" charset="0"/>
              </a:rPr>
              <a:t>rolling shutter effect (RSE) </a:t>
            </a:r>
            <a:r>
              <a:rPr lang="en-US" sz="3000" dirty="0" smtClean="0">
                <a:solidFill>
                  <a:srgbClr val="231F20"/>
                </a:solidFill>
                <a:latin typeface="Times New Roman" panose="02020603050405020304" pitchFamily="18" charset="0"/>
                <a:ea typeface="Times New Roman" panose="02020603050405020304" pitchFamily="18" charset="0"/>
              </a:rPr>
              <a:t>cameras.</a:t>
            </a:r>
          </a:p>
          <a:p>
            <a:pPr marL="571500" indent="-571500" algn="just">
              <a:buFont typeface="Arial" panose="020B0604020202020204" pitchFamily="34" charset="0"/>
              <a:buChar char="•"/>
            </a:pPr>
            <a:r>
              <a:rPr lang="en-US" sz="3000" dirty="0">
                <a:solidFill>
                  <a:srgbClr val="231F20"/>
                </a:solidFill>
                <a:latin typeface="Times New Roman" panose="02020603050405020304" pitchFamily="18" charset="0"/>
                <a:ea typeface="Times New Roman" panose="02020603050405020304" pitchFamily="18" charset="0"/>
              </a:rPr>
              <a:t>The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LED-ID</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can</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mapped/modulated</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once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for</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all</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since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they are normally fixed and not easily vulnerable to environmental changes.</a:t>
            </a:r>
            <a:endParaRPr lang="en-IN" sz="30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2302748"/>
      </p:ext>
    </p:extLst>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32</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Sensors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are imperfect, and their measurements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are</a:t>
            </a:r>
            <a:r>
              <a:rPr lang="en-US" sz="3200" spc="-4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prone</a:t>
            </a:r>
            <a:r>
              <a:rPr lang="en-US" sz="3200" spc="-4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a:t>
            </a:r>
            <a:r>
              <a:rPr lang="en-US" sz="3200" spc="-4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errors.</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3200" spc="-5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Sensors </a:t>
            </a:r>
            <a:r>
              <a:rPr lang="en-US" sz="3200" dirty="0">
                <a:solidFill>
                  <a:srgbClr val="333333"/>
                </a:solidFill>
                <a:latin typeface="Times New Roman" panose="02020603050405020304" pitchFamily="18" charset="0"/>
                <a:cs typeface="Times New Roman" panose="02020603050405020304" pitchFamily="18" charset="0"/>
              </a:rPr>
              <a:t>should be carefully mounted and aligned in order for your application to receive optimum results.</a:t>
            </a:r>
            <a:endParaRPr lang="en-US" sz="3200" spc="-5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Navigation</a:t>
            </a:r>
            <a:r>
              <a:rPr lang="en-US" sz="3200" baseline="300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denotes</a:t>
            </a:r>
            <a:r>
              <a:rPr lang="en-US" sz="3200" spc="-6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the</a:t>
            </a:r>
            <a:r>
              <a:rPr lang="en-US" sz="3200" spc="-6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robot’s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ability</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determine</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its</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own</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position</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in</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its</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frame</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of</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reference</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and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then</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plan</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path</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towards</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some</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goal</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location.</a:t>
            </a:r>
          </a:p>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The most important consideration to reduce measurement error is aligning the sensor beam so that it is parallel to the dimension to be measured</a:t>
            </a:r>
            <a:r>
              <a:rPr lang="en-US" sz="3200" dirty="0" smtClean="0">
                <a:solidFill>
                  <a:srgbClr val="333333"/>
                </a:solidFill>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57345969"/>
      </p:ext>
    </p:extLst>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33</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The easiest example to describe is height.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If we want to </a:t>
            </a:r>
            <a:r>
              <a:rPr lang="en-US" sz="3200" dirty="0">
                <a:solidFill>
                  <a:srgbClr val="333333"/>
                </a:solidFill>
                <a:latin typeface="Times New Roman" panose="02020603050405020304" pitchFamily="18" charset="0"/>
                <a:cs typeface="Times New Roman" panose="02020603050405020304" pitchFamily="18" charset="0"/>
              </a:rPr>
              <a:t>measure the height of an object with a ruler, you would want that ruler to be perfectly up and down.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If </a:t>
            </a:r>
            <a:r>
              <a:rPr lang="en-US" sz="3200" dirty="0">
                <a:solidFill>
                  <a:srgbClr val="333333"/>
                </a:solidFill>
                <a:latin typeface="Times New Roman" panose="02020603050405020304" pitchFamily="18" charset="0"/>
                <a:cs typeface="Times New Roman" panose="02020603050405020304" pitchFamily="18" charset="0"/>
              </a:rPr>
              <a:t>the ruler weren’t perfectly up and down, </a:t>
            </a:r>
            <a:r>
              <a:rPr lang="en-US" sz="3200" dirty="0" smtClean="0">
                <a:solidFill>
                  <a:srgbClr val="333333"/>
                </a:solidFill>
                <a:latin typeface="Times New Roman" panose="02020603050405020304" pitchFamily="18" charset="0"/>
                <a:cs typeface="Times New Roman" panose="02020603050405020304" pitchFamily="18" charset="0"/>
              </a:rPr>
              <a:t>we’d </a:t>
            </a:r>
            <a:r>
              <a:rPr lang="en-US" sz="3200" dirty="0">
                <a:solidFill>
                  <a:srgbClr val="333333"/>
                </a:solidFill>
                <a:latin typeface="Times New Roman" panose="02020603050405020304" pitchFamily="18" charset="0"/>
                <a:cs typeface="Times New Roman" panose="02020603050405020304" pitchFamily="18" charset="0"/>
              </a:rPr>
              <a:t>expect an error with your measurement.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It’s </a:t>
            </a:r>
            <a:r>
              <a:rPr lang="en-US" sz="3200" dirty="0">
                <a:solidFill>
                  <a:srgbClr val="333333"/>
                </a:solidFill>
                <a:latin typeface="Times New Roman" panose="02020603050405020304" pitchFamily="18" charset="0"/>
                <a:cs typeface="Times New Roman" panose="02020603050405020304" pitchFamily="18" charset="0"/>
              </a:rPr>
              <a:t>the same with the laser beam on our sensors.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We’d </a:t>
            </a:r>
            <a:r>
              <a:rPr lang="en-US" sz="3200" dirty="0">
                <a:solidFill>
                  <a:srgbClr val="333333"/>
                </a:solidFill>
                <a:latin typeface="Times New Roman" panose="02020603050405020304" pitchFamily="18" charset="0"/>
                <a:cs typeface="Times New Roman" panose="02020603050405020304" pitchFamily="18" charset="0"/>
              </a:rPr>
              <a:t>ideally want to align the beam so that it is perfectly up and down to measure height.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Any </a:t>
            </a:r>
            <a:r>
              <a:rPr lang="en-US" sz="3200" dirty="0">
                <a:solidFill>
                  <a:srgbClr val="333333"/>
                </a:solidFill>
                <a:latin typeface="Times New Roman" panose="02020603050405020304" pitchFamily="18" charset="0"/>
                <a:cs typeface="Times New Roman" panose="02020603050405020304" pitchFamily="18" charset="0"/>
              </a:rPr>
              <a:t>deviation from that alignment would introduce an error in the measurement.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65941250"/>
      </p:ext>
    </p:extLst>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34</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539430"/>
          </a:xfrm>
          <a:prstGeom prst="rect">
            <a:avLst/>
          </a:prstGeom>
        </p:spPr>
        <p:txBody>
          <a:bodyPr wrap="square">
            <a:spAutoFit/>
          </a:bodyPr>
          <a:lstStyle/>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While truly perfect alignment is impossible, with care and a well-made fixture or alignment bracket, </a:t>
            </a:r>
            <a:r>
              <a:rPr lang="en-US" sz="3200" dirty="0" smtClean="0">
                <a:solidFill>
                  <a:srgbClr val="333333"/>
                </a:solidFill>
                <a:latin typeface="Times New Roman" panose="02020603050405020304" pitchFamily="18" charset="0"/>
                <a:cs typeface="Times New Roman" panose="02020603050405020304" pitchFamily="18" charset="0"/>
              </a:rPr>
              <a:t>we </a:t>
            </a:r>
            <a:r>
              <a:rPr lang="en-US" sz="3200" dirty="0">
                <a:solidFill>
                  <a:srgbClr val="333333"/>
                </a:solidFill>
                <a:latin typeface="Times New Roman" panose="02020603050405020304" pitchFamily="18" charset="0"/>
                <a:cs typeface="Times New Roman" panose="02020603050405020304" pitchFamily="18" charset="0"/>
              </a:rPr>
              <a:t>often can get the alignment accurate enough to reduce the alignment error to significantly less than the sensor’s error</a:t>
            </a:r>
            <a:r>
              <a:rPr lang="en-US" sz="3200" dirty="0" smtClean="0">
                <a:solidFill>
                  <a:srgbClr val="333333"/>
                </a:solidFill>
                <a:latin typeface="Times New Roman" panose="02020603050405020304" pitchFamily="18" charset="0"/>
                <a:cs typeface="Times New Roman" panose="02020603050405020304" pitchFamily="18" charset="0"/>
              </a:rPr>
              <a:t>.</a:t>
            </a: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The </a:t>
            </a:r>
            <a:r>
              <a:rPr lang="en-US" sz="3200" dirty="0">
                <a:solidFill>
                  <a:srgbClr val="333333"/>
                </a:solidFill>
                <a:latin typeface="Times New Roman" panose="02020603050405020304" pitchFamily="18" charset="0"/>
                <a:cs typeface="Times New Roman" panose="02020603050405020304" pitchFamily="18" charset="0"/>
              </a:rPr>
              <a:t>angle between the beam and the surface of the target can also be a source of error.</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57326523"/>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35</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4524315"/>
          </a:xfrm>
          <a:prstGeom prst="rect">
            <a:avLst/>
          </a:prstGeom>
        </p:spPr>
        <p:txBody>
          <a:bodyPr wrap="square">
            <a:spAutoFit/>
          </a:bodyPr>
          <a:lstStyle/>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The reasons for the laser beam of the sensor is to strike the target surface as close to perpendicular as possible. </a:t>
            </a:r>
          </a:p>
          <a:p>
            <a:pPr marL="514350" indent="-514350" algn="just">
              <a:buAutoNum type="arabicPeriod"/>
            </a:pPr>
            <a:r>
              <a:rPr lang="en-US" sz="3200" dirty="0" smtClean="0">
                <a:solidFill>
                  <a:srgbClr val="333333"/>
                </a:solidFill>
                <a:latin typeface="Times New Roman" panose="02020603050405020304" pitchFamily="18" charset="0"/>
                <a:cs typeface="Times New Roman" panose="02020603050405020304" pitchFamily="18" charset="0"/>
              </a:rPr>
              <a:t>While </a:t>
            </a:r>
            <a:r>
              <a:rPr lang="en-US" sz="3200" dirty="0">
                <a:solidFill>
                  <a:srgbClr val="333333"/>
                </a:solidFill>
                <a:latin typeface="Times New Roman" panose="02020603050405020304" pitchFamily="18" charset="0"/>
                <a:cs typeface="Times New Roman" panose="02020603050405020304" pitchFamily="18" charset="0"/>
              </a:rPr>
              <a:t>the laser spot from our sensors often looks like a single point on the target, it does have a diameter.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69913" indent="-52388" algn="just"/>
            <a:r>
              <a:rPr lang="en-US" sz="3200" dirty="0" smtClean="0">
                <a:solidFill>
                  <a:srgbClr val="333333"/>
                </a:solidFill>
                <a:latin typeface="Times New Roman" panose="02020603050405020304" pitchFamily="18" charset="0"/>
                <a:cs typeface="Times New Roman" panose="02020603050405020304" pitchFamily="18" charset="0"/>
              </a:rPr>
              <a:t># The </a:t>
            </a:r>
            <a:r>
              <a:rPr lang="en-US" sz="3200" dirty="0">
                <a:solidFill>
                  <a:srgbClr val="333333"/>
                </a:solidFill>
                <a:latin typeface="Times New Roman" panose="02020603050405020304" pitchFamily="18" charset="0"/>
                <a:cs typeface="Times New Roman" panose="02020603050405020304" pitchFamily="18" charset="0"/>
              </a:rPr>
              <a:t>more angled the target is, the more the spot stretches out on the target.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69913" indent="-52388" algn="just"/>
            <a:r>
              <a:rPr lang="en-US" sz="3200" dirty="0">
                <a:solidFill>
                  <a:srgbClr val="333333"/>
                </a:solidFill>
                <a:latin typeface="Times New Roman" panose="02020603050405020304" pitchFamily="18" charset="0"/>
                <a:cs typeface="Times New Roman" panose="02020603050405020304" pitchFamily="18" charset="0"/>
              </a:rPr>
              <a:t>#</a:t>
            </a:r>
            <a:r>
              <a:rPr lang="en-US" sz="3200" dirty="0" smtClean="0">
                <a:solidFill>
                  <a:srgbClr val="333333"/>
                </a:solidFill>
                <a:latin typeface="Times New Roman" panose="02020603050405020304" pitchFamily="18" charset="0"/>
                <a:cs typeface="Times New Roman" panose="02020603050405020304" pitchFamily="18" charset="0"/>
              </a:rPr>
              <a:t>This </a:t>
            </a:r>
            <a:r>
              <a:rPr lang="en-US" sz="3200" dirty="0">
                <a:solidFill>
                  <a:srgbClr val="333333"/>
                </a:solidFill>
                <a:latin typeface="Times New Roman" panose="02020603050405020304" pitchFamily="18" charset="0"/>
                <a:cs typeface="Times New Roman" panose="02020603050405020304" pitchFamily="18" charset="0"/>
              </a:rPr>
              <a:t>does make it more difficult for the sensor to know where the center of that spot is, and that can cause errors</a:t>
            </a:r>
            <a:r>
              <a:rPr lang="en-US" sz="3200" dirty="0" smtClean="0">
                <a:solidFill>
                  <a:srgbClr val="333333"/>
                </a:solidFill>
                <a:latin typeface="Times New Roman" panose="02020603050405020304" pitchFamily="18" charset="0"/>
                <a:cs typeface="Times New Roman" panose="02020603050405020304" pitchFamily="18" charset="0"/>
              </a:rPr>
              <a:t>.</a:t>
            </a:r>
          </a:p>
          <a:p>
            <a:pPr marL="514350" indent="-514350" algn="just">
              <a:buAutoNum type="arabicPeriod"/>
            </a:pP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88001114"/>
      </p:ext>
    </p:ext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36</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539430"/>
          </a:xfrm>
          <a:prstGeom prst="rect">
            <a:avLst/>
          </a:prstGeom>
        </p:spPr>
        <p:txBody>
          <a:bodyPr wrap="square">
            <a:spAutoFit/>
          </a:bodyPr>
          <a:lstStyle/>
          <a:p>
            <a:pPr marL="514350" indent="-514350" algn="just">
              <a:buFont typeface="+mj-lt"/>
              <a:buAutoNum type="arabicPeriod" startAt="2"/>
            </a:pPr>
            <a:r>
              <a:rPr lang="en-US" sz="3200" dirty="0" smtClean="0">
                <a:solidFill>
                  <a:srgbClr val="333333"/>
                </a:solidFill>
                <a:latin typeface="Times New Roman" panose="02020603050405020304" pitchFamily="18" charset="0"/>
                <a:cs typeface="Times New Roman" panose="02020603050405020304" pitchFamily="18" charset="0"/>
              </a:rPr>
              <a:t>An </a:t>
            </a:r>
            <a:r>
              <a:rPr lang="en-US" sz="3200" dirty="0">
                <a:solidFill>
                  <a:srgbClr val="333333"/>
                </a:solidFill>
                <a:latin typeface="Times New Roman" panose="02020603050405020304" pitchFamily="18" charset="0"/>
                <a:cs typeface="Times New Roman" panose="02020603050405020304" pitchFamily="18" charset="0"/>
              </a:rPr>
              <a:t>angled target will usually reflect more light away from the sensor’s detector.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algn="just"/>
            <a:r>
              <a:rPr lang="en-US" sz="3200" dirty="0" smtClean="0">
                <a:solidFill>
                  <a:srgbClr val="333333"/>
                </a:solidFill>
                <a:latin typeface="Times New Roman" panose="02020603050405020304" pitchFamily="18" charset="0"/>
                <a:cs typeface="Times New Roman" panose="02020603050405020304" pitchFamily="18" charset="0"/>
              </a:rPr>
              <a:t># The </a:t>
            </a:r>
            <a:r>
              <a:rPr lang="en-US" sz="3200" dirty="0">
                <a:solidFill>
                  <a:srgbClr val="333333"/>
                </a:solidFill>
                <a:latin typeface="Times New Roman" panose="02020603050405020304" pitchFamily="18" charset="0"/>
                <a:cs typeface="Times New Roman" panose="02020603050405020304" pitchFamily="18" charset="0"/>
              </a:rPr>
              <a:t>less light the detector gets, the harder it is for the sensor to distinguish the measurement from other light noise.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algn="just"/>
            <a:r>
              <a:rPr lang="en-US" sz="3200" dirty="0" smtClean="0">
                <a:solidFill>
                  <a:srgbClr val="333333"/>
                </a:solidFill>
                <a:latin typeface="Times New Roman" panose="02020603050405020304" pitchFamily="18" charset="0"/>
                <a:cs typeface="Times New Roman" panose="02020603050405020304" pitchFamily="18" charset="0"/>
              </a:rPr>
              <a:t># That </a:t>
            </a:r>
            <a:r>
              <a:rPr lang="en-US" sz="3200" dirty="0">
                <a:solidFill>
                  <a:srgbClr val="333333"/>
                </a:solidFill>
                <a:latin typeface="Times New Roman" panose="02020603050405020304" pitchFamily="18" charset="0"/>
                <a:cs typeface="Times New Roman" panose="02020603050405020304" pitchFamily="18" charset="0"/>
              </a:rPr>
              <a:t>can reduce the measurement accuracy, increase the measurement time, or both.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algn="just"/>
            <a:r>
              <a:rPr lang="en-US" sz="3200" dirty="0" smtClean="0">
                <a:solidFill>
                  <a:srgbClr val="333333"/>
                </a:solidFill>
                <a:latin typeface="Times New Roman" panose="02020603050405020304" pitchFamily="18" charset="0"/>
                <a:cs typeface="Times New Roman" panose="02020603050405020304" pitchFamily="18" charset="0"/>
              </a:rPr>
              <a:t># This </a:t>
            </a:r>
            <a:r>
              <a:rPr lang="en-US" sz="3200" dirty="0">
                <a:solidFill>
                  <a:srgbClr val="333333"/>
                </a:solidFill>
                <a:latin typeface="Times New Roman" panose="02020603050405020304" pitchFamily="18" charset="0"/>
                <a:cs typeface="Times New Roman" panose="02020603050405020304" pitchFamily="18" charset="0"/>
              </a:rPr>
              <a:t>problem increases with the shininess of the target.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85445377"/>
      </p:ext>
    </p:extLst>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37</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539430"/>
          </a:xfrm>
          <a:prstGeom prst="rect">
            <a:avLst/>
          </a:prstGeom>
        </p:spPr>
        <p:txBody>
          <a:bodyPr wrap="square">
            <a:spAutoFit/>
          </a:bodyPr>
          <a:lstStyle/>
          <a:p>
            <a:pPr algn="just"/>
            <a:r>
              <a:rPr lang="en-US" sz="3200" dirty="0" smtClean="0">
                <a:latin typeface="Times New Roman" panose="02020603050405020304" pitchFamily="18" charset="0"/>
                <a:ea typeface="Times New Roman" panose="02020603050405020304" pitchFamily="18" charset="0"/>
                <a:cs typeface="Times New Roman" panose="02020603050405020304" pitchFamily="18" charset="0"/>
              </a:rPr>
              <a:t>3. </a:t>
            </a:r>
            <a:r>
              <a:rPr lang="en-US" sz="3200" dirty="0" smtClean="0">
                <a:solidFill>
                  <a:srgbClr val="333333"/>
                </a:solidFill>
                <a:latin typeface="Times New Roman" panose="02020603050405020304" pitchFamily="18" charset="0"/>
                <a:cs typeface="Times New Roman" panose="02020603050405020304" pitchFamily="18" charset="0"/>
              </a:rPr>
              <a:t>An </a:t>
            </a:r>
            <a:r>
              <a:rPr lang="en-US" sz="3200" dirty="0">
                <a:solidFill>
                  <a:srgbClr val="333333"/>
                </a:solidFill>
                <a:latin typeface="Times New Roman" panose="02020603050405020304" pitchFamily="18" charset="0"/>
                <a:cs typeface="Times New Roman" panose="02020603050405020304" pitchFamily="18" charset="0"/>
              </a:rPr>
              <a:t>angled or rough target that is shiny can cause the opposite problem — direct reflection into the detector</a:t>
            </a:r>
            <a:r>
              <a:rPr lang="en-US" sz="3200" dirty="0" smtClean="0">
                <a:solidFill>
                  <a:srgbClr val="333333"/>
                </a:solidFill>
                <a:latin typeface="Times New Roman" panose="02020603050405020304" pitchFamily="18" charset="0"/>
                <a:cs typeface="Times New Roman" panose="02020603050405020304" pitchFamily="18" charset="0"/>
              </a:rPr>
              <a:t>.</a:t>
            </a:r>
          </a:p>
          <a:p>
            <a:pPr marL="620713" indent="-620713" algn="just"/>
            <a:r>
              <a:rPr lang="en-US" sz="3200" dirty="0" smtClean="0">
                <a:solidFill>
                  <a:srgbClr val="333333"/>
                </a:solidFill>
                <a:latin typeface="Times New Roman" panose="02020603050405020304" pitchFamily="18" charset="0"/>
                <a:cs typeface="Times New Roman" panose="02020603050405020304" pitchFamily="18" charset="0"/>
              </a:rPr>
              <a:t>	# If </a:t>
            </a:r>
            <a:r>
              <a:rPr lang="en-US" sz="3200" dirty="0">
                <a:solidFill>
                  <a:srgbClr val="333333"/>
                </a:solidFill>
                <a:latin typeface="Times New Roman" panose="02020603050405020304" pitchFamily="18" charset="0"/>
                <a:cs typeface="Times New Roman" panose="02020603050405020304" pitchFamily="18" charset="0"/>
              </a:rPr>
              <a:t>there is “specular” or direct reflection, that shows up on the detector as a second peak that has no relation to the distance.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indent="-620713" algn="just"/>
            <a:r>
              <a:rPr lang="en-US" sz="3200" dirty="0">
                <a:solidFill>
                  <a:srgbClr val="333333"/>
                </a:solidFill>
                <a:latin typeface="Times New Roman" panose="02020603050405020304" pitchFamily="18" charset="0"/>
                <a:cs typeface="Times New Roman" panose="02020603050405020304" pitchFamily="18" charset="0"/>
              </a:rPr>
              <a:t>	</a:t>
            </a:r>
            <a:r>
              <a:rPr lang="en-US" sz="3200" dirty="0" smtClean="0">
                <a:solidFill>
                  <a:srgbClr val="333333"/>
                </a:solidFill>
                <a:latin typeface="Times New Roman" panose="02020603050405020304" pitchFamily="18" charset="0"/>
                <a:cs typeface="Times New Roman" panose="02020603050405020304" pitchFamily="18" charset="0"/>
              </a:rPr>
              <a:t># This </a:t>
            </a:r>
            <a:r>
              <a:rPr lang="en-US" sz="3200" dirty="0">
                <a:solidFill>
                  <a:srgbClr val="333333"/>
                </a:solidFill>
                <a:latin typeface="Times New Roman" panose="02020603050405020304" pitchFamily="18" charset="0"/>
                <a:cs typeface="Times New Roman" panose="02020603050405020304" pitchFamily="18" charset="0"/>
              </a:rPr>
              <a:t>can result in measurements that are completely incorrect or keep the sensor from offering a measurement at all.</a:t>
            </a:r>
            <a:endParaRPr lang="en-US" sz="32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06937860"/>
      </p:ext>
    </p:extLst>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38</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158923" y="1287393"/>
            <a:ext cx="9896391" cy="4828515"/>
          </a:xfrm>
          <a:prstGeom prst="rect">
            <a:avLst/>
          </a:prstGeom>
          <a:ln w="28575">
            <a:solidFill>
              <a:schemeClr val="tx1"/>
            </a:solidFill>
          </a:ln>
        </p:spPr>
      </p:pic>
    </p:spTree>
    <p:extLst>
      <p:ext uri="{BB962C8B-B14F-4D97-AF65-F5344CB8AC3E}">
        <p14:creationId xmlns:p14="http://schemas.microsoft.com/office/powerpoint/2010/main" val="1747460647"/>
      </p:ext>
    </p:extLst>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39</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632311"/>
          </a:xfrm>
          <a:prstGeom prst="rect">
            <a:avLst/>
          </a:prstGeom>
        </p:spPr>
        <p:txBody>
          <a:bodyPr wrap="square">
            <a:spAutoFit/>
          </a:bodyPr>
          <a:lstStyle/>
          <a:p>
            <a:pPr algn="just"/>
            <a:r>
              <a:rPr lang="en-US" sz="3200" b="1" dirty="0" smtClean="0">
                <a:solidFill>
                  <a:srgbClr val="464646"/>
                </a:solidFill>
                <a:latin typeface="Times New Roman" panose="02020603050405020304" pitchFamily="18" charset="0"/>
                <a:cs typeface="Times New Roman" panose="02020603050405020304" pitchFamily="18" charset="0"/>
              </a:rPr>
              <a:t>3D </a:t>
            </a:r>
            <a:r>
              <a:rPr lang="en-US" sz="3200" b="1" dirty="0">
                <a:solidFill>
                  <a:srgbClr val="464646"/>
                </a:solidFill>
                <a:latin typeface="Times New Roman" panose="02020603050405020304" pitchFamily="18" charset="0"/>
                <a:cs typeface="Times New Roman" panose="02020603050405020304" pitchFamily="18" charset="0"/>
              </a:rPr>
              <a:t>laser scanner </a:t>
            </a:r>
            <a:r>
              <a:rPr lang="en-US" sz="3200" b="1" dirty="0" smtClean="0">
                <a:solidFill>
                  <a:srgbClr val="464646"/>
                </a:solidFill>
                <a:latin typeface="Times New Roman" panose="02020603050405020304" pitchFamily="18" charset="0"/>
                <a:cs typeface="Times New Roman" panose="02020603050405020304" pitchFamily="18" charset="0"/>
              </a:rPr>
              <a:t>measurement:</a:t>
            </a:r>
          </a:p>
          <a:p>
            <a:pPr marL="571500" indent="-571500" algn="just">
              <a:buFont typeface="Arial" panose="020B0604020202020204" pitchFamily="34" charset="0"/>
              <a:buChar char="•"/>
            </a:pPr>
            <a:r>
              <a:rPr lang="en-US" sz="3200" dirty="0" smtClean="0">
                <a:solidFill>
                  <a:srgbClr val="464646"/>
                </a:solidFill>
                <a:latin typeface="Times New Roman" panose="02020603050405020304" pitchFamily="18" charset="0"/>
                <a:cs typeface="Times New Roman" panose="02020603050405020304" pitchFamily="18" charset="0"/>
              </a:rPr>
              <a:t>It </a:t>
            </a:r>
            <a:r>
              <a:rPr lang="en-US" sz="3200" dirty="0">
                <a:solidFill>
                  <a:srgbClr val="464646"/>
                </a:solidFill>
                <a:latin typeface="Times New Roman" panose="02020603050405020304" pitchFamily="18" charset="0"/>
                <a:cs typeface="Times New Roman" panose="02020603050405020304" pitchFamily="18" charset="0"/>
              </a:rPr>
              <a:t>is an advanced method for precise three-dimensional measurement of objects using laser line triangulation sensors, also known as laser scanners. </a:t>
            </a:r>
            <a:endParaRPr lang="en-US" sz="3200" dirty="0" smtClean="0">
              <a:solidFill>
                <a:srgbClr val="464646"/>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464646"/>
                </a:solidFill>
                <a:latin typeface="Times New Roman" panose="02020603050405020304" pitchFamily="18" charset="0"/>
                <a:cs typeface="Times New Roman" panose="02020603050405020304" pitchFamily="18" charset="0"/>
              </a:rPr>
              <a:t>This </a:t>
            </a:r>
            <a:r>
              <a:rPr lang="en-US" sz="3200" dirty="0">
                <a:solidFill>
                  <a:srgbClr val="464646"/>
                </a:solidFill>
                <a:latin typeface="Times New Roman" panose="02020603050405020304" pitchFamily="18" charset="0"/>
                <a:cs typeface="Times New Roman" panose="02020603050405020304" pitchFamily="18" charset="0"/>
              </a:rPr>
              <a:t>technology enables the accurate determination and comparison of measured values such as length, width, height, angle, radius, flatness, parallelism, diameter, defect sizes and more. </a:t>
            </a:r>
            <a:endParaRPr lang="en-US" sz="3200" dirty="0" smtClean="0">
              <a:solidFill>
                <a:srgbClr val="464646"/>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464646"/>
                </a:solidFill>
                <a:latin typeface="Times New Roman" panose="02020603050405020304" pitchFamily="18" charset="0"/>
                <a:cs typeface="Times New Roman" panose="02020603050405020304" pitchFamily="18" charset="0"/>
              </a:rPr>
              <a:t>Unlike </a:t>
            </a:r>
            <a:r>
              <a:rPr lang="en-US" sz="3200" dirty="0">
                <a:solidFill>
                  <a:srgbClr val="464646"/>
                </a:solidFill>
                <a:latin typeface="Times New Roman" panose="02020603050405020304" pitchFamily="18" charset="0"/>
                <a:cs typeface="Times New Roman" panose="02020603050405020304" pitchFamily="18" charset="0"/>
              </a:rPr>
              <a:t>traditional 2D image processing with cameras, 3D laser scanner measurement enables a three-dimensional representation of an object.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97686010"/>
      </p:ext>
    </p:extLst>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40</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84775"/>
          </a:xfrm>
          <a:prstGeom prst="rect">
            <a:avLst/>
          </a:prstGeom>
        </p:spPr>
        <p:txBody>
          <a:bodyPr wrap="square">
            <a:spAutoFit/>
          </a:bodyPr>
          <a:lstStyle/>
          <a:p>
            <a:pPr algn="just"/>
            <a:r>
              <a:rPr lang="en-US" sz="3200" dirty="0" smtClean="0">
                <a:latin typeface="Times New Roman" panose="02020603050405020304" pitchFamily="18" charset="0"/>
                <a:ea typeface="Times New Roman" panose="02020603050405020304" pitchFamily="18" charset="0"/>
              </a:rPr>
              <a:t>3D laser measurement of an </a:t>
            </a:r>
            <a:r>
              <a:rPr lang="en-US" sz="3200" dirty="0" err="1" smtClean="0">
                <a:latin typeface="Times New Roman" panose="02020603050405020304" pitchFamily="18" charset="0"/>
                <a:ea typeface="Times New Roman" panose="02020603050405020304" pitchFamily="18" charset="0"/>
              </a:rPr>
              <a:t>aluminium</a:t>
            </a:r>
            <a:r>
              <a:rPr lang="en-US" sz="3200" dirty="0" smtClean="0">
                <a:latin typeface="Times New Roman" panose="02020603050405020304" pitchFamily="18" charset="0"/>
                <a:ea typeface="Times New Roman" panose="02020603050405020304" pitchFamily="18" charset="0"/>
              </a:rPr>
              <a:t> block</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2942366" y="1857728"/>
            <a:ext cx="5858693" cy="4448796"/>
          </a:xfrm>
          <a:prstGeom prst="rect">
            <a:avLst/>
          </a:prstGeom>
          <a:ln w="28575">
            <a:solidFill>
              <a:schemeClr val="tx1"/>
            </a:solidFill>
          </a:ln>
        </p:spPr>
      </p:pic>
    </p:spTree>
    <p:extLst>
      <p:ext uri="{BB962C8B-B14F-4D97-AF65-F5344CB8AC3E}">
        <p14:creationId xmlns:p14="http://schemas.microsoft.com/office/powerpoint/2010/main" val="2601818505"/>
      </p:ext>
    </p:extLst>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41</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70756"/>
          </a:xfrm>
          <a:prstGeom prst="rect">
            <a:avLst/>
          </a:prstGeom>
        </p:spPr>
        <p:txBody>
          <a:bodyPr wrap="square">
            <a:spAutoFit/>
          </a:bodyPr>
          <a:lstStyle/>
          <a:p>
            <a:pPr algn="just"/>
            <a:r>
              <a:rPr lang="en-US" sz="3600" b="1" dirty="0">
                <a:solidFill>
                  <a:srgbClr val="00B050"/>
                </a:solidFill>
                <a:latin typeface="Times New Roman" panose="02020603050405020304" pitchFamily="18" charset="0"/>
                <a:cs typeface="Times New Roman" panose="02020603050405020304" pitchFamily="18" charset="0"/>
              </a:rPr>
              <a:t>Typical industries and sectors </a:t>
            </a:r>
            <a:r>
              <a:rPr lang="en-US" sz="3600" dirty="0">
                <a:solidFill>
                  <a:srgbClr val="464646"/>
                </a:solidFill>
                <a:latin typeface="Times New Roman" panose="02020603050405020304" pitchFamily="18" charset="0"/>
                <a:cs typeface="Times New Roman" panose="02020603050405020304" pitchFamily="18" charset="0"/>
              </a:rPr>
              <a:t>where 3D laser scanner measurement is used include:</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Metalworking</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Mechanical Engineering</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Welding technology</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Automotive</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Battery manufacturing</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Aerospace</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Smartphone </a:t>
            </a:r>
            <a:r>
              <a:rPr lang="en-US" sz="3600" dirty="0" smtClean="0">
                <a:solidFill>
                  <a:srgbClr val="464646"/>
                </a:solidFill>
                <a:latin typeface="Times New Roman" panose="02020603050405020304" pitchFamily="18" charset="0"/>
                <a:cs typeface="Times New Roman" panose="02020603050405020304" pitchFamily="18" charset="0"/>
              </a:rPr>
              <a:t>manufacture</a:t>
            </a:r>
            <a:endParaRPr lang="en-US" sz="36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43737580"/>
      </p:ext>
    </p:extLst>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42</a:t>
            </a:fld>
            <a:endParaRPr dirty="0"/>
          </a:p>
        </p:txBody>
      </p:sp>
      <p:sp>
        <p:nvSpPr>
          <p:cNvPr id="4" name="TextBox 3"/>
          <p:cNvSpPr txBox="1"/>
          <p:nvPr/>
        </p:nvSpPr>
        <p:spPr>
          <a:xfrm>
            <a:off x="1540366" y="222946"/>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278255" y="5919487"/>
            <a:ext cx="9660039" cy="584775"/>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3D laser measurement</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540366" y="1162852"/>
            <a:ext cx="8172978" cy="4605116"/>
          </a:xfrm>
          <a:prstGeom prst="rect">
            <a:avLst/>
          </a:prstGeom>
          <a:ln w="28575">
            <a:solidFill>
              <a:schemeClr val="tx1"/>
            </a:solidFill>
          </a:ln>
        </p:spPr>
      </p:pic>
    </p:spTree>
    <p:extLst>
      <p:ext uri="{BB962C8B-B14F-4D97-AF65-F5344CB8AC3E}">
        <p14:creationId xmlns:p14="http://schemas.microsoft.com/office/powerpoint/2010/main" val="2091171447"/>
      </p:ext>
    </p:extLst>
  </p:cSld>
  <p:clrMapOvr>
    <a:masterClrMapping/>
  </p:clrMapOvr>
  <p:transition spd="med"/>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43</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1077218"/>
          </a:xfrm>
          <a:prstGeom prst="rect">
            <a:avLst/>
          </a:prstGeom>
        </p:spPr>
        <p:txBody>
          <a:bodyPr wrap="square">
            <a:spAutoFit/>
          </a:bodyPr>
          <a:lstStyle/>
          <a:p>
            <a:pPr marL="571500" indent="-571500" algn="just">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a</a:t>
            </a: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35168391"/>
      </p:ext>
    </p:extLst>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44</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1077218"/>
          </a:xfrm>
          <a:prstGeom prst="rect">
            <a:avLst/>
          </a:prstGeom>
        </p:spPr>
        <p:txBody>
          <a:bodyPr wrap="square">
            <a:spAutoFit/>
          </a:bodyPr>
          <a:lstStyle/>
          <a:p>
            <a:pPr marL="571500" indent="-571500" algn="just">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a</a:t>
            </a: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7712953"/>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rgbClr val="000000"/>
      </a:dk1>
      <a:lt1>
        <a:srgbClr val="F2F2F2"/>
      </a:lt1>
      <a:dk2>
        <a:srgbClr val="A7A7A7"/>
      </a:dk2>
      <a:lt2>
        <a:srgbClr val="535353"/>
      </a:lt2>
      <a:accent1>
        <a:srgbClr val="012347"/>
      </a:accent1>
      <a:accent2>
        <a:srgbClr val="003466"/>
      </a:accent2>
      <a:accent3>
        <a:srgbClr val="003F7D"/>
      </a:accent3>
      <a:accent4>
        <a:srgbClr val="FC8C01"/>
      </a:accent4>
      <a:accent5>
        <a:srgbClr val="FE7702"/>
      </a:accent5>
      <a:accent6>
        <a:srgbClr val="FF5004"/>
      </a:accent6>
      <a:hlink>
        <a:srgbClr val="0000FF"/>
      </a:hlink>
      <a:folHlink>
        <a:srgbClr val="FF00FF"/>
      </a:folHlink>
    </a:clrScheme>
    <a:fontScheme name="Custom 1">
      <a:majorFont>
        <a:latin typeface="Helvetica"/>
        <a:ea typeface="Helvetica"/>
        <a:cs typeface="Helvetica"/>
      </a:majorFont>
      <a:minorFont>
        <a:latin typeface="Calibri"/>
        <a:ea typeface="Segoe UI"/>
        <a:cs typeface="Segoe U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012347"/>
      </a:accent1>
      <a:accent2>
        <a:srgbClr val="003466"/>
      </a:accent2>
      <a:accent3>
        <a:srgbClr val="003F7D"/>
      </a:accent3>
      <a:accent4>
        <a:srgbClr val="FC8C01"/>
      </a:accent4>
      <a:accent5>
        <a:srgbClr val="FE7702"/>
      </a:accent5>
      <a:accent6>
        <a:srgbClr val="FF5004"/>
      </a:accent6>
      <a:hlink>
        <a:srgbClr val="0000FF"/>
      </a:hlink>
      <a:folHlink>
        <a:srgbClr val="FF00FF"/>
      </a:folHlink>
    </a:clrScheme>
    <a:fontScheme name="Office Theme">
      <a:majorFont>
        <a:latin typeface="Helvetica"/>
        <a:ea typeface="Helvetica"/>
        <a:cs typeface="Helvetica"/>
      </a:majorFont>
      <a:minorFont>
        <a:latin typeface="Segoe UI"/>
        <a:ea typeface="Segoe UI"/>
        <a:cs typeface="Segoe U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19802</TotalTime>
  <Words>2450</Words>
  <Application>Microsoft Office PowerPoint</Application>
  <PresentationFormat>Widescreen</PresentationFormat>
  <Paragraphs>233</Paragraphs>
  <Slides>44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Arial</vt:lpstr>
      <vt:lpstr>Calibri</vt:lpstr>
      <vt:lpstr>Helvetica</vt:lpstr>
      <vt:lpstr>Lato</vt:lpstr>
      <vt:lpstr>Manrope ExtraBold</vt:lpstr>
      <vt:lpstr>Roboto</vt:lpstr>
      <vt:lpstr>Segoe UI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ngopa</dc:creator>
  <cp:lastModifiedBy>admin</cp:lastModifiedBy>
  <cp:revision>826</cp:revision>
  <dcterms:modified xsi:type="dcterms:W3CDTF">2026-03-01T08:32:29Z</dcterms:modified>
</cp:coreProperties>
</file>