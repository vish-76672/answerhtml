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7"/>
  </p:notesMasterIdLst>
  <p:handoutMasterIdLst>
    <p:handoutMasterId r:id="rId138"/>
  </p:handoutMasterIdLst>
  <p:sldIdLst>
    <p:sldId id="256" r:id="rId2"/>
    <p:sldId id="258" r:id="rId3"/>
    <p:sldId id="654" r:id="rId4"/>
    <p:sldId id="690" r:id="rId5"/>
    <p:sldId id="691" r:id="rId6"/>
    <p:sldId id="692" r:id="rId7"/>
    <p:sldId id="693" r:id="rId8"/>
    <p:sldId id="694" r:id="rId9"/>
    <p:sldId id="695" r:id="rId10"/>
    <p:sldId id="696" r:id="rId11"/>
    <p:sldId id="697" r:id="rId12"/>
    <p:sldId id="698" r:id="rId13"/>
    <p:sldId id="699" r:id="rId14"/>
    <p:sldId id="700" r:id="rId15"/>
    <p:sldId id="703" r:id="rId16"/>
    <p:sldId id="704" r:id="rId17"/>
    <p:sldId id="705" r:id="rId18"/>
    <p:sldId id="715" r:id="rId19"/>
    <p:sldId id="708" r:id="rId20"/>
    <p:sldId id="709" r:id="rId21"/>
    <p:sldId id="710" r:id="rId22"/>
    <p:sldId id="711" r:id="rId23"/>
    <p:sldId id="712" r:id="rId24"/>
    <p:sldId id="713" r:id="rId25"/>
    <p:sldId id="707" r:id="rId26"/>
    <p:sldId id="716" r:id="rId27"/>
    <p:sldId id="717" r:id="rId28"/>
    <p:sldId id="718" r:id="rId29"/>
    <p:sldId id="719" r:id="rId30"/>
    <p:sldId id="720" r:id="rId31"/>
    <p:sldId id="721" r:id="rId32"/>
    <p:sldId id="722" r:id="rId33"/>
    <p:sldId id="723" r:id="rId34"/>
    <p:sldId id="724" r:id="rId35"/>
    <p:sldId id="725" r:id="rId36"/>
    <p:sldId id="726" r:id="rId37"/>
    <p:sldId id="727" r:id="rId38"/>
    <p:sldId id="728" r:id="rId39"/>
    <p:sldId id="729" r:id="rId40"/>
    <p:sldId id="730" r:id="rId41"/>
    <p:sldId id="731" r:id="rId42"/>
    <p:sldId id="732" r:id="rId43"/>
    <p:sldId id="733" r:id="rId44"/>
    <p:sldId id="734" r:id="rId45"/>
    <p:sldId id="735" r:id="rId46"/>
    <p:sldId id="736" r:id="rId47"/>
    <p:sldId id="737" r:id="rId48"/>
    <p:sldId id="738" r:id="rId49"/>
    <p:sldId id="739" r:id="rId50"/>
    <p:sldId id="740" r:id="rId51"/>
    <p:sldId id="741" r:id="rId52"/>
    <p:sldId id="742" r:id="rId53"/>
    <p:sldId id="743" r:id="rId54"/>
    <p:sldId id="744" r:id="rId55"/>
    <p:sldId id="745" r:id="rId56"/>
    <p:sldId id="746" r:id="rId57"/>
    <p:sldId id="747" r:id="rId58"/>
    <p:sldId id="748" r:id="rId59"/>
    <p:sldId id="749" r:id="rId60"/>
    <p:sldId id="750" r:id="rId61"/>
    <p:sldId id="751" r:id="rId62"/>
    <p:sldId id="752" r:id="rId63"/>
    <p:sldId id="753" r:id="rId64"/>
    <p:sldId id="754" r:id="rId65"/>
    <p:sldId id="762" r:id="rId66"/>
    <p:sldId id="755" r:id="rId67"/>
    <p:sldId id="756" r:id="rId68"/>
    <p:sldId id="757" r:id="rId69"/>
    <p:sldId id="763" r:id="rId70"/>
    <p:sldId id="758" r:id="rId71"/>
    <p:sldId id="760" r:id="rId72"/>
    <p:sldId id="764" r:id="rId73"/>
    <p:sldId id="765" r:id="rId74"/>
    <p:sldId id="766" r:id="rId75"/>
    <p:sldId id="767" r:id="rId76"/>
    <p:sldId id="768" r:id="rId77"/>
    <p:sldId id="769" r:id="rId78"/>
    <p:sldId id="770" r:id="rId79"/>
    <p:sldId id="771" r:id="rId80"/>
    <p:sldId id="774" r:id="rId81"/>
    <p:sldId id="775" r:id="rId82"/>
    <p:sldId id="776" r:id="rId83"/>
    <p:sldId id="777" r:id="rId84"/>
    <p:sldId id="778" r:id="rId85"/>
    <p:sldId id="779" r:id="rId86"/>
    <p:sldId id="780" r:id="rId87"/>
    <p:sldId id="781" r:id="rId88"/>
    <p:sldId id="782" r:id="rId89"/>
    <p:sldId id="783" r:id="rId90"/>
    <p:sldId id="784" r:id="rId91"/>
    <p:sldId id="785" r:id="rId92"/>
    <p:sldId id="786" r:id="rId93"/>
    <p:sldId id="788" r:id="rId94"/>
    <p:sldId id="789" r:id="rId95"/>
    <p:sldId id="790" r:id="rId96"/>
    <p:sldId id="791" r:id="rId97"/>
    <p:sldId id="787" r:id="rId98"/>
    <p:sldId id="792" r:id="rId99"/>
    <p:sldId id="793" r:id="rId100"/>
    <p:sldId id="794" r:id="rId101"/>
    <p:sldId id="795" r:id="rId102"/>
    <p:sldId id="796" r:id="rId103"/>
    <p:sldId id="797" r:id="rId104"/>
    <p:sldId id="798" r:id="rId105"/>
    <p:sldId id="799" r:id="rId106"/>
    <p:sldId id="800" r:id="rId107"/>
    <p:sldId id="801" r:id="rId108"/>
    <p:sldId id="802" r:id="rId109"/>
    <p:sldId id="803" r:id="rId110"/>
    <p:sldId id="804" r:id="rId111"/>
    <p:sldId id="807" r:id="rId112"/>
    <p:sldId id="808" r:id="rId113"/>
    <p:sldId id="809" r:id="rId114"/>
    <p:sldId id="818" r:id="rId115"/>
    <p:sldId id="810" r:id="rId116"/>
    <p:sldId id="811" r:id="rId117"/>
    <p:sldId id="812" r:id="rId118"/>
    <p:sldId id="814" r:id="rId119"/>
    <p:sldId id="819" r:id="rId120"/>
    <p:sldId id="820" r:id="rId121"/>
    <p:sldId id="821" r:id="rId122"/>
    <p:sldId id="822" r:id="rId123"/>
    <p:sldId id="823" r:id="rId124"/>
    <p:sldId id="824" r:id="rId125"/>
    <p:sldId id="825" r:id="rId126"/>
    <p:sldId id="826" r:id="rId127"/>
    <p:sldId id="827" r:id="rId128"/>
    <p:sldId id="828" r:id="rId129"/>
    <p:sldId id="829" r:id="rId130"/>
    <p:sldId id="830" r:id="rId131"/>
    <p:sldId id="831" r:id="rId132"/>
    <p:sldId id="832" r:id="rId133"/>
    <p:sldId id="833" r:id="rId134"/>
    <p:sldId id="834" r:id="rId135"/>
    <p:sldId id="843" r:id="rId136"/>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0A2F"/>
    <a:srgbClr val="FF0000"/>
    <a:srgbClr val="FF66CC"/>
    <a:srgbClr val="545C57"/>
    <a:srgbClr val="0073B6"/>
    <a:srgbClr val="FFF2CC"/>
    <a:srgbClr val="FFFFFF"/>
    <a:srgbClr val="FBE5D6"/>
    <a:srgbClr val="F4B183"/>
    <a:srgbClr val="DEEB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BCE"/>
          </a:solidFill>
        </a:fill>
      </a:tcStyle>
    </a:wholeTbl>
    <a:band2H>
      <a:tcTxStyle/>
      <a:tcStyle>
        <a:tcBdr/>
        <a:fill>
          <a:solidFill>
            <a:srgbClr val="E6E7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DD6"/>
          </a:solidFill>
        </a:fill>
      </a:tcStyle>
    </a:wholeTbl>
    <a:band2H>
      <a:tcTxStyle/>
      <a:tcStyle>
        <a:tcBdr/>
        <a:fill>
          <a:solidFill>
            <a:srgbClr val="E6E8E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FCA"/>
          </a:solidFill>
        </a:fill>
      </a:tcStyle>
    </a:wholeTbl>
    <a:band2H>
      <a:tcTxStyle/>
      <a:tcStyle>
        <a:tcBdr/>
        <a:fill>
          <a:solidFill>
            <a:srgbClr val="FFE8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90" autoAdjust="0"/>
    <p:restoredTop sz="94684" autoAdjust="0"/>
  </p:normalViewPr>
  <p:slideViewPr>
    <p:cSldViewPr snapToGrid="0">
      <p:cViewPr varScale="1">
        <p:scale>
          <a:sx n="37" d="100"/>
          <a:sy n="37" d="100"/>
        </p:scale>
        <p:origin x="52" y="4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handoutMaster" Target="handoutMasters/handout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6D1AABF-18CB-382E-298C-8196D3F69D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1BC5E6A1-C4EE-6883-D5AC-98939827ED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92C540-6F18-412D-936D-4A210F23E2F3}" type="datetimeFigureOut">
              <a:rPr lang="en-IN" smtClean="0"/>
              <a:t>30-03-2026</a:t>
            </a:fld>
            <a:endParaRPr lang="en-IN"/>
          </a:p>
        </p:txBody>
      </p:sp>
      <p:sp>
        <p:nvSpPr>
          <p:cNvPr id="4" name="Footer Placeholder 3">
            <a:extLst>
              <a:ext uri="{FF2B5EF4-FFF2-40B4-BE49-F238E27FC236}">
                <a16:creationId xmlns:a16="http://schemas.microsoft.com/office/drawing/2014/main" id="{B27A6ECF-AA02-CE6E-7EF4-0ADC2665A8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FC153CF1-B111-3020-C6D2-F4F873E19E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1A82B2-859D-43C2-B70A-113A1480D004}" type="slidenum">
              <a:rPr lang="en-IN" smtClean="0"/>
              <a:t>‹#›</a:t>
            </a:fld>
            <a:endParaRPr lang="en-IN"/>
          </a:p>
        </p:txBody>
      </p:sp>
    </p:spTree>
    <p:extLst>
      <p:ext uri="{BB962C8B-B14F-4D97-AF65-F5344CB8AC3E}">
        <p14:creationId xmlns:p14="http://schemas.microsoft.com/office/powerpoint/2010/main" val="89010000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latinLnBrk="0">
      <a:defRPr sz="1200">
        <a:latin typeface="+mn-lt"/>
        <a:ea typeface="+mn-ea"/>
        <a:cs typeface="+mn-cs"/>
        <a:sym typeface="Segoe UI"/>
      </a:defRPr>
    </a:lvl1pPr>
    <a:lvl2pPr indent="228600" latinLnBrk="0">
      <a:defRPr sz="1200">
        <a:latin typeface="+mn-lt"/>
        <a:ea typeface="+mn-ea"/>
        <a:cs typeface="+mn-cs"/>
        <a:sym typeface="Segoe UI"/>
      </a:defRPr>
    </a:lvl2pPr>
    <a:lvl3pPr indent="457200" latinLnBrk="0">
      <a:defRPr sz="1200">
        <a:latin typeface="+mn-lt"/>
        <a:ea typeface="+mn-ea"/>
        <a:cs typeface="+mn-cs"/>
        <a:sym typeface="Segoe UI"/>
      </a:defRPr>
    </a:lvl3pPr>
    <a:lvl4pPr indent="685800" latinLnBrk="0">
      <a:defRPr sz="1200">
        <a:latin typeface="+mn-lt"/>
        <a:ea typeface="+mn-ea"/>
        <a:cs typeface="+mn-cs"/>
        <a:sym typeface="Segoe UI"/>
      </a:defRPr>
    </a:lvl4pPr>
    <a:lvl5pPr indent="914400" latinLnBrk="0">
      <a:defRPr sz="1200">
        <a:latin typeface="+mn-lt"/>
        <a:ea typeface="+mn-ea"/>
        <a:cs typeface="+mn-cs"/>
        <a:sym typeface="Segoe UI"/>
      </a:defRPr>
    </a:lvl5pPr>
    <a:lvl6pPr indent="1143000" latinLnBrk="0">
      <a:defRPr sz="1200">
        <a:latin typeface="+mn-lt"/>
        <a:ea typeface="+mn-ea"/>
        <a:cs typeface="+mn-cs"/>
        <a:sym typeface="Segoe UI"/>
      </a:defRPr>
    </a:lvl6pPr>
    <a:lvl7pPr indent="1371600" latinLnBrk="0">
      <a:defRPr sz="1200">
        <a:latin typeface="+mn-lt"/>
        <a:ea typeface="+mn-ea"/>
        <a:cs typeface="+mn-cs"/>
        <a:sym typeface="Segoe UI"/>
      </a:defRPr>
    </a:lvl7pPr>
    <a:lvl8pPr indent="1600200" latinLnBrk="0">
      <a:defRPr sz="1200">
        <a:latin typeface="+mn-lt"/>
        <a:ea typeface="+mn-ea"/>
        <a:cs typeface="+mn-cs"/>
        <a:sym typeface="Segoe UI"/>
      </a:defRPr>
    </a:lvl8pPr>
    <a:lvl9pPr indent="1828800" latinLnBrk="0">
      <a:defRPr sz="1200">
        <a:latin typeface="+mn-lt"/>
        <a:ea typeface="+mn-ea"/>
        <a:cs typeface="+mn-cs"/>
        <a:sym typeface="Segoe UI"/>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pic>
        <p:nvPicPr>
          <p:cNvPr id="5" name="object 3">
            <a:extLst>
              <a:ext uri="{FF2B5EF4-FFF2-40B4-BE49-F238E27FC236}">
                <a16:creationId xmlns:a16="http://schemas.microsoft.com/office/drawing/2014/main" id="{98774FEE-27E5-DCEB-8DB4-6052E39BAE0E}"/>
              </a:ext>
            </a:extLst>
          </p:cNvPr>
          <p:cNvPicPr/>
          <p:nvPr userDrawn="1"/>
        </p:nvPicPr>
        <p:blipFill>
          <a:blip r:embed="rId2" cstate="print"/>
          <a:srcRect t="91915"/>
          <a:stretch>
            <a:fillRect/>
          </a:stretch>
        </p:blipFill>
        <p:spPr>
          <a:xfrm>
            <a:off x="0" y="6303523"/>
            <a:ext cx="12191999" cy="554474"/>
          </a:xfrm>
          <a:prstGeom prst="rect">
            <a:avLst/>
          </a:prstGeom>
        </p:spPr>
      </p:pic>
      <p:sp>
        <p:nvSpPr>
          <p:cNvPr id="6" name="Slide Number"/>
          <p:cNvSpPr txBox="1">
            <a:spLocks noGrp="1"/>
          </p:cNvSpPr>
          <p:nvPr>
            <p:ph type="sldNum" sz="quarter" idx="2"/>
          </p:nvPr>
        </p:nvSpPr>
        <p:spPr>
          <a:xfrm>
            <a:off x="11314137" y="416058"/>
            <a:ext cx="245404" cy="243841"/>
          </a:xfrm>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Rectangle 2"/>
          <p:cNvSpPr/>
          <p:nvPr/>
        </p:nvSpPr>
        <p:spPr>
          <a:xfrm>
            <a:off x="609600" y="423632"/>
            <a:ext cx="45719" cy="262170"/>
          </a:xfrm>
          <a:prstGeom prst="rect">
            <a:avLst/>
          </a:prstGeom>
          <a:solidFill>
            <a:srgbClr val="F39000"/>
          </a:solidFill>
          <a:ln w="12700">
            <a:miter lim="400000"/>
          </a:ln>
        </p:spPr>
        <p:txBody>
          <a:bodyPr lIns="45719" rIns="45719" anchor="ctr"/>
          <a:lstStyle/>
          <a:p>
            <a:pPr algn="ctr">
              <a:defRPr>
                <a:solidFill>
                  <a:srgbClr val="FFFFFF"/>
                </a:solidFill>
              </a:defRPr>
            </a:pPr>
            <a:endParaRPr/>
          </a:p>
        </p:txBody>
      </p:sp>
      <p:sp>
        <p:nvSpPr>
          <p:cNvPr id="5" name="Slide Number"/>
          <p:cNvSpPr txBox="1">
            <a:spLocks noGrp="1"/>
          </p:cNvSpPr>
          <p:nvPr>
            <p:ph type="sldNum" sz="quarter" idx="2"/>
          </p:nvPr>
        </p:nvSpPr>
        <p:spPr>
          <a:xfrm>
            <a:off x="11314137" y="454968"/>
            <a:ext cx="245404" cy="243841"/>
          </a:xfrm>
          <a:prstGeom prst="rect">
            <a:avLst/>
          </a:prstGeom>
          <a:ln w="12700">
            <a:miter lim="400000"/>
          </a:ln>
        </p:spPr>
        <p:txBody>
          <a:bodyPr wrap="none" lIns="45719" rIns="45719">
            <a:spAutoFit/>
          </a:bodyPr>
          <a:lstStyle>
            <a:lvl1pPr algn="r">
              <a:defRPr sz="1000" b="1">
                <a:solidFill>
                  <a:schemeClr val="accent3">
                    <a:alpha val="64999"/>
                  </a:schemeClr>
                </a:solidFill>
                <a:latin typeface="+mj-lt"/>
                <a:ea typeface="+mj-ea"/>
                <a:cs typeface="+mj-cs"/>
                <a:sym typeface="Helvetica"/>
              </a:defRPr>
            </a:lvl1pPr>
          </a:lstStyle>
          <a:p>
            <a:fld id="{86CB4B4D-7CA3-9044-876B-883B54F8677D}" type="slidenum">
              <a:t>‹#›</a:t>
            </a:fld>
            <a:endParaRPr/>
          </a:p>
        </p:txBody>
      </p:sp>
      <p:sp>
        <p:nvSpPr>
          <p:cNvPr id="6" name="Title Text"/>
          <p:cNvSpPr txBox="1">
            <a:spLocks noGrp="1"/>
          </p:cNvSpPr>
          <p:nvPr>
            <p:ph type="title"/>
          </p:nvPr>
        </p:nvSpPr>
        <p:spPr>
          <a:xfrm>
            <a:off x="609600" y="92074"/>
            <a:ext cx="10972800" cy="1508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p>
            <a:r>
              <a:t>Title Text</a:t>
            </a:r>
          </a:p>
        </p:txBody>
      </p:sp>
      <p:sp>
        <p:nvSpPr>
          <p:cNvPr id="7"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pic>
        <p:nvPicPr>
          <p:cNvPr id="8" name="Picture 7">
            <a:extLst>
              <a:ext uri="{FF2B5EF4-FFF2-40B4-BE49-F238E27FC236}">
                <a16:creationId xmlns:a16="http://schemas.microsoft.com/office/drawing/2014/main" id="{87CD046F-B34F-1446-0826-53E04B5FF5C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6991" y="423631"/>
            <a:ext cx="1209596" cy="26217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1pPr>
      <a:lvl2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2pPr>
      <a:lvl3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3pPr>
      <a:lvl4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4pPr>
      <a:lvl5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5pPr>
      <a:lvl6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6pPr>
      <a:lvl7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7pPr>
      <a:lvl8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8pPr>
      <a:lvl9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p:bodyStyle>
    <p:otherStyle>
      <a:lvl1pPr marL="0" marR="0" indent="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1pPr>
      <a:lvl2pPr marL="0" marR="0" indent="4572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2pPr>
      <a:lvl3pPr marL="0" marR="0" indent="9144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3pPr>
      <a:lvl4pPr marL="0" marR="0" indent="13716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4pPr>
      <a:lvl5pPr marL="0" marR="0" indent="18288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5pPr>
      <a:lvl6pPr marL="0" marR="0" indent="22860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6pPr>
      <a:lvl7pPr marL="0" marR="0" indent="27432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7pPr>
      <a:lvl8pPr marL="0" marR="0" indent="32004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8pPr>
      <a:lvl9pPr marL="0" marR="0" indent="36576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9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11BAA27-C0F4-A466-A09B-15D5201C28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1" name="Rectangle 1"/>
          <p:cNvSpPr/>
          <p:nvPr/>
        </p:nvSpPr>
        <p:spPr>
          <a:xfrm>
            <a:off x="-1" y="0"/>
            <a:ext cx="12192000" cy="6966857"/>
          </a:xfrm>
          <a:prstGeom prst="rect">
            <a:avLst/>
          </a:prstGeom>
          <a:solidFill>
            <a:srgbClr val="002F5E">
              <a:alpha val="74902"/>
            </a:srgbClr>
          </a:solidFill>
          <a:ln w="12700">
            <a:miter lim="400000"/>
          </a:ln>
        </p:spPr>
        <p:txBody>
          <a:bodyPr lIns="45719" rIns="45719" anchor="ctr"/>
          <a:lstStyle/>
          <a:p>
            <a:pPr algn="ctr">
              <a:defRPr>
                <a:solidFill>
                  <a:srgbClr val="FFFFFF"/>
                </a:solidFill>
              </a:defRPr>
            </a:pPr>
            <a:endParaRPr>
              <a:latin typeface="+mj-lt"/>
            </a:endParaRPr>
          </a:p>
        </p:txBody>
      </p:sp>
      <p:sp>
        <p:nvSpPr>
          <p:cNvPr id="202" name="TextBox 2"/>
          <p:cNvSpPr txBox="1"/>
          <p:nvPr/>
        </p:nvSpPr>
        <p:spPr>
          <a:xfrm>
            <a:off x="567271" y="2277410"/>
            <a:ext cx="11390486" cy="18620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gn="ctr">
              <a:defRPr sz="17300" b="1">
                <a:solidFill>
                  <a:srgbClr val="188CFF">
                    <a:alpha val="15000"/>
                  </a:srgbClr>
                </a:solidFill>
                <a:effectLst>
                  <a:outerShdw blurRad="127000" rotWithShape="0">
                    <a:srgbClr val="000000">
                      <a:alpha val="10000"/>
                    </a:srgbClr>
                  </a:outerShdw>
                </a:effectLst>
                <a:latin typeface="Manrope ExtraBold"/>
                <a:ea typeface="Manrope ExtraBold"/>
                <a:cs typeface="Manrope ExtraBold"/>
                <a:sym typeface="Manrope ExtraBold"/>
              </a:defRPr>
            </a:lvl1pPr>
          </a:lstStyle>
          <a:p>
            <a:r>
              <a:rPr lang="en-IN" sz="11500" dirty="0">
                <a:latin typeface="+mj-lt"/>
              </a:rPr>
              <a:t>Presidency</a:t>
            </a:r>
            <a:endParaRPr sz="13800" dirty="0">
              <a:latin typeface="+mj-lt"/>
            </a:endParaRPr>
          </a:p>
        </p:txBody>
      </p:sp>
      <p:sp>
        <p:nvSpPr>
          <p:cNvPr id="203" name="TextBox 3"/>
          <p:cNvSpPr txBox="1"/>
          <p:nvPr/>
        </p:nvSpPr>
        <p:spPr>
          <a:xfrm>
            <a:off x="3070953" y="3757878"/>
            <a:ext cx="6050093" cy="6588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lnSpc>
                <a:spcPct val="150000"/>
              </a:lnSpc>
              <a:defRPr sz="1600" spc="300">
                <a:solidFill>
                  <a:srgbClr val="FFFFFF"/>
                </a:solidFill>
              </a:defRPr>
            </a:lvl1pPr>
          </a:lstStyle>
          <a:p>
            <a:r>
              <a:rPr lang="en-IN" sz="2800" b="1" dirty="0">
                <a:latin typeface="+mj-lt"/>
              </a:rPr>
              <a:t>School of Engineering</a:t>
            </a:r>
            <a:endParaRPr sz="2800" b="1" dirty="0">
              <a:latin typeface="+mj-lt"/>
            </a:endParaRPr>
          </a:p>
        </p:txBody>
      </p:sp>
      <p:sp>
        <p:nvSpPr>
          <p:cNvPr id="205" name="Rectangle 11"/>
          <p:cNvSpPr/>
          <p:nvPr/>
        </p:nvSpPr>
        <p:spPr>
          <a:xfrm>
            <a:off x="609600" y="380240"/>
            <a:ext cx="45719" cy="305561"/>
          </a:xfrm>
          <a:prstGeom prst="rect">
            <a:avLst/>
          </a:prstGeom>
          <a:solidFill>
            <a:srgbClr val="F39000"/>
          </a:solidFill>
          <a:ln w="12700">
            <a:miter lim="400000"/>
          </a:ln>
        </p:spPr>
        <p:txBody>
          <a:bodyPr lIns="45719" rIns="45719" anchor="ctr"/>
          <a:lstStyle/>
          <a:p>
            <a:pPr algn="ctr">
              <a:defRPr>
                <a:solidFill>
                  <a:srgbClr val="FFFFFF"/>
                </a:solidFill>
              </a:defRPr>
            </a:pPr>
            <a:endParaRPr>
              <a:latin typeface="+mj-lt"/>
            </a:endParaRPr>
          </a:p>
        </p:txBody>
      </p:sp>
      <p:sp>
        <p:nvSpPr>
          <p:cNvPr id="208" name="TextBox 14"/>
          <p:cNvSpPr txBox="1"/>
          <p:nvPr/>
        </p:nvSpPr>
        <p:spPr>
          <a:xfrm>
            <a:off x="11350956" y="454968"/>
            <a:ext cx="162863" cy="2462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r">
              <a:defRPr sz="1000" b="1">
                <a:solidFill>
                  <a:srgbClr val="FFFFFF">
                    <a:alpha val="60000"/>
                  </a:srgbClr>
                </a:solidFill>
                <a:latin typeface="+mj-lt"/>
                <a:ea typeface="+mj-ea"/>
                <a:cs typeface="+mj-cs"/>
                <a:sym typeface="Helvetica"/>
              </a:defRPr>
            </a:lvl1pPr>
          </a:lstStyle>
          <a:p>
            <a:r>
              <a:t>1</a:t>
            </a:r>
          </a:p>
        </p:txBody>
      </p:sp>
      <p:pic>
        <p:nvPicPr>
          <p:cNvPr id="3" name="Picture 2">
            <a:extLst>
              <a:ext uri="{FF2B5EF4-FFF2-40B4-BE49-F238E27FC236}">
                <a16:creationId xmlns:a16="http://schemas.microsoft.com/office/drawing/2014/main" id="{99BBA17B-3BC2-6BF3-E9AA-D4BFBC2AD5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6283" y="380240"/>
            <a:ext cx="1378341" cy="298744"/>
          </a:xfrm>
          <a:prstGeom prst="rect">
            <a:avLst/>
          </a:prstGeom>
        </p:spPr>
      </p:pic>
      <p:pic>
        <p:nvPicPr>
          <p:cNvPr id="5" name="Picture 4">
            <a:extLst>
              <a:ext uri="{FF2B5EF4-FFF2-40B4-BE49-F238E27FC236}">
                <a16:creationId xmlns:a16="http://schemas.microsoft.com/office/drawing/2014/main" id="{EF546ABE-E94D-3667-ECB3-72C0D85515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481411"/>
            <a:ext cx="12192000" cy="469900"/>
          </a:xfrm>
          <a:prstGeom prst="rect">
            <a:avLst/>
          </a:prstGeom>
        </p:spPr>
      </p:pic>
      <p:sp>
        <p:nvSpPr>
          <p:cNvPr id="13" name="TextBox 5"/>
          <p:cNvSpPr txBox="1"/>
          <p:nvPr/>
        </p:nvSpPr>
        <p:spPr>
          <a:xfrm>
            <a:off x="2034614" y="2277410"/>
            <a:ext cx="8295781" cy="1631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gn="ctr">
              <a:defRPr sz="10000" b="1">
                <a:solidFill>
                  <a:srgbClr val="FFFFFF"/>
                </a:solidFill>
                <a:latin typeface="Manrope ExtraBold"/>
                <a:ea typeface="Manrope ExtraBold"/>
                <a:cs typeface="Manrope ExtraBold"/>
                <a:sym typeface="Manrope ExtraBold"/>
              </a:defRPr>
            </a:lvl1pPr>
          </a:lstStyle>
          <a:p>
            <a:r>
              <a:rPr lang="en-IN" dirty="0">
                <a:latin typeface="+mj-lt"/>
              </a:rPr>
              <a:t>Presidency</a:t>
            </a:r>
            <a:endParaRPr dirty="0">
              <a:latin typeface="+mj-lt"/>
            </a:endParaRPr>
          </a:p>
        </p:txBody>
      </p:sp>
      <p:pic>
        <p:nvPicPr>
          <p:cNvPr id="4" name="Picture 3">
            <a:extLst>
              <a:ext uri="{FF2B5EF4-FFF2-40B4-BE49-F238E27FC236}">
                <a16:creationId xmlns:a16="http://schemas.microsoft.com/office/drawing/2014/main" id="{73A40FF4-89C1-E9E6-5D7A-021F33E69862}"/>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6486546"/>
            <a:ext cx="12191999" cy="619125"/>
          </a:xfrm>
          <a:prstGeom prst="rect">
            <a:avLst/>
          </a:prstGeom>
        </p:spPr>
      </p:pic>
      <p:sp>
        <p:nvSpPr>
          <p:cNvPr id="2" name="Slide Number Placeholder 1"/>
          <p:cNvSpPr>
            <a:spLocks noGrp="1"/>
          </p:cNvSpPr>
          <p:nvPr>
            <p:ph type="sldNum" sz="quarter" idx="2"/>
          </p:nvPr>
        </p:nvSpPr>
        <p:spPr/>
        <p:txBody>
          <a:bodyPr/>
          <a:lstStyle/>
          <a:p>
            <a:fld id="{86CB4B4D-7CA3-9044-876B-883B54F8677D}" type="slidenum">
              <a:rPr lang="en-US" smtClean="0"/>
              <a:t>1</a:t>
            </a:fld>
            <a:endParaRPr lang="en-US" dirty="0"/>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6860DEDE-8776-0046-048C-E6DE43CC37B5}"/>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a:t>
            </a:fld>
            <a:endParaRPr dirty="0"/>
          </a:p>
        </p:txBody>
      </p:sp>
      <p:sp>
        <p:nvSpPr>
          <p:cNvPr id="3" name="Rectangle 1">
            <a:extLst>
              <a:ext uri="{FF2B5EF4-FFF2-40B4-BE49-F238E27FC236}">
                <a16:creationId xmlns:a16="http://schemas.microsoft.com/office/drawing/2014/main" id="{E4602A46-9DC8-21BB-8665-CFE4F8DD9EAE}"/>
              </a:ext>
            </a:extLst>
          </p:cNvPr>
          <p:cNvSpPr>
            <a:spLocks noChangeArrowheads="1"/>
          </p:cNvSpPr>
          <p:nvPr/>
        </p:nvSpPr>
        <p:spPr bwMode="auto">
          <a:xfrm>
            <a:off x="152400" y="1828562"/>
            <a:ext cx="11887200"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000" b="1" dirty="0">
                <a:solidFill>
                  <a:srgbClr val="002060"/>
                </a:solidFill>
                <a:latin typeface="Arial" panose="020B0604020202020204" pitchFamily="34" charset="0"/>
              </a:rPr>
              <a:t>Department of </a:t>
            </a:r>
          </a:p>
          <a:p>
            <a:pPr algn="ctr" eaLnBrk="1" hangingPunct="1">
              <a:lnSpc>
                <a:spcPct val="100000"/>
              </a:lnSpc>
              <a:spcBef>
                <a:spcPct val="0"/>
              </a:spcBef>
              <a:buFontTx/>
              <a:buNone/>
            </a:pPr>
            <a:endParaRPr lang="en-US" altLang="en-US" sz="1800" b="1" dirty="0">
              <a:solidFill>
                <a:srgbClr val="002060"/>
              </a:solidFill>
              <a:latin typeface="Arial" panose="020B0604020202020204" pitchFamily="34" charset="0"/>
            </a:endParaRPr>
          </a:p>
          <a:p>
            <a:pPr algn="ctr" eaLnBrk="1" hangingPunct="1">
              <a:lnSpc>
                <a:spcPct val="100000"/>
              </a:lnSpc>
              <a:spcBef>
                <a:spcPct val="0"/>
              </a:spcBef>
              <a:buFontTx/>
              <a:buNone/>
            </a:pPr>
            <a:r>
              <a:rPr lang="en-US" altLang="en-US" sz="4000" b="1" dirty="0" smtClean="0">
                <a:solidFill>
                  <a:srgbClr val="002060"/>
                </a:solidFill>
                <a:latin typeface="Arial" panose="020B0604020202020204" pitchFamily="34" charset="0"/>
              </a:rPr>
              <a:t>Electronics and Communication </a:t>
            </a:r>
            <a:r>
              <a:rPr lang="en-US" altLang="en-US" sz="4000" b="1" dirty="0">
                <a:solidFill>
                  <a:srgbClr val="002060"/>
                </a:solidFill>
                <a:latin typeface="Arial" panose="020B0604020202020204" pitchFamily="34" charset="0"/>
              </a:rPr>
              <a:t>Engineering </a:t>
            </a:r>
          </a:p>
        </p:txBody>
      </p:sp>
    </p:spTree>
    <p:extLst>
      <p:ext uri="{BB962C8B-B14F-4D97-AF65-F5344CB8AC3E}">
        <p14:creationId xmlns:p14="http://schemas.microsoft.com/office/powerpoint/2010/main" val="2633618040"/>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4FF99-1426-541C-5B7F-ED61BE610776}"/>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B9ABBC70-7E27-455C-83CC-7C52E96151B2}"/>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a:t>
            </a:fld>
            <a:endParaRPr dirty="0"/>
          </a:p>
        </p:txBody>
      </p:sp>
      <p:sp>
        <p:nvSpPr>
          <p:cNvPr id="5" name="Rectangle 4">
            <a:extLst>
              <a:ext uri="{FF2B5EF4-FFF2-40B4-BE49-F238E27FC236}">
                <a16:creationId xmlns:a16="http://schemas.microsoft.com/office/drawing/2014/main" id="{A25341BC-113B-C132-C3D1-EDFC0CE55EF4}"/>
              </a:ext>
            </a:extLst>
          </p:cNvPr>
          <p:cNvSpPr/>
          <p:nvPr/>
        </p:nvSpPr>
        <p:spPr>
          <a:xfrm>
            <a:off x="845820" y="805488"/>
            <a:ext cx="11144250" cy="2246769"/>
          </a:xfrm>
          <a:prstGeom prst="rect">
            <a:avLst/>
          </a:prstGeom>
        </p:spPr>
        <p:txBody>
          <a:bodyPr wrap="square">
            <a:spAutoFit/>
          </a:bodyPr>
          <a:lstStyle/>
          <a:p>
            <a:pPr algn="ctr"/>
            <a:r>
              <a:rPr lang="en-US" sz="4000" b="1" dirty="0">
                <a:solidFill>
                  <a:srgbClr val="FF0000"/>
                </a:solidFill>
              </a:rPr>
              <a:t>Basics of </a:t>
            </a:r>
            <a:r>
              <a:rPr lang="en-US" sz="4000" b="1" dirty="0" smtClean="0">
                <a:solidFill>
                  <a:srgbClr val="FF0000"/>
                </a:solidFill>
              </a:rPr>
              <a:t>Electronics and Communication </a:t>
            </a:r>
            <a:r>
              <a:rPr lang="en-US" sz="4000" b="1" dirty="0">
                <a:solidFill>
                  <a:srgbClr val="FF0000"/>
                </a:solidFill>
              </a:rPr>
              <a:t>Engineering (</a:t>
            </a:r>
            <a:r>
              <a:rPr lang="en-US" sz="4000" b="1" dirty="0" smtClean="0">
                <a:solidFill>
                  <a:srgbClr val="FF0000"/>
                </a:solidFill>
              </a:rPr>
              <a:t>ECE3107)</a:t>
            </a:r>
            <a:endParaRPr lang="en-US" sz="4000" b="1" dirty="0">
              <a:solidFill>
                <a:srgbClr val="FF0000"/>
              </a:solidFill>
            </a:endParaRPr>
          </a:p>
          <a:p>
            <a:pPr algn="ctr">
              <a:lnSpc>
                <a:spcPct val="150000"/>
              </a:lnSpc>
            </a:pPr>
            <a:r>
              <a:rPr lang="en-US" sz="4000" b="1" dirty="0">
                <a:solidFill>
                  <a:schemeClr val="accent1">
                    <a:lumMod val="90000"/>
                    <a:lumOff val="10000"/>
                  </a:schemeClr>
                </a:solidFill>
              </a:rPr>
              <a:t>L-T-P-C: 3-0-0-3</a:t>
            </a:r>
          </a:p>
        </p:txBody>
      </p:sp>
      <p:sp>
        <p:nvSpPr>
          <p:cNvPr id="3" name="TextBox 2">
            <a:extLst>
              <a:ext uri="{FF2B5EF4-FFF2-40B4-BE49-F238E27FC236}">
                <a16:creationId xmlns:a16="http://schemas.microsoft.com/office/drawing/2014/main" id="{26BDAB2D-57D1-041B-8526-944C33E338CA}"/>
              </a:ext>
            </a:extLst>
          </p:cNvPr>
          <p:cNvSpPr txBox="1"/>
          <p:nvPr/>
        </p:nvSpPr>
        <p:spPr>
          <a:xfrm>
            <a:off x="2455545" y="3999220"/>
            <a:ext cx="7029450" cy="2400657"/>
          </a:xfrm>
          <a:prstGeom prst="rect">
            <a:avLst/>
          </a:prstGeom>
          <a:noFill/>
        </p:spPr>
        <p:txBody>
          <a:bodyPr wrap="square" rtlCol="0">
            <a:spAutoFit/>
          </a:bodyPr>
          <a:lstStyle/>
          <a:p>
            <a:pPr algn="ctr"/>
            <a:r>
              <a:rPr lang="en-US" sz="2500" dirty="0">
                <a:solidFill>
                  <a:srgbClr val="002060"/>
                </a:solidFill>
                <a:latin typeface="Times New Roman" pitchFamily="18" charset="0"/>
                <a:cs typeface="Times New Roman" pitchFamily="18" charset="0"/>
              </a:rPr>
              <a:t>By</a:t>
            </a:r>
          </a:p>
          <a:p>
            <a:pPr algn="ctr"/>
            <a:r>
              <a:rPr lang="en-US" sz="2500" b="1" dirty="0">
                <a:solidFill>
                  <a:srgbClr val="002060"/>
                </a:solidFill>
                <a:latin typeface="Times New Roman" pitchFamily="18" charset="0"/>
                <a:cs typeface="Times New Roman" pitchFamily="18" charset="0"/>
              </a:rPr>
              <a:t>Dr. </a:t>
            </a:r>
            <a:r>
              <a:rPr lang="en-US" sz="2500" b="1" dirty="0" smtClean="0">
                <a:solidFill>
                  <a:srgbClr val="002060"/>
                </a:solidFill>
                <a:latin typeface="Times New Roman" pitchFamily="18" charset="0"/>
                <a:cs typeface="Times New Roman" pitchFamily="18" charset="0"/>
              </a:rPr>
              <a:t>K. </a:t>
            </a:r>
            <a:r>
              <a:rPr lang="en-US" sz="2500" b="1" dirty="0" err="1" smtClean="0">
                <a:solidFill>
                  <a:srgbClr val="002060"/>
                </a:solidFill>
                <a:latin typeface="Times New Roman" pitchFamily="18" charset="0"/>
                <a:cs typeface="Times New Roman" pitchFamily="18" charset="0"/>
              </a:rPr>
              <a:t>Gowri</a:t>
            </a:r>
            <a:endParaRPr lang="en-US" sz="2500" b="1" dirty="0">
              <a:solidFill>
                <a:srgbClr val="002060"/>
              </a:solidFill>
              <a:latin typeface="Times New Roman" pitchFamily="18" charset="0"/>
              <a:cs typeface="Times New Roman" pitchFamily="18" charset="0"/>
            </a:endParaRPr>
          </a:p>
          <a:p>
            <a:pPr algn="ctr"/>
            <a:r>
              <a:rPr lang="en-US" sz="2500" i="1" dirty="0">
                <a:solidFill>
                  <a:srgbClr val="002060"/>
                </a:solidFill>
                <a:latin typeface="Times New Roman" pitchFamily="18" charset="0"/>
                <a:cs typeface="Times New Roman" pitchFamily="18" charset="0"/>
              </a:rPr>
              <a:t>Assistant Professor – Senior Scale</a:t>
            </a:r>
          </a:p>
          <a:p>
            <a:pPr algn="ctr"/>
            <a:r>
              <a:rPr lang="en-US" sz="2500" i="1" dirty="0">
                <a:solidFill>
                  <a:srgbClr val="002060"/>
                </a:solidFill>
                <a:latin typeface="Times New Roman" pitchFamily="18" charset="0"/>
                <a:cs typeface="Times New Roman" pitchFamily="18" charset="0"/>
              </a:rPr>
              <a:t>Department of </a:t>
            </a:r>
            <a:r>
              <a:rPr lang="en-US" sz="2500" i="1" dirty="0" smtClean="0">
                <a:solidFill>
                  <a:srgbClr val="002060"/>
                </a:solidFill>
                <a:latin typeface="Times New Roman" pitchFamily="18" charset="0"/>
                <a:cs typeface="Times New Roman" pitchFamily="18" charset="0"/>
              </a:rPr>
              <a:t>Electronics and Communication Engineering</a:t>
            </a:r>
            <a:endParaRPr lang="en-US" sz="2500" i="1" dirty="0">
              <a:solidFill>
                <a:srgbClr val="002060"/>
              </a:solidFill>
              <a:latin typeface="Times New Roman" pitchFamily="18" charset="0"/>
              <a:cs typeface="Times New Roman" pitchFamily="18" charset="0"/>
            </a:endParaRPr>
          </a:p>
          <a:p>
            <a:pPr algn="ctr"/>
            <a:r>
              <a:rPr lang="en-US" sz="2500" i="1" dirty="0">
                <a:solidFill>
                  <a:srgbClr val="002060"/>
                </a:solidFill>
                <a:latin typeface="Times New Roman" pitchFamily="18" charset="0"/>
                <a:cs typeface="Times New Roman" pitchFamily="18" charset="0"/>
              </a:rPr>
              <a:t>Presidency University, Bengaluru</a:t>
            </a:r>
          </a:p>
        </p:txBody>
      </p:sp>
    </p:spTree>
    <p:extLst>
      <p:ext uri="{BB962C8B-B14F-4D97-AF65-F5344CB8AC3E}">
        <p14:creationId xmlns:p14="http://schemas.microsoft.com/office/powerpoint/2010/main" val="3306176095"/>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4000" b="1" i="0" u="none" strike="noStrike" cap="none" spc="0" normalizeH="0" baseline="0" dirty="0" smtClean="0">
                <a:ln>
                  <a:noFill/>
                </a:ln>
                <a:solidFill>
                  <a:srgbClr val="000000"/>
                </a:solidFill>
                <a:effectLst/>
                <a:uFillTx/>
                <a:latin typeface="+mn-lt"/>
                <a:ea typeface="+mn-ea"/>
                <a:cs typeface="+mn-cs"/>
                <a:sym typeface="Segoe UI"/>
              </a:rPr>
              <a:t>MODULE</a:t>
            </a:r>
            <a:r>
              <a:rPr kumimoji="0" lang="en-US" sz="4000" b="1" i="0" u="none" strike="noStrike" cap="none" spc="0" normalizeH="0" dirty="0" smtClean="0">
                <a:ln>
                  <a:noFill/>
                </a:ln>
                <a:solidFill>
                  <a:srgbClr val="000000"/>
                </a:solidFill>
                <a:effectLst/>
                <a:uFillTx/>
                <a:latin typeface="+mn-lt"/>
                <a:ea typeface="+mn-ea"/>
                <a:cs typeface="+mn-cs"/>
                <a:sym typeface="Segoe UI"/>
              </a:rPr>
              <a:t> 2</a:t>
            </a:r>
            <a:endParaRPr kumimoji="0" lang="en-US" sz="4000" b="1" i="0" u="none" strike="noStrike" cap="none" spc="0" normalizeH="0" baseline="0" dirty="0">
              <a:ln>
                <a:noFill/>
              </a:ln>
              <a:solidFill>
                <a:srgbClr val="000000"/>
              </a:solidFill>
              <a:effectLst/>
              <a:uFillTx/>
              <a:latin typeface="+mn-lt"/>
              <a:ea typeface="+mn-ea"/>
              <a:cs typeface="+mn-cs"/>
              <a:sym typeface="Segoe UI"/>
            </a:endParaRPr>
          </a:p>
        </p:txBody>
      </p:sp>
      <p:sp>
        <p:nvSpPr>
          <p:cNvPr id="9" name="Rectangle 8"/>
          <p:cNvSpPr/>
          <p:nvPr/>
        </p:nvSpPr>
        <p:spPr>
          <a:xfrm>
            <a:off x="476077" y="1503680"/>
            <a:ext cx="11407140" cy="4339650"/>
          </a:xfrm>
          <a:prstGeom prst="rect">
            <a:avLst/>
          </a:prstGeom>
        </p:spPr>
        <p:txBody>
          <a:bodyPr wrap="square">
            <a:spAutoFit/>
          </a:bodyPr>
          <a:lstStyle/>
          <a:p>
            <a:r>
              <a:rPr lang="en-US" sz="3200" b="1" dirty="0">
                <a:solidFill>
                  <a:srgbClr val="FF0000"/>
                </a:solidFill>
              </a:rPr>
              <a:t>Vision algorithms and applications: </a:t>
            </a:r>
            <a:r>
              <a:rPr lang="en-US" sz="3200" dirty="0">
                <a:solidFill>
                  <a:srgbClr val="FF0000"/>
                </a:solidFill>
              </a:rPr>
              <a:t>	</a:t>
            </a:r>
          </a:p>
          <a:p>
            <a:pPr algn="just"/>
            <a:r>
              <a:rPr lang="en-US" sz="3600" dirty="0"/>
              <a:t>Transforming sensor reading, Mapping Sonar Data, aligning laser scan measurements - Vision and Tracking: Following the road, Iconic image processing, Multiscale image processing </a:t>
            </a:r>
          </a:p>
          <a:p>
            <a:pPr algn="just"/>
            <a:r>
              <a:rPr lang="en-US" sz="3600" dirty="0"/>
              <a:t>Video Tracking - Learning landmarks: Landmark </a:t>
            </a:r>
            <a:r>
              <a:rPr lang="en-US" sz="3600" dirty="0" err="1"/>
              <a:t>spatiograms</a:t>
            </a:r>
            <a:r>
              <a:rPr lang="en-US" sz="3600" dirty="0"/>
              <a:t>, K-means Clustering, EM Clustering. 	</a:t>
            </a:r>
            <a:r>
              <a:rPr lang="en-US" sz="3600" dirty="0" smtClean="0"/>
              <a:t> </a:t>
            </a:r>
            <a:r>
              <a:rPr lang="en-US" sz="3600" dirty="0"/>
              <a:t>	</a:t>
            </a:r>
          </a:p>
          <a:p>
            <a:pPr algn="just"/>
            <a:endParaRPr lang="en-IN" sz="28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2613663"/>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632311"/>
          </a:xfrm>
          <a:prstGeom prst="rect">
            <a:avLst/>
          </a:prstGeom>
        </p:spPr>
        <p:txBody>
          <a:bodyPr wrap="square">
            <a:spAutoFit/>
          </a:bodyPr>
          <a:lstStyle/>
          <a:p>
            <a:pPr algn="just"/>
            <a:r>
              <a:rPr lang="en-US" sz="4000" b="1" dirty="0" smtClean="0">
                <a:solidFill>
                  <a:schemeClr val="accent3">
                    <a:lumMod val="60000"/>
                    <a:lumOff val="40000"/>
                  </a:schemeClr>
                </a:solidFill>
                <a:latin typeface="Times New Roman" panose="02020603050405020304" pitchFamily="18" charset="0"/>
                <a:ea typeface="Times New Roman" panose="02020603050405020304" pitchFamily="18" charset="0"/>
              </a:rPr>
              <a:t>Introduction: </a:t>
            </a:r>
          </a:p>
          <a:p>
            <a:pPr marL="571500" indent="-571500" algn="just">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The </a:t>
            </a:r>
            <a:r>
              <a:rPr lang="en-US" sz="3200" dirty="0">
                <a:latin typeface="Times New Roman" panose="02020603050405020304" pitchFamily="18" charset="0"/>
                <a:ea typeface="Times New Roman" panose="02020603050405020304" pitchFamily="18" charset="0"/>
              </a:rPr>
              <a:t>presence of sensors in the ubiquitous environment has led to the production of an enormous amount of data</a:t>
            </a:r>
            <a:r>
              <a:rPr lang="en-US" sz="32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These </a:t>
            </a:r>
            <a:r>
              <a:rPr lang="en-US" sz="3200" dirty="0">
                <a:latin typeface="Times New Roman" panose="02020603050405020304" pitchFamily="18" charset="0"/>
                <a:ea typeface="Times New Roman" panose="02020603050405020304" pitchFamily="18" charset="0"/>
              </a:rPr>
              <a:t>sensors belong to</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diverse</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categories including </a:t>
            </a:r>
            <a:r>
              <a:rPr lang="en-US" sz="3200" b="1" dirty="0">
                <a:latin typeface="Times New Roman" panose="02020603050405020304" pitchFamily="18" charset="0"/>
                <a:ea typeface="Times New Roman" panose="02020603050405020304" pitchFamily="18" charset="0"/>
              </a:rPr>
              <a:t>planar pressure, thermal, optical, acoustic, and proximity </a:t>
            </a:r>
            <a:r>
              <a:rPr lang="en-US" sz="3200" b="1" dirty="0" smtClean="0">
                <a:latin typeface="Times New Roman" panose="02020603050405020304" pitchFamily="18" charset="0"/>
                <a:ea typeface="Times New Roman" panose="02020603050405020304" pitchFamily="18" charset="0"/>
              </a:rPr>
              <a:t>modalities</a:t>
            </a:r>
            <a:r>
              <a:rPr lang="en-US" sz="3200" b="1" dirty="0">
                <a:latin typeface="Times New Roman" panose="02020603050405020304" pitchFamily="18" charset="0"/>
                <a:ea typeface="Times New Roman" panose="02020603050405020304" pitchFamily="18" charset="0"/>
              </a:rPr>
              <a:t>. </a:t>
            </a:r>
            <a:endParaRPr lang="en-US" sz="3200" b="1"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They provide information for activity recognition and context-aware models that could be used for a wide range of applications such as </a:t>
            </a:r>
            <a:r>
              <a:rPr lang="en-US" sz="3200" b="1" dirty="0">
                <a:solidFill>
                  <a:srgbClr val="FF0000"/>
                </a:solidFill>
                <a:latin typeface="Times New Roman" panose="02020603050405020304" pitchFamily="18" charset="0"/>
                <a:ea typeface="Times New Roman" panose="02020603050405020304" pitchFamily="18" charset="0"/>
              </a:rPr>
              <a:t>automatic monitoring in the smart </a:t>
            </a:r>
            <a:r>
              <a:rPr lang="en-US" sz="3200" b="1" spc="-20" dirty="0">
                <a:solidFill>
                  <a:srgbClr val="FF0000"/>
                </a:solidFill>
                <a:latin typeface="Times New Roman" panose="02020603050405020304" pitchFamily="18" charset="0"/>
                <a:ea typeface="Times New Roman" panose="02020603050405020304" pitchFamily="18" charset="0"/>
              </a:rPr>
              <a:t>environment</a:t>
            </a:r>
            <a:r>
              <a:rPr lang="en-US" sz="3200" b="1" spc="-50" dirty="0">
                <a:solidFill>
                  <a:srgbClr val="FF0000"/>
                </a:solidFill>
                <a:latin typeface="Times New Roman" panose="02020603050405020304" pitchFamily="18" charset="0"/>
                <a:ea typeface="Times New Roman" panose="02020603050405020304" pitchFamily="18" charset="0"/>
              </a:rPr>
              <a:t> </a:t>
            </a:r>
            <a:r>
              <a:rPr lang="en-US" sz="3200" b="1" spc="-20" dirty="0">
                <a:solidFill>
                  <a:srgbClr val="FF0000"/>
                </a:solidFill>
                <a:latin typeface="Times New Roman" panose="02020603050405020304" pitchFamily="18" charset="0"/>
                <a:ea typeface="Times New Roman" panose="02020603050405020304" pitchFamily="18" charset="0"/>
              </a:rPr>
              <a:t>and</a:t>
            </a:r>
            <a:r>
              <a:rPr lang="en-US" sz="3200" b="1" spc="-45" dirty="0">
                <a:solidFill>
                  <a:srgbClr val="FF0000"/>
                </a:solidFill>
                <a:latin typeface="Times New Roman" panose="02020603050405020304" pitchFamily="18" charset="0"/>
                <a:ea typeface="Times New Roman" panose="02020603050405020304" pitchFamily="18" charset="0"/>
              </a:rPr>
              <a:t> </a:t>
            </a:r>
            <a:r>
              <a:rPr lang="en-US" sz="3200" b="1" spc="-20" dirty="0">
                <a:solidFill>
                  <a:srgbClr val="FF0000"/>
                </a:solidFill>
                <a:latin typeface="Times New Roman" panose="02020603050405020304" pitchFamily="18" charset="0"/>
                <a:ea typeface="Times New Roman" panose="02020603050405020304" pitchFamily="18" charset="0"/>
              </a:rPr>
              <a:t>wellness</a:t>
            </a:r>
            <a:r>
              <a:rPr lang="en-US" sz="3200" b="1" spc="-45" dirty="0">
                <a:solidFill>
                  <a:srgbClr val="FF0000"/>
                </a:solidFill>
                <a:latin typeface="Times New Roman" panose="02020603050405020304" pitchFamily="18" charset="0"/>
                <a:ea typeface="Times New Roman" panose="02020603050405020304" pitchFamily="18" charset="0"/>
              </a:rPr>
              <a:t> </a:t>
            </a:r>
            <a:r>
              <a:rPr lang="en-US" sz="3200" b="1" spc="-20" dirty="0">
                <a:solidFill>
                  <a:srgbClr val="FF0000"/>
                </a:solidFill>
                <a:latin typeface="Times New Roman" panose="02020603050405020304" pitchFamily="18" charset="0"/>
                <a:ea typeface="Times New Roman" panose="02020603050405020304" pitchFamily="18" charset="0"/>
              </a:rPr>
              <a:t>scene,</a:t>
            </a:r>
            <a:r>
              <a:rPr lang="en-US" sz="3200" b="1" spc="-45" dirty="0">
                <a:solidFill>
                  <a:srgbClr val="FF0000"/>
                </a:solidFill>
                <a:latin typeface="Times New Roman" panose="02020603050405020304" pitchFamily="18" charset="0"/>
                <a:ea typeface="Times New Roman" panose="02020603050405020304" pitchFamily="18" charset="0"/>
              </a:rPr>
              <a:t> </a:t>
            </a:r>
            <a:r>
              <a:rPr lang="en-US" sz="3200" b="1" spc="-20" dirty="0">
                <a:solidFill>
                  <a:srgbClr val="FF0000"/>
                </a:solidFill>
                <a:latin typeface="Times New Roman" panose="02020603050405020304" pitchFamily="18" charset="0"/>
                <a:ea typeface="Times New Roman" panose="02020603050405020304" pitchFamily="18" charset="0"/>
              </a:rPr>
              <a:t>computer-human-interaction, </a:t>
            </a:r>
            <a:r>
              <a:rPr lang="en-US" sz="3200" b="1" dirty="0">
                <a:solidFill>
                  <a:srgbClr val="FF0000"/>
                </a:solidFill>
                <a:latin typeface="Times New Roman" panose="02020603050405020304" pitchFamily="18" charset="0"/>
                <a:ea typeface="Times New Roman" panose="02020603050405020304" pitchFamily="18" charset="0"/>
              </a:rPr>
              <a:t>user experience, </a:t>
            </a:r>
            <a:r>
              <a:rPr lang="en-US" sz="3200" dirty="0">
                <a:latin typeface="Times New Roman" panose="02020603050405020304" pitchFamily="18" charset="0"/>
                <a:ea typeface="Times New Roman" panose="02020603050405020304" pitchFamily="18" charset="0"/>
              </a:rPr>
              <a:t>etc</a:t>
            </a:r>
            <a:r>
              <a:rPr lang="en-US" sz="3200" dirty="0" smtClean="0">
                <a:latin typeface="Times New Roman" panose="02020603050405020304" pitchFamily="18" charset="0"/>
                <a:ea typeface="Times New Roman" panose="02020603050405020304" pitchFamily="18" charset="0"/>
              </a:rPr>
              <a:t>.</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71499399"/>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There has been extensive research on wearable</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pervasive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sensors,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which</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record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sense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 in the context of </a:t>
            </a:r>
            <a:r>
              <a:rPr lang="en-US" sz="3200" b="1" dirty="0">
                <a:latin typeface="Times New Roman" panose="02020603050405020304" pitchFamily="18" charset="0"/>
                <a:ea typeface="Times New Roman" panose="02020603050405020304" pitchFamily="18" charset="0"/>
              </a:rPr>
              <a:t>human activities;</a:t>
            </a:r>
            <a:r>
              <a:rPr lang="en-US" sz="3200" dirty="0">
                <a:latin typeface="Times New Roman" panose="02020603050405020304" pitchFamily="18" charset="0"/>
                <a:ea typeface="Times New Roman" panose="02020603050405020304" pitchFamily="18" charset="0"/>
              </a:rPr>
              <a:t> ranging from physical </a:t>
            </a:r>
            <a:r>
              <a:rPr lang="en-US" sz="3200" spc="-20" dirty="0">
                <a:latin typeface="Times New Roman" panose="02020603050405020304" pitchFamily="18" charset="0"/>
                <a:ea typeface="Times New Roman" panose="02020603050405020304" pitchFamily="18" charset="0"/>
              </a:rPr>
              <a:t>activities</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(running,</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sleeping,</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walking,</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etc.),</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such</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as</a:t>
            </a:r>
            <a:r>
              <a:rPr lang="en-US" sz="3200" spc="-45" dirty="0">
                <a:latin typeface="Times New Roman" panose="02020603050405020304" pitchFamily="18" charset="0"/>
                <a:ea typeface="Times New Roman" panose="02020603050405020304" pitchFamily="18" charset="0"/>
              </a:rPr>
              <a:t> </a:t>
            </a:r>
            <a:r>
              <a:rPr lang="en-US" sz="3200" b="1" spc="-20" dirty="0">
                <a:latin typeface="Times New Roman" panose="02020603050405020304" pitchFamily="18" charset="0"/>
                <a:ea typeface="Times New Roman" panose="02020603050405020304" pitchFamily="18" charset="0"/>
              </a:rPr>
              <a:t>monitoring </a:t>
            </a:r>
            <a:r>
              <a:rPr lang="en-US" sz="3200" b="1" dirty="0">
                <a:latin typeface="Times New Roman" panose="02020603050405020304" pitchFamily="18" charset="0"/>
                <a:ea typeface="Times New Roman" panose="02020603050405020304" pitchFamily="18" charset="0"/>
              </a:rPr>
              <a:t>gym</a:t>
            </a:r>
            <a:r>
              <a:rPr lang="en-US" sz="3200" b="1" spc="-5" dirty="0">
                <a:latin typeface="Times New Roman" panose="02020603050405020304" pitchFamily="18" charset="0"/>
                <a:ea typeface="Times New Roman" panose="02020603050405020304" pitchFamily="18" charset="0"/>
              </a:rPr>
              <a:t> </a:t>
            </a:r>
            <a:r>
              <a:rPr lang="en-US" sz="3200" b="1" dirty="0" smtClean="0">
                <a:latin typeface="Times New Roman" panose="02020603050405020304" pitchFamily="18" charset="0"/>
                <a:ea typeface="Times New Roman" panose="02020603050405020304" pitchFamily="18" charset="0"/>
              </a:rPr>
              <a:t>exercises</a:t>
            </a:r>
            <a:r>
              <a:rPr lang="en-US" sz="3200" dirty="0" smtClean="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analyzing gait </a:t>
            </a:r>
            <a:r>
              <a:rPr lang="en-US" sz="3200" b="1" dirty="0" smtClean="0">
                <a:latin typeface="Times New Roman" panose="02020603050405020304" pitchFamily="18" charset="0"/>
                <a:ea typeface="Times New Roman" panose="02020603050405020304" pitchFamily="18" charset="0"/>
              </a:rPr>
              <a:t>patterns, </a:t>
            </a:r>
            <a:r>
              <a:rPr lang="en-US" sz="3200" b="1" dirty="0">
                <a:latin typeface="Times New Roman" panose="02020603050405020304" pitchFamily="18" charset="0"/>
                <a:ea typeface="Times New Roman" panose="02020603050405020304" pitchFamily="18" charset="0"/>
              </a:rPr>
              <a:t>to biological </a:t>
            </a:r>
            <a:r>
              <a:rPr lang="en-US" sz="3200" b="1" spc="-10" dirty="0">
                <a:latin typeface="Times New Roman" panose="02020603050405020304" pitchFamily="18" charset="0"/>
                <a:ea typeface="Times New Roman" panose="02020603050405020304" pitchFamily="18" charset="0"/>
              </a:rPr>
              <a:t>activities</a:t>
            </a:r>
            <a:r>
              <a:rPr lang="en-US" sz="3200" spc="-10" dirty="0">
                <a:latin typeface="Times New Roman" panose="02020603050405020304" pitchFamily="18" charset="0"/>
                <a:ea typeface="Times New Roman" panose="02020603050405020304" pitchFamily="18" charset="0"/>
              </a:rPr>
              <a:t> (breathing, eating,</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etc.),</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such</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as</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breathing</a:t>
            </a:r>
            <a:r>
              <a:rPr lang="en-US" sz="3200" spc="-30" dirty="0">
                <a:latin typeface="Times New Roman" panose="02020603050405020304" pitchFamily="18" charset="0"/>
                <a:ea typeface="Times New Roman" panose="02020603050405020304" pitchFamily="18" charset="0"/>
              </a:rPr>
              <a:t> </a:t>
            </a:r>
            <a:r>
              <a:rPr lang="en-US" sz="3200" spc="-10" dirty="0" smtClean="0">
                <a:latin typeface="Times New Roman" panose="02020603050405020304" pitchFamily="18" charset="0"/>
                <a:ea typeface="Times New Roman" panose="02020603050405020304" pitchFamily="18" charset="0"/>
              </a:rPr>
              <a:t>detection</a:t>
            </a:r>
            <a:r>
              <a:rPr lang="en-US" sz="3200" dirty="0" smtClean="0">
                <a:latin typeface="Times New Roman" panose="02020603050405020304" pitchFamily="18" charset="0"/>
                <a:ea typeface="Times New Roman" panose="02020603050405020304" pitchFamily="18" charset="0"/>
              </a:rPr>
              <a:t>, eating </a:t>
            </a:r>
            <a:r>
              <a:rPr lang="en-US" sz="3200" dirty="0">
                <a:latin typeface="Times New Roman" panose="02020603050405020304" pitchFamily="18" charset="0"/>
                <a:ea typeface="Times New Roman" panose="02020603050405020304" pitchFamily="18" charset="0"/>
              </a:rPr>
              <a:t>and drinking arm gesture </a:t>
            </a:r>
            <a:r>
              <a:rPr lang="en-US" sz="3200" dirty="0" smtClean="0">
                <a:latin typeface="Times New Roman" panose="02020603050405020304" pitchFamily="18" charset="0"/>
                <a:ea typeface="Times New Roman" panose="02020603050405020304" pitchFamily="18" charset="0"/>
              </a:rPr>
              <a:t>detection.</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The </a:t>
            </a:r>
            <a:r>
              <a:rPr lang="en-US" sz="3200" spc="-10" dirty="0">
                <a:latin typeface="Times New Roman" panose="02020603050405020304" pitchFamily="18" charset="0"/>
                <a:ea typeface="Times New Roman" panose="02020603050405020304" pitchFamily="18" charset="0"/>
              </a:rPr>
              <a:t>task</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extracting</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useful</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information</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from</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raw</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sensor</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data </a:t>
            </a:r>
            <a:r>
              <a:rPr lang="en-US" sz="3200" dirty="0">
                <a:latin typeface="Times New Roman" panose="02020603050405020304" pitchFamily="18" charset="0"/>
                <a:ea typeface="Times New Roman" panose="02020603050405020304" pitchFamily="18" charset="0"/>
              </a:rPr>
              <a:t>has</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been</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performed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using</a:t>
            </a:r>
            <a:r>
              <a:rPr lang="en-US" sz="3200" spc="-65" dirty="0">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various</a:t>
            </a:r>
            <a:r>
              <a:rPr lang="en-US" sz="3200" b="1" spc="-65" dirty="0">
                <a:solidFill>
                  <a:srgbClr val="FF0000"/>
                </a:solidFill>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machine</a:t>
            </a:r>
            <a:r>
              <a:rPr lang="en-US" sz="3200" b="1" spc="-65" dirty="0">
                <a:solidFill>
                  <a:srgbClr val="FF0000"/>
                </a:solidFill>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learning</a:t>
            </a:r>
            <a:r>
              <a:rPr lang="en-US" sz="3200" b="1" spc="-65" dirty="0">
                <a:solidFill>
                  <a:srgbClr val="FF0000"/>
                </a:solidFill>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and</a:t>
            </a:r>
            <a:r>
              <a:rPr lang="en-US" sz="3200" b="1" spc="-65" dirty="0">
                <a:solidFill>
                  <a:srgbClr val="FF0000"/>
                </a:solidFill>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data mining</a:t>
            </a:r>
            <a:r>
              <a:rPr lang="en-US" sz="3200" b="1" spc="-20" dirty="0">
                <a:solidFill>
                  <a:srgbClr val="FF0000"/>
                </a:solidFill>
                <a:latin typeface="Times New Roman" panose="02020603050405020304" pitchFamily="18" charset="0"/>
                <a:ea typeface="Times New Roman" panose="02020603050405020304" pitchFamily="18" charset="0"/>
              </a:rPr>
              <a:t> </a:t>
            </a:r>
            <a:r>
              <a:rPr lang="en-US" sz="3200" b="1" dirty="0" smtClean="0">
                <a:solidFill>
                  <a:srgbClr val="FF0000"/>
                </a:solidFill>
                <a:latin typeface="Times New Roman" panose="02020603050405020304" pitchFamily="18" charset="0"/>
                <a:ea typeface="Times New Roman" panose="02020603050405020304" pitchFamily="18" charset="0"/>
              </a:rPr>
              <a:t>techniques</a:t>
            </a:r>
            <a:r>
              <a:rPr lang="en-US" sz="3200" dirty="0" smtClean="0">
                <a:latin typeface="Times New Roman" panose="02020603050405020304" pitchFamily="18" charset="0"/>
                <a:ea typeface="Times New Roman" panose="02020603050405020304" pitchFamily="18" charset="0"/>
              </a:rPr>
              <a:t>.</a:t>
            </a:r>
          </a:p>
        </p:txBody>
      </p:sp>
    </p:spTree>
    <p:extLst>
      <p:ext uri="{BB962C8B-B14F-4D97-AF65-F5344CB8AC3E}">
        <p14:creationId xmlns:p14="http://schemas.microsoft.com/office/powerpoint/2010/main" val="3654861844"/>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4524315"/>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Usually, when</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raw</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sensor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concerned,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feature</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extraction is</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done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using</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statistical</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methods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involving</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calculation</a:t>
            </a:r>
            <a:r>
              <a:rPr lang="en-US" sz="3200" spc="-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 </a:t>
            </a:r>
            <a:r>
              <a:rPr lang="en-US" sz="3200" spc="-20" dirty="0">
                <a:latin typeface="Times New Roman" panose="02020603050405020304" pitchFamily="18" charset="0"/>
                <a:ea typeface="Times New Roman" panose="02020603050405020304" pitchFamily="18" charset="0"/>
              </a:rPr>
              <a:t>the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mean,</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standard</a:t>
            </a:r>
            <a:r>
              <a:rPr lang="en-US" sz="3200" spc="-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deviation,</a:t>
            </a:r>
            <a:r>
              <a:rPr lang="en-US" sz="3200" spc="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maximum</a:t>
            </a:r>
            <a:r>
              <a:rPr lang="en-US" sz="3200" spc="-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and</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minimum</a:t>
            </a:r>
            <a:r>
              <a:rPr lang="en-US" sz="3200" spc="1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values</a:t>
            </a:r>
            <a:r>
              <a:rPr lang="en-US" sz="3200" spc="-2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spc="-20" dirty="0">
                <a:latin typeface="Times New Roman" panose="02020603050405020304" pitchFamily="18" charset="0"/>
                <a:ea typeface="Times New Roman" panose="02020603050405020304" pitchFamily="18" charset="0"/>
              </a:rPr>
              <a:t>These features</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have</a:t>
            </a:r>
            <a:r>
              <a:rPr lang="en-US" sz="3200" spc="-2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proven to</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be</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quite</a:t>
            </a:r>
            <a:r>
              <a:rPr lang="en-US" sz="3200" spc="-3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reliable in tasks</a:t>
            </a:r>
            <a:r>
              <a:rPr lang="en-US" sz="3200" spc="-2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related </a:t>
            </a:r>
            <a:r>
              <a:rPr lang="en-US" sz="3200" dirty="0">
                <a:latin typeface="Times New Roman" panose="02020603050405020304" pitchFamily="18" charset="0"/>
                <a:ea typeface="Times New Roman" panose="02020603050405020304" pitchFamily="18" charset="0"/>
              </a:rPr>
              <a:t>to</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classification,</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recognition</a:t>
            </a:r>
            <a:r>
              <a:rPr lang="en-US" sz="3200" spc="7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 </a:t>
            </a:r>
            <a:r>
              <a:rPr lang="en-US" sz="3200" dirty="0" smtClean="0">
                <a:latin typeface="Times New Roman" panose="02020603050405020304" pitchFamily="18" charset="0"/>
                <a:ea typeface="Times New Roman" panose="02020603050405020304" pitchFamily="18" charset="0"/>
              </a:rPr>
              <a:t>segmentation</a:t>
            </a:r>
            <a:r>
              <a:rPr lang="en-US" sz="3200" spc="6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b="1" dirty="0">
                <a:latin typeface="Times New Roman" panose="02020603050405020304" pitchFamily="18" charset="0"/>
                <a:ea typeface="Times New Roman" panose="02020603050405020304" pitchFamily="18" charset="0"/>
              </a:rPr>
              <a:t>Deep </a:t>
            </a:r>
            <a:r>
              <a:rPr lang="en-US" sz="3200" b="1" dirty="0" smtClean="0">
                <a:latin typeface="Times New Roman" panose="02020603050405020304" pitchFamily="18" charset="0"/>
                <a:ea typeface="Times New Roman" panose="02020603050405020304" pitchFamily="18" charset="0"/>
              </a:rPr>
              <a:t>learning, </a:t>
            </a:r>
            <a:r>
              <a:rPr lang="en-US" sz="3200" b="1" spc="-20" dirty="0">
                <a:latin typeface="Times New Roman" panose="02020603050405020304" pitchFamily="18" charset="0"/>
                <a:ea typeface="Times New Roman" panose="02020603050405020304" pitchFamily="18" charset="0"/>
              </a:rPr>
              <a:t>Convolutional</a:t>
            </a:r>
            <a:r>
              <a:rPr lang="en-US" sz="3200" b="1" spc="40" dirty="0">
                <a:latin typeface="Times New Roman" panose="02020603050405020304" pitchFamily="18" charset="0"/>
                <a:ea typeface="Times New Roman" panose="02020603050405020304" pitchFamily="18" charset="0"/>
              </a:rPr>
              <a:t> </a:t>
            </a:r>
            <a:r>
              <a:rPr lang="en-US" sz="3200" b="1" spc="-20" dirty="0">
                <a:latin typeface="Times New Roman" panose="02020603050405020304" pitchFamily="18" charset="0"/>
                <a:ea typeface="Times New Roman" panose="02020603050405020304" pitchFamily="18" charset="0"/>
              </a:rPr>
              <a:t>neural networks </a:t>
            </a:r>
            <a:r>
              <a:rPr lang="en-US" sz="3200" b="1" spc="-20" dirty="0" smtClean="0">
                <a:latin typeface="Times New Roman" panose="02020603050405020304" pitchFamily="18" charset="0"/>
                <a:ea typeface="Times New Roman" panose="02020603050405020304" pitchFamily="18" charset="0"/>
              </a:rPr>
              <a:t>(CNN), </a:t>
            </a:r>
            <a:r>
              <a:rPr lang="en-US" sz="3200" b="1" spc="-10" dirty="0">
                <a:latin typeface="Times New Roman" panose="02020603050405020304" pitchFamily="18" charset="0"/>
                <a:ea typeface="Times New Roman" panose="02020603050405020304" pitchFamily="18" charset="0"/>
              </a:rPr>
              <a:t>Recurrent</a:t>
            </a:r>
            <a:r>
              <a:rPr lang="en-US" sz="3200" b="1" spc="-1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neural</a:t>
            </a:r>
            <a:r>
              <a:rPr lang="en-US" sz="3200" b="1" spc="-4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networks</a:t>
            </a:r>
            <a:r>
              <a:rPr lang="en-US" sz="3200" b="1" spc="-30"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(RNN</a:t>
            </a:r>
            <a:r>
              <a:rPr lang="en-US" sz="3200" b="1" spc="-10" dirty="0" smtClean="0">
                <a:latin typeface="Times New Roman" panose="02020603050405020304" pitchFamily="18" charset="0"/>
                <a:ea typeface="Times New Roman" panose="02020603050405020304" pitchFamily="18" charset="0"/>
              </a:rPr>
              <a:t>) </a:t>
            </a:r>
            <a:r>
              <a:rPr lang="en-US" sz="3200" spc="-10" dirty="0" smtClean="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popular in</a:t>
            </a:r>
            <a:r>
              <a:rPr lang="en-US" sz="3200" spc="-35" dirty="0" smtClean="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achieving</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superhuman accuracy on</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image</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classification </a:t>
            </a:r>
            <a:r>
              <a:rPr lang="en-US" sz="3200" spc="-10" dirty="0" smtClean="0">
                <a:latin typeface="Times New Roman" panose="02020603050405020304" pitchFamily="18" charset="0"/>
                <a:ea typeface="Times New Roman" panose="02020603050405020304" pitchFamily="18" charset="0"/>
              </a:rPr>
              <a:t>tasks.</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98804553"/>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400581"/>
          </a:xfrm>
          <a:prstGeom prst="rect">
            <a:avLst/>
          </a:prstGeom>
        </p:spPr>
        <p:txBody>
          <a:bodyPr wrap="square">
            <a:spAutoFit/>
          </a:bodyPr>
          <a:lstStyle/>
          <a:p>
            <a:pPr marL="577850" marR="163195" indent="-457200" algn="just">
              <a:lnSpc>
                <a:spcPct val="98000"/>
              </a:lnSpc>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Both, CNN and RNN have been used in combination to create systems which are</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capable</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 understanding images, and to provide temporal</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context to</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these</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individual</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images</a:t>
            </a:r>
            <a:r>
              <a:rPr lang="en-US" sz="3200" dirty="0" smtClean="0">
                <a:latin typeface="Times New Roman" panose="02020603050405020304" pitchFamily="18" charset="0"/>
                <a:ea typeface="Times New Roman" panose="02020603050405020304" pitchFamily="18" charset="0"/>
              </a:rPr>
              <a:t>.</a:t>
            </a:r>
          </a:p>
          <a:p>
            <a:pPr marL="577850" marR="163195" indent="-457200" algn="just">
              <a:lnSpc>
                <a:spcPct val="98000"/>
              </a:lnSpc>
              <a:buFont typeface="Arial" panose="020B0604020202020204" pitchFamily="34" charset="0"/>
              <a:buChar char="•"/>
            </a:pPr>
            <a:r>
              <a:rPr lang="en-US" sz="3200" b="1" dirty="0" smtClean="0">
                <a:solidFill>
                  <a:srgbClr val="FF0000"/>
                </a:solidFill>
                <a:latin typeface="Times New Roman" panose="02020603050405020304" pitchFamily="18" charset="0"/>
                <a:ea typeface="Times New Roman" panose="02020603050405020304" pitchFamily="18" charset="0"/>
              </a:rPr>
              <a:t>Limitations: </a:t>
            </a:r>
            <a:r>
              <a:rPr lang="en-US" sz="3200" spc="-30" dirty="0">
                <a:latin typeface="Times New Roman" panose="02020603050405020304" pitchFamily="18" charset="0"/>
                <a:ea typeface="Times New Roman" panose="02020603050405020304" pitchFamily="18" charset="0"/>
              </a:rPr>
              <a:t>requirement </a:t>
            </a:r>
            <a:r>
              <a:rPr lang="en-US" sz="3200" dirty="0">
                <a:latin typeface="Times New Roman" panose="02020603050405020304" pitchFamily="18" charset="0"/>
                <a:ea typeface="Times New Roman" panose="02020603050405020304" pitchFamily="18" charset="0"/>
              </a:rPr>
              <a:t>of</a:t>
            </a:r>
            <a:r>
              <a:rPr lang="en-US" sz="3200" spc="1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large</a:t>
            </a:r>
            <a:r>
              <a:rPr lang="en-US" sz="3200" spc="1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amounts</a:t>
            </a:r>
            <a:r>
              <a:rPr lang="en-US" sz="3200" spc="1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a:t>
            </a:r>
            <a:r>
              <a:rPr lang="en-US" sz="3200" spc="1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labeled</a:t>
            </a:r>
            <a:r>
              <a:rPr lang="en-US" sz="3200" spc="1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a:t>
            </a:r>
            <a:r>
              <a:rPr lang="en-US" sz="3200" spc="1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to facilitate</a:t>
            </a:r>
            <a:r>
              <a:rPr lang="en-US" sz="3200" spc="1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 training of these very deep </a:t>
            </a:r>
            <a:r>
              <a:rPr lang="en-US" sz="3200" dirty="0" smtClean="0">
                <a:latin typeface="Times New Roman" panose="02020603050405020304" pitchFamily="18" charset="0"/>
                <a:ea typeface="Times New Roman" panose="02020603050405020304" pitchFamily="18" charset="0"/>
              </a:rPr>
              <a:t>networks.</a:t>
            </a:r>
          </a:p>
          <a:p>
            <a:pPr marL="577850" marR="163195" indent="-457200" algn="just">
              <a:lnSpc>
                <a:spcPct val="98000"/>
              </a:lnSpc>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While </a:t>
            </a:r>
            <a:r>
              <a:rPr lang="en-US" sz="3200" dirty="0">
                <a:latin typeface="Times New Roman" panose="02020603050405020304" pitchFamily="18" charset="0"/>
                <a:ea typeface="Times New Roman" panose="02020603050405020304" pitchFamily="18" charset="0"/>
              </a:rPr>
              <a:t>the computer vision </a:t>
            </a:r>
            <a:r>
              <a:rPr lang="en-US" sz="3200" spc="-10" dirty="0">
                <a:latin typeface="Times New Roman" panose="02020603050405020304" pitchFamily="18" charset="0"/>
                <a:ea typeface="Times New Roman" panose="02020603050405020304" pitchFamily="18" charset="0"/>
              </a:rPr>
              <a:t>community</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has</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facilitated</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this</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requirement</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with</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large</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labeled </a:t>
            </a:r>
            <a:r>
              <a:rPr lang="en-US" sz="3200" dirty="0">
                <a:latin typeface="Times New Roman" panose="02020603050405020304" pitchFamily="18" charset="0"/>
                <a:ea typeface="Times New Roman" panose="02020603050405020304" pitchFamily="18" charset="0"/>
              </a:rPr>
              <a:t>datasets, such as, the ImageNet </a:t>
            </a:r>
            <a:r>
              <a:rPr lang="en-US" sz="3200" dirty="0" smtClean="0">
                <a:latin typeface="Times New Roman" panose="02020603050405020304" pitchFamily="18" charset="0"/>
                <a:ea typeface="Times New Roman" panose="02020603050405020304" pitchFamily="18" charset="0"/>
              </a:rPr>
              <a:t>and MS-COCO </a:t>
            </a:r>
            <a:r>
              <a:rPr lang="en-US" sz="3200" dirty="0">
                <a:latin typeface="Times New Roman" panose="02020603050405020304" pitchFamily="18" charset="0"/>
                <a:ea typeface="Times New Roman" panose="02020603050405020304" pitchFamily="18" charset="0"/>
              </a:rPr>
              <a:t>datasets for</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object</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recognition, classification,</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detection and captioning;</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for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various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other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tasks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not</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many</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labeled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datasets </a:t>
            </a:r>
            <a:r>
              <a:rPr lang="en-US" sz="3200" spc="-10" dirty="0">
                <a:latin typeface="Times New Roman" panose="02020603050405020304" pitchFamily="18" charset="0"/>
                <a:ea typeface="Times New Roman" panose="02020603050405020304" pitchFamily="18" charset="0"/>
              </a:rPr>
              <a:t>exist.</a:t>
            </a:r>
            <a:endParaRPr lang="en-US" sz="3200" dirty="0">
              <a:latin typeface="Times New Roman" panose="02020603050405020304" pitchFamily="18" charset="0"/>
              <a:ea typeface="Times New Roman" panose="02020603050405020304" pitchFamily="18" charset="0"/>
            </a:endParaRPr>
          </a:p>
          <a:p>
            <a:pPr marL="577850" marR="163195" indent="-457200" algn="just">
              <a:lnSpc>
                <a:spcPct val="98000"/>
              </a:lnSpc>
              <a:buFont typeface="Arial" panose="020B0604020202020204" pitchFamily="34" charset="0"/>
              <a:buChar char="•"/>
            </a:pPr>
            <a:endParaRPr lang="en-US" sz="3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14284513"/>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spc="-20" dirty="0" smtClean="0">
                <a:latin typeface="Times New Roman" panose="02020603050405020304" pitchFamily="18" charset="0"/>
                <a:ea typeface="Times New Roman" panose="02020603050405020304" pitchFamily="18" charset="0"/>
              </a:rPr>
              <a:t>The</a:t>
            </a:r>
            <a:r>
              <a:rPr lang="en-US" sz="3200" spc="-50" dirty="0" smtClean="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above-mentioned </a:t>
            </a:r>
            <a:r>
              <a:rPr lang="en-US" sz="3200" dirty="0">
                <a:latin typeface="Times New Roman" panose="02020603050405020304" pitchFamily="18" charset="0"/>
                <a:ea typeface="Times New Roman" panose="02020603050405020304" pitchFamily="18" charset="0"/>
              </a:rPr>
              <a:t>limitation</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can</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bypassed</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by</a:t>
            </a:r>
            <a:r>
              <a:rPr lang="en-US" sz="3200" spc="-5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performing</a:t>
            </a:r>
            <a:r>
              <a:rPr lang="en-US" sz="3200" spc="-40" dirty="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transfer</a:t>
            </a:r>
            <a:r>
              <a:rPr lang="en-US" sz="3200" b="1" spc="-55" dirty="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learning,</a:t>
            </a:r>
            <a:r>
              <a:rPr lang="en-US" sz="3200" dirty="0">
                <a:latin typeface="Times New Roman" panose="02020603050405020304" pitchFamily="18" charset="0"/>
                <a:ea typeface="Times New Roman" panose="02020603050405020304" pitchFamily="18" charset="0"/>
              </a:rPr>
              <a:t> i.e., using labeled data from one domain and transferring</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learned knowledge</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to</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target</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domain.</a:t>
            </a:r>
            <a:r>
              <a:rPr lang="en-US" sz="3200" spc="-25" dirty="0">
                <a:latin typeface="Times New Roman" panose="02020603050405020304" pitchFamily="18" charset="0"/>
                <a:ea typeface="Times New Roman" panose="02020603050405020304" pitchFamily="18" charset="0"/>
              </a:rPr>
              <a:t> </a:t>
            </a:r>
            <a:r>
              <a:rPr lang="en-IN" sz="3200" dirty="0" smtClean="0">
                <a:ea typeface="Calibri" panose="020F0502020204030204" pitchFamily="34" charset="0"/>
                <a:cs typeface="Calibri" panose="020F0502020204030204" pitchFamily="34" charset="0"/>
              </a:rPr>
              <a:t> </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Transfer</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learning involves using the knowledge acquired on a specific task, and</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adapting this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knowledge to</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different, but related </a:t>
            </a:r>
            <a:r>
              <a:rPr lang="en-US" sz="3200" dirty="0" smtClean="0">
                <a:latin typeface="Times New Roman" panose="02020603050405020304" pitchFamily="18" charset="0"/>
                <a:ea typeface="Times New Roman" panose="02020603050405020304" pitchFamily="18" charset="0"/>
              </a:rPr>
              <a:t>task.</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A</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common</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scenario</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for </a:t>
            </a:r>
            <a:r>
              <a:rPr lang="en-US" sz="3200" spc="-30" dirty="0">
                <a:latin typeface="Times New Roman" panose="02020603050405020304" pitchFamily="18" charset="0"/>
                <a:ea typeface="Times New Roman" panose="02020603050405020304" pitchFamily="18" charset="0"/>
              </a:rPr>
              <a:t>transfer</a:t>
            </a:r>
            <a:r>
              <a:rPr lang="en-US" sz="3200" spc="-35"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learning involves using a</a:t>
            </a:r>
            <a:r>
              <a:rPr lang="en-US" sz="3200" spc="-4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convolutional</a:t>
            </a:r>
            <a:r>
              <a:rPr lang="en-US" sz="3200" spc="8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neural</a:t>
            </a:r>
            <a:r>
              <a:rPr lang="en-US" sz="320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network </a:t>
            </a:r>
            <a:r>
              <a:rPr lang="en-US" sz="3200" dirty="0">
                <a:latin typeface="Times New Roman" panose="02020603050405020304" pitchFamily="18" charset="0"/>
                <a:ea typeface="Times New Roman" panose="02020603050405020304" pitchFamily="18" charset="0"/>
              </a:rPr>
              <a:t>trained</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on</a:t>
            </a:r>
            <a:r>
              <a:rPr lang="en-US" sz="3200" spc="15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1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very</a:t>
            </a:r>
            <a:r>
              <a:rPr lang="en-US" sz="3200" spc="1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large</a:t>
            </a:r>
            <a:r>
              <a:rPr lang="en-US" sz="3200" spc="15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dataset,</a:t>
            </a:r>
            <a:r>
              <a:rPr lang="en-US" sz="3200" spc="17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1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then</a:t>
            </a:r>
            <a:r>
              <a:rPr lang="en-US" sz="3200" spc="155"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fine-tuning </a:t>
            </a:r>
            <a:r>
              <a:rPr lang="en-US" sz="3200" dirty="0">
                <a:latin typeface="Times New Roman" panose="02020603050405020304" pitchFamily="18" charset="0"/>
                <a:ea typeface="Times New Roman" panose="02020603050405020304" pitchFamily="18" charset="0"/>
              </a:rPr>
              <a:t>it on the target dataset which is relatively small in size. </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09097774"/>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10</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076133"/>
          </a:xfrm>
          <a:prstGeom prst="rect">
            <a:avLst/>
          </a:prstGeom>
        </p:spPr>
        <p:txBody>
          <a:bodyPr wrap="square">
            <a:spAutoFit/>
          </a:bodyPr>
          <a:lstStyle/>
          <a:p>
            <a:pPr marL="847725" marR="2540" indent="-457200" algn="just">
              <a:lnSpc>
                <a:spcPct val="92000"/>
              </a:lnSpc>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A</a:t>
            </a:r>
            <a:r>
              <a:rPr lang="en-US" sz="3200" spc="1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domain</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is</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said</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to</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be</a:t>
            </a:r>
            <a:r>
              <a:rPr lang="en-US" sz="3200" spc="200" dirty="0">
                <a:latin typeface="Times New Roman" panose="02020603050405020304" pitchFamily="18" charset="0"/>
                <a:ea typeface="Times New Roman" panose="02020603050405020304" pitchFamily="18" charset="0"/>
              </a:rPr>
              <a:t> </a:t>
            </a:r>
            <a:r>
              <a:rPr lang="en-US" sz="3200" b="1" dirty="0" smtClean="0">
                <a:latin typeface="Times New Roman" panose="02020603050405020304" pitchFamily="18" charset="0"/>
                <a:ea typeface="Times New Roman" panose="02020603050405020304" pitchFamily="18" charset="0"/>
              </a:rPr>
              <a:t>easily</a:t>
            </a:r>
            <a:r>
              <a:rPr lang="en-US" sz="3200" b="1" spc="200" dirty="0" smtClean="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visually</a:t>
            </a:r>
            <a:r>
              <a:rPr lang="en-US" sz="3200" b="1" spc="200" dirty="0">
                <a:latin typeface="Times New Roman" panose="02020603050405020304" pitchFamily="18" charset="0"/>
                <a:ea typeface="Times New Roman" panose="02020603050405020304" pitchFamily="18" charset="0"/>
              </a:rPr>
              <a:t> </a:t>
            </a:r>
            <a:r>
              <a:rPr lang="en-US" sz="3200" b="1" dirty="0" smtClean="0">
                <a:latin typeface="Times New Roman" panose="02020603050405020304" pitchFamily="18" charset="0"/>
                <a:ea typeface="Times New Roman" panose="02020603050405020304" pitchFamily="18" charset="0"/>
              </a:rPr>
              <a:t>interpretable</a:t>
            </a:r>
            <a:r>
              <a:rPr lang="en-US" sz="3200" b="1" spc="140"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if by</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looking</a:t>
            </a:r>
            <a:r>
              <a:rPr lang="en-US" sz="3200" spc="-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at</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its</a:t>
            </a:r>
            <a:r>
              <a:rPr lang="en-US" sz="3200" spc="-55"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visual</a:t>
            </a:r>
            <a:r>
              <a:rPr lang="en-US" sz="3200" spc="-30"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representation,</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human</a:t>
            </a:r>
            <a:r>
              <a:rPr lang="en-US" sz="3200" spc="-5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can</a:t>
            </a:r>
            <a:r>
              <a:rPr lang="en-US" sz="3200" spc="-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extract </a:t>
            </a:r>
            <a:r>
              <a:rPr lang="en-US" sz="3200" spc="-10" dirty="0">
                <a:latin typeface="Times New Roman" panose="02020603050405020304" pitchFamily="18" charset="0"/>
                <a:ea typeface="Times New Roman" panose="02020603050405020304" pitchFamily="18" charset="0"/>
              </a:rPr>
              <a:t>relevant</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information</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and</a:t>
            </a:r>
            <a:r>
              <a:rPr lang="en-US" sz="3200" spc="35" dirty="0">
                <a:latin typeface="Times New Roman" panose="02020603050405020304" pitchFamily="18" charset="0"/>
                <a:ea typeface="Times New Roman" panose="02020603050405020304" pitchFamily="18" charset="0"/>
              </a:rPr>
              <a:t> </a:t>
            </a:r>
            <a:r>
              <a:rPr lang="en-US" sz="3200" spc="-10" dirty="0" smtClean="0">
                <a:latin typeface="Times New Roman" panose="02020603050405020304" pitchFamily="18" charset="0"/>
                <a:ea typeface="Times New Roman" panose="02020603050405020304" pitchFamily="18" charset="0"/>
              </a:rPr>
              <a:t>sense</a:t>
            </a:r>
            <a:r>
              <a:rPr lang="en-US" sz="3200" spc="20" dirty="0" smtClean="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 meaning</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it</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conveys</a:t>
            </a:r>
            <a:r>
              <a:rPr lang="en-US" sz="3200" spc="-10" dirty="0" smtClean="0">
                <a:latin typeface="Times New Roman" panose="02020603050405020304" pitchFamily="18" charset="0"/>
                <a:ea typeface="Times New Roman" panose="02020603050405020304" pitchFamily="18" charset="0"/>
              </a:rPr>
              <a:t>.</a:t>
            </a:r>
          </a:p>
          <a:p>
            <a:pPr marL="847725" marR="2540" indent="-457200" algn="just">
              <a:lnSpc>
                <a:spcPct val="92000"/>
              </a:lnSpc>
              <a:buFont typeface="Arial" panose="020B0604020202020204" pitchFamily="34" charset="0"/>
              <a:buChar char="•"/>
            </a:pPr>
            <a:r>
              <a:rPr lang="en-US" sz="3200" spc="-20" dirty="0">
                <a:latin typeface="Times New Roman" panose="02020603050405020304" pitchFamily="18" charset="0"/>
                <a:ea typeface="Times New Roman" panose="02020603050405020304" pitchFamily="18" charset="0"/>
              </a:rPr>
              <a:t>For</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example,</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images</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of</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everyday</a:t>
            </a:r>
            <a:r>
              <a:rPr lang="en-US" sz="3200" spc="-1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objects such</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as</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automobiles, </a:t>
            </a:r>
            <a:r>
              <a:rPr lang="en-US" sz="3200" dirty="0">
                <a:latin typeface="Times New Roman" panose="02020603050405020304" pitchFamily="18" charset="0"/>
                <a:ea typeface="Times New Roman" panose="02020603050405020304" pitchFamily="18" charset="0"/>
              </a:rPr>
              <a:t>animals, landscapes; documents, X-ray, and MRI</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scan</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 all belong to the category of easily visually interpretable images</a:t>
            </a:r>
            <a:r>
              <a:rPr lang="en-US" sz="3200" dirty="0" smtClean="0">
                <a:latin typeface="Times New Roman" panose="02020603050405020304" pitchFamily="18" charset="0"/>
                <a:ea typeface="Times New Roman" panose="02020603050405020304" pitchFamily="18" charset="0"/>
              </a:rPr>
              <a:t>.</a:t>
            </a:r>
          </a:p>
          <a:p>
            <a:pPr marL="847725" marR="2540" indent="-457200" algn="just">
              <a:lnSpc>
                <a:spcPct val="92000"/>
              </a:lnSpc>
              <a:buFont typeface="Arial" panose="020B0604020202020204" pitchFamily="34" charset="0"/>
              <a:buChar char="•"/>
            </a:pPr>
            <a:r>
              <a:rPr lang="en-US" sz="3200" b="1" dirty="0" smtClean="0">
                <a:latin typeface="Times New Roman" panose="02020603050405020304" pitchFamily="18" charset="0"/>
                <a:ea typeface="Times New Roman" panose="02020603050405020304" pitchFamily="18" charset="0"/>
              </a:rPr>
              <a:t>An</a:t>
            </a:r>
            <a:r>
              <a:rPr lang="en-US" sz="3200" b="1" spc="-40" dirty="0" smtClean="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average</a:t>
            </a:r>
            <a:r>
              <a:rPr lang="en-US" sz="3200" b="1" spc="-30" dirty="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human </a:t>
            </a:r>
            <a:r>
              <a:rPr lang="en-US" sz="3200" b="1" spc="-10" dirty="0">
                <a:latin typeface="Times New Roman" panose="02020603050405020304" pitchFamily="18" charset="0"/>
                <a:ea typeface="Times New Roman" panose="02020603050405020304" pitchFamily="18" charset="0"/>
              </a:rPr>
              <a:t>can</a:t>
            </a:r>
            <a:r>
              <a:rPr lang="en-US" sz="3200" b="1" spc="-30"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easily</a:t>
            </a:r>
            <a:r>
              <a:rPr lang="en-US" sz="3200" b="1" spc="-1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learn</a:t>
            </a:r>
            <a:r>
              <a:rPr lang="en-US" sz="3200" b="1" spc="-1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to</a:t>
            </a:r>
            <a:r>
              <a:rPr lang="en-US" sz="3200" b="1" spc="-5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distinguish between different</a:t>
            </a:r>
            <a:r>
              <a:rPr lang="en-US" sz="3200" b="1" spc="-1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classes</a:t>
            </a:r>
            <a:r>
              <a:rPr lang="en-US" sz="3200" spc="-10" dirty="0">
                <a:latin typeface="Times New Roman" panose="02020603050405020304" pitchFamily="18" charset="0"/>
                <a:ea typeface="Times New Roman" panose="02020603050405020304" pitchFamily="18" charset="0"/>
              </a:rPr>
              <a:t>,</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e.g., </a:t>
            </a:r>
            <a:r>
              <a:rPr lang="en-US" sz="3200" spc="-20" dirty="0">
                <a:latin typeface="Times New Roman" panose="02020603050405020304" pitchFamily="18" charset="0"/>
                <a:ea typeface="Times New Roman" panose="02020603050405020304" pitchFamily="18" charset="0"/>
              </a:rPr>
              <a:t>several</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sub-species of </a:t>
            </a:r>
            <a:r>
              <a:rPr lang="en-US" sz="3200" spc="-20" dirty="0" smtClean="0">
                <a:latin typeface="Times New Roman" panose="02020603050405020304" pitchFamily="18" charset="0"/>
                <a:ea typeface="Times New Roman" panose="02020603050405020304" pitchFamily="18" charset="0"/>
              </a:rPr>
              <a:t>animals,</a:t>
            </a:r>
            <a:r>
              <a:rPr lang="en-US" sz="3200" spc="-20" dirty="0">
                <a:latin typeface="Times New Roman" panose="02020603050405020304" pitchFamily="18" charset="0"/>
                <a:ea typeface="Times New Roman" panose="02020603050405020304" pitchFamily="18" charset="0"/>
              </a:rPr>
              <a:t> or</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several models </a:t>
            </a:r>
            <a:r>
              <a:rPr lang="en-US" sz="3200" dirty="0">
                <a:latin typeface="Times New Roman" panose="02020603050405020304" pitchFamily="18" charset="0"/>
                <a:ea typeface="Times New Roman" panose="02020603050405020304" pitchFamily="18" charset="0"/>
              </a:rPr>
              <a:t>of </a:t>
            </a:r>
            <a:r>
              <a:rPr lang="en-US" sz="3200" dirty="0" smtClean="0">
                <a:latin typeface="Times New Roman" panose="02020603050405020304" pitchFamily="18" charset="0"/>
                <a:ea typeface="Times New Roman" panose="02020603050405020304" pitchFamily="18" charset="0"/>
              </a:rPr>
              <a:t>automobiles.</a:t>
            </a:r>
          </a:p>
          <a:p>
            <a:pPr marL="847725" marR="2540" indent="-457200" algn="just">
              <a:lnSpc>
                <a:spcPct val="92000"/>
              </a:lnSpc>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Doctors</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or</a:t>
            </a:r>
            <a:r>
              <a:rPr lang="en-US" sz="3200" spc="-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radiologists analyze and</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interpret MRI</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or</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X-ray data</a:t>
            </a:r>
            <a:r>
              <a:rPr lang="en-US" sz="3200" spc="-1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to</a:t>
            </a:r>
            <a:r>
              <a:rPr lang="en-US" sz="3200" spc="-25"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detect </a:t>
            </a:r>
            <a:r>
              <a:rPr lang="en-US" sz="3200" spc="-10" dirty="0">
                <a:latin typeface="Times New Roman" panose="02020603050405020304" pitchFamily="18" charset="0"/>
                <a:ea typeface="Times New Roman" panose="02020603050405020304" pitchFamily="18" charset="0"/>
              </a:rPr>
              <a:t>irregularities</a:t>
            </a:r>
            <a:r>
              <a:rPr lang="en-US" sz="3200" spc="10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a:t>
            </a:r>
            <a:r>
              <a:rPr lang="en-US" sz="3200" spc="1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healthy</a:t>
            </a:r>
            <a:r>
              <a:rPr lang="en-US" sz="3200" spc="1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organs.</a:t>
            </a:r>
            <a:r>
              <a:rPr lang="en-US" sz="3200" spc="165" dirty="0">
                <a:latin typeface="Times New Roman" panose="02020603050405020304" pitchFamily="18" charset="0"/>
                <a:ea typeface="Times New Roman" panose="02020603050405020304" pitchFamily="18" charset="0"/>
              </a:rPr>
              <a:t> </a:t>
            </a:r>
            <a:r>
              <a:rPr lang="en-US" sz="3200" spc="-20" dirty="0" smtClean="0">
                <a:latin typeface="Times New Roman" panose="02020603050405020304" pitchFamily="18" charset="0"/>
                <a:ea typeface="Times New Roman" panose="02020603050405020304" pitchFamily="18" charset="0"/>
              </a:rPr>
              <a:t> </a:t>
            </a:r>
            <a:endParaRPr lang="en-US" sz="36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552042564"/>
      </p:ext>
    </p:extLst>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11</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170646"/>
          </a:xfrm>
          <a:prstGeom prst="rect">
            <a:avLst/>
          </a:prstGeom>
        </p:spPr>
        <p:txBody>
          <a:bodyPr wrap="square">
            <a:spAutoFit/>
          </a:bodyPr>
          <a:lstStyle/>
          <a:p>
            <a:pPr marL="571500" indent="-571500" algn="just">
              <a:buFont typeface="Arial" panose="020B0604020202020204" pitchFamily="34" charset="0"/>
              <a:buChar char="•"/>
            </a:pPr>
            <a:r>
              <a:rPr lang="en-US" sz="3000" spc="-10" dirty="0">
                <a:latin typeface="Times New Roman" panose="02020603050405020304" pitchFamily="18" charset="0"/>
                <a:ea typeface="Times New Roman" panose="02020603050405020304" pitchFamily="18" charset="0"/>
              </a:rPr>
              <a:t>The</a:t>
            </a:r>
            <a:r>
              <a:rPr lang="en-US" sz="3000" spc="14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application</a:t>
            </a:r>
            <a:r>
              <a:rPr lang="en-US" sz="3000" spc="19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of</a:t>
            </a:r>
            <a:r>
              <a:rPr lang="en-US" sz="3000" spc="180" dirty="0">
                <a:latin typeface="Times New Roman" panose="02020603050405020304" pitchFamily="18" charset="0"/>
                <a:ea typeface="Times New Roman" panose="02020603050405020304" pitchFamily="18" charset="0"/>
              </a:rPr>
              <a:t> </a:t>
            </a:r>
            <a:r>
              <a:rPr lang="en-US" sz="3000" spc="-25" dirty="0" smtClean="0">
                <a:latin typeface="Times New Roman" panose="02020603050405020304" pitchFamily="18" charset="0"/>
                <a:ea typeface="Times New Roman" panose="02020603050405020304" pitchFamily="18" charset="0"/>
              </a:rPr>
              <a:t>transfer </a:t>
            </a:r>
            <a:r>
              <a:rPr lang="en-US" sz="3000" dirty="0" smtClean="0">
                <a:latin typeface="Times New Roman" panose="02020603050405020304" pitchFamily="18" charset="0"/>
                <a:ea typeface="Times New Roman" panose="02020603050405020304" pitchFamily="18" charset="0"/>
              </a:rPr>
              <a:t>learning </a:t>
            </a:r>
            <a:r>
              <a:rPr lang="en-US" sz="3000" dirty="0">
                <a:latin typeface="Times New Roman" panose="02020603050405020304" pitchFamily="18" charset="0"/>
                <a:ea typeface="Times New Roman" panose="02020603050405020304" pitchFamily="18" charset="0"/>
              </a:rPr>
              <a:t>on such images is</a:t>
            </a:r>
            <a:r>
              <a:rPr lang="en-US" sz="3000" spc="-3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feasible for mainly </a:t>
            </a:r>
            <a:r>
              <a:rPr lang="en-US" sz="3000" b="1" dirty="0">
                <a:latin typeface="Times New Roman" panose="02020603050405020304" pitchFamily="18" charset="0"/>
                <a:ea typeface="Times New Roman" panose="02020603050405020304" pitchFamily="18" charset="0"/>
              </a:rPr>
              <a:t>two</a:t>
            </a:r>
            <a:r>
              <a:rPr lang="en-US" sz="3000" b="1" spc="-15" dirty="0">
                <a:latin typeface="Times New Roman" panose="02020603050405020304" pitchFamily="18" charset="0"/>
                <a:ea typeface="Times New Roman" panose="02020603050405020304" pitchFamily="18" charset="0"/>
              </a:rPr>
              <a:t> </a:t>
            </a:r>
            <a:r>
              <a:rPr lang="en-US" sz="3000" b="1" dirty="0">
                <a:latin typeface="Times New Roman" panose="02020603050405020304" pitchFamily="18" charset="0"/>
                <a:ea typeface="Times New Roman" panose="02020603050405020304" pitchFamily="18" charset="0"/>
              </a:rPr>
              <a:t>reasons</a:t>
            </a:r>
            <a:r>
              <a:rPr lang="en-US" sz="3000" dirty="0">
                <a:latin typeface="Times New Roman" panose="02020603050405020304" pitchFamily="18" charset="0"/>
                <a:ea typeface="Times New Roman" panose="02020603050405020304" pitchFamily="18" charset="0"/>
              </a:rPr>
              <a:t>. </a:t>
            </a:r>
            <a:r>
              <a:rPr lang="en-US" sz="3000" spc="-25" dirty="0" smtClean="0">
                <a:latin typeface="Times New Roman" panose="02020603050405020304" pitchFamily="18" charset="0"/>
                <a:ea typeface="Times New Roman" panose="02020603050405020304" pitchFamily="18" charset="0"/>
              </a:rPr>
              <a:t>  </a:t>
            </a:r>
          </a:p>
          <a:p>
            <a:pPr marL="514350" indent="106363" algn="just">
              <a:buAutoNum type="arabicPeriod"/>
            </a:pPr>
            <a:r>
              <a:rPr lang="en-US" sz="3000" dirty="0" smtClean="0">
                <a:latin typeface="Times New Roman" panose="02020603050405020304" pitchFamily="18" charset="0"/>
                <a:ea typeface="Times New Roman" panose="02020603050405020304" pitchFamily="18" charset="0"/>
              </a:rPr>
              <a:t> It </a:t>
            </a:r>
            <a:r>
              <a:rPr lang="en-US" sz="3000" dirty="0">
                <a:latin typeface="Times New Roman" panose="02020603050405020304" pitchFamily="18" charset="0"/>
                <a:ea typeface="Times New Roman" panose="02020603050405020304" pitchFamily="18" charset="0"/>
              </a:rPr>
              <a:t>is possible due to their nature of being visually </a:t>
            </a:r>
            <a:r>
              <a:rPr lang="en-US" sz="3000" dirty="0" smtClean="0">
                <a:latin typeface="Times New Roman" panose="02020603050405020304" pitchFamily="18" charset="0"/>
                <a:ea typeface="Times New Roman" panose="02020603050405020304" pitchFamily="18" charset="0"/>
              </a:rPr>
              <a:t>meaningful.</a:t>
            </a:r>
          </a:p>
          <a:p>
            <a:pPr marL="514350" indent="106363" algn="just">
              <a:buAutoNum type="arabicPeriod"/>
            </a:pPr>
            <a:r>
              <a:rPr lang="en-US" sz="3000" dirty="0" smtClean="0">
                <a:latin typeface="Times New Roman" panose="02020603050405020304" pitchFamily="18" charset="0"/>
                <a:ea typeface="Times New Roman" panose="02020603050405020304" pitchFamily="18" charset="0"/>
              </a:rPr>
              <a:t> There </a:t>
            </a:r>
            <a:r>
              <a:rPr lang="en-US" sz="3000" dirty="0">
                <a:latin typeface="Times New Roman" panose="02020603050405020304" pitchFamily="18" charset="0"/>
                <a:ea typeface="Times New Roman" panose="02020603050405020304" pitchFamily="18" charset="0"/>
              </a:rPr>
              <a:t>are large datasets from the </a:t>
            </a:r>
            <a:r>
              <a:rPr lang="en-US" sz="3000" spc="-10" dirty="0">
                <a:latin typeface="Times New Roman" panose="02020603050405020304" pitchFamily="18" charset="0"/>
                <a:ea typeface="Times New Roman" panose="02020603050405020304" pitchFamily="18" charset="0"/>
              </a:rPr>
              <a:t>same</a:t>
            </a:r>
            <a:r>
              <a:rPr lang="en-US" sz="3000" spc="-6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domain</a:t>
            </a:r>
            <a:r>
              <a:rPr lang="en-US" sz="3000" spc="-5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available</a:t>
            </a:r>
            <a:r>
              <a:rPr lang="en-US" sz="3000" spc="-5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within</a:t>
            </a:r>
            <a:r>
              <a:rPr lang="en-US" sz="3000" spc="-4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the</a:t>
            </a:r>
            <a:r>
              <a:rPr lang="en-US" sz="3000" spc="-6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community</a:t>
            </a:r>
            <a:r>
              <a:rPr lang="en-US" sz="300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to</a:t>
            </a:r>
            <a:r>
              <a:rPr lang="en-US" sz="3000" spc="-6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carry</a:t>
            </a:r>
            <a:r>
              <a:rPr lang="en-US" sz="3000" spc="-3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out</a:t>
            </a:r>
            <a:r>
              <a:rPr lang="en-US" sz="3000" spc="-5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the </a:t>
            </a:r>
            <a:r>
              <a:rPr lang="en-US" sz="3000" dirty="0">
                <a:latin typeface="Times New Roman" panose="02020603050405020304" pitchFamily="18" charset="0"/>
                <a:ea typeface="Times New Roman" panose="02020603050405020304" pitchFamily="18" charset="0"/>
              </a:rPr>
              <a:t>transfer learning</a:t>
            </a:r>
            <a:r>
              <a:rPr lang="en-US" sz="3000" spc="20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tasks</a:t>
            </a:r>
            <a:r>
              <a:rPr lang="en-US" sz="30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However, there exists types of data, such as sensor data, which</a:t>
            </a:r>
            <a:r>
              <a:rPr lang="en-US" sz="3000" spc="-7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are</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not</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easily</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visually</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interpretable,</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and</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it</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is</a:t>
            </a:r>
            <a:r>
              <a:rPr lang="en-US" sz="3000" spc="-7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unclear</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if it</a:t>
            </a:r>
            <a:r>
              <a:rPr lang="en-US" sz="3000" spc="-3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would be</a:t>
            </a:r>
            <a:r>
              <a:rPr lang="en-US" sz="3000" spc="-2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possible to</a:t>
            </a:r>
            <a:r>
              <a:rPr lang="en-US" sz="3000" spc="-3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visually interpret</a:t>
            </a:r>
            <a:r>
              <a:rPr lang="en-US" sz="3000" spc="-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them</a:t>
            </a:r>
            <a:r>
              <a:rPr lang="en-US" sz="30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Not</a:t>
            </a:r>
            <a:r>
              <a:rPr lang="en-US" sz="3000" spc="-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visually interpretable data can be, for example, position updates of </a:t>
            </a:r>
            <a:r>
              <a:rPr lang="en-US" sz="3000" spc="-10" dirty="0">
                <a:latin typeface="Times New Roman" panose="02020603050405020304" pitchFamily="18" charset="0"/>
                <a:ea typeface="Times New Roman" panose="02020603050405020304" pitchFamily="18" charset="0"/>
              </a:rPr>
              <a:t>moving</a:t>
            </a:r>
            <a:r>
              <a:rPr lang="en-US" sz="3000" spc="-2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objects</a:t>
            </a:r>
            <a:r>
              <a:rPr lang="en-US" sz="3000" spc="-3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in</a:t>
            </a:r>
            <a:r>
              <a:rPr lang="en-US" sz="3000" spc="-6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location-based</a:t>
            </a:r>
            <a:r>
              <a:rPr lang="en-US" sz="3000" spc="-4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services,</a:t>
            </a:r>
            <a:r>
              <a:rPr lang="en-US" sz="3000" spc="-2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fluctuations in</a:t>
            </a:r>
            <a:r>
              <a:rPr lang="en-US" sz="3000" spc="-3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the </a:t>
            </a:r>
            <a:r>
              <a:rPr lang="en-US" sz="3000" spc="-20" dirty="0">
                <a:latin typeface="Times New Roman" panose="02020603050405020304" pitchFamily="18" charset="0"/>
                <a:ea typeface="Times New Roman" panose="02020603050405020304" pitchFamily="18" charset="0"/>
              </a:rPr>
              <a:t>stock</a:t>
            </a:r>
            <a:r>
              <a:rPr lang="en-US" sz="3000" spc="-50"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market,</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medical</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experimental</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observations,</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or</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streaming </a:t>
            </a:r>
            <a:r>
              <a:rPr lang="en-US" sz="3000" dirty="0">
                <a:latin typeface="Times New Roman" panose="02020603050405020304" pitchFamily="18" charset="0"/>
                <a:ea typeface="Times New Roman" panose="02020603050405020304" pitchFamily="18" charset="0"/>
              </a:rPr>
              <a:t>sensor data. </a:t>
            </a:r>
          </a:p>
        </p:txBody>
      </p:sp>
    </p:spTree>
    <p:extLst>
      <p:ext uri="{BB962C8B-B14F-4D97-AF65-F5344CB8AC3E}">
        <p14:creationId xmlns:p14="http://schemas.microsoft.com/office/powerpoint/2010/main" val="1585349059"/>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12</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478423"/>
          </a:xfrm>
          <a:prstGeom prst="rect">
            <a:avLst/>
          </a:prstGeom>
        </p:spPr>
        <p:txBody>
          <a:bodyPr wrap="square">
            <a:spAutoFit/>
          </a:bodyPr>
          <a:lstStyle/>
          <a:p>
            <a:pPr algn="just"/>
            <a:r>
              <a:rPr lang="en-IN" sz="4000" b="1" dirty="0" smtClean="0">
                <a:solidFill>
                  <a:schemeClr val="accent3">
                    <a:lumMod val="60000"/>
                    <a:lumOff val="40000"/>
                  </a:schemeClr>
                </a:solidFill>
                <a:ea typeface="Calibri" panose="020F0502020204030204" pitchFamily="34" charset="0"/>
                <a:cs typeface="Calibri" panose="020F0502020204030204" pitchFamily="34" charset="0"/>
              </a:rPr>
              <a:t>Sensors:</a:t>
            </a:r>
          </a:p>
          <a:p>
            <a:pPr marL="571500" indent="-571500" algn="just">
              <a:buFont typeface="Arial" panose="020B0604020202020204" pitchFamily="34" charset="0"/>
              <a:buChar char="•"/>
            </a:pPr>
            <a:r>
              <a:rPr lang="en-US" sz="3100" dirty="0">
                <a:solidFill>
                  <a:srgbClr val="333333"/>
                </a:solidFill>
                <a:latin typeface="Roboto"/>
              </a:rPr>
              <a:t>Over the past decades, the availability of sensors has increased substantially and enabled makers and designers to prototype interactive objects rapidly and at low cost</a:t>
            </a:r>
            <a:r>
              <a:rPr lang="en-US" sz="3100" dirty="0" smtClean="0">
                <a:solidFill>
                  <a:srgbClr val="333333"/>
                </a:solidFill>
                <a:latin typeface="Roboto"/>
              </a:rPr>
              <a:t>.</a:t>
            </a:r>
          </a:p>
          <a:p>
            <a:pPr marL="571500" indent="-571500" algn="just">
              <a:buFont typeface="Arial" panose="020B0604020202020204" pitchFamily="34" charset="0"/>
              <a:buChar char="•"/>
            </a:pPr>
            <a:r>
              <a:rPr lang="en-US" sz="3100" dirty="0" smtClean="0">
                <a:solidFill>
                  <a:srgbClr val="333333"/>
                </a:solidFill>
                <a:latin typeface="Roboto"/>
              </a:rPr>
              <a:t>However</a:t>
            </a:r>
            <a:r>
              <a:rPr lang="en-US" sz="3100" dirty="0">
                <a:solidFill>
                  <a:srgbClr val="333333"/>
                </a:solidFill>
                <a:latin typeface="Roboto"/>
              </a:rPr>
              <a:t>, this large variety of components also comes with the challenge of selecting the right sensor from many similar components to </a:t>
            </a:r>
            <a:r>
              <a:rPr lang="en-US" sz="3100" dirty="0" smtClean="0">
                <a:solidFill>
                  <a:srgbClr val="333333"/>
                </a:solidFill>
                <a:latin typeface="Roboto"/>
              </a:rPr>
              <a:t>find </a:t>
            </a:r>
            <a:r>
              <a:rPr lang="en-US" sz="3100" dirty="0">
                <a:solidFill>
                  <a:srgbClr val="333333"/>
                </a:solidFill>
                <a:latin typeface="Roboto"/>
              </a:rPr>
              <a:t>the one that best </a:t>
            </a:r>
            <a:r>
              <a:rPr lang="en-US" sz="3100" dirty="0" smtClean="0">
                <a:solidFill>
                  <a:srgbClr val="333333"/>
                </a:solidFill>
                <a:latin typeface="Roboto"/>
              </a:rPr>
              <a:t>fits </a:t>
            </a:r>
            <a:r>
              <a:rPr lang="en-US" sz="3100" dirty="0">
                <a:solidFill>
                  <a:srgbClr val="333333"/>
                </a:solidFill>
                <a:latin typeface="Roboto"/>
              </a:rPr>
              <a:t>the use case at hand. </a:t>
            </a:r>
            <a:endParaRPr lang="en-US" sz="3100" dirty="0" smtClean="0">
              <a:solidFill>
                <a:srgbClr val="333333"/>
              </a:solidFill>
              <a:latin typeface="Roboto"/>
            </a:endParaRPr>
          </a:p>
          <a:p>
            <a:pPr marL="571500" indent="-571500" algn="just">
              <a:buFont typeface="Arial" panose="020B0604020202020204" pitchFamily="34" charset="0"/>
              <a:buChar char="•"/>
            </a:pPr>
            <a:r>
              <a:rPr lang="en-US" sz="3100" dirty="0" smtClean="0">
                <a:solidFill>
                  <a:srgbClr val="333333"/>
                </a:solidFill>
                <a:latin typeface="Roboto"/>
              </a:rPr>
              <a:t>Since </a:t>
            </a:r>
            <a:r>
              <a:rPr lang="en-US" sz="3100" dirty="0">
                <a:solidFill>
                  <a:srgbClr val="333333"/>
                </a:solidFill>
                <a:latin typeface="Roboto"/>
              </a:rPr>
              <a:t>each sensor has its own </a:t>
            </a:r>
            <a:r>
              <a:rPr lang="en-US" sz="3100" dirty="0" smtClean="0">
                <a:solidFill>
                  <a:srgbClr val="333333"/>
                </a:solidFill>
                <a:latin typeface="Roboto"/>
              </a:rPr>
              <a:t>specification</a:t>
            </a:r>
            <a:r>
              <a:rPr lang="en-US" sz="3100" dirty="0">
                <a:solidFill>
                  <a:srgbClr val="333333"/>
                </a:solidFill>
                <a:latin typeface="Roboto"/>
              </a:rPr>
              <a:t>, understanding what each sensor can sense and how it will work on a prototype can be a time-consuming process.</a:t>
            </a:r>
            <a:endParaRPr lang="en-IN" sz="31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62422269"/>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13</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201424"/>
          </a:xfrm>
          <a:prstGeom prst="rect">
            <a:avLst/>
          </a:prstGeom>
        </p:spPr>
        <p:txBody>
          <a:bodyPr wrap="square">
            <a:spAutoFit/>
          </a:bodyPr>
          <a:lstStyle/>
          <a:p>
            <a:pPr algn="just"/>
            <a:r>
              <a:rPr lang="en-IN" sz="4400" b="1" dirty="0" smtClean="0">
                <a:solidFill>
                  <a:srgbClr val="C00000"/>
                </a:solidFill>
                <a:ea typeface="Calibri" panose="020F0502020204030204" pitchFamily="34" charset="0"/>
                <a:cs typeface="Calibri" panose="020F0502020204030204" pitchFamily="34" charset="0"/>
              </a:rPr>
              <a:t>Limitations of reading sensor data:</a:t>
            </a:r>
          </a:p>
          <a:p>
            <a:pPr marL="571500" indent="-571500" algn="just">
              <a:buFont typeface="+mj-lt"/>
              <a:buAutoNum type="arabicPeriod"/>
            </a:pPr>
            <a:r>
              <a:rPr lang="en-US" sz="3200" dirty="0" smtClean="0">
                <a:solidFill>
                  <a:srgbClr val="333333"/>
                </a:solidFill>
                <a:latin typeface="Roboto"/>
              </a:rPr>
              <a:t>Extracting </a:t>
            </a:r>
            <a:r>
              <a:rPr lang="en-US" sz="3200" dirty="0">
                <a:solidFill>
                  <a:srgbClr val="333333"/>
                </a:solidFill>
                <a:latin typeface="Roboto"/>
              </a:rPr>
              <a:t>information from a datasheet can be cumbersome and confusing since the sensing information may be buried among the chip design, schematic, and other technical aspects</a:t>
            </a:r>
            <a:r>
              <a:rPr lang="en-US" sz="3200" dirty="0" smtClean="0">
                <a:solidFill>
                  <a:srgbClr val="333333"/>
                </a:solidFill>
                <a:latin typeface="Roboto"/>
              </a:rPr>
              <a:t>.</a:t>
            </a:r>
          </a:p>
          <a:p>
            <a:pPr marL="571500" indent="-571500" algn="just">
              <a:buFont typeface="+mj-lt"/>
              <a:buAutoNum type="arabicPeriod"/>
            </a:pPr>
            <a:r>
              <a:rPr lang="en-US" sz="3200" dirty="0" smtClean="0">
                <a:solidFill>
                  <a:srgbClr val="333333"/>
                </a:solidFill>
                <a:latin typeface="Roboto"/>
              </a:rPr>
              <a:t>Datasheets </a:t>
            </a:r>
            <a:r>
              <a:rPr lang="en-US" sz="3200" dirty="0">
                <a:solidFill>
                  <a:srgbClr val="333333"/>
                </a:solidFill>
                <a:latin typeface="Roboto"/>
              </a:rPr>
              <a:t>are not standardized, which makes comparing sensors with each other a </a:t>
            </a:r>
            <a:r>
              <a:rPr lang="en-US" sz="3200" dirty="0" smtClean="0">
                <a:solidFill>
                  <a:srgbClr val="333333"/>
                </a:solidFill>
                <a:latin typeface="Roboto"/>
              </a:rPr>
              <a:t>difficult </a:t>
            </a:r>
            <a:r>
              <a:rPr lang="en-US" sz="3200" dirty="0">
                <a:solidFill>
                  <a:srgbClr val="333333"/>
                </a:solidFill>
                <a:latin typeface="Roboto"/>
              </a:rPr>
              <a:t>task. </a:t>
            </a:r>
            <a:endParaRPr lang="en-US" sz="3200" dirty="0" smtClean="0">
              <a:solidFill>
                <a:srgbClr val="333333"/>
              </a:solidFill>
              <a:latin typeface="Roboto"/>
            </a:endParaRPr>
          </a:p>
          <a:p>
            <a:pPr marL="571500" indent="-571500" algn="just">
              <a:buFont typeface="+mj-lt"/>
              <a:buAutoNum type="arabicPeriod"/>
            </a:pPr>
            <a:r>
              <a:rPr lang="en-US" sz="3200" dirty="0" smtClean="0">
                <a:solidFill>
                  <a:srgbClr val="333333"/>
                </a:solidFill>
                <a:latin typeface="Roboto"/>
              </a:rPr>
              <a:t>Since </a:t>
            </a:r>
            <a:r>
              <a:rPr lang="en-US" sz="3200" dirty="0">
                <a:solidFill>
                  <a:srgbClr val="333333"/>
                </a:solidFill>
                <a:latin typeface="Roboto"/>
              </a:rPr>
              <a:t>datasheets are text documents, it can be hard to picture what sensors can sense when placed on a prototype.</a:t>
            </a:r>
            <a:endParaRPr lang="en-IN" sz="3200" b="1" dirty="0">
              <a:solidFill>
                <a:srgbClr val="C00000"/>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99969642"/>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14</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152401" y="2046056"/>
            <a:ext cx="11407140" cy="2185214"/>
          </a:xfrm>
          <a:prstGeom prst="rect">
            <a:avLst/>
          </a:prstGeom>
        </p:spPr>
        <p:txBody>
          <a:bodyPr wrap="square">
            <a:spAutoFit/>
          </a:bodyPr>
          <a:lstStyle/>
          <a:p>
            <a:pPr algn="just"/>
            <a:r>
              <a:rPr lang="en-US" sz="4000" b="1" dirty="0" smtClean="0">
                <a:solidFill>
                  <a:srgbClr val="C00000"/>
                </a:solidFill>
                <a:latin typeface="Roboto"/>
              </a:rPr>
              <a:t>Different </a:t>
            </a:r>
            <a:r>
              <a:rPr lang="en-US" sz="4000" b="1" dirty="0">
                <a:solidFill>
                  <a:srgbClr val="C00000"/>
                </a:solidFill>
                <a:latin typeface="Roboto"/>
              </a:rPr>
              <a:t>Stages of Prototyping with </a:t>
            </a:r>
            <a:r>
              <a:rPr lang="en-US" sz="4000" b="1" dirty="0" smtClean="0">
                <a:solidFill>
                  <a:srgbClr val="C00000"/>
                </a:solidFill>
                <a:latin typeface="Roboto"/>
              </a:rPr>
              <a:t>Sensors</a:t>
            </a:r>
          </a:p>
          <a:p>
            <a:pPr marL="571500" indent="-571500" algn="just">
              <a:buFont typeface="+mj-lt"/>
              <a:buAutoNum type="arabicPeriod"/>
            </a:pPr>
            <a:r>
              <a:rPr lang="en-US" sz="3200" dirty="0">
                <a:solidFill>
                  <a:srgbClr val="333333"/>
                </a:solidFill>
                <a:latin typeface="Roboto"/>
              </a:rPr>
              <a:t>Sensor </a:t>
            </a:r>
            <a:r>
              <a:rPr lang="en-US" sz="3200" dirty="0" smtClean="0">
                <a:solidFill>
                  <a:srgbClr val="333333"/>
                </a:solidFill>
                <a:latin typeface="Roboto"/>
              </a:rPr>
              <a:t>Specifications </a:t>
            </a:r>
            <a:r>
              <a:rPr lang="en-US" sz="3200" dirty="0">
                <a:solidFill>
                  <a:srgbClr val="333333"/>
                </a:solidFill>
                <a:latin typeface="Roboto"/>
              </a:rPr>
              <a:t>from </a:t>
            </a:r>
            <a:r>
              <a:rPr lang="en-US" sz="3200" dirty="0" smtClean="0">
                <a:solidFill>
                  <a:srgbClr val="333333"/>
                </a:solidFill>
                <a:latin typeface="Roboto"/>
              </a:rPr>
              <a:t>Datasheet</a:t>
            </a:r>
          </a:p>
          <a:p>
            <a:pPr marL="571500" indent="-571500" algn="just">
              <a:buFont typeface="+mj-lt"/>
              <a:buAutoNum type="arabicPeriod"/>
            </a:pPr>
            <a:r>
              <a:rPr lang="en-US" sz="3200" dirty="0">
                <a:solidFill>
                  <a:srgbClr val="333333"/>
                </a:solidFill>
                <a:latin typeface="Roboto"/>
              </a:rPr>
              <a:t>Sensor Data Overlay over the Physical Prototype via </a:t>
            </a:r>
            <a:r>
              <a:rPr lang="en-US" sz="3200" dirty="0" smtClean="0">
                <a:solidFill>
                  <a:srgbClr val="333333"/>
                </a:solidFill>
                <a:latin typeface="Roboto"/>
              </a:rPr>
              <a:t>AR</a:t>
            </a:r>
          </a:p>
          <a:p>
            <a:pPr marL="571500" indent="-571500" algn="just">
              <a:buFont typeface="+mj-lt"/>
              <a:buAutoNum type="arabicPeriod"/>
            </a:pPr>
            <a:r>
              <a:rPr lang="en-US" sz="3200" dirty="0">
                <a:solidFill>
                  <a:srgbClr val="333333"/>
                </a:solidFill>
                <a:latin typeface="Roboto"/>
              </a:rPr>
              <a:t>Live and Recorded Sensor Data </a:t>
            </a:r>
            <a:r>
              <a:rPr lang="en-US" sz="3200" dirty="0" smtClean="0">
                <a:solidFill>
                  <a:srgbClr val="333333"/>
                </a:solidFill>
                <a:latin typeface="Roboto"/>
              </a:rPr>
              <a:t>Visualization</a:t>
            </a:r>
            <a:r>
              <a:rPr lang="en-US" sz="3200" dirty="0">
                <a:solidFill>
                  <a:srgbClr val="333333"/>
                </a:solidFill>
                <a:latin typeface="Roboto"/>
              </a:rPr>
              <a:t> </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8005117"/>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15</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329007" y="222946"/>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930830"/>
            <a:ext cx="11407140" cy="4154984"/>
          </a:xfrm>
          <a:prstGeom prst="rect">
            <a:avLst/>
          </a:prstGeom>
        </p:spPr>
        <p:txBody>
          <a:bodyPr wrap="square">
            <a:spAutoFit/>
          </a:bodyPr>
          <a:lstStyle/>
          <a:p>
            <a:pPr algn="just"/>
            <a:r>
              <a:rPr lang="en-IN" sz="4000" b="1" dirty="0">
                <a:solidFill>
                  <a:srgbClr val="C00000"/>
                </a:solidFill>
                <a:ea typeface="Calibri" panose="020F0502020204030204" pitchFamily="34" charset="0"/>
                <a:cs typeface="Calibri" panose="020F0502020204030204" pitchFamily="34" charset="0"/>
              </a:rPr>
              <a:t>Library of visualization primitives:</a:t>
            </a:r>
          </a:p>
          <a:p>
            <a:pPr algn="just"/>
            <a:r>
              <a:rPr lang="en-US" sz="3200" b="1" dirty="0" smtClean="0">
                <a:solidFill>
                  <a:srgbClr val="7030A0"/>
                </a:solidFill>
                <a:latin typeface="Roboto"/>
              </a:rPr>
              <a:t>Dimensionality</a:t>
            </a:r>
            <a:r>
              <a:rPr lang="en-US" sz="3200" b="1" dirty="0">
                <a:solidFill>
                  <a:srgbClr val="7030A0"/>
                </a:solidFill>
                <a:latin typeface="Roboto"/>
              </a:rPr>
              <a:t>: </a:t>
            </a:r>
            <a:endParaRPr lang="en-US" sz="3200" b="1" dirty="0" smtClean="0">
              <a:solidFill>
                <a:srgbClr val="7030A0"/>
              </a:solidFill>
              <a:latin typeface="Roboto"/>
            </a:endParaRPr>
          </a:p>
          <a:p>
            <a:pPr marL="457200" indent="-4572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represent discrete data as a point and continuous data as a bar. </a:t>
            </a:r>
          </a:p>
          <a:p>
            <a:pPr marL="457200" indent="-4572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represent directional data as bars in </a:t>
            </a:r>
            <a:r>
              <a:rPr lang="en-US" sz="3200" dirty="0" smtClean="0">
                <a:solidFill>
                  <a:srgbClr val="333333"/>
                </a:solidFill>
                <a:latin typeface="Roboto"/>
              </a:rPr>
              <a:t>different directions.</a:t>
            </a:r>
          </a:p>
          <a:p>
            <a:pPr marL="457200" indent="-457200" algn="just">
              <a:buFont typeface="Arial" panose="020B0604020202020204" pitchFamily="34" charset="0"/>
              <a:buChar char="•"/>
            </a:pPr>
            <a:r>
              <a:rPr lang="en-US" sz="3200" dirty="0" smtClean="0">
                <a:solidFill>
                  <a:srgbClr val="333333"/>
                </a:solidFill>
                <a:latin typeface="Roboto"/>
              </a:rPr>
              <a:t>For </a:t>
            </a:r>
            <a:r>
              <a:rPr lang="en-US" sz="3200" dirty="0">
                <a:solidFill>
                  <a:srgbClr val="333333"/>
                </a:solidFill>
                <a:latin typeface="Roboto"/>
              </a:rPr>
              <a:t>volumetric data, we display the data as a 3D volumetric shape (e.g., a cone or hemisphere). Dimensional information is rendered as a black outline with no </a:t>
            </a:r>
            <a:r>
              <a:rPr lang="en-US" sz="3200" dirty="0" smtClean="0">
                <a:solidFill>
                  <a:srgbClr val="333333"/>
                </a:solidFill>
                <a:latin typeface="Roboto"/>
              </a:rPr>
              <a:t>infill</a:t>
            </a:r>
            <a:r>
              <a:rPr lang="en-US" sz="3200" dirty="0">
                <a:solidFill>
                  <a:srgbClr val="333333"/>
                </a:solidFill>
                <a:latin typeface="Roboto"/>
              </a:rPr>
              <a:t>.</a:t>
            </a:r>
            <a:endParaRPr lang="en-IN" sz="3200"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1892354" y="5036355"/>
            <a:ext cx="8326012" cy="1514686"/>
          </a:xfrm>
          <a:prstGeom prst="rect">
            <a:avLst/>
          </a:prstGeom>
          <a:ln w="28575">
            <a:solidFill>
              <a:schemeClr val="tx1"/>
            </a:solidFill>
          </a:ln>
        </p:spPr>
      </p:pic>
    </p:spTree>
    <p:extLst>
      <p:ext uri="{BB962C8B-B14F-4D97-AF65-F5344CB8AC3E}">
        <p14:creationId xmlns:p14="http://schemas.microsoft.com/office/powerpoint/2010/main" val="1867670330"/>
      </p:ext>
    </p:extLst>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16</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201424"/>
          </a:xfrm>
          <a:prstGeom prst="rect">
            <a:avLst/>
          </a:prstGeom>
        </p:spPr>
        <p:txBody>
          <a:bodyPr wrap="square">
            <a:spAutoFit/>
          </a:bodyPr>
          <a:lstStyle/>
          <a:p>
            <a:pPr algn="just"/>
            <a:r>
              <a:rPr lang="en-US" sz="3000" b="1" dirty="0" smtClean="0">
                <a:solidFill>
                  <a:srgbClr val="7030A0"/>
                </a:solidFill>
                <a:latin typeface="Roboto"/>
              </a:rPr>
              <a:t>Range</a:t>
            </a:r>
          </a:p>
          <a:p>
            <a:pPr marL="571500" indent="-571500" algn="just">
              <a:buFont typeface="Arial" panose="020B0604020202020204" pitchFamily="34" charset="0"/>
              <a:buChar char="•"/>
            </a:pPr>
            <a:r>
              <a:rPr lang="en-US" sz="3000" dirty="0" smtClean="0">
                <a:solidFill>
                  <a:srgbClr val="333333"/>
                </a:solidFill>
                <a:latin typeface="Roboto"/>
              </a:rPr>
              <a:t>To </a:t>
            </a:r>
            <a:r>
              <a:rPr lang="en-US" sz="3000" dirty="0">
                <a:solidFill>
                  <a:srgbClr val="333333"/>
                </a:solidFill>
                <a:latin typeface="Roboto"/>
              </a:rPr>
              <a:t>visualize the range of a sensor, we use the min/max values from the datasheet as the bounds of the visualization. </a:t>
            </a:r>
            <a:endParaRPr lang="en-US" sz="3000" dirty="0" smtClean="0">
              <a:solidFill>
                <a:srgbClr val="333333"/>
              </a:solidFill>
              <a:latin typeface="Roboto"/>
            </a:endParaRPr>
          </a:p>
          <a:p>
            <a:pPr marL="571500" indent="-571500" algn="just">
              <a:buFont typeface="Arial" panose="020B0604020202020204" pitchFamily="34" charset="0"/>
              <a:buChar char="•"/>
            </a:pPr>
            <a:r>
              <a:rPr lang="en-US" sz="3000" dirty="0" smtClean="0">
                <a:solidFill>
                  <a:srgbClr val="333333"/>
                </a:solidFill>
                <a:latin typeface="Roboto"/>
              </a:rPr>
              <a:t>For </a:t>
            </a:r>
            <a:r>
              <a:rPr lang="en-US" sz="3000" dirty="0">
                <a:solidFill>
                  <a:srgbClr val="333333"/>
                </a:solidFill>
                <a:latin typeface="Roboto"/>
              </a:rPr>
              <a:t>continuous non-spatial and directional data, we </a:t>
            </a:r>
            <a:r>
              <a:rPr lang="en-US" sz="3000" dirty="0" smtClean="0">
                <a:solidFill>
                  <a:srgbClr val="333333"/>
                </a:solidFill>
                <a:latin typeface="Roboto"/>
              </a:rPr>
              <a:t>define </a:t>
            </a:r>
            <a:r>
              <a:rPr lang="en-US" sz="3000" dirty="0">
                <a:solidFill>
                  <a:srgbClr val="333333"/>
                </a:solidFill>
                <a:latin typeface="Roboto"/>
              </a:rPr>
              <a:t>the lower bound of the visualization to be equal to the minimum value and the upper bound of the visualization to be equal to the maximum value </a:t>
            </a:r>
            <a:r>
              <a:rPr lang="en-US" sz="3000" dirty="0" smtClean="0">
                <a:solidFill>
                  <a:srgbClr val="333333"/>
                </a:solidFill>
                <a:latin typeface="Roboto"/>
              </a:rPr>
              <a:t>specified </a:t>
            </a:r>
            <a:r>
              <a:rPr lang="en-US" sz="3000" dirty="0">
                <a:solidFill>
                  <a:srgbClr val="333333"/>
                </a:solidFill>
                <a:latin typeface="Roboto"/>
              </a:rPr>
              <a:t>in the datasheet. </a:t>
            </a:r>
            <a:endParaRPr lang="en-US" sz="3000" dirty="0" smtClean="0">
              <a:solidFill>
                <a:srgbClr val="333333"/>
              </a:solidFill>
              <a:latin typeface="Roboto"/>
            </a:endParaRPr>
          </a:p>
          <a:p>
            <a:pPr marL="571500" indent="-571500" algn="just">
              <a:buFont typeface="Arial" panose="020B0604020202020204" pitchFamily="34" charset="0"/>
              <a:buChar char="•"/>
            </a:pPr>
            <a:r>
              <a:rPr lang="en-US" sz="3000" dirty="0">
                <a:solidFill>
                  <a:srgbClr val="333333"/>
                </a:solidFill>
                <a:latin typeface="Roboto"/>
              </a:rPr>
              <a:t>For spatial data, the visualization shows the lower and upper bounds of the sensing volume in the size as </a:t>
            </a:r>
            <a:r>
              <a:rPr lang="en-US" sz="3000" dirty="0" smtClean="0">
                <a:solidFill>
                  <a:srgbClr val="333333"/>
                </a:solidFill>
                <a:latin typeface="Roboto"/>
              </a:rPr>
              <a:t>specified </a:t>
            </a:r>
            <a:r>
              <a:rPr lang="en-US" sz="3000" dirty="0">
                <a:solidFill>
                  <a:srgbClr val="333333"/>
                </a:solidFill>
                <a:latin typeface="Roboto"/>
              </a:rPr>
              <a:t>in the datasheet.</a:t>
            </a:r>
            <a:endParaRPr lang="en-US" sz="3000" dirty="0" smtClean="0">
              <a:solidFill>
                <a:srgbClr val="333333"/>
              </a:solidFill>
              <a:latin typeface="Roboto"/>
            </a:endParaRP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20874503"/>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17</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3046988"/>
          </a:xfrm>
          <a:prstGeom prst="rect">
            <a:avLst/>
          </a:prstGeom>
        </p:spPr>
        <p:txBody>
          <a:bodyPr wrap="square">
            <a:spAutoFit/>
          </a:bodyPr>
          <a:lstStyle/>
          <a:p>
            <a:pPr algn="just"/>
            <a:r>
              <a:rPr lang="en-US" sz="3200" b="1" dirty="0">
                <a:solidFill>
                  <a:srgbClr val="7030A0"/>
                </a:solidFill>
                <a:latin typeface="Roboto"/>
              </a:rPr>
              <a:t>Resolution: </a:t>
            </a:r>
            <a:endParaRPr lang="en-US" sz="3200" b="1" dirty="0" smtClean="0">
              <a:solidFill>
                <a:srgbClr val="7030A0"/>
              </a:solidFill>
              <a:latin typeface="Roboto"/>
            </a:endParaRPr>
          </a:p>
          <a:p>
            <a:pPr marL="571500" indent="-5715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visualize resolution by splitting the bar or volume into segments, with smaller segments representing higher sensor resolutions than larger segments. </a:t>
            </a:r>
            <a:endParaRPr lang="en-US" sz="3200" dirty="0" smtClean="0">
              <a:solidFill>
                <a:srgbClr val="333333"/>
              </a:solidFill>
              <a:latin typeface="Roboto"/>
            </a:endParaRPr>
          </a:p>
          <a:p>
            <a:pPr marL="571500" indent="-5715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compute the segment size by dividing the sensor’s output bit resolution by the range of the sensor. </a:t>
            </a:r>
            <a:endParaRPr lang="en-IN" sz="3200"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1690322" y="4209840"/>
            <a:ext cx="8730076" cy="2394897"/>
          </a:xfrm>
          <a:prstGeom prst="rect">
            <a:avLst/>
          </a:prstGeom>
          <a:ln w="28575">
            <a:solidFill>
              <a:schemeClr val="tx1"/>
            </a:solidFill>
          </a:ln>
        </p:spPr>
      </p:pic>
    </p:spTree>
    <p:extLst>
      <p:ext uri="{BB962C8B-B14F-4D97-AF65-F5344CB8AC3E}">
        <p14:creationId xmlns:p14="http://schemas.microsoft.com/office/powerpoint/2010/main" val="1941559167"/>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000" b="1" i="0" u="none" strike="noStrike" kern="0" cap="none" spc="0" normalizeH="0" baseline="0" noProof="0">
                <a:ln>
                  <a:noFill/>
                </a:ln>
                <a:solidFill>
                  <a:srgbClr val="003F7D">
                    <a:alpha val="64999"/>
                  </a:srgbClr>
                </a:solidFill>
                <a:effectLst/>
                <a:uLnTx/>
                <a:uFillTx/>
                <a:latin typeface="Helvetica"/>
                <a:cs typeface="Helvetica"/>
                <a:sym typeface="Helvetica"/>
              </a:rPr>
              <a:pPr marL="0" marR="0" lvl="0" indent="0" algn="r" defTabSz="914400" rtl="0" eaLnBrk="1" fontAlgn="auto" latinLnBrk="0" hangingPunct="0">
                <a:lnSpc>
                  <a:spcPct val="100000"/>
                </a:lnSpc>
                <a:spcBef>
                  <a:spcPts val="0"/>
                </a:spcBef>
                <a:spcAft>
                  <a:spcPts val="0"/>
                </a:spcAft>
                <a:buClrTx/>
                <a:buSzTx/>
                <a:buFontTx/>
                <a:buNone/>
                <a:tabLst/>
                <a:defRPr/>
              </a:pPr>
              <a:t>18</a:t>
            </a:fld>
            <a:endParaRPr kumimoji="0" sz="1000" b="1" i="0" u="none" strike="noStrike" kern="0" cap="none" spc="0" normalizeH="0" baseline="0" noProof="0" dirty="0">
              <a:ln>
                <a:noFill/>
              </a:ln>
              <a:solidFill>
                <a:srgbClr val="003F7D">
                  <a:alpha val="64999"/>
                </a:srgbClr>
              </a:solidFill>
              <a:effectLst/>
              <a:uLnTx/>
              <a:uFillTx/>
              <a:latin typeface="Helvetica"/>
              <a:cs typeface="Helvetica"/>
              <a:sym typeface="Helvetica"/>
            </a:endParaRPr>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marL="228600" marR="0" lvl="0" indent="-228600" algn="just" defTabSz="914400" rtl="0" eaLnBrk="0" fontAlgn="auto" latinLnBrk="0" hangingPunct="1">
              <a:lnSpc>
                <a:spcPct val="150000"/>
              </a:lnSpc>
              <a:spcBef>
                <a:spcPts val="1000"/>
              </a:spcBef>
              <a:spcAft>
                <a:spcPts val="0"/>
              </a:spcAft>
              <a:buClrTx/>
              <a:buSzPct val="100000"/>
              <a:buFont typeface="Arial" panose="020B0604020202020204" pitchFamily="34" charset="0"/>
              <a:buChar char="•"/>
              <a:tabLst/>
              <a:defRPr/>
            </a:pPr>
            <a:endParaRPr kumimoji="0" lang="en-US" altLang="en-US" sz="2500" b="1" i="0" u="none" strike="noStrike" kern="0" cap="none" spc="0" normalizeH="0" baseline="0" noProof="0" dirty="0">
              <a:ln>
                <a:noFill/>
              </a:ln>
              <a:solidFill>
                <a:srgbClr val="00B050"/>
              </a:solidFill>
              <a:effectLst/>
              <a:uLnTx/>
              <a:uFillTx/>
              <a:latin typeface="Calibri"/>
              <a:cs typeface="Segoe UI"/>
              <a:sym typeface="Segoe UI"/>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4000" b="0" i="0" u="none" strike="noStrike" kern="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sym typeface="Segoe UI"/>
              </a:rPr>
              <a:t>2.1 Transforming </a:t>
            </a:r>
            <a:r>
              <a:rPr kumimoji="0" lang="en-US" sz="4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Segoe UI"/>
              </a:rPr>
              <a:t>sensor </a:t>
            </a:r>
            <a:r>
              <a:rPr kumimoji="0" lang="en-US" sz="4000" b="0" i="0" u="none" strike="noStrike" kern="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sym typeface="Segoe UI"/>
              </a:rPr>
              <a:t>reading</a:t>
            </a:r>
            <a:endParaRPr kumimoji="0" lang="en-US" sz="4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509200"/>
          </a:xfrm>
          <a:prstGeom prst="rect">
            <a:avLst/>
          </a:prstGeom>
        </p:spPr>
        <p:txBody>
          <a:bodyPr wrap="square">
            <a:spAutoFit/>
          </a:bodyPr>
          <a:lstStyle/>
          <a:p>
            <a:pPr lvl="0" algn="just"/>
            <a:r>
              <a:rPr lang="en-US" sz="3200" b="1" dirty="0">
                <a:solidFill>
                  <a:srgbClr val="7030A0"/>
                </a:solidFill>
                <a:latin typeface="Roboto"/>
              </a:rPr>
              <a:t>Sensor </a:t>
            </a:r>
            <a:r>
              <a:rPr lang="en-US" sz="3200" b="1" dirty="0" smtClean="0">
                <a:solidFill>
                  <a:srgbClr val="7030A0"/>
                </a:solidFill>
                <a:latin typeface="Roboto"/>
              </a:rPr>
              <a:t>Values</a:t>
            </a:r>
          </a:p>
          <a:p>
            <a:pPr marL="571500" lvl="0" indent="-5715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visualize live sensor values by </a:t>
            </a:r>
            <a:r>
              <a:rPr lang="en-US" sz="3200" dirty="0" smtClean="0">
                <a:solidFill>
                  <a:srgbClr val="333333"/>
                </a:solidFill>
                <a:latin typeface="Roboto"/>
              </a:rPr>
              <a:t>filling </a:t>
            </a:r>
            <a:r>
              <a:rPr lang="en-US" sz="3200" dirty="0">
                <a:solidFill>
                  <a:srgbClr val="333333"/>
                </a:solidFill>
                <a:latin typeface="Roboto"/>
              </a:rPr>
              <a:t>in the point, bar, or volume. </a:t>
            </a:r>
            <a:endParaRPr lang="en-US" sz="3200" dirty="0" smtClean="0">
              <a:solidFill>
                <a:srgbClr val="333333"/>
              </a:solidFill>
              <a:latin typeface="Roboto"/>
            </a:endParaRPr>
          </a:p>
          <a:p>
            <a:pPr marL="571500" lvl="0" indent="-571500" algn="just">
              <a:buFont typeface="Arial" panose="020B0604020202020204" pitchFamily="34" charset="0"/>
              <a:buChar char="•"/>
            </a:pPr>
            <a:r>
              <a:rPr lang="en-US" sz="3200" dirty="0" smtClean="0">
                <a:solidFill>
                  <a:srgbClr val="333333"/>
                </a:solidFill>
                <a:latin typeface="Roboto"/>
              </a:rPr>
              <a:t>For </a:t>
            </a:r>
            <a:r>
              <a:rPr lang="en-US" sz="3200" dirty="0">
                <a:solidFill>
                  <a:srgbClr val="333333"/>
                </a:solidFill>
                <a:latin typeface="Roboto"/>
              </a:rPr>
              <a:t>discrete values, if a ’zero’ is read, the point is rendered in 0% opacity and if a ’one’ is read, it is rendered in 100% opacity. </a:t>
            </a:r>
            <a:endParaRPr lang="en-US" sz="3200" dirty="0" smtClean="0">
              <a:solidFill>
                <a:srgbClr val="333333"/>
              </a:solidFill>
              <a:latin typeface="Roboto"/>
            </a:endParaRPr>
          </a:p>
          <a:p>
            <a:pPr marL="571500" lvl="0" indent="-571500" algn="just">
              <a:buFont typeface="Arial" panose="020B0604020202020204" pitchFamily="34" charset="0"/>
              <a:buChar char="•"/>
            </a:pPr>
            <a:r>
              <a:rPr lang="en-US" sz="3200" dirty="0" smtClean="0">
                <a:solidFill>
                  <a:srgbClr val="333333"/>
                </a:solidFill>
                <a:latin typeface="Roboto"/>
              </a:rPr>
              <a:t>Makers </a:t>
            </a:r>
            <a:r>
              <a:rPr lang="en-US" sz="3200" dirty="0">
                <a:solidFill>
                  <a:srgbClr val="333333"/>
                </a:solidFill>
                <a:latin typeface="Roboto"/>
              </a:rPr>
              <a:t>can </a:t>
            </a:r>
            <a:r>
              <a:rPr lang="en-US" sz="3200" dirty="0" smtClean="0">
                <a:solidFill>
                  <a:srgbClr val="333333"/>
                </a:solidFill>
                <a:latin typeface="Roboto"/>
              </a:rPr>
              <a:t>differentiate </a:t>
            </a:r>
            <a:r>
              <a:rPr lang="en-US" sz="3200" dirty="0">
                <a:solidFill>
                  <a:srgbClr val="333333"/>
                </a:solidFill>
                <a:latin typeface="Roboto"/>
              </a:rPr>
              <a:t>between a ’zero’ reading and ’no data’ using the text label that shows the current value. </a:t>
            </a:r>
            <a:endParaRPr lang="en-US" sz="3200" dirty="0" smtClean="0">
              <a:solidFill>
                <a:srgbClr val="333333"/>
              </a:solidFill>
              <a:latin typeface="Roboto"/>
            </a:endParaRPr>
          </a:p>
          <a:p>
            <a:pPr marL="571500" lvl="0" indent="-571500" algn="just">
              <a:buFont typeface="Arial" panose="020B0604020202020204" pitchFamily="34" charset="0"/>
              <a:buChar char="•"/>
            </a:pPr>
            <a:r>
              <a:rPr lang="en-US" sz="3200" dirty="0" smtClean="0">
                <a:solidFill>
                  <a:srgbClr val="333333"/>
                </a:solidFill>
                <a:latin typeface="Roboto"/>
              </a:rPr>
              <a:t>For </a:t>
            </a:r>
            <a:r>
              <a:rPr lang="en-US" sz="3200" dirty="0">
                <a:solidFill>
                  <a:srgbClr val="333333"/>
                </a:solidFill>
                <a:latin typeface="Roboto"/>
              </a:rPr>
              <a:t>continuous values, the larger the received sensor values, the more of the bar or the volume is rendered in 100% opacity.</a:t>
            </a:r>
            <a:endParaRPr kumimoji="0" lang="en-IN" sz="3200" b="0" i="0" u="none" strike="noStrike" kern="0" cap="none" spc="0" normalizeH="0" baseline="0" noProof="0" dirty="0">
              <a:ln>
                <a:noFill/>
              </a:ln>
              <a:solidFill>
                <a:srgbClr val="000000"/>
              </a:solidFill>
              <a:effectLst/>
              <a:uLnTx/>
              <a:uFillTx/>
              <a:latin typeface="Calibri"/>
              <a:ea typeface="Calibri" panose="020F0502020204030204" pitchFamily="34" charset="0"/>
              <a:cs typeface="Calibri" panose="020F0502020204030204" pitchFamily="34" charset="0"/>
              <a:sym typeface="Segoe UI"/>
            </a:endParaRPr>
          </a:p>
        </p:txBody>
      </p:sp>
    </p:spTree>
    <p:extLst>
      <p:ext uri="{BB962C8B-B14F-4D97-AF65-F5344CB8AC3E}">
        <p14:creationId xmlns:p14="http://schemas.microsoft.com/office/powerpoint/2010/main" val="1390636030"/>
      </p:ext>
    </p:extLst>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19</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4031873"/>
          </a:xfrm>
          <a:prstGeom prst="rect">
            <a:avLst/>
          </a:prstGeom>
        </p:spPr>
        <p:txBody>
          <a:bodyPr wrap="square">
            <a:spAutoFit/>
          </a:bodyPr>
          <a:lstStyle/>
          <a:p>
            <a:pPr algn="just"/>
            <a:r>
              <a:rPr lang="en-US" sz="3200" b="1" dirty="0">
                <a:solidFill>
                  <a:srgbClr val="7030A0"/>
                </a:solidFill>
                <a:latin typeface="Roboto"/>
              </a:rPr>
              <a:t>Textual </a:t>
            </a:r>
            <a:r>
              <a:rPr lang="en-US" sz="3200" b="1" dirty="0" smtClean="0">
                <a:solidFill>
                  <a:srgbClr val="7030A0"/>
                </a:solidFill>
                <a:latin typeface="Roboto"/>
              </a:rPr>
              <a:t>information</a:t>
            </a:r>
          </a:p>
          <a:p>
            <a:pPr marL="571500" indent="-5715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use labels to display the range (min/max), the resolution, and the current sensor value. </a:t>
            </a:r>
            <a:endParaRPr lang="en-US" sz="3200" dirty="0" smtClean="0">
              <a:solidFill>
                <a:srgbClr val="333333"/>
              </a:solidFill>
              <a:latin typeface="Roboto"/>
            </a:endParaRPr>
          </a:p>
          <a:p>
            <a:pPr marL="571500" indent="-571500" algn="just">
              <a:buFont typeface="Arial" panose="020B0604020202020204" pitchFamily="34" charset="0"/>
              <a:buChar char="•"/>
            </a:pPr>
            <a:r>
              <a:rPr lang="en-US" sz="3200" dirty="0" smtClean="0">
                <a:solidFill>
                  <a:srgbClr val="333333"/>
                </a:solidFill>
                <a:latin typeface="Roboto"/>
              </a:rPr>
              <a:t>For </a:t>
            </a:r>
            <a:r>
              <a:rPr lang="en-US" sz="3200" dirty="0">
                <a:solidFill>
                  <a:srgbClr val="333333"/>
                </a:solidFill>
                <a:latin typeface="Roboto"/>
              </a:rPr>
              <a:t>directional data, we also label the axes information, and for volumetric data, we label the angle of the </a:t>
            </a:r>
            <a:r>
              <a:rPr lang="en-US" sz="3200" dirty="0" err="1">
                <a:solidFill>
                  <a:srgbClr val="333333"/>
                </a:solidFill>
                <a:latin typeface="Roboto"/>
              </a:rPr>
              <a:t>feld</a:t>
            </a:r>
            <a:r>
              <a:rPr lang="en-US" sz="3200" dirty="0">
                <a:solidFill>
                  <a:srgbClr val="333333"/>
                </a:solidFill>
                <a:latin typeface="Roboto"/>
              </a:rPr>
              <a:t> of view. </a:t>
            </a:r>
            <a:endParaRPr lang="en-US" sz="3200" dirty="0" smtClean="0">
              <a:solidFill>
                <a:srgbClr val="333333"/>
              </a:solidFill>
              <a:latin typeface="Roboto"/>
            </a:endParaRPr>
          </a:p>
          <a:p>
            <a:pPr marL="571500" indent="-571500" algn="just">
              <a:buFont typeface="Arial" panose="020B0604020202020204" pitchFamily="34" charset="0"/>
              <a:buChar char="•"/>
            </a:pPr>
            <a:r>
              <a:rPr lang="en-US" sz="3200" dirty="0" smtClean="0">
                <a:solidFill>
                  <a:srgbClr val="333333"/>
                </a:solidFill>
                <a:latin typeface="Roboto"/>
              </a:rPr>
              <a:t>Makers </a:t>
            </a:r>
            <a:r>
              <a:rPr lang="en-US" sz="3200" dirty="0">
                <a:solidFill>
                  <a:srgbClr val="333333"/>
                </a:solidFill>
                <a:latin typeface="Roboto"/>
              </a:rPr>
              <a:t>can choose in the user interface which information they want to display.</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09474901"/>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20</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pic>
        <p:nvPicPr>
          <p:cNvPr id="3" name="Picture 2"/>
          <p:cNvPicPr>
            <a:picLocks noChangeAspect="1"/>
          </p:cNvPicPr>
          <p:nvPr/>
        </p:nvPicPr>
        <p:blipFill>
          <a:blip r:embed="rId2"/>
          <a:stretch>
            <a:fillRect/>
          </a:stretch>
        </p:blipFill>
        <p:spPr>
          <a:xfrm>
            <a:off x="545088" y="1762117"/>
            <a:ext cx="11148348" cy="3073017"/>
          </a:xfrm>
          <a:prstGeom prst="rect">
            <a:avLst/>
          </a:prstGeom>
          <a:ln w="28575">
            <a:solidFill>
              <a:schemeClr val="tx1"/>
            </a:solidFill>
          </a:ln>
        </p:spPr>
      </p:pic>
    </p:spTree>
    <p:extLst>
      <p:ext uri="{BB962C8B-B14F-4D97-AF65-F5344CB8AC3E}">
        <p14:creationId xmlns:p14="http://schemas.microsoft.com/office/powerpoint/2010/main" val="3845610285"/>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21</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84775"/>
          </a:xfrm>
          <a:prstGeom prst="rect">
            <a:avLst/>
          </a:prstGeom>
        </p:spPr>
        <p:txBody>
          <a:bodyPr wrap="square">
            <a:spAutoFit/>
          </a:bodyPr>
          <a:lstStyle/>
          <a:p>
            <a:pPr algn="just"/>
            <a:r>
              <a:rPr lang="en-US" sz="3200" b="1" dirty="0">
                <a:solidFill>
                  <a:srgbClr val="7030A0"/>
                </a:solidFill>
                <a:latin typeface="Roboto"/>
              </a:rPr>
              <a:t>Additional Visualizations </a:t>
            </a:r>
            <a:r>
              <a:rPr lang="en-US" sz="3200" b="1" dirty="0" smtClean="0">
                <a:solidFill>
                  <a:srgbClr val="7030A0"/>
                </a:solidFill>
                <a:latin typeface="Roboto"/>
              </a:rPr>
              <a:t>Attributes:</a:t>
            </a:r>
          </a:p>
        </p:txBody>
      </p:sp>
      <p:pic>
        <p:nvPicPr>
          <p:cNvPr id="3" name="Picture 2"/>
          <p:cNvPicPr>
            <a:picLocks noChangeAspect="1"/>
          </p:cNvPicPr>
          <p:nvPr/>
        </p:nvPicPr>
        <p:blipFill>
          <a:blip r:embed="rId2"/>
          <a:stretch>
            <a:fillRect/>
          </a:stretch>
        </p:blipFill>
        <p:spPr>
          <a:xfrm>
            <a:off x="3229876" y="1843348"/>
            <a:ext cx="6113019" cy="4601376"/>
          </a:xfrm>
          <a:prstGeom prst="rect">
            <a:avLst/>
          </a:prstGeom>
          <a:ln w="28575">
            <a:solidFill>
              <a:schemeClr val="tx1"/>
            </a:solidFill>
          </a:ln>
        </p:spPr>
      </p:pic>
    </p:spTree>
    <p:extLst>
      <p:ext uri="{BB962C8B-B14F-4D97-AF65-F5344CB8AC3E}">
        <p14:creationId xmlns:p14="http://schemas.microsoft.com/office/powerpoint/2010/main" val="3878508155"/>
      </p:ext>
    </p:extLst>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22</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pic>
        <p:nvPicPr>
          <p:cNvPr id="3" name="Picture 2"/>
          <p:cNvPicPr>
            <a:picLocks noChangeAspect="1"/>
          </p:cNvPicPr>
          <p:nvPr/>
        </p:nvPicPr>
        <p:blipFill>
          <a:blip r:embed="rId2"/>
          <a:stretch>
            <a:fillRect/>
          </a:stretch>
        </p:blipFill>
        <p:spPr>
          <a:xfrm>
            <a:off x="556000" y="1879063"/>
            <a:ext cx="10880564" cy="3590085"/>
          </a:xfrm>
          <a:prstGeom prst="rect">
            <a:avLst/>
          </a:prstGeom>
          <a:ln w="28575">
            <a:solidFill>
              <a:schemeClr val="tx1"/>
            </a:solidFill>
          </a:ln>
        </p:spPr>
      </p:pic>
    </p:spTree>
    <p:extLst>
      <p:ext uri="{BB962C8B-B14F-4D97-AF65-F5344CB8AC3E}">
        <p14:creationId xmlns:p14="http://schemas.microsoft.com/office/powerpoint/2010/main" val="4111425394"/>
      </p:ext>
    </p:extLst>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23</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4278094"/>
          </a:xfrm>
          <a:prstGeom prst="rect">
            <a:avLst/>
          </a:prstGeom>
        </p:spPr>
        <p:txBody>
          <a:bodyPr wrap="square">
            <a:spAutoFit/>
          </a:bodyPr>
          <a:lstStyle/>
          <a:p>
            <a:pPr algn="just"/>
            <a:r>
              <a:rPr lang="en-US" sz="4000" b="1" dirty="0" smtClean="0">
                <a:solidFill>
                  <a:srgbClr val="00B050"/>
                </a:solidFill>
                <a:latin typeface="Lato"/>
              </a:rPr>
              <a:t>Steps to transform sensor reading:</a:t>
            </a:r>
          </a:p>
          <a:p>
            <a:pPr algn="just"/>
            <a:endParaRPr lang="en-US" sz="4000" b="1" dirty="0" smtClean="0">
              <a:solidFill>
                <a:srgbClr val="00B050"/>
              </a:solidFill>
              <a:latin typeface="Lato"/>
            </a:endParaRPr>
          </a:p>
          <a:p>
            <a:pPr marL="571500" indent="-571500" algn="just">
              <a:buFont typeface="+mj-lt"/>
              <a:buAutoNum type="arabicPeriod"/>
            </a:pPr>
            <a:r>
              <a:rPr lang="en-US" sz="3200" b="1" dirty="0">
                <a:solidFill>
                  <a:srgbClr val="333333"/>
                </a:solidFill>
                <a:latin typeface="Roboto"/>
              </a:rPr>
              <a:t>Loading Sensor Information from Sensor </a:t>
            </a:r>
            <a:r>
              <a:rPr lang="en-US" sz="3200" b="1" dirty="0" smtClean="0">
                <a:solidFill>
                  <a:srgbClr val="333333"/>
                </a:solidFill>
                <a:latin typeface="Roboto"/>
              </a:rPr>
              <a:t>Database</a:t>
            </a:r>
          </a:p>
          <a:p>
            <a:pPr marL="571500" indent="-571500" algn="just">
              <a:buFont typeface="+mj-lt"/>
              <a:buAutoNum type="arabicPeriod"/>
            </a:pPr>
            <a:r>
              <a:rPr lang="en-US" sz="3200" b="1" dirty="0">
                <a:solidFill>
                  <a:srgbClr val="333333"/>
                </a:solidFill>
                <a:latin typeface="Roboto"/>
              </a:rPr>
              <a:t>Visualizing Sensor </a:t>
            </a:r>
            <a:r>
              <a:rPr lang="en-US" sz="3200" b="1" dirty="0" smtClean="0">
                <a:solidFill>
                  <a:srgbClr val="333333"/>
                </a:solidFill>
                <a:latin typeface="Roboto"/>
              </a:rPr>
              <a:t>Data</a:t>
            </a:r>
          </a:p>
          <a:p>
            <a:pPr marL="571500" indent="-571500" algn="just">
              <a:buFont typeface="+mj-lt"/>
              <a:buAutoNum type="arabicPeriod"/>
            </a:pPr>
            <a:r>
              <a:rPr lang="en-US" sz="3200" b="1" dirty="0" smtClean="0">
                <a:solidFill>
                  <a:srgbClr val="333333"/>
                </a:solidFill>
                <a:latin typeface="Roboto"/>
              </a:rPr>
              <a:t>Augmented Reality visualization</a:t>
            </a:r>
          </a:p>
          <a:p>
            <a:pPr marL="571500" indent="-571500" algn="just">
              <a:buFont typeface="+mj-lt"/>
              <a:buAutoNum type="arabicPeriod"/>
            </a:pPr>
            <a:r>
              <a:rPr lang="en-US" sz="3200" b="1" dirty="0">
                <a:solidFill>
                  <a:srgbClr val="333333"/>
                </a:solidFill>
                <a:latin typeface="Roboto"/>
              </a:rPr>
              <a:t>Reading Live Sensor </a:t>
            </a:r>
            <a:r>
              <a:rPr lang="en-US" sz="3200" b="1" dirty="0" smtClean="0">
                <a:solidFill>
                  <a:srgbClr val="333333"/>
                </a:solidFill>
                <a:latin typeface="Roboto"/>
              </a:rPr>
              <a:t>Values</a:t>
            </a:r>
            <a:endParaRPr lang="en-US" sz="3200" b="1" dirty="0">
              <a:solidFill>
                <a:srgbClr val="333333"/>
              </a:solidFill>
              <a:latin typeface="Roboto"/>
            </a:endParaRPr>
          </a:p>
          <a:p>
            <a:pPr marL="571500" indent="-571500" algn="just">
              <a:buFont typeface="+mj-lt"/>
              <a:buAutoNum type="arabicPeriod"/>
            </a:pPr>
            <a:r>
              <a:rPr lang="en-US" sz="3200" b="1" dirty="0">
                <a:solidFill>
                  <a:srgbClr val="333333"/>
                </a:solidFill>
                <a:latin typeface="Roboto"/>
              </a:rPr>
              <a:t>Recording Sensing </a:t>
            </a:r>
            <a:r>
              <a:rPr lang="en-US" sz="3200" b="1" dirty="0" smtClean="0">
                <a:solidFill>
                  <a:srgbClr val="333333"/>
                </a:solidFill>
                <a:latin typeface="Roboto"/>
              </a:rPr>
              <a:t>Data</a:t>
            </a:r>
          </a:p>
          <a:p>
            <a:pPr marL="571500" indent="-571500" algn="just">
              <a:buFont typeface="+mj-lt"/>
              <a:buAutoNum type="arabicPeriod"/>
            </a:pPr>
            <a:r>
              <a:rPr lang="en-US" sz="3200" b="1" dirty="0">
                <a:solidFill>
                  <a:srgbClr val="333333"/>
                </a:solidFill>
                <a:latin typeface="Roboto"/>
              </a:rPr>
              <a:t>Sensing Area </a:t>
            </a:r>
            <a:r>
              <a:rPr lang="en-US" sz="3200" b="1" dirty="0" smtClean="0">
                <a:solidFill>
                  <a:srgbClr val="333333"/>
                </a:solidFill>
                <a:latin typeface="Roboto"/>
              </a:rPr>
              <a:t>Overlap</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093759"/>
      </p:ext>
    </p:extLst>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24</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2.2 Mapping SONAR Data</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170646"/>
          </a:xfrm>
          <a:prstGeom prst="rect">
            <a:avLst/>
          </a:prstGeom>
        </p:spPr>
        <p:txBody>
          <a:bodyPr wrap="square">
            <a:spAutoFit/>
          </a:bodyPr>
          <a:lstStyle/>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Advances in technology have since enabled the deployment of Remotely Operated Vehicles (ROVs) and Autonomous Underwater Vehicles (AUVs), which have revolutionized ocean exploration by automating complex tasks and reducing dependence on human </a:t>
            </a:r>
            <a:r>
              <a:rPr lang="en-US" sz="3000" dirty="0" smtClean="0">
                <a:latin typeface="Times New Roman" panose="02020603050405020304" pitchFamily="18" charset="0"/>
                <a:ea typeface="Times New Roman" panose="02020603050405020304" pitchFamily="18" charset="0"/>
              </a:rPr>
              <a:t>operators.</a:t>
            </a:r>
          </a:p>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Despite these technological advancements,</a:t>
            </a:r>
            <a:r>
              <a:rPr lang="en-US" sz="3000" spc="20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underwater</a:t>
            </a:r>
            <a:r>
              <a:rPr lang="en-US" sz="3000" spc="20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navigation and object detection remain challenging due to the limitations of optical sensors. </a:t>
            </a:r>
            <a:endParaRPr lang="en-US" sz="300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Water turbidity, light attenuation, and scattering severely degrade visual data quality,</a:t>
            </a:r>
            <a:r>
              <a:rPr lang="en-US" sz="3000" spc="18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making</a:t>
            </a:r>
            <a:r>
              <a:rPr lang="en-US" sz="3000" spc="15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camera-based</a:t>
            </a:r>
            <a:r>
              <a:rPr lang="en-US" sz="3000" spc="19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imaging</a:t>
            </a:r>
            <a:r>
              <a:rPr lang="en-US" sz="3000" spc="21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unreliable</a:t>
            </a:r>
            <a:r>
              <a:rPr lang="en-US" sz="3000" spc="19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in</a:t>
            </a:r>
            <a:r>
              <a:rPr lang="en-US" sz="3000" spc="16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most</a:t>
            </a:r>
            <a:r>
              <a:rPr lang="en-US" sz="3000" spc="15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sub-sea</a:t>
            </a:r>
            <a:r>
              <a:rPr lang="en-US" sz="3000" spc="140" dirty="0">
                <a:latin typeface="Times New Roman" panose="02020603050405020304" pitchFamily="18" charset="0"/>
                <a:ea typeface="Times New Roman" panose="02020603050405020304" pitchFamily="18" charset="0"/>
              </a:rPr>
              <a:t> </a:t>
            </a:r>
            <a:r>
              <a:rPr lang="en-US" sz="3000" dirty="0" smtClean="0">
                <a:latin typeface="Times New Roman" panose="02020603050405020304" pitchFamily="18" charset="0"/>
                <a:ea typeface="Times New Roman" panose="02020603050405020304" pitchFamily="18" charset="0"/>
              </a:rPr>
              <a:t>operations</a:t>
            </a:r>
            <a:r>
              <a:rPr lang="en-US" sz="3000" spc="180" dirty="0" smtClean="0">
                <a:latin typeface="Times New Roman" panose="02020603050405020304" pitchFamily="18" charset="0"/>
                <a:ea typeface="Times New Roman" panose="02020603050405020304" pitchFamily="18" charset="0"/>
              </a:rPr>
              <a:t>.</a:t>
            </a:r>
            <a:endParaRPr lang="en-IN" sz="30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1389373"/>
      </p:ext>
    </p:extLst>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25</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a:t>
            </a:r>
            <a:r>
              <a:rPr lang="en-US" sz="4000" dirty="0" smtClean="0">
                <a:latin typeface="Times New Roman" panose="02020603050405020304" pitchFamily="18" charset="0"/>
                <a:cs typeface="Times New Roman" panose="02020603050405020304" pitchFamily="18" charset="0"/>
              </a:rPr>
              <a:t>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4524315"/>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Sonar technology has</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emerged as a viable solution for underwater detection and navigation, as</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it</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operates using</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acoustic waves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that</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can penetrate murky waters and function</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independently </a:t>
            </a:r>
            <a:r>
              <a:rPr lang="en-US" sz="3200" dirty="0" smtClean="0">
                <a:latin typeface="Times New Roman" panose="02020603050405020304" pitchFamily="18" charset="0"/>
                <a:ea typeface="Times New Roman" panose="02020603050405020304" pitchFamily="18" charset="0"/>
              </a:rPr>
              <a:t>at</a:t>
            </a:r>
            <a:r>
              <a:rPr lang="en-US" sz="3200" i="1" spc="-10"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ambient lighting</a:t>
            </a:r>
            <a:r>
              <a:rPr lang="en-US" sz="3200" spc="-1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conditions.</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Sonar</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systems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are</a:t>
            </a:r>
            <a:r>
              <a:rPr lang="en-US" sz="3200" spc="-6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generally </a:t>
            </a:r>
            <a:r>
              <a:rPr lang="en-US" sz="3200" dirty="0">
                <a:latin typeface="Times New Roman" panose="02020603050405020304" pitchFamily="18" charset="0"/>
                <a:ea typeface="Times New Roman" panose="02020603050405020304" pitchFamily="18" charset="0"/>
              </a:rPr>
              <a:t>categorized into </a:t>
            </a:r>
            <a:r>
              <a:rPr lang="en-US" sz="3200" i="1" dirty="0">
                <a:latin typeface="Times New Roman" panose="02020603050405020304" pitchFamily="18" charset="0"/>
                <a:ea typeface="Times New Roman" panose="02020603050405020304" pitchFamily="18" charset="0"/>
              </a:rPr>
              <a:t>single-beam </a:t>
            </a:r>
            <a:r>
              <a:rPr lang="en-US" sz="3200" dirty="0">
                <a:latin typeface="Times New Roman" panose="02020603050405020304" pitchFamily="18" charset="0"/>
                <a:ea typeface="Times New Roman" panose="02020603050405020304" pitchFamily="18" charset="0"/>
              </a:rPr>
              <a:t>and </a:t>
            </a:r>
            <a:r>
              <a:rPr lang="en-US" sz="3200" i="1" dirty="0">
                <a:latin typeface="Times New Roman" panose="02020603050405020304" pitchFamily="18" charset="0"/>
                <a:ea typeface="Times New Roman" panose="02020603050405020304" pitchFamily="18" charset="0"/>
              </a:rPr>
              <a:t>multi-beam </a:t>
            </a:r>
            <a:r>
              <a:rPr lang="en-US" sz="3200" dirty="0">
                <a:latin typeface="Times New Roman" panose="02020603050405020304" pitchFamily="18" charset="0"/>
                <a:ea typeface="Times New Roman" panose="02020603050405020304" pitchFamily="18" charset="0"/>
              </a:rPr>
              <a:t>types</a:t>
            </a:r>
            <a:r>
              <a:rPr lang="en-US" sz="32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Multi-beam sonars </a:t>
            </a:r>
            <a:r>
              <a:rPr lang="en-US" sz="3200" dirty="0" smtClean="0">
                <a:latin typeface="Times New Roman" panose="02020603050405020304" pitchFamily="18" charset="0"/>
                <a:ea typeface="Times New Roman" panose="02020603050405020304" pitchFamily="18" charset="0"/>
              </a:rPr>
              <a:t>provide </a:t>
            </a:r>
            <a:r>
              <a:rPr lang="en-US" sz="3200" dirty="0">
                <a:latin typeface="Times New Roman" panose="02020603050405020304" pitchFamily="18" charset="0"/>
                <a:ea typeface="Times New Roman" panose="02020603050405020304" pitchFamily="18" charset="0"/>
              </a:rPr>
              <a:t>extensive spatial coverage and high-resolution 3D reconstructions, but their cost</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complexity limit</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accessibility</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for</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smaller</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research or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commercial</a:t>
            </a:r>
            <a:r>
              <a:rPr lang="en-US" sz="3200" spc="3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platforms.</a:t>
            </a:r>
          </a:p>
        </p:txBody>
      </p:sp>
    </p:spTree>
    <p:extLst>
      <p:ext uri="{BB962C8B-B14F-4D97-AF65-F5344CB8AC3E}">
        <p14:creationId xmlns:p14="http://schemas.microsoft.com/office/powerpoint/2010/main" val="1883460215"/>
      </p:ext>
    </p:extLst>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26</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Sonar technology has</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emerged as a viable solution for underwater detection and navigation, as</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it</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operates using</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acoustic waves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that</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can penetrate murky waters and function</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independently </a:t>
            </a:r>
            <a:r>
              <a:rPr lang="en-US" sz="3200" dirty="0" smtClean="0">
                <a:latin typeface="Times New Roman" panose="02020603050405020304" pitchFamily="18" charset="0"/>
                <a:ea typeface="Times New Roman" panose="02020603050405020304" pitchFamily="18" charset="0"/>
              </a:rPr>
              <a:t>at</a:t>
            </a:r>
            <a:r>
              <a:rPr lang="en-US" sz="3200" i="1" spc="-10"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ambient lighting</a:t>
            </a:r>
            <a:r>
              <a:rPr lang="en-US" sz="3200" spc="-1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conditions.</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Sonar</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systems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are</a:t>
            </a:r>
            <a:r>
              <a:rPr lang="en-US" sz="3200" spc="-6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generally </a:t>
            </a:r>
            <a:r>
              <a:rPr lang="en-US" sz="3200" dirty="0">
                <a:latin typeface="Times New Roman" panose="02020603050405020304" pitchFamily="18" charset="0"/>
                <a:ea typeface="Times New Roman" panose="02020603050405020304" pitchFamily="18" charset="0"/>
              </a:rPr>
              <a:t>categorized into </a:t>
            </a:r>
            <a:r>
              <a:rPr lang="en-US" sz="3200" b="1" i="1" dirty="0">
                <a:solidFill>
                  <a:srgbClr val="00B050"/>
                </a:solidFill>
                <a:latin typeface="Times New Roman" panose="02020603050405020304" pitchFamily="18" charset="0"/>
                <a:ea typeface="Times New Roman" panose="02020603050405020304" pitchFamily="18" charset="0"/>
              </a:rPr>
              <a:t>single-beam </a:t>
            </a:r>
            <a:r>
              <a:rPr lang="en-US" sz="3200" b="1" dirty="0">
                <a:solidFill>
                  <a:srgbClr val="00B050"/>
                </a:solidFill>
                <a:latin typeface="Times New Roman" panose="02020603050405020304" pitchFamily="18" charset="0"/>
                <a:ea typeface="Times New Roman" panose="02020603050405020304" pitchFamily="18" charset="0"/>
              </a:rPr>
              <a:t>and </a:t>
            </a:r>
            <a:r>
              <a:rPr lang="en-US" sz="3200" b="1" i="1" dirty="0">
                <a:solidFill>
                  <a:srgbClr val="00B050"/>
                </a:solidFill>
                <a:latin typeface="Times New Roman" panose="02020603050405020304" pitchFamily="18" charset="0"/>
                <a:ea typeface="Times New Roman" panose="02020603050405020304" pitchFamily="18" charset="0"/>
              </a:rPr>
              <a:t>multi-beam </a:t>
            </a:r>
            <a:r>
              <a:rPr lang="en-US" sz="3200" dirty="0">
                <a:latin typeface="Times New Roman" panose="02020603050405020304" pitchFamily="18" charset="0"/>
                <a:ea typeface="Times New Roman" panose="02020603050405020304" pitchFamily="18" charset="0"/>
              </a:rPr>
              <a:t>types</a:t>
            </a:r>
            <a:r>
              <a:rPr lang="en-US" sz="32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b="1" dirty="0">
                <a:solidFill>
                  <a:srgbClr val="00B050"/>
                </a:solidFill>
                <a:latin typeface="Times New Roman" panose="02020603050405020304" pitchFamily="18" charset="0"/>
                <a:ea typeface="Times New Roman" panose="02020603050405020304" pitchFamily="18" charset="0"/>
              </a:rPr>
              <a:t>Multi-beam</a:t>
            </a:r>
            <a:r>
              <a:rPr lang="en-US" sz="3200" dirty="0">
                <a:latin typeface="Times New Roman" panose="02020603050405020304" pitchFamily="18" charset="0"/>
                <a:ea typeface="Times New Roman" panose="02020603050405020304" pitchFamily="18" charset="0"/>
              </a:rPr>
              <a:t> sonars </a:t>
            </a:r>
            <a:r>
              <a:rPr lang="en-US" sz="3200" dirty="0" smtClean="0">
                <a:latin typeface="Times New Roman" panose="02020603050405020304" pitchFamily="18" charset="0"/>
                <a:ea typeface="Times New Roman" panose="02020603050405020304" pitchFamily="18" charset="0"/>
              </a:rPr>
              <a:t>provide </a:t>
            </a:r>
            <a:r>
              <a:rPr lang="en-US" sz="3200" dirty="0">
                <a:latin typeface="Times New Roman" panose="02020603050405020304" pitchFamily="18" charset="0"/>
                <a:ea typeface="Times New Roman" panose="02020603050405020304" pitchFamily="18" charset="0"/>
              </a:rPr>
              <a:t>extensive spatial coverage and high-resolution 3D reconstructions, but their cost</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complexity limit</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accessibility</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for</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smaller</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research or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commercial</a:t>
            </a:r>
            <a:r>
              <a:rPr lang="en-US" sz="3200" spc="3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platforms.</a:t>
            </a: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44319044"/>
      </p:ext>
    </p:extLst>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27</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Single-beam</a:t>
            </a:r>
            <a:r>
              <a:rPr lang="en-US" sz="3200" spc="115"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sonars—such</a:t>
            </a:r>
            <a:r>
              <a:rPr lang="en-US" sz="3200" spc="1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as the Blue Robotics Ping360—employ</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mechanically rotating transducer to</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sweep across</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specified range,</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generating 2D polar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representations</a:t>
            </a:r>
            <a:r>
              <a:rPr lang="en-US" sz="3200" spc="-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surrounding</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environment.</a:t>
            </a:r>
            <a:r>
              <a:rPr lang="en-US" sz="3200" spc="-40" dirty="0">
                <a:latin typeface="Times New Roman" panose="02020603050405020304" pitchFamily="18" charset="0"/>
                <a:ea typeface="Times New Roman" panose="02020603050405020304" pitchFamily="18" charset="0"/>
              </a:rPr>
              <a:t> </a:t>
            </a:r>
            <a:endParaRPr lang="en-US" sz="320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10" dirty="0">
                <a:latin typeface="Times New Roman" panose="02020603050405020304" pitchFamily="18" charset="0"/>
                <a:ea typeface="Times New Roman" panose="02020603050405020304" pitchFamily="18" charset="0"/>
              </a:rPr>
              <a:t>The</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sonar</a:t>
            </a:r>
            <a:r>
              <a:rPr lang="en-US" sz="3200" spc="7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scanned</a:t>
            </a:r>
            <a:r>
              <a:rPr lang="en-US" sz="3200" spc="1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 environment</a:t>
            </a:r>
            <a:r>
              <a:rPr lang="en-US" sz="3200" spc="1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incrementally,</a:t>
            </a:r>
            <a:r>
              <a:rPr lang="en-US" sz="320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recording</a:t>
            </a:r>
            <a:r>
              <a:rPr lang="en-US" sz="3200" spc="9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intensity</a:t>
            </a:r>
            <a:r>
              <a:rPr lang="en-US" sz="3200" spc="1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values within</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 range</a:t>
            </a:r>
            <a:r>
              <a:rPr lang="en-US" sz="320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0-255 at each angular</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position. </a:t>
            </a:r>
            <a:endParaRPr lang="en-US" sz="3200" spc="-1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10" dirty="0" smtClean="0">
                <a:latin typeface="Times New Roman" panose="02020603050405020304" pitchFamily="18" charset="0"/>
                <a:ea typeface="Times New Roman" panose="02020603050405020304" pitchFamily="18" charset="0"/>
              </a:rPr>
              <a:t>These </a:t>
            </a:r>
            <a:r>
              <a:rPr lang="en-US" sz="3200" spc="-10" dirty="0">
                <a:latin typeface="Times New Roman" panose="02020603050405020304" pitchFamily="18" charset="0"/>
                <a:ea typeface="Times New Roman" panose="02020603050405020304" pitchFamily="18" charset="0"/>
              </a:rPr>
              <a:t>intensity</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values represent the</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strength</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acoustic</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reflections</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from</a:t>
            </a:r>
            <a:r>
              <a:rPr lang="en-US" sz="3200" spc="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objects</a:t>
            </a:r>
            <a:r>
              <a:rPr lang="en-US" sz="3200" spc="3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within</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field</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view.</a:t>
            </a:r>
            <a:r>
              <a:rPr lang="en-US" sz="3200" spc="-20" dirty="0">
                <a:latin typeface="Times New Roman" panose="02020603050405020304" pitchFamily="18" charset="0"/>
                <a:ea typeface="Times New Roman" panose="02020603050405020304" pitchFamily="18" charset="0"/>
              </a:rPr>
              <a:t> </a:t>
            </a:r>
            <a:endParaRPr lang="en-US" sz="3200" spc="-2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10" dirty="0" smtClean="0">
                <a:latin typeface="Times New Roman" panose="02020603050405020304" pitchFamily="18" charset="0"/>
                <a:ea typeface="Times New Roman" panose="02020603050405020304" pitchFamily="18" charset="0"/>
              </a:rPr>
              <a:t>The</a:t>
            </a:r>
            <a:r>
              <a:rPr lang="en-US" sz="3200" spc="-15" dirty="0" smtClean="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raw Ping360</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sonar</a:t>
            </a:r>
            <a:r>
              <a:rPr lang="en-US" sz="3200" spc="1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output</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is</a:t>
            </a:r>
            <a:r>
              <a:rPr lang="en-US" sz="3200" spc="-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inherently</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represented</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polar</a:t>
            </a:r>
            <a:r>
              <a:rPr lang="en-US" sz="3200" spc="1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coordinates</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(range</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versus bearing).</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6698771"/>
      </p:ext>
    </p:extLst>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28</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09200"/>
          </a:xfrm>
          <a:prstGeom prst="rect">
            <a:avLst/>
          </a:prstGeom>
        </p:spPr>
        <p:txBody>
          <a:bodyPr wrap="square">
            <a:spAutoFit/>
          </a:bodyPr>
          <a:lstStyle/>
          <a:p>
            <a:pPr marL="571500" indent="-571500" algn="just">
              <a:buFont typeface="Arial" panose="020B0604020202020204" pitchFamily="34" charset="0"/>
              <a:buChar char="•"/>
            </a:pPr>
            <a:r>
              <a:rPr lang="en-US" sz="3200" spc="-10" dirty="0">
                <a:latin typeface="Times New Roman" panose="02020603050405020304" pitchFamily="18" charset="0"/>
                <a:ea typeface="Times New Roman" panose="02020603050405020304" pitchFamily="18" charset="0"/>
              </a:rPr>
              <a:t>Each</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beam</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corresponds</a:t>
            </a:r>
            <a:r>
              <a:rPr lang="en-US" sz="3200" spc="7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to</a:t>
            </a:r>
            <a:r>
              <a:rPr lang="en-US" sz="320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specific</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bearing</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angle,</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and</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each</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range</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bin </a:t>
            </a:r>
            <a:r>
              <a:rPr lang="en-US" sz="3200" spc="-20" dirty="0">
                <a:latin typeface="Times New Roman" panose="02020603050405020304" pitchFamily="18" charset="0"/>
                <a:ea typeface="Times New Roman" panose="02020603050405020304" pitchFamily="18" charset="0"/>
              </a:rPr>
              <a:t>encodes</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the reflected</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amplitude. </a:t>
            </a:r>
            <a:endParaRPr lang="en-US" sz="3200" spc="-2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20" dirty="0" smtClean="0">
                <a:latin typeface="Times New Roman" panose="02020603050405020304" pitchFamily="18" charset="0"/>
                <a:ea typeface="Times New Roman" panose="02020603050405020304" pitchFamily="18" charset="0"/>
              </a:rPr>
              <a:t>For</a:t>
            </a:r>
            <a:r>
              <a:rPr lang="en-US" sz="3200" spc="-25" dirty="0" smtClean="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interpretability and machine learning analysis, these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polar</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data</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are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converted</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into</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Cartesian</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occupancy</a:t>
            </a:r>
            <a:r>
              <a:rPr lang="en-US" sz="3200" spc="2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maps,</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where both axes</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rep- </a:t>
            </a:r>
            <a:r>
              <a:rPr lang="en-US" sz="3200" spc="-10" dirty="0">
                <a:latin typeface="Times New Roman" panose="02020603050405020304" pitchFamily="18" charset="0"/>
                <a:ea typeface="Times New Roman" panose="02020603050405020304" pitchFamily="18" charset="0"/>
              </a:rPr>
              <a:t>resent</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spatial</a:t>
            </a:r>
            <a:r>
              <a:rPr lang="en-US" sz="3200" spc="6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distance</a:t>
            </a:r>
            <a:r>
              <a:rPr lang="en-US" sz="3200" spc="-1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spc="-20" dirty="0" smtClean="0">
                <a:latin typeface="Times New Roman" panose="02020603050405020304" pitchFamily="18" charset="0"/>
                <a:ea typeface="Times New Roman" panose="02020603050405020304" pitchFamily="18" charset="0"/>
              </a:rPr>
              <a:t>Signal filtering</a:t>
            </a:r>
            <a:r>
              <a:rPr lang="en-US" sz="3200" spc="-45" dirty="0" smtClean="0">
                <a:latin typeface="Times New Roman" panose="02020603050405020304" pitchFamily="18" charset="0"/>
                <a:ea typeface="Times New Roman" panose="02020603050405020304" pitchFamily="18" charset="0"/>
              </a:rPr>
              <a:t> </a:t>
            </a:r>
            <a:r>
              <a:rPr lang="en-US" sz="3200" spc="-20" dirty="0" smtClean="0">
                <a:latin typeface="Times New Roman" panose="02020603050405020304" pitchFamily="18" charset="0"/>
                <a:ea typeface="Times New Roman" panose="02020603050405020304" pitchFamily="18" charset="0"/>
              </a:rPr>
              <a:t>is used to ensure only</a:t>
            </a:r>
            <a:r>
              <a:rPr lang="en-US" sz="3200" spc="-30" dirty="0" smtClean="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valid</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data</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points</a:t>
            </a:r>
            <a:r>
              <a:rPr lang="en-US" sz="3200" spc="-2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within</a:t>
            </a:r>
            <a:r>
              <a:rPr lang="en-US" sz="3200" spc="-1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the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useful</a:t>
            </a:r>
            <a:r>
              <a:rPr lang="en-US" sz="3200" spc="-3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scanning range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were</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retained</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for</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analysis.</a:t>
            </a:r>
            <a:r>
              <a:rPr lang="en-US" sz="3200" spc="-45" dirty="0">
                <a:latin typeface="Times New Roman" panose="02020603050405020304" pitchFamily="18" charset="0"/>
                <a:ea typeface="Times New Roman" panose="02020603050405020304" pitchFamily="18" charset="0"/>
              </a:rPr>
              <a:t> </a:t>
            </a:r>
            <a:endParaRPr lang="en-US" sz="3200" spc="-45"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20" dirty="0">
                <a:latin typeface="Times New Roman" panose="02020603050405020304" pitchFamily="18" charset="0"/>
                <a:ea typeface="Times New Roman" panose="02020603050405020304" pitchFamily="18" charset="0"/>
              </a:rPr>
              <a:t>Following this,</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statistical threshold approach</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was </a:t>
            </a:r>
            <a:r>
              <a:rPr lang="en-US" sz="3200" dirty="0">
                <a:latin typeface="Times New Roman" panose="02020603050405020304" pitchFamily="18" charset="0"/>
                <a:ea typeface="Times New Roman" panose="02020603050405020304" pitchFamily="18" charset="0"/>
              </a:rPr>
              <a:t>applied</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to</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further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refine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region</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interest</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(ROI)</a:t>
            </a:r>
            <a:r>
              <a:rPr lang="en-US" sz="3200" spc="-70" dirty="0">
                <a:latin typeface="Times New Roman" panose="02020603050405020304" pitchFamily="18" charset="0"/>
                <a:ea typeface="Times New Roman" panose="02020603050405020304" pitchFamily="18" charset="0"/>
              </a:rPr>
              <a:t> </a:t>
            </a:r>
            <a:r>
              <a:rPr lang="en-US" sz="3200" spc="-7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spc="-30" dirty="0">
                <a:latin typeface="Times New Roman" panose="02020603050405020304" pitchFamily="18" charset="0"/>
                <a:ea typeface="Times New Roman" panose="02020603050405020304" pitchFamily="18" charset="0"/>
              </a:rPr>
              <a:t>This</a:t>
            </a:r>
            <a:r>
              <a:rPr lang="en-US" sz="3200" spc="-5"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approach</a:t>
            </a:r>
            <a:r>
              <a:rPr lang="en-US" sz="320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ensured</a:t>
            </a:r>
            <a:r>
              <a:rPr lang="en-US" sz="320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the</a:t>
            </a:r>
            <a:r>
              <a:rPr lang="en-US" sz="3200" spc="-35"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removal</a:t>
            </a:r>
            <a:r>
              <a:rPr lang="en-US" sz="3200" spc="-5"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of </a:t>
            </a:r>
            <a:r>
              <a:rPr lang="en-US" sz="3200" spc="-20" dirty="0">
                <a:latin typeface="Times New Roman" panose="02020603050405020304" pitchFamily="18" charset="0"/>
                <a:ea typeface="Times New Roman" panose="02020603050405020304" pitchFamily="18" charset="0"/>
              </a:rPr>
              <a:t>noise while preserving</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significant</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reflections from </a:t>
            </a:r>
            <a:r>
              <a:rPr lang="en-US" sz="3200" spc="-20" dirty="0" smtClean="0">
                <a:latin typeface="Times New Roman" panose="02020603050405020304" pitchFamily="18" charset="0"/>
                <a:ea typeface="Times New Roman" panose="02020603050405020304" pitchFamily="18" charset="0"/>
              </a:rPr>
              <a:t>objects.</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21132056"/>
      </p:ext>
    </p:extLst>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29</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046988"/>
          </a:xfrm>
          <a:prstGeom prst="rect">
            <a:avLst/>
          </a:prstGeom>
        </p:spPr>
        <p:txBody>
          <a:bodyPr wrap="square">
            <a:spAutoFit/>
          </a:bodyPr>
          <a:lstStyle/>
          <a:p>
            <a:pPr marL="571500" indent="-571500" algn="just">
              <a:buFont typeface="Arial" panose="020B0604020202020204" pitchFamily="34" charset="0"/>
              <a:buChar char="•"/>
            </a:pPr>
            <a:r>
              <a:rPr lang="en-US" sz="3200" spc="-10" dirty="0" smtClean="0">
                <a:latin typeface="Times New Roman" panose="02020603050405020304" pitchFamily="18" charset="0"/>
                <a:ea typeface="Times New Roman" panose="02020603050405020304" pitchFamily="18" charset="0"/>
              </a:rPr>
              <a:t>The</a:t>
            </a:r>
            <a:r>
              <a:rPr lang="en-US" sz="3200" spc="-50" dirty="0" smtClean="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data</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is</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manually inspected and</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transformed into</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polar</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coordinates and</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converted</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into</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grayscale image</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format</a:t>
            </a:r>
            <a:r>
              <a:rPr lang="en-US" sz="3200" spc="-3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for</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training the </a:t>
            </a:r>
            <a:r>
              <a:rPr lang="en-US" sz="3200" spc="-10" dirty="0" smtClean="0">
                <a:latin typeface="Times New Roman" panose="02020603050405020304" pitchFamily="18" charset="0"/>
                <a:ea typeface="Times New Roman" panose="02020603050405020304" pitchFamily="18" charset="0"/>
              </a:rPr>
              <a:t>deep learning networks.</a:t>
            </a:r>
          </a:p>
          <a:p>
            <a:pPr marL="571500" indent="-571500" algn="just">
              <a:buFont typeface="Arial" panose="020B0604020202020204" pitchFamily="34" charset="0"/>
              <a:buChar char="•"/>
            </a:pPr>
            <a:r>
              <a:rPr lang="en-US" sz="3200" spc="-10" dirty="0">
                <a:latin typeface="Times New Roman" panose="02020603050405020304" pitchFamily="18" charset="0"/>
                <a:ea typeface="Times New Roman" panose="02020603050405020304" pitchFamily="18" charset="0"/>
              </a:rPr>
              <a:t>With</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this</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types</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input,</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model</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learns</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to</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separate</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objects</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from</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back- </a:t>
            </a:r>
            <a:r>
              <a:rPr lang="en-US" sz="3200" dirty="0">
                <a:latin typeface="Times New Roman" panose="02020603050405020304" pitchFamily="18" charset="0"/>
                <a:ea typeface="Times New Roman" panose="02020603050405020304" pitchFamily="18" charset="0"/>
              </a:rPr>
              <a:t>ground</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based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on</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intensity</a:t>
            </a:r>
            <a:r>
              <a:rPr lang="en-US" sz="3200" spc="-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variations</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detected</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by</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sonar.</a:t>
            </a:r>
            <a:r>
              <a:rPr lang="en-US" sz="3200" spc="-65" dirty="0">
                <a:latin typeface="Times New Roman" panose="02020603050405020304" pitchFamily="18" charset="0"/>
                <a:ea typeface="Times New Roman" panose="02020603050405020304" pitchFamily="18" charset="0"/>
              </a:rPr>
              <a:t> </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34053625"/>
      </p:ext>
    </p:extLst>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30</a:t>
            </a:fld>
            <a:endParaRPr dirty="0"/>
          </a:p>
        </p:txBody>
      </p:sp>
      <p:sp>
        <p:nvSpPr>
          <p:cNvPr id="4" name="TextBox 3"/>
          <p:cNvSpPr txBox="1"/>
          <p:nvPr/>
        </p:nvSpPr>
        <p:spPr>
          <a:xfrm>
            <a:off x="2204720" y="454968"/>
            <a:ext cx="980325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139869"/>
          </a:xfrm>
          <a:prstGeom prst="rect">
            <a:avLst/>
          </a:prstGeom>
        </p:spPr>
        <p:txBody>
          <a:bodyPr wrap="square">
            <a:spAutoFit/>
          </a:bodyPr>
          <a:lstStyle/>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rPr>
              <a:t>Precise</a:t>
            </a:r>
            <a:r>
              <a:rPr lang="en-US" sz="3200" spc="200" dirty="0" smtClean="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localization</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is</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prerequisite</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for</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many</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autonomous </a:t>
            </a:r>
            <a:r>
              <a:rPr lang="en-US" sz="3200" dirty="0">
                <a:solidFill>
                  <a:srgbClr val="231F20"/>
                </a:solidFill>
                <a:latin typeface="Times New Roman" panose="02020603050405020304" pitchFamily="18" charset="0"/>
                <a:ea typeface="Times New Roman" panose="02020603050405020304" pitchFamily="18" charset="0"/>
              </a:rPr>
              <a:t>systems, such as robotics, unmanned aerial </a:t>
            </a:r>
            <a:r>
              <a:rPr lang="en-US" sz="3200" dirty="0" smtClean="0">
                <a:solidFill>
                  <a:srgbClr val="231F20"/>
                </a:solidFill>
                <a:latin typeface="Times New Roman" panose="02020603050405020304" pitchFamily="18" charset="0"/>
                <a:ea typeface="Times New Roman" panose="02020603050405020304" pitchFamily="18" charset="0"/>
              </a:rPr>
              <a:t>vehicles</a:t>
            </a:r>
            <a:r>
              <a:rPr lang="en-US" sz="3200" dirty="0">
                <a:solidFill>
                  <a:srgbClr val="231F20"/>
                </a:solidFill>
                <a:latin typeface="Times New Roman" panose="02020603050405020304" pitchFamily="18" charset="0"/>
                <a:ea typeface="Times New Roman" panose="02020603050405020304" pitchFamily="18" charset="0"/>
              </a:rPr>
              <a:t>,</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etc.</a:t>
            </a:r>
          </a:p>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rPr>
              <a:t>Also</a:t>
            </a:r>
            <a:r>
              <a:rPr lang="en-US" sz="3200" dirty="0">
                <a:solidFill>
                  <a:srgbClr val="231F20"/>
                </a:solidFill>
                <a:latin typeface="Times New Roman" panose="02020603050405020304" pitchFamily="18" charset="0"/>
                <a:ea typeface="Times New Roman" panose="02020603050405020304" pitchFamily="18" charset="0"/>
              </a:rPr>
              <a:t>,</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indoor</a:t>
            </a:r>
            <a:r>
              <a:rPr lang="en-US" sz="3200" spc="-6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positioning</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is</a:t>
            </a:r>
            <a:r>
              <a:rPr lang="en-US" sz="3200" spc="-6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an</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especially</a:t>
            </a:r>
            <a:r>
              <a:rPr lang="en-US" sz="3200" spc="-6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challenging problem,</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where</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localization</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cannot</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be</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achieved</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by</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GPS</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due to</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the</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satellite</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signal</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being</a:t>
            </a:r>
            <a:r>
              <a:rPr lang="en-US" sz="3200" spc="11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greatly</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attenuated.</a:t>
            </a:r>
          </a:p>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rPr>
              <a:t>While</a:t>
            </a:r>
            <a:r>
              <a:rPr lang="en-US" sz="3200" spc="105" dirty="0" smtClean="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the</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traditional</a:t>
            </a:r>
            <a:r>
              <a:rPr lang="en-US" sz="3200" spc="100" dirty="0" smtClean="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radio-based</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indoor</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positioning</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technologies,</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such</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as Bluetooth,</a:t>
            </a:r>
            <a:r>
              <a:rPr lang="en-US" sz="3200" spc="7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Wi-Fi,</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Radio-frequency</a:t>
            </a:r>
            <a:r>
              <a:rPr lang="en-US" sz="3200" spc="7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Identification</a:t>
            </a:r>
            <a:r>
              <a:rPr lang="en-US" sz="3200" spc="7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(RFID)</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and ultra-wideband</a:t>
            </a:r>
            <a:r>
              <a:rPr lang="en-US" sz="3200" spc="-3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(UWB),</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still</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have</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some</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disadvantages</a:t>
            </a:r>
            <a:r>
              <a:rPr lang="en-US" sz="3200" spc="-3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in</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terms of</a:t>
            </a:r>
            <a:r>
              <a:rPr lang="en-US" sz="3200" spc="-1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low</a:t>
            </a:r>
            <a:r>
              <a:rPr lang="en-US" sz="3200" spc="-1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accuracy,</a:t>
            </a:r>
            <a:r>
              <a:rPr lang="en-US" sz="3200" spc="-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high</a:t>
            </a:r>
            <a:r>
              <a:rPr lang="en-US" sz="3200" spc="-1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latency,</a:t>
            </a:r>
            <a:r>
              <a:rPr lang="en-US" sz="3200" spc="-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electromagnetic</a:t>
            </a:r>
            <a:r>
              <a:rPr lang="en-US" sz="3200" spc="-1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interference</a:t>
            </a:r>
            <a:r>
              <a:rPr lang="en-US" sz="3200" spc="-10" dirty="0">
                <a:solidFill>
                  <a:srgbClr val="231F20"/>
                </a:solidFill>
                <a:latin typeface="Times New Roman" panose="02020603050405020304" pitchFamily="18" charset="0"/>
                <a:ea typeface="Times New Roman" panose="02020603050405020304" pitchFamily="18" charset="0"/>
              </a:rPr>
              <a:t> </a:t>
            </a:r>
            <a:r>
              <a:rPr lang="en-US" sz="3200" spc="-25" dirty="0" smtClean="0">
                <a:solidFill>
                  <a:srgbClr val="231F20"/>
                </a:solidFill>
                <a:latin typeface="Times New Roman" panose="02020603050405020304" pitchFamily="18" charset="0"/>
                <a:ea typeface="Times New Roman" panose="02020603050405020304" pitchFamily="18" charset="0"/>
              </a:rPr>
              <a:t>or </a:t>
            </a:r>
            <a:r>
              <a:rPr lang="en-US" sz="3200" dirty="0" smtClean="0">
                <a:solidFill>
                  <a:srgbClr val="231F20"/>
                </a:solidFill>
                <a:latin typeface="Times New Roman" panose="02020603050405020304" pitchFamily="18" charset="0"/>
                <a:ea typeface="Times New Roman" panose="02020603050405020304" pitchFamily="18" charset="0"/>
              </a:rPr>
              <a:t>high</a:t>
            </a:r>
            <a:r>
              <a:rPr lang="en-US" sz="3200" spc="-55" dirty="0" smtClean="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hardware</a:t>
            </a:r>
            <a:r>
              <a:rPr lang="en-US" sz="3200" spc="-55"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cost.</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94927475"/>
      </p:ext>
    </p:ext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31</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300874"/>
            <a:ext cx="11407140" cy="4708981"/>
          </a:xfrm>
          <a:prstGeom prst="rect">
            <a:avLst/>
          </a:prstGeom>
        </p:spPr>
        <p:txBody>
          <a:bodyPr wrap="square">
            <a:spAutoFit/>
          </a:bodyPr>
          <a:lstStyle/>
          <a:p>
            <a:pPr marL="571500" indent="-571500" algn="just">
              <a:buFont typeface="Arial" panose="020B0604020202020204" pitchFamily="34" charset="0"/>
              <a:buChar char="•"/>
            </a:pPr>
            <a:r>
              <a:rPr lang="en-US" sz="3000" dirty="0" smtClean="0">
                <a:solidFill>
                  <a:srgbClr val="231F20"/>
                </a:solidFill>
                <a:latin typeface="Times New Roman" panose="02020603050405020304" pitchFamily="18" charset="0"/>
                <a:ea typeface="Times New Roman" panose="02020603050405020304" pitchFamily="18" charset="0"/>
              </a:rPr>
              <a:t>The </a:t>
            </a:r>
            <a:r>
              <a:rPr lang="en-US" sz="3000" dirty="0">
                <a:solidFill>
                  <a:srgbClr val="231F20"/>
                </a:solidFill>
                <a:latin typeface="Times New Roman" panose="02020603050405020304" pitchFamily="18" charset="0"/>
                <a:ea typeface="Times New Roman" panose="02020603050405020304" pitchFamily="18" charset="0"/>
              </a:rPr>
              <a:t>localization technology based on visible light communication (VLC), which is referred as visible light positioning (VLP), has attracted intensive attention as it can </a:t>
            </a:r>
            <a:r>
              <a:rPr lang="en-US" sz="3000" spc="-10" dirty="0">
                <a:solidFill>
                  <a:srgbClr val="231F20"/>
                </a:solidFill>
                <a:latin typeface="Times New Roman" panose="02020603050405020304" pitchFamily="18" charset="0"/>
                <a:ea typeface="Times New Roman" panose="02020603050405020304" pitchFamily="18" charset="0"/>
              </a:rPr>
              <a:t>provide</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high</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accuracy</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positioning</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based</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on</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the</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existing</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lighting </a:t>
            </a:r>
            <a:r>
              <a:rPr lang="en-US" sz="3000" dirty="0">
                <a:solidFill>
                  <a:srgbClr val="231F20"/>
                </a:solidFill>
                <a:latin typeface="Times New Roman" panose="02020603050405020304" pitchFamily="18" charset="0"/>
                <a:ea typeface="Times New Roman" panose="02020603050405020304" pitchFamily="18" charset="0"/>
              </a:rPr>
              <a:t>infrastructure</a:t>
            </a:r>
            <a:r>
              <a:rPr lang="en-US" sz="3000" dirty="0" smtClean="0">
                <a:solidFill>
                  <a:srgbClr val="231F20"/>
                </a:solidFill>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000" dirty="0">
                <a:solidFill>
                  <a:srgbClr val="231F20"/>
                </a:solidFill>
                <a:latin typeface="Times New Roman" panose="02020603050405020304" pitchFamily="18" charset="0"/>
                <a:ea typeface="Times New Roman" panose="02020603050405020304" pitchFamily="18" charset="0"/>
              </a:rPr>
              <a:t>The</a:t>
            </a:r>
            <a:r>
              <a:rPr lang="en-US" sz="3000" spc="-4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modulated</a:t>
            </a:r>
            <a:r>
              <a:rPr lang="en-US" sz="3000" spc="-4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LED</a:t>
            </a:r>
            <a:r>
              <a:rPr lang="en-US" sz="3000" spc="-4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broadcasts</a:t>
            </a:r>
            <a:r>
              <a:rPr lang="en-US" sz="3000" spc="-4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its</a:t>
            </a:r>
            <a:r>
              <a:rPr lang="en-US" sz="3000" spc="-4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unique identity (ID) via switching at a high frequency imperceptible to</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the</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human</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eye,</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but</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which</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can</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be</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recognized</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by</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photodiodes (PD) </a:t>
            </a:r>
            <a:r>
              <a:rPr lang="en-US" sz="3000" dirty="0" smtClean="0">
                <a:solidFill>
                  <a:srgbClr val="231F20"/>
                </a:solidFill>
                <a:latin typeface="Times New Roman" panose="02020603050405020304" pitchFamily="18" charset="0"/>
                <a:ea typeface="Times New Roman" panose="02020603050405020304" pitchFamily="18" charset="0"/>
              </a:rPr>
              <a:t>and </a:t>
            </a:r>
            <a:r>
              <a:rPr lang="en-US" sz="3000" dirty="0">
                <a:solidFill>
                  <a:srgbClr val="231F20"/>
                </a:solidFill>
                <a:latin typeface="Times New Roman" panose="02020603050405020304" pitchFamily="18" charset="0"/>
                <a:ea typeface="Times New Roman" panose="02020603050405020304" pitchFamily="18" charset="0"/>
              </a:rPr>
              <a:t>rolling shutter effect (RSE) </a:t>
            </a:r>
            <a:r>
              <a:rPr lang="en-US" sz="3000" dirty="0" smtClean="0">
                <a:solidFill>
                  <a:srgbClr val="231F20"/>
                </a:solidFill>
                <a:latin typeface="Times New Roman" panose="02020603050405020304" pitchFamily="18" charset="0"/>
                <a:ea typeface="Times New Roman" panose="02020603050405020304" pitchFamily="18" charset="0"/>
              </a:rPr>
              <a:t>cameras.</a:t>
            </a:r>
          </a:p>
          <a:p>
            <a:pPr marL="571500" indent="-571500" algn="just">
              <a:buFont typeface="Arial" panose="020B0604020202020204" pitchFamily="34" charset="0"/>
              <a:buChar char="•"/>
            </a:pPr>
            <a:r>
              <a:rPr lang="en-US" sz="3000" dirty="0">
                <a:solidFill>
                  <a:srgbClr val="231F20"/>
                </a:solidFill>
                <a:latin typeface="Times New Roman" panose="02020603050405020304" pitchFamily="18" charset="0"/>
                <a:ea typeface="Times New Roman" panose="02020603050405020304" pitchFamily="18" charset="0"/>
              </a:rPr>
              <a:t>The</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LED-ID</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can</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be</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mapped/modulated</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once</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for</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all</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since</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they are normally fixed and not easily vulnerable to environmental changes.</a:t>
            </a:r>
            <a:endParaRPr lang="en-IN" sz="30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02302748"/>
      </p:ext>
    </p:extLst>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32</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Sensors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are imperfect, and their measurements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are</a:t>
            </a:r>
            <a:r>
              <a:rPr lang="en-US" sz="3200" spc="-4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prone</a:t>
            </a:r>
            <a:r>
              <a:rPr lang="en-US" sz="3200" spc="-4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to</a:t>
            </a:r>
            <a:r>
              <a:rPr lang="en-US" sz="3200" spc="-4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errors.</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3200" spc="-5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Sensors </a:t>
            </a:r>
            <a:r>
              <a:rPr lang="en-US" sz="3200" dirty="0">
                <a:solidFill>
                  <a:srgbClr val="333333"/>
                </a:solidFill>
                <a:latin typeface="Times New Roman" panose="02020603050405020304" pitchFamily="18" charset="0"/>
                <a:cs typeface="Times New Roman" panose="02020603050405020304" pitchFamily="18" charset="0"/>
              </a:rPr>
              <a:t>should be carefully mounted and aligned in order for your application to receive optimum results.</a:t>
            </a:r>
            <a:endParaRPr lang="en-US" sz="3200" spc="-5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Navigation</a:t>
            </a:r>
            <a:r>
              <a:rPr lang="en-US" sz="3200" baseline="300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denotes</a:t>
            </a:r>
            <a:r>
              <a:rPr lang="en-US" sz="3200" spc="-6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the</a:t>
            </a:r>
            <a:r>
              <a:rPr lang="en-US" sz="3200" spc="-6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robot’s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ability</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to</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determine</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its</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own</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position</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in</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its</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frame</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of</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reference</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and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then</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to</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plan</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path</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towards</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some</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goal</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location.</a:t>
            </a:r>
          </a:p>
          <a:p>
            <a:pPr marL="571500" indent="-571500" algn="just">
              <a:buFont typeface="Arial" panose="020B0604020202020204" pitchFamily="34" charset="0"/>
              <a:buChar char="•"/>
            </a:pPr>
            <a:r>
              <a:rPr lang="en-US" sz="3200" dirty="0">
                <a:solidFill>
                  <a:srgbClr val="333333"/>
                </a:solidFill>
                <a:latin typeface="Times New Roman" panose="02020603050405020304" pitchFamily="18" charset="0"/>
                <a:cs typeface="Times New Roman" panose="02020603050405020304" pitchFamily="18" charset="0"/>
              </a:rPr>
              <a:t>The most important consideration to reduce measurement error is aligning the sensor beam so that it is parallel to the dimension to be measured</a:t>
            </a:r>
            <a:r>
              <a:rPr lang="en-US" sz="3200" dirty="0" smtClean="0">
                <a:solidFill>
                  <a:srgbClr val="333333"/>
                </a:solidFill>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57345969"/>
      </p:ext>
    </p:extLst>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33</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a:solidFill>
                  <a:srgbClr val="333333"/>
                </a:solidFill>
                <a:latin typeface="Times New Roman" panose="02020603050405020304" pitchFamily="18" charset="0"/>
                <a:cs typeface="Times New Roman" panose="02020603050405020304" pitchFamily="18" charset="0"/>
              </a:rPr>
              <a:t>The easiest example to describe is height.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If we want to </a:t>
            </a:r>
            <a:r>
              <a:rPr lang="en-US" sz="3200" dirty="0">
                <a:solidFill>
                  <a:srgbClr val="333333"/>
                </a:solidFill>
                <a:latin typeface="Times New Roman" panose="02020603050405020304" pitchFamily="18" charset="0"/>
                <a:cs typeface="Times New Roman" panose="02020603050405020304" pitchFamily="18" charset="0"/>
              </a:rPr>
              <a:t>measure the height of an object with a ruler, you would want that ruler to be perfectly up and down.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If </a:t>
            </a:r>
            <a:r>
              <a:rPr lang="en-US" sz="3200" dirty="0">
                <a:solidFill>
                  <a:srgbClr val="333333"/>
                </a:solidFill>
                <a:latin typeface="Times New Roman" panose="02020603050405020304" pitchFamily="18" charset="0"/>
                <a:cs typeface="Times New Roman" panose="02020603050405020304" pitchFamily="18" charset="0"/>
              </a:rPr>
              <a:t>the ruler weren’t perfectly up and down, </a:t>
            </a:r>
            <a:r>
              <a:rPr lang="en-US" sz="3200" dirty="0" smtClean="0">
                <a:solidFill>
                  <a:srgbClr val="333333"/>
                </a:solidFill>
                <a:latin typeface="Times New Roman" panose="02020603050405020304" pitchFamily="18" charset="0"/>
                <a:cs typeface="Times New Roman" panose="02020603050405020304" pitchFamily="18" charset="0"/>
              </a:rPr>
              <a:t>we’d </a:t>
            </a:r>
            <a:r>
              <a:rPr lang="en-US" sz="3200" dirty="0">
                <a:solidFill>
                  <a:srgbClr val="333333"/>
                </a:solidFill>
                <a:latin typeface="Times New Roman" panose="02020603050405020304" pitchFamily="18" charset="0"/>
                <a:cs typeface="Times New Roman" panose="02020603050405020304" pitchFamily="18" charset="0"/>
              </a:rPr>
              <a:t>expect an error with your measurement.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It’s </a:t>
            </a:r>
            <a:r>
              <a:rPr lang="en-US" sz="3200" dirty="0">
                <a:solidFill>
                  <a:srgbClr val="333333"/>
                </a:solidFill>
                <a:latin typeface="Times New Roman" panose="02020603050405020304" pitchFamily="18" charset="0"/>
                <a:cs typeface="Times New Roman" panose="02020603050405020304" pitchFamily="18" charset="0"/>
              </a:rPr>
              <a:t>the same with the laser beam on our sensors.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We’d </a:t>
            </a:r>
            <a:r>
              <a:rPr lang="en-US" sz="3200" dirty="0">
                <a:solidFill>
                  <a:srgbClr val="333333"/>
                </a:solidFill>
                <a:latin typeface="Times New Roman" panose="02020603050405020304" pitchFamily="18" charset="0"/>
                <a:cs typeface="Times New Roman" panose="02020603050405020304" pitchFamily="18" charset="0"/>
              </a:rPr>
              <a:t>ideally want to align the beam so that it is perfectly up and down to measure height.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Any </a:t>
            </a:r>
            <a:r>
              <a:rPr lang="en-US" sz="3200" dirty="0">
                <a:solidFill>
                  <a:srgbClr val="333333"/>
                </a:solidFill>
                <a:latin typeface="Times New Roman" panose="02020603050405020304" pitchFamily="18" charset="0"/>
                <a:cs typeface="Times New Roman" panose="02020603050405020304" pitchFamily="18" charset="0"/>
              </a:rPr>
              <a:t>deviation from that alignment would introduce an error in the measurement.</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65941250"/>
      </p:ext>
    </p:extLst>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34</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539430"/>
          </a:xfrm>
          <a:prstGeom prst="rect">
            <a:avLst/>
          </a:prstGeom>
        </p:spPr>
        <p:txBody>
          <a:bodyPr wrap="square">
            <a:spAutoFit/>
          </a:bodyPr>
          <a:lstStyle/>
          <a:p>
            <a:pPr marL="571500" indent="-571500" algn="just">
              <a:buFont typeface="Arial" panose="020B0604020202020204" pitchFamily="34" charset="0"/>
              <a:buChar char="•"/>
            </a:pPr>
            <a:r>
              <a:rPr lang="en-US" sz="3200" dirty="0">
                <a:solidFill>
                  <a:srgbClr val="333333"/>
                </a:solidFill>
                <a:latin typeface="Times New Roman" panose="02020603050405020304" pitchFamily="18" charset="0"/>
                <a:cs typeface="Times New Roman" panose="02020603050405020304" pitchFamily="18" charset="0"/>
              </a:rPr>
              <a:t>While truly perfect alignment is impossible, with care and a well-made fixture or alignment bracket, </a:t>
            </a:r>
            <a:r>
              <a:rPr lang="en-US" sz="3200" dirty="0" smtClean="0">
                <a:solidFill>
                  <a:srgbClr val="333333"/>
                </a:solidFill>
                <a:latin typeface="Times New Roman" panose="02020603050405020304" pitchFamily="18" charset="0"/>
                <a:cs typeface="Times New Roman" panose="02020603050405020304" pitchFamily="18" charset="0"/>
              </a:rPr>
              <a:t>we </a:t>
            </a:r>
            <a:r>
              <a:rPr lang="en-US" sz="3200" dirty="0">
                <a:solidFill>
                  <a:srgbClr val="333333"/>
                </a:solidFill>
                <a:latin typeface="Times New Roman" panose="02020603050405020304" pitchFamily="18" charset="0"/>
                <a:cs typeface="Times New Roman" panose="02020603050405020304" pitchFamily="18" charset="0"/>
              </a:rPr>
              <a:t>often can get the alignment accurate enough to reduce the alignment error to significantly less than the sensor’s error</a:t>
            </a:r>
            <a:r>
              <a:rPr lang="en-US" sz="3200" dirty="0" smtClean="0">
                <a:solidFill>
                  <a:srgbClr val="333333"/>
                </a:solidFill>
                <a:latin typeface="Times New Roman" panose="02020603050405020304" pitchFamily="18" charset="0"/>
                <a:cs typeface="Times New Roman" panose="02020603050405020304" pitchFamily="18" charset="0"/>
              </a:rPr>
              <a:t>.</a:t>
            </a: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The </a:t>
            </a:r>
            <a:r>
              <a:rPr lang="en-US" sz="3200" dirty="0">
                <a:solidFill>
                  <a:srgbClr val="333333"/>
                </a:solidFill>
                <a:latin typeface="Times New Roman" panose="02020603050405020304" pitchFamily="18" charset="0"/>
                <a:cs typeface="Times New Roman" panose="02020603050405020304" pitchFamily="18" charset="0"/>
              </a:rPr>
              <a:t>angle between the beam and the surface of the target can also be a source of error.</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57326523"/>
      </p:ext>
    </p:extLst>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35</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4524315"/>
          </a:xfrm>
          <a:prstGeom prst="rect">
            <a:avLst/>
          </a:prstGeom>
        </p:spPr>
        <p:txBody>
          <a:bodyPr wrap="square">
            <a:spAutoFit/>
          </a:bodyPr>
          <a:lstStyle/>
          <a:p>
            <a:pPr marL="571500" indent="-571500" algn="just">
              <a:buFont typeface="Arial" panose="020B0604020202020204" pitchFamily="34" charset="0"/>
              <a:buChar char="•"/>
            </a:pPr>
            <a:r>
              <a:rPr lang="en-US" sz="3200" dirty="0">
                <a:solidFill>
                  <a:srgbClr val="333333"/>
                </a:solidFill>
                <a:latin typeface="Times New Roman" panose="02020603050405020304" pitchFamily="18" charset="0"/>
                <a:cs typeface="Times New Roman" panose="02020603050405020304" pitchFamily="18" charset="0"/>
              </a:rPr>
              <a:t>The reasons for the laser beam of the sensor is to strike the target surface as close to perpendicular as possible. </a:t>
            </a:r>
          </a:p>
          <a:p>
            <a:pPr marL="514350" indent="-514350" algn="just">
              <a:buAutoNum type="arabicPeriod"/>
            </a:pPr>
            <a:r>
              <a:rPr lang="en-US" sz="3200" dirty="0" smtClean="0">
                <a:solidFill>
                  <a:srgbClr val="333333"/>
                </a:solidFill>
                <a:latin typeface="Times New Roman" panose="02020603050405020304" pitchFamily="18" charset="0"/>
                <a:cs typeface="Times New Roman" panose="02020603050405020304" pitchFamily="18" charset="0"/>
              </a:rPr>
              <a:t>While </a:t>
            </a:r>
            <a:r>
              <a:rPr lang="en-US" sz="3200" dirty="0">
                <a:solidFill>
                  <a:srgbClr val="333333"/>
                </a:solidFill>
                <a:latin typeface="Times New Roman" panose="02020603050405020304" pitchFamily="18" charset="0"/>
                <a:cs typeface="Times New Roman" panose="02020603050405020304" pitchFamily="18" charset="0"/>
              </a:rPr>
              <a:t>the laser spot from our sensors often looks like a single point on the target, it does have a diameter.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69913" indent="-52388" algn="just"/>
            <a:r>
              <a:rPr lang="en-US" sz="3200" dirty="0" smtClean="0">
                <a:solidFill>
                  <a:srgbClr val="333333"/>
                </a:solidFill>
                <a:latin typeface="Times New Roman" panose="02020603050405020304" pitchFamily="18" charset="0"/>
                <a:cs typeface="Times New Roman" panose="02020603050405020304" pitchFamily="18" charset="0"/>
              </a:rPr>
              <a:t># The </a:t>
            </a:r>
            <a:r>
              <a:rPr lang="en-US" sz="3200" dirty="0">
                <a:solidFill>
                  <a:srgbClr val="333333"/>
                </a:solidFill>
                <a:latin typeface="Times New Roman" panose="02020603050405020304" pitchFamily="18" charset="0"/>
                <a:cs typeface="Times New Roman" panose="02020603050405020304" pitchFamily="18" charset="0"/>
              </a:rPr>
              <a:t>more angled the target is, the more the spot stretches out on the target.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69913" indent="-52388" algn="just"/>
            <a:r>
              <a:rPr lang="en-US" sz="3200" dirty="0">
                <a:solidFill>
                  <a:srgbClr val="333333"/>
                </a:solidFill>
                <a:latin typeface="Times New Roman" panose="02020603050405020304" pitchFamily="18" charset="0"/>
                <a:cs typeface="Times New Roman" panose="02020603050405020304" pitchFamily="18" charset="0"/>
              </a:rPr>
              <a:t>#</a:t>
            </a:r>
            <a:r>
              <a:rPr lang="en-US" sz="3200" dirty="0" smtClean="0">
                <a:solidFill>
                  <a:srgbClr val="333333"/>
                </a:solidFill>
                <a:latin typeface="Times New Roman" panose="02020603050405020304" pitchFamily="18" charset="0"/>
                <a:cs typeface="Times New Roman" panose="02020603050405020304" pitchFamily="18" charset="0"/>
              </a:rPr>
              <a:t>This </a:t>
            </a:r>
            <a:r>
              <a:rPr lang="en-US" sz="3200" dirty="0">
                <a:solidFill>
                  <a:srgbClr val="333333"/>
                </a:solidFill>
                <a:latin typeface="Times New Roman" panose="02020603050405020304" pitchFamily="18" charset="0"/>
                <a:cs typeface="Times New Roman" panose="02020603050405020304" pitchFamily="18" charset="0"/>
              </a:rPr>
              <a:t>does make it more difficult for the sensor to know where the center of that spot is, and that can cause errors</a:t>
            </a:r>
            <a:r>
              <a:rPr lang="en-US" sz="3200" dirty="0" smtClean="0">
                <a:solidFill>
                  <a:srgbClr val="333333"/>
                </a:solidFill>
                <a:latin typeface="Times New Roman" panose="02020603050405020304" pitchFamily="18" charset="0"/>
                <a:cs typeface="Times New Roman" panose="02020603050405020304" pitchFamily="18" charset="0"/>
              </a:rPr>
              <a:t>.</a:t>
            </a:r>
          </a:p>
          <a:p>
            <a:pPr marL="514350" indent="-514350" algn="just">
              <a:buAutoNum type="arabicPeriod"/>
            </a:pP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88001114"/>
      </p:ext>
    </p:extLst>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36</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539430"/>
          </a:xfrm>
          <a:prstGeom prst="rect">
            <a:avLst/>
          </a:prstGeom>
        </p:spPr>
        <p:txBody>
          <a:bodyPr wrap="square">
            <a:spAutoFit/>
          </a:bodyPr>
          <a:lstStyle/>
          <a:p>
            <a:pPr marL="514350" indent="-514350" algn="just">
              <a:buFont typeface="+mj-lt"/>
              <a:buAutoNum type="arabicPeriod" startAt="2"/>
            </a:pPr>
            <a:r>
              <a:rPr lang="en-US" sz="3200" dirty="0" smtClean="0">
                <a:solidFill>
                  <a:srgbClr val="333333"/>
                </a:solidFill>
                <a:latin typeface="Times New Roman" panose="02020603050405020304" pitchFamily="18" charset="0"/>
                <a:cs typeface="Times New Roman" panose="02020603050405020304" pitchFamily="18" charset="0"/>
              </a:rPr>
              <a:t>An </a:t>
            </a:r>
            <a:r>
              <a:rPr lang="en-US" sz="3200" dirty="0">
                <a:solidFill>
                  <a:srgbClr val="333333"/>
                </a:solidFill>
                <a:latin typeface="Times New Roman" panose="02020603050405020304" pitchFamily="18" charset="0"/>
                <a:cs typeface="Times New Roman" panose="02020603050405020304" pitchFamily="18" charset="0"/>
              </a:rPr>
              <a:t>angled target will usually reflect more light away from the sensor’s detector. </a:t>
            </a:r>
            <a:endParaRPr lang="en-US" sz="3200" dirty="0" smtClean="0">
              <a:solidFill>
                <a:srgbClr val="333333"/>
              </a:solidFill>
              <a:latin typeface="Times New Roman" panose="02020603050405020304" pitchFamily="18" charset="0"/>
              <a:cs typeface="Times New Roman" panose="02020603050405020304" pitchFamily="18" charset="0"/>
            </a:endParaRPr>
          </a:p>
          <a:p>
            <a:pPr marL="620713" algn="just"/>
            <a:r>
              <a:rPr lang="en-US" sz="3200" dirty="0" smtClean="0">
                <a:solidFill>
                  <a:srgbClr val="333333"/>
                </a:solidFill>
                <a:latin typeface="Times New Roman" panose="02020603050405020304" pitchFamily="18" charset="0"/>
                <a:cs typeface="Times New Roman" panose="02020603050405020304" pitchFamily="18" charset="0"/>
              </a:rPr>
              <a:t># The </a:t>
            </a:r>
            <a:r>
              <a:rPr lang="en-US" sz="3200" dirty="0">
                <a:solidFill>
                  <a:srgbClr val="333333"/>
                </a:solidFill>
                <a:latin typeface="Times New Roman" panose="02020603050405020304" pitchFamily="18" charset="0"/>
                <a:cs typeface="Times New Roman" panose="02020603050405020304" pitchFamily="18" charset="0"/>
              </a:rPr>
              <a:t>less light the detector gets, the harder it is for the sensor to distinguish the measurement from other light noise. </a:t>
            </a:r>
            <a:endParaRPr lang="en-US" sz="3200" dirty="0" smtClean="0">
              <a:solidFill>
                <a:srgbClr val="333333"/>
              </a:solidFill>
              <a:latin typeface="Times New Roman" panose="02020603050405020304" pitchFamily="18" charset="0"/>
              <a:cs typeface="Times New Roman" panose="02020603050405020304" pitchFamily="18" charset="0"/>
            </a:endParaRPr>
          </a:p>
          <a:p>
            <a:pPr marL="620713" algn="just"/>
            <a:r>
              <a:rPr lang="en-US" sz="3200" dirty="0" smtClean="0">
                <a:solidFill>
                  <a:srgbClr val="333333"/>
                </a:solidFill>
                <a:latin typeface="Times New Roman" panose="02020603050405020304" pitchFamily="18" charset="0"/>
                <a:cs typeface="Times New Roman" panose="02020603050405020304" pitchFamily="18" charset="0"/>
              </a:rPr>
              <a:t># That </a:t>
            </a:r>
            <a:r>
              <a:rPr lang="en-US" sz="3200" dirty="0">
                <a:solidFill>
                  <a:srgbClr val="333333"/>
                </a:solidFill>
                <a:latin typeface="Times New Roman" panose="02020603050405020304" pitchFamily="18" charset="0"/>
                <a:cs typeface="Times New Roman" panose="02020603050405020304" pitchFamily="18" charset="0"/>
              </a:rPr>
              <a:t>can reduce the measurement accuracy, increase the measurement time, or both. </a:t>
            </a:r>
            <a:endParaRPr lang="en-US" sz="3200" dirty="0" smtClean="0">
              <a:solidFill>
                <a:srgbClr val="333333"/>
              </a:solidFill>
              <a:latin typeface="Times New Roman" panose="02020603050405020304" pitchFamily="18" charset="0"/>
              <a:cs typeface="Times New Roman" panose="02020603050405020304" pitchFamily="18" charset="0"/>
            </a:endParaRPr>
          </a:p>
          <a:p>
            <a:pPr marL="620713" algn="just"/>
            <a:r>
              <a:rPr lang="en-US" sz="3200" dirty="0" smtClean="0">
                <a:solidFill>
                  <a:srgbClr val="333333"/>
                </a:solidFill>
                <a:latin typeface="Times New Roman" panose="02020603050405020304" pitchFamily="18" charset="0"/>
                <a:cs typeface="Times New Roman" panose="02020603050405020304" pitchFamily="18" charset="0"/>
              </a:rPr>
              <a:t># This </a:t>
            </a:r>
            <a:r>
              <a:rPr lang="en-US" sz="3200" dirty="0">
                <a:solidFill>
                  <a:srgbClr val="333333"/>
                </a:solidFill>
                <a:latin typeface="Times New Roman" panose="02020603050405020304" pitchFamily="18" charset="0"/>
                <a:cs typeface="Times New Roman" panose="02020603050405020304" pitchFamily="18" charset="0"/>
              </a:rPr>
              <a:t>problem increases with the shininess of the target.</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85445377"/>
      </p:ext>
    </p:extLst>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37</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539430"/>
          </a:xfrm>
          <a:prstGeom prst="rect">
            <a:avLst/>
          </a:prstGeom>
        </p:spPr>
        <p:txBody>
          <a:bodyPr wrap="square">
            <a:spAutoFit/>
          </a:bodyPr>
          <a:lstStyle/>
          <a:p>
            <a:pPr algn="just"/>
            <a:r>
              <a:rPr lang="en-US" sz="3200" dirty="0" smtClean="0">
                <a:latin typeface="Times New Roman" panose="02020603050405020304" pitchFamily="18" charset="0"/>
                <a:ea typeface="Times New Roman" panose="02020603050405020304" pitchFamily="18" charset="0"/>
                <a:cs typeface="Times New Roman" panose="02020603050405020304" pitchFamily="18" charset="0"/>
              </a:rPr>
              <a:t>3. </a:t>
            </a:r>
            <a:r>
              <a:rPr lang="en-US" sz="3200" dirty="0" smtClean="0">
                <a:solidFill>
                  <a:srgbClr val="333333"/>
                </a:solidFill>
                <a:latin typeface="Times New Roman" panose="02020603050405020304" pitchFamily="18" charset="0"/>
                <a:cs typeface="Times New Roman" panose="02020603050405020304" pitchFamily="18" charset="0"/>
              </a:rPr>
              <a:t>An </a:t>
            </a:r>
            <a:r>
              <a:rPr lang="en-US" sz="3200" dirty="0">
                <a:solidFill>
                  <a:srgbClr val="333333"/>
                </a:solidFill>
                <a:latin typeface="Times New Roman" panose="02020603050405020304" pitchFamily="18" charset="0"/>
                <a:cs typeface="Times New Roman" panose="02020603050405020304" pitchFamily="18" charset="0"/>
              </a:rPr>
              <a:t>angled or rough target that is shiny can cause the opposite problem — direct reflection into the detector</a:t>
            </a:r>
            <a:r>
              <a:rPr lang="en-US" sz="3200" dirty="0" smtClean="0">
                <a:solidFill>
                  <a:srgbClr val="333333"/>
                </a:solidFill>
                <a:latin typeface="Times New Roman" panose="02020603050405020304" pitchFamily="18" charset="0"/>
                <a:cs typeface="Times New Roman" panose="02020603050405020304" pitchFamily="18" charset="0"/>
              </a:rPr>
              <a:t>.</a:t>
            </a:r>
          </a:p>
          <a:p>
            <a:pPr marL="620713" indent="-620713" algn="just"/>
            <a:r>
              <a:rPr lang="en-US" sz="3200" dirty="0" smtClean="0">
                <a:solidFill>
                  <a:srgbClr val="333333"/>
                </a:solidFill>
                <a:latin typeface="Times New Roman" panose="02020603050405020304" pitchFamily="18" charset="0"/>
                <a:cs typeface="Times New Roman" panose="02020603050405020304" pitchFamily="18" charset="0"/>
              </a:rPr>
              <a:t>	# If </a:t>
            </a:r>
            <a:r>
              <a:rPr lang="en-US" sz="3200" dirty="0">
                <a:solidFill>
                  <a:srgbClr val="333333"/>
                </a:solidFill>
                <a:latin typeface="Times New Roman" panose="02020603050405020304" pitchFamily="18" charset="0"/>
                <a:cs typeface="Times New Roman" panose="02020603050405020304" pitchFamily="18" charset="0"/>
              </a:rPr>
              <a:t>there is “specular” or direct reflection, that shows up on the detector as a second peak that has no relation to the distance. </a:t>
            </a:r>
            <a:endParaRPr lang="en-US" sz="3200" dirty="0" smtClean="0">
              <a:solidFill>
                <a:srgbClr val="333333"/>
              </a:solidFill>
              <a:latin typeface="Times New Roman" panose="02020603050405020304" pitchFamily="18" charset="0"/>
              <a:cs typeface="Times New Roman" panose="02020603050405020304" pitchFamily="18" charset="0"/>
            </a:endParaRPr>
          </a:p>
          <a:p>
            <a:pPr marL="620713" indent="-620713" algn="just"/>
            <a:r>
              <a:rPr lang="en-US" sz="3200" dirty="0">
                <a:solidFill>
                  <a:srgbClr val="333333"/>
                </a:solidFill>
                <a:latin typeface="Times New Roman" panose="02020603050405020304" pitchFamily="18" charset="0"/>
                <a:cs typeface="Times New Roman" panose="02020603050405020304" pitchFamily="18" charset="0"/>
              </a:rPr>
              <a:t>	</a:t>
            </a:r>
            <a:r>
              <a:rPr lang="en-US" sz="3200" dirty="0" smtClean="0">
                <a:solidFill>
                  <a:srgbClr val="333333"/>
                </a:solidFill>
                <a:latin typeface="Times New Roman" panose="02020603050405020304" pitchFamily="18" charset="0"/>
                <a:cs typeface="Times New Roman" panose="02020603050405020304" pitchFamily="18" charset="0"/>
              </a:rPr>
              <a:t># This </a:t>
            </a:r>
            <a:r>
              <a:rPr lang="en-US" sz="3200" dirty="0">
                <a:solidFill>
                  <a:srgbClr val="333333"/>
                </a:solidFill>
                <a:latin typeface="Times New Roman" panose="02020603050405020304" pitchFamily="18" charset="0"/>
                <a:cs typeface="Times New Roman" panose="02020603050405020304" pitchFamily="18" charset="0"/>
              </a:rPr>
              <a:t>can result in measurements that are completely incorrect or keep the sensor from offering a measurement at all.</a:t>
            </a:r>
            <a:endParaRPr lang="en-US" sz="32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06937860"/>
      </p:ext>
    </p:extLst>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38</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158923" y="1287393"/>
            <a:ext cx="9896391" cy="4828515"/>
          </a:xfrm>
          <a:prstGeom prst="rect">
            <a:avLst/>
          </a:prstGeom>
          <a:ln w="28575">
            <a:solidFill>
              <a:schemeClr val="tx1"/>
            </a:solidFill>
          </a:ln>
        </p:spPr>
      </p:pic>
    </p:spTree>
    <p:extLst>
      <p:ext uri="{BB962C8B-B14F-4D97-AF65-F5344CB8AC3E}">
        <p14:creationId xmlns:p14="http://schemas.microsoft.com/office/powerpoint/2010/main" val="1747460647"/>
      </p:ext>
    </p:extLst>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39</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632311"/>
          </a:xfrm>
          <a:prstGeom prst="rect">
            <a:avLst/>
          </a:prstGeom>
        </p:spPr>
        <p:txBody>
          <a:bodyPr wrap="square">
            <a:spAutoFit/>
          </a:bodyPr>
          <a:lstStyle/>
          <a:p>
            <a:pPr algn="just"/>
            <a:r>
              <a:rPr lang="en-US" sz="3200" b="1" dirty="0" smtClean="0">
                <a:solidFill>
                  <a:srgbClr val="464646"/>
                </a:solidFill>
                <a:latin typeface="Times New Roman" panose="02020603050405020304" pitchFamily="18" charset="0"/>
                <a:cs typeface="Times New Roman" panose="02020603050405020304" pitchFamily="18" charset="0"/>
              </a:rPr>
              <a:t>3D </a:t>
            </a:r>
            <a:r>
              <a:rPr lang="en-US" sz="3200" b="1" dirty="0">
                <a:solidFill>
                  <a:srgbClr val="464646"/>
                </a:solidFill>
                <a:latin typeface="Times New Roman" panose="02020603050405020304" pitchFamily="18" charset="0"/>
                <a:cs typeface="Times New Roman" panose="02020603050405020304" pitchFamily="18" charset="0"/>
              </a:rPr>
              <a:t>laser scanner </a:t>
            </a:r>
            <a:r>
              <a:rPr lang="en-US" sz="3200" b="1" dirty="0" smtClean="0">
                <a:solidFill>
                  <a:srgbClr val="464646"/>
                </a:solidFill>
                <a:latin typeface="Times New Roman" panose="02020603050405020304" pitchFamily="18" charset="0"/>
                <a:cs typeface="Times New Roman" panose="02020603050405020304" pitchFamily="18" charset="0"/>
              </a:rPr>
              <a:t>measurement:</a:t>
            </a:r>
          </a:p>
          <a:p>
            <a:pPr marL="571500" indent="-571500" algn="just">
              <a:buFont typeface="Arial" panose="020B0604020202020204" pitchFamily="34" charset="0"/>
              <a:buChar char="•"/>
            </a:pPr>
            <a:r>
              <a:rPr lang="en-US" sz="3200" dirty="0" smtClean="0">
                <a:solidFill>
                  <a:srgbClr val="464646"/>
                </a:solidFill>
                <a:latin typeface="Times New Roman" panose="02020603050405020304" pitchFamily="18" charset="0"/>
                <a:cs typeface="Times New Roman" panose="02020603050405020304" pitchFamily="18" charset="0"/>
              </a:rPr>
              <a:t>It </a:t>
            </a:r>
            <a:r>
              <a:rPr lang="en-US" sz="3200" dirty="0">
                <a:solidFill>
                  <a:srgbClr val="464646"/>
                </a:solidFill>
                <a:latin typeface="Times New Roman" panose="02020603050405020304" pitchFamily="18" charset="0"/>
                <a:cs typeface="Times New Roman" panose="02020603050405020304" pitchFamily="18" charset="0"/>
              </a:rPr>
              <a:t>is an advanced method for precise three-dimensional measurement of objects using laser line triangulation sensors, also known as laser scanners. </a:t>
            </a:r>
            <a:endParaRPr lang="en-US" sz="3200" dirty="0" smtClean="0">
              <a:solidFill>
                <a:srgbClr val="464646"/>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464646"/>
                </a:solidFill>
                <a:latin typeface="Times New Roman" panose="02020603050405020304" pitchFamily="18" charset="0"/>
                <a:cs typeface="Times New Roman" panose="02020603050405020304" pitchFamily="18" charset="0"/>
              </a:rPr>
              <a:t>This </a:t>
            </a:r>
            <a:r>
              <a:rPr lang="en-US" sz="3200" dirty="0">
                <a:solidFill>
                  <a:srgbClr val="464646"/>
                </a:solidFill>
                <a:latin typeface="Times New Roman" panose="02020603050405020304" pitchFamily="18" charset="0"/>
                <a:cs typeface="Times New Roman" panose="02020603050405020304" pitchFamily="18" charset="0"/>
              </a:rPr>
              <a:t>technology enables the accurate determination and comparison of measured values such as length, width, height, angle, radius, flatness, parallelism, diameter, defect sizes and more. </a:t>
            </a:r>
            <a:endParaRPr lang="en-US" sz="3200" dirty="0" smtClean="0">
              <a:solidFill>
                <a:srgbClr val="464646"/>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464646"/>
                </a:solidFill>
                <a:latin typeface="Times New Roman" panose="02020603050405020304" pitchFamily="18" charset="0"/>
                <a:cs typeface="Times New Roman" panose="02020603050405020304" pitchFamily="18" charset="0"/>
              </a:rPr>
              <a:t>Unlike </a:t>
            </a:r>
            <a:r>
              <a:rPr lang="en-US" sz="3200" dirty="0">
                <a:solidFill>
                  <a:srgbClr val="464646"/>
                </a:solidFill>
                <a:latin typeface="Times New Roman" panose="02020603050405020304" pitchFamily="18" charset="0"/>
                <a:cs typeface="Times New Roman" panose="02020603050405020304" pitchFamily="18" charset="0"/>
              </a:rPr>
              <a:t>traditional 2D image processing with cameras, 3D laser scanner measurement enables a three-dimensional representation of an object.</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97686010"/>
      </p:ext>
    </p:extLst>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40</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84775"/>
          </a:xfrm>
          <a:prstGeom prst="rect">
            <a:avLst/>
          </a:prstGeom>
        </p:spPr>
        <p:txBody>
          <a:bodyPr wrap="square">
            <a:spAutoFit/>
          </a:bodyPr>
          <a:lstStyle/>
          <a:p>
            <a:pPr algn="just"/>
            <a:r>
              <a:rPr lang="en-US" sz="3200" dirty="0" smtClean="0">
                <a:latin typeface="Times New Roman" panose="02020603050405020304" pitchFamily="18" charset="0"/>
                <a:ea typeface="Times New Roman" panose="02020603050405020304" pitchFamily="18" charset="0"/>
              </a:rPr>
              <a:t>3D laser measurement of an </a:t>
            </a:r>
            <a:r>
              <a:rPr lang="en-US" sz="3200" dirty="0" err="1" smtClean="0">
                <a:latin typeface="Times New Roman" panose="02020603050405020304" pitchFamily="18" charset="0"/>
                <a:ea typeface="Times New Roman" panose="02020603050405020304" pitchFamily="18" charset="0"/>
              </a:rPr>
              <a:t>aluminium</a:t>
            </a:r>
            <a:r>
              <a:rPr lang="en-US" sz="3200" dirty="0" smtClean="0">
                <a:latin typeface="Times New Roman" panose="02020603050405020304" pitchFamily="18" charset="0"/>
                <a:ea typeface="Times New Roman" panose="02020603050405020304" pitchFamily="18" charset="0"/>
              </a:rPr>
              <a:t> block</a:t>
            </a:r>
            <a:endParaRPr lang="en-IN" sz="3200"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2942366" y="1857728"/>
            <a:ext cx="5858693" cy="4448796"/>
          </a:xfrm>
          <a:prstGeom prst="rect">
            <a:avLst/>
          </a:prstGeom>
          <a:ln w="28575">
            <a:solidFill>
              <a:schemeClr val="tx1"/>
            </a:solidFill>
          </a:ln>
        </p:spPr>
      </p:pic>
    </p:spTree>
    <p:extLst>
      <p:ext uri="{BB962C8B-B14F-4D97-AF65-F5344CB8AC3E}">
        <p14:creationId xmlns:p14="http://schemas.microsoft.com/office/powerpoint/2010/main" val="2601818505"/>
      </p:ext>
    </p:extLst>
  </p:cSld>
  <p:clrMapOvr>
    <a:masterClrMapping/>
  </p:clrMapOvr>
  <p:transition spd="med"/>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41</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70756"/>
          </a:xfrm>
          <a:prstGeom prst="rect">
            <a:avLst/>
          </a:prstGeom>
        </p:spPr>
        <p:txBody>
          <a:bodyPr wrap="square">
            <a:spAutoFit/>
          </a:bodyPr>
          <a:lstStyle/>
          <a:p>
            <a:pPr algn="just"/>
            <a:r>
              <a:rPr lang="en-US" sz="3600" b="1" dirty="0">
                <a:solidFill>
                  <a:srgbClr val="00B050"/>
                </a:solidFill>
                <a:latin typeface="Times New Roman" panose="02020603050405020304" pitchFamily="18" charset="0"/>
                <a:cs typeface="Times New Roman" panose="02020603050405020304" pitchFamily="18" charset="0"/>
              </a:rPr>
              <a:t>Typical industries and sectors </a:t>
            </a:r>
            <a:r>
              <a:rPr lang="en-US" sz="3600" dirty="0">
                <a:solidFill>
                  <a:srgbClr val="464646"/>
                </a:solidFill>
                <a:latin typeface="Times New Roman" panose="02020603050405020304" pitchFamily="18" charset="0"/>
                <a:cs typeface="Times New Roman" panose="02020603050405020304" pitchFamily="18" charset="0"/>
              </a:rPr>
              <a:t>where 3D laser scanner measurement is used include:</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Metalworking</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Mechanical Engineering</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Welding technology</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Automotive</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Battery manufacturing</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Aerospace</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Smartphone </a:t>
            </a:r>
            <a:r>
              <a:rPr lang="en-US" sz="3600" dirty="0" smtClean="0">
                <a:solidFill>
                  <a:srgbClr val="464646"/>
                </a:solidFill>
                <a:latin typeface="Times New Roman" panose="02020603050405020304" pitchFamily="18" charset="0"/>
                <a:cs typeface="Times New Roman" panose="02020603050405020304" pitchFamily="18" charset="0"/>
              </a:rPr>
              <a:t>manufacture</a:t>
            </a:r>
            <a:endParaRPr lang="en-US" sz="36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43737580"/>
      </p:ext>
    </p:extLst>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42</a:t>
            </a:fld>
            <a:endParaRPr dirty="0"/>
          </a:p>
        </p:txBody>
      </p:sp>
      <p:sp>
        <p:nvSpPr>
          <p:cNvPr id="4" name="TextBox 3"/>
          <p:cNvSpPr txBox="1"/>
          <p:nvPr/>
        </p:nvSpPr>
        <p:spPr>
          <a:xfrm>
            <a:off x="1540366" y="222946"/>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278255" y="5919487"/>
            <a:ext cx="9660039" cy="584775"/>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3D laser measurement</a:t>
            </a:r>
            <a:endParaRPr lang="en-IN" sz="3200"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1540366" y="1162852"/>
            <a:ext cx="8172978" cy="4605116"/>
          </a:xfrm>
          <a:prstGeom prst="rect">
            <a:avLst/>
          </a:prstGeom>
          <a:ln w="28575">
            <a:solidFill>
              <a:schemeClr val="tx1"/>
            </a:solidFill>
          </a:ln>
        </p:spPr>
      </p:pic>
    </p:spTree>
    <p:extLst>
      <p:ext uri="{BB962C8B-B14F-4D97-AF65-F5344CB8AC3E}">
        <p14:creationId xmlns:p14="http://schemas.microsoft.com/office/powerpoint/2010/main" val="2091171447"/>
      </p:ext>
    </p:extLst>
  </p:cSld>
  <p:clrMapOvr>
    <a:masterClrMapping/>
  </p:clrMapOvr>
  <p:transition spd="med"/>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43</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p:sp>
        <p:nvSpPr>
          <p:cNvPr id="9" name="Rectangle 8"/>
          <p:cNvSpPr/>
          <p:nvPr/>
        </p:nvSpPr>
        <p:spPr>
          <a:xfrm>
            <a:off x="351790" y="1162852"/>
            <a:ext cx="11407140" cy="4524315"/>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Roman"/>
              </a:rPr>
              <a:t>The sense of vision is a powerful and dominating sense in humans</a:t>
            </a:r>
            <a:r>
              <a:rPr lang="en-US" sz="3200" dirty="0" smtClean="0">
                <a:latin typeface="Times-Roman"/>
              </a:rPr>
              <a:t>.</a:t>
            </a:r>
          </a:p>
          <a:p>
            <a:pPr marL="571500" indent="-571500" algn="just">
              <a:buFont typeface="Arial" panose="020B0604020202020204" pitchFamily="34" charset="0"/>
              <a:buChar char="•"/>
            </a:pPr>
            <a:r>
              <a:rPr lang="en-US" sz="3200" dirty="0">
                <a:latin typeface="Times-Roman"/>
              </a:rPr>
              <a:t>A typical approach is to use a video camera as a visual </a:t>
            </a:r>
            <a:r>
              <a:rPr lang="en-US" sz="3200" dirty="0" smtClean="0">
                <a:latin typeface="Times-Roman"/>
              </a:rPr>
              <a:t>sensor.</a:t>
            </a:r>
          </a:p>
          <a:p>
            <a:pPr marL="571500" indent="-571500" algn="just">
              <a:buFont typeface="Arial" panose="020B0604020202020204" pitchFamily="34" charset="0"/>
              <a:buChar char="•"/>
            </a:pPr>
            <a:r>
              <a:rPr lang="en-US" sz="3200" dirty="0" smtClean="0">
                <a:latin typeface="Times-Roman"/>
              </a:rPr>
              <a:t>The subjective </a:t>
            </a:r>
            <a:r>
              <a:rPr lang="en-US" sz="3200" dirty="0">
                <a:latin typeface="Times-Roman"/>
              </a:rPr>
              <a:t>experience of understanding the content of a visual scene is </a:t>
            </a:r>
            <a:r>
              <a:rPr lang="en-US" sz="3200" dirty="0" smtClean="0">
                <a:latin typeface="Times-Roman"/>
              </a:rPr>
              <a:t>often as </a:t>
            </a:r>
            <a:r>
              <a:rPr lang="en-US" sz="3200" dirty="0">
                <a:latin typeface="Times-Roman"/>
              </a:rPr>
              <a:t>simple as opening one’s eyes — there seems to be little or no </a:t>
            </a:r>
            <a:r>
              <a:rPr lang="en-US" sz="3200" dirty="0" smtClean="0">
                <a:latin typeface="Times-Roman"/>
              </a:rPr>
              <a:t>conscious effort </a:t>
            </a:r>
            <a:r>
              <a:rPr lang="en-US" sz="3200" dirty="0">
                <a:latin typeface="Times-Roman"/>
              </a:rPr>
              <a:t>involved in perceiving a three-dimensional world filled with </a:t>
            </a:r>
            <a:r>
              <a:rPr lang="en-US" sz="3200" dirty="0" smtClean="0">
                <a:latin typeface="Times-Roman"/>
              </a:rPr>
              <a:t>objects and </a:t>
            </a:r>
            <a:r>
              <a:rPr lang="en-US" sz="3200" dirty="0">
                <a:latin typeface="Times-Roman"/>
              </a:rPr>
              <a:t>surfaces both near and far.</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35168391"/>
      </p:ext>
    </p:extLst>
  </p:cSld>
  <p:clrMapOvr>
    <a:masterClrMapping/>
  </p:clrMapOvr>
  <p:transition spd="med"/>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44</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p:sp>
        <p:nvSpPr>
          <p:cNvPr id="9" name="Rectangle 8"/>
          <p:cNvSpPr/>
          <p:nvPr/>
        </p:nvSpPr>
        <p:spPr>
          <a:xfrm>
            <a:off x="351790" y="1162852"/>
            <a:ext cx="11407140" cy="5509200"/>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The perception is so effortless that it is possible, even typical, </a:t>
            </a:r>
            <a:r>
              <a:rPr lang="en-US" sz="3200" dirty="0" smtClean="0">
                <a:latin typeface="Times-Roman"/>
              </a:rPr>
              <a:t>to underestimate </a:t>
            </a:r>
            <a:r>
              <a:rPr lang="en-US" sz="3200" dirty="0">
                <a:latin typeface="Times-Roman"/>
              </a:rPr>
              <a:t>the difficulty of duplicating the feat with a video camera</a:t>
            </a:r>
            <a:r>
              <a:rPr lang="en-US" sz="3200" dirty="0" smtClean="0">
                <a:latin typeface="Times-Roman"/>
              </a:rPr>
              <a:t>.</a:t>
            </a:r>
          </a:p>
          <a:p>
            <a:pPr marL="457200" indent="-457200" algn="just">
              <a:buFont typeface="Arial" panose="020B0604020202020204" pitchFamily="34" charset="0"/>
              <a:buChar char="•"/>
            </a:pPr>
            <a:r>
              <a:rPr lang="en-US" sz="3200" dirty="0">
                <a:latin typeface="Times-Roman"/>
              </a:rPr>
              <a:t>The lack of effort also belies the amount of neural hardware that </a:t>
            </a:r>
            <a:r>
              <a:rPr lang="en-US" sz="3200" dirty="0" smtClean="0">
                <a:latin typeface="Times-Roman"/>
              </a:rPr>
              <a:t>goes into </a:t>
            </a:r>
            <a:r>
              <a:rPr lang="en-US" sz="3200" dirty="0">
                <a:latin typeface="Times-Roman"/>
              </a:rPr>
              <a:t>this visual </a:t>
            </a:r>
            <a:r>
              <a:rPr lang="en-US" sz="3200" dirty="0" smtClean="0">
                <a:latin typeface="Times-Roman"/>
              </a:rPr>
              <a:t>illusion.</a:t>
            </a:r>
          </a:p>
          <a:p>
            <a:pPr marL="457200" indent="-457200" algn="just">
              <a:buFont typeface="Arial" panose="020B0604020202020204" pitchFamily="34" charset="0"/>
              <a:buChar char="•"/>
            </a:pPr>
            <a:r>
              <a:rPr lang="en-US" sz="3200" dirty="0">
                <a:latin typeface="Times-Roman"/>
              </a:rPr>
              <a:t>Extracting information from a video </a:t>
            </a:r>
            <a:r>
              <a:rPr lang="en-US" sz="3200" dirty="0" smtClean="0">
                <a:latin typeface="Times-Roman"/>
              </a:rPr>
              <a:t>sequence is </a:t>
            </a:r>
            <a:r>
              <a:rPr lang="en-US" sz="3200" dirty="0">
                <a:latin typeface="Times-Roman"/>
              </a:rPr>
              <a:t>a computationally intensive and difficult problem.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While </a:t>
            </a:r>
            <a:r>
              <a:rPr lang="en-US" sz="3200" dirty="0">
                <a:latin typeface="Times-Roman"/>
              </a:rPr>
              <a:t>the </a:t>
            </a:r>
            <a:r>
              <a:rPr lang="en-US" sz="3200" dirty="0" smtClean="0">
                <a:latin typeface="Times-Roman"/>
              </a:rPr>
              <a:t>field of </a:t>
            </a:r>
            <a:r>
              <a:rPr lang="en-US" sz="3200" dirty="0">
                <a:latin typeface="Times-Roman"/>
              </a:rPr>
              <a:t>computer vision continues to make important advances, it would </a:t>
            </a:r>
            <a:r>
              <a:rPr lang="en-US" sz="3200" dirty="0" smtClean="0">
                <a:latin typeface="Times-Roman"/>
              </a:rPr>
              <a:t>be premature </a:t>
            </a:r>
            <a:r>
              <a:rPr lang="en-US" sz="3200" dirty="0">
                <a:latin typeface="Times-Roman"/>
              </a:rPr>
              <a:t>to consider it a problem solved.</a:t>
            </a:r>
            <a:endParaRPr lang="en-US" sz="3200" dirty="0" smtClean="0">
              <a:latin typeface="Times-Roman"/>
            </a:endParaRP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45701943"/>
      </p:ext>
    </p:extLst>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45</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p:sp>
        <p:nvSpPr>
          <p:cNvPr id="9" name="Rectangle 8"/>
          <p:cNvSpPr/>
          <p:nvPr/>
        </p:nvSpPr>
        <p:spPr>
          <a:xfrm>
            <a:off x="879894" y="5179320"/>
            <a:ext cx="10313473" cy="1077218"/>
          </a:xfrm>
          <a:prstGeom prst="rect">
            <a:avLst/>
          </a:prstGeom>
        </p:spPr>
        <p:txBody>
          <a:bodyPr wrap="square">
            <a:spAutoFit/>
          </a:bodyPr>
          <a:lstStyle/>
          <a:p>
            <a:pPr algn="just"/>
            <a:r>
              <a:rPr lang="en-US" sz="3200" b="1" dirty="0" smtClean="0"/>
              <a:t>Fig. 2.4.1 Pin-hole </a:t>
            </a:r>
            <a:r>
              <a:rPr lang="en-US" sz="3200" b="1" dirty="0"/>
              <a:t>camera (a) and its mathematical model (b</a:t>
            </a:r>
            <a:r>
              <a:rPr lang="en-US" sz="3200" b="1" dirty="0" smtClean="0"/>
              <a:t>).</a:t>
            </a:r>
            <a:endParaRPr lang="en-IN" sz="3200" b="1"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1466491" y="1492100"/>
            <a:ext cx="8101856" cy="3389665"/>
          </a:xfrm>
          <a:prstGeom prst="rect">
            <a:avLst/>
          </a:prstGeom>
          <a:ln w="38100">
            <a:solidFill>
              <a:schemeClr val="tx1"/>
            </a:solidFill>
          </a:ln>
        </p:spPr>
      </p:pic>
    </p:spTree>
    <p:extLst>
      <p:ext uri="{BB962C8B-B14F-4D97-AF65-F5344CB8AC3E}">
        <p14:creationId xmlns:p14="http://schemas.microsoft.com/office/powerpoint/2010/main" val="832268143"/>
      </p:ext>
    </p:extLst>
  </p:cSld>
  <p:clrMapOvr>
    <a:masterClrMapping/>
  </p:clrMapOvr>
  <p:transition spd="med"/>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46</a:t>
            </a:fld>
            <a:endParaRPr dirty="0"/>
          </a:p>
        </p:txBody>
      </p:sp>
      <p:sp>
        <p:nvSpPr>
          <p:cNvPr id="4" name="TextBox 3"/>
          <p:cNvSpPr txBox="1"/>
          <p:nvPr/>
        </p:nvSpPr>
        <p:spPr>
          <a:xfrm>
            <a:off x="2204720" y="344867"/>
            <a:ext cx="9554210"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3600" b="1" dirty="0">
                <a:latin typeface="Times-Roman"/>
              </a:rPr>
              <a:t>2.4 Vision and Tracking</a:t>
            </a:r>
          </a:p>
        </p:txBody>
      </p:sp>
      <p:sp>
        <p:nvSpPr>
          <p:cNvPr id="9" name="Rectangle 8"/>
          <p:cNvSpPr/>
          <p:nvPr/>
        </p:nvSpPr>
        <p:spPr>
          <a:xfrm>
            <a:off x="351790" y="1162852"/>
            <a:ext cx="11407140" cy="5632311"/>
          </a:xfrm>
          <a:prstGeom prst="rect">
            <a:avLst/>
          </a:prstGeom>
        </p:spPr>
        <p:txBody>
          <a:bodyPr wrap="square">
            <a:spAutoFit/>
          </a:bodyPr>
          <a:lstStyle/>
          <a:p>
            <a:pPr algn="just"/>
            <a:r>
              <a:rPr lang="en-US" sz="3000" b="1" dirty="0" smtClean="0">
                <a:solidFill>
                  <a:srgbClr val="C00000"/>
                </a:solidFill>
                <a:latin typeface="Times-Roman"/>
              </a:rPr>
              <a:t>Issues </a:t>
            </a:r>
            <a:r>
              <a:rPr lang="en-US" sz="3000" b="1" dirty="0">
                <a:solidFill>
                  <a:srgbClr val="C00000"/>
                </a:solidFill>
                <a:latin typeface="Times-Roman"/>
              </a:rPr>
              <a:t>that make computer vision difficult.</a:t>
            </a:r>
            <a:endParaRPr lang="en-US" sz="3000" b="1" dirty="0" smtClean="0">
              <a:solidFill>
                <a:srgbClr val="C00000"/>
              </a:solidFill>
              <a:latin typeface="Times-Roman"/>
            </a:endParaRPr>
          </a:p>
          <a:p>
            <a:pPr algn="just"/>
            <a:r>
              <a:rPr lang="en-US" sz="3000" b="1" dirty="0" smtClean="0">
                <a:latin typeface="Times-Roman"/>
                <a:ea typeface="Calibri" panose="020F0502020204030204" pitchFamily="34" charset="0"/>
                <a:cs typeface="Times New Roman" panose="02020603050405020304" pitchFamily="18" charset="0"/>
              </a:rPr>
              <a:t>1. </a:t>
            </a:r>
            <a:r>
              <a:rPr lang="en-US" sz="3000" b="1" dirty="0" smtClean="0">
                <a:latin typeface="Times New Roman" panose="02020603050405020304" pitchFamily="18" charset="0"/>
                <a:ea typeface="Calibri" panose="020F0502020204030204" pitchFamily="34" charset="0"/>
                <a:cs typeface="Times New Roman" panose="02020603050405020304" pitchFamily="18" charset="0"/>
              </a:rPr>
              <a:t>Information </a:t>
            </a:r>
            <a:r>
              <a:rPr lang="en-US" sz="3000" b="1" dirty="0">
                <a:latin typeface="Times New Roman" panose="02020603050405020304" pitchFamily="18" charset="0"/>
                <a:ea typeface="Calibri" panose="020F0502020204030204" pitchFamily="34" charset="0"/>
                <a:cs typeface="Times New Roman" panose="02020603050405020304" pitchFamily="18" charset="0"/>
              </a:rPr>
              <a:t>is lost in the 3D to 2D transformation.</a:t>
            </a:r>
          </a:p>
          <a:p>
            <a:pPr marL="457200" indent="-457200" algn="just">
              <a:buFont typeface="Arial" panose="020B0604020202020204" pitchFamily="34" charset="0"/>
              <a:buChar char="•"/>
            </a:pPr>
            <a:r>
              <a:rPr lang="en-US" sz="3000" dirty="0" smtClean="0">
                <a:latin typeface="Times-Roman"/>
              </a:rPr>
              <a:t>A </a:t>
            </a:r>
            <a:r>
              <a:rPr lang="en-US" sz="3000" dirty="0">
                <a:latin typeface="Times-Roman"/>
              </a:rPr>
              <a:t>pin-hole camera is </a:t>
            </a:r>
            <a:r>
              <a:rPr lang="en-US" sz="3000" dirty="0" smtClean="0">
                <a:latin typeface="Times-Roman"/>
              </a:rPr>
              <a:t>a closed </a:t>
            </a:r>
            <a:r>
              <a:rPr lang="en-US" sz="3000" dirty="0">
                <a:latin typeface="Times-Roman"/>
              </a:rPr>
              <a:t>container with a small hole on one side. </a:t>
            </a:r>
            <a:endParaRPr lang="en-US" sz="3000" dirty="0" smtClean="0">
              <a:latin typeface="Times-Roman"/>
            </a:endParaRPr>
          </a:p>
          <a:p>
            <a:pPr marL="457200" indent="-457200" algn="just">
              <a:buFont typeface="Arial" panose="020B0604020202020204" pitchFamily="34" charset="0"/>
              <a:buChar char="•"/>
            </a:pPr>
            <a:r>
              <a:rPr lang="en-US" sz="3000" dirty="0" smtClean="0">
                <a:latin typeface="Times-Roman"/>
              </a:rPr>
              <a:t>Light </a:t>
            </a:r>
            <a:r>
              <a:rPr lang="en-US" sz="3000" dirty="0">
                <a:latin typeface="Times-Roman"/>
              </a:rPr>
              <a:t>rays enter </a:t>
            </a:r>
            <a:r>
              <a:rPr lang="en-US" sz="3000" dirty="0" smtClean="0">
                <a:latin typeface="Times-Roman"/>
              </a:rPr>
              <a:t>through the </a:t>
            </a:r>
            <a:r>
              <a:rPr lang="en-US" sz="3000" dirty="0">
                <a:latin typeface="Times-Roman"/>
              </a:rPr>
              <a:t>hole, illuminating the back wall with the color of the object </a:t>
            </a:r>
            <a:r>
              <a:rPr lang="en-US" sz="3000" dirty="0" smtClean="0">
                <a:latin typeface="Times-Roman"/>
              </a:rPr>
              <a:t>from which </a:t>
            </a:r>
            <a:r>
              <a:rPr lang="en-US" sz="3000" dirty="0">
                <a:latin typeface="Times-Roman"/>
              </a:rPr>
              <a:t>they were reflected and thereby painting an image on the wall</a:t>
            </a:r>
            <a:r>
              <a:rPr lang="en-US" sz="3000" dirty="0" smtClean="0">
                <a:latin typeface="Times-Roman"/>
              </a:rPr>
              <a:t>.</a:t>
            </a:r>
          </a:p>
          <a:p>
            <a:pPr marL="457200" indent="-457200" algn="just">
              <a:buFont typeface="Arial" panose="020B0604020202020204" pitchFamily="34" charset="0"/>
              <a:buChar char="•"/>
            </a:pPr>
            <a:r>
              <a:rPr lang="en-US" sz="3000" dirty="0">
                <a:latin typeface="Times-Roman"/>
              </a:rPr>
              <a:t>The image is upside-side down and reversed because of the path </a:t>
            </a:r>
            <a:r>
              <a:rPr lang="en-US" sz="3000" dirty="0" smtClean="0">
                <a:latin typeface="Times-Roman"/>
              </a:rPr>
              <a:t>the light </a:t>
            </a:r>
            <a:r>
              <a:rPr lang="en-US" sz="3000" dirty="0">
                <a:latin typeface="Times-Roman"/>
              </a:rPr>
              <a:t>rays travel</a:t>
            </a:r>
            <a:r>
              <a:rPr lang="en-US" sz="3000" dirty="0" smtClean="0">
                <a:latin typeface="Times-Roman"/>
              </a:rPr>
              <a:t>.</a:t>
            </a:r>
          </a:p>
          <a:p>
            <a:pPr marL="457200" indent="-457200" algn="just">
              <a:buFont typeface="Arial" panose="020B0604020202020204" pitchFamily="34" charset="0"/>
              <a:buChar char="•"/>
            </a:pPr>
            <a:r>
              <a:rPr lang="en-US" sz="3000" dirty="0">
                <a:latin typeface="Times-Roman"/>
              </a:rPr>
              <a:t>This relationship between the object and its image </a:t>
            </a:r>
            <a:r>
              <a:rPr lang="en-US" sz="3000" dirty="0" smtClean="0">
                <a:latin typeface="Times-Roman"/>
              </a:rPr>
              <a:t>is often </a:t>
            </a:r>
            <a:r>
              <a:rPr lang="en-US" sz="3000" dirty="0">
                <a:latin typeface="Times-Roman"/>
              </a:rPr>
              <a:t>modeled mathematically as a </a:t>
            </a:r>
            <a:r>
              <a:rPr lang="en-US" sz="3000" i="1" dirty="0">
                <a:solidFill>
                  <a:srgbClr val="FF0000"/>
                </a:solidFill>
                <a:latin typeface="Times-Roman"/>
              </a:rPr>
              <a:t>perspective </a:t>
            </a:r>
            <a:r>
              <a:rPr lang="en-US" sz="3000" i="1" dirty="0" smtClean="0">
                <a:solidFill>
                  <a:srgbClr val="FF0000"/>
                </a:solidFill>
                <a:latin typeface="Times-Roman"/>
              </a:rPr>
              <a:t>projection </a:t>
            </a:r>
            <a:r>
              <a:rPr lang="en-US" sz="3000" i="1" dirty="0" smtClean="0">
                <a:solidFill>
                  <a:schemeClr val="tx1"/>
                </a:solidFill>
                <a:latin typeface="Times-Roman"/>
              </a:rPr>
              <a:t>(shown in fig 2.4.1)</a:t>
            </a:r>
            <a:r>
              <a:rPr lang="en-US" sz="3000" dirty="0" smtClean="0">
                <a:latin typeface="Times-Roman"/>
              </a:rPr>
              <a:t>.</a:t>
            </a:r>
            <a:endParaRPr lang="en-IN" sz="30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35782634"/>
      </p:ext>
    </p:extLst>
  </p:cSld>
  <p:clrMapOvr>
    <a:masterClrMapping/>
  </p:clrMapOvr>
  <p:transition spd="med"/>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47</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mc:AlternateContent xmlns:mc="http://schemas.openxmlformats.org/markup-compatibility/2006" xmlns:a14="http://schemas.microsoft.com/office/drawing/2010/main">
        <mc:Choice Requires="a14">
          <p:sp>
            <p:nvSpPr>
              <p:cNvPr id="9" name="Rectangle 8"/>
              <p:cNvSpPr/>
              <p:nvPr/>
            </p:nvSpPr>
            <p:spPr>
              <a:xfrm>
                <a:off x="351790" y="1162852"/>
                <a:ext cx="11407140" cy="5170646"/>
              </a:xfrm>
              <a:prstGeom prst="rect">
                <a:avLst/>
              </a:prstGeom>
            </p:spPr>
            <p:txBody>
              <a:bodyPr wrap="square">
                <a:spAutoFit/>
              </a:bodyPr>
              <a:lstStyle/>
              <a:p>
                <a:pPr marL="571500" indent="-571500" algn="just">
                  <a:buFont typeface="Arial" panose="020B0604020202020204" pitchFamily="34" charset="0"/>
                  <a:buChar char="•"/>
                </a:pPr>
                <a:r>
                  <a:rPr lang="en-US" sz="3000" dirty="0" smtClean="0">
                    <a:latin typeface="Times New Roman" panose="02020603050405020304" pitchFamily="18" charset="0"/>
                    <a:cs typeface="Times New Roman" panose="02020603050405020304" pitchFamily="18" charset="0"/>
                  </a:rPr>
                  <a:t>The image plane in (fig 2.4.1 (b)) is </a:t>
                </a:r>
                <a:r>
                  <a:rPr lang="en-US" sz="3000" dirty="0">
                    <a:latin typeface="Times New Roman" panose="02020603050405020304" pitchFamily="18" charset="0"/>
                    <a:cs typeface="Times New Roman" panose="02020603050405020304" pitchFamily="18" charset="0"/>
                  </a:rPr>
                  <a:t>shown with a </a:t>
                </a:r>
                <a:r>
                  <a:rPr lang="en-US" sz="3000" dirty="0" smtClean="0">
                    <a:latin typeface="Times New Roman" panose="02020603050405020304" pitchFamily="18" charset="0"/>
                    <a:cs typeface="Times New Roman" panose="02020603050405020304" pitchFamily="18" charset="0"/>
                  </a:rPr>
                  <a:t>coordinate system </a:t>
                </a:r>
                <a:r>
                  <a:rPr lang="en-US" sz="3000" dirty="0">
                    <a:latin typeface="Times New Roman" panose="02020603050405020304" pitchFamily="18" charset="0"/>
                    <a:cs typeface="Times New Roman" panose="02020603050405020304" pitchFamily="18" charset="0"/>
                  </a:rPr>
                  <a:t>aligned and centered on the camera axis.</a:t>
                </a:r>
                <a:endParaRPr lang="en-US" sz="3000" dirty="0" smtClean="0">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000" dirty="0">
                    <a:latin typeface="Times New Roman" panose="02020603050405020304" pitchFamily="18" charset="0"/>
                    <a:ea typeface="Calibri" panose="020F0502020204030204" pitchFamily="34" charset="0"/>
                    <a:cs typeface="Times New Roman" panose="02020603050405020304" pitchFamily="18" charset="0"/>
                  </a:rPr>
                  <a:t>The image plane is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located a </a:t>
                </a:r>
                <a:r>
                  <a:rPr lang="en-US" sz="3000" dirty="0">
                    <a:latin typeface="Times New Roman" panose="02020603050405020304" pitchFamily="18" charset="0"/>
                    <a:ea typeface="Calibri" panose="020F0502020204030204" pitchFamily="34" charset="0"/>
                    <a:cs typeface="Times New Roman" panose="02020603050405020304" pitchFamily="18" charset="0"/>
                  </a:rPr>
                  <a:t>distance f from the origin, which is the optical center of the camera</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a:t>
                </a:r>
              </a:p>
              <a:p>
                <a:pPr marL="571500" indent="-571500" algn="just">
                  <a:buFont typeface="Arial" panose="020B0604020202020204" pitchFamily="34" charset="0"/>
                  <a:buChar char="•"/>
                </a:pPr>
                <a:r>
                  <a:rPr lang="en-US" sz="3000" dirty="0" smtClean="0">
                    <a:latin typeface="Times New Roman" panose="02020603050405020304" pitchFamily="18" charset="0"/>
                    <a:ea typeface="Calibri" panose="020F0502020204030204" pitchFamily="34" charset="0"/>
                    <a:cs typeface="Times New Roman" panose="02020603050405020304" pitchFamily="18" charset="0"/>
                  </a:rPr>
                  <a:t>Let the </a:t>
                </a:r>
                <a:r>
                  <a:rPr lang="en-US" sz="3000" dirty="0">
                    <a:latin typeface="Times New Roman" panose="02020603050405020304" pitchFamily="18" charset="0"/>
                    <a:ea typeface="Calibri" panose="020F0502020204030204" pitchFamily="34" charset="0"/>
                    <a:cs typeface="Times New Roman" panose="02020603050405020304" pitchFamily="18" charset="0"/>
                  </a:rPr>
                  <a:t>coordinates of a point on the image plane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be </a:t>
                </a:r>
                <a14:m>
                  <m:oMath xmlns:m="http://schemas.openxmlformats.org/officeDocument/2006/math">
                    <m:sSup>
                      <m:sSupPr>
                        <m:ctrlPr>
                          <a:rPr lang="en-US" sz="3000" i="1" smtClean="0">
                            <a:latin typeface="Cambria Math" panose="02040503050406030204" pitchFamily="18" charset="0"/>
                            <a:ea typeface="Calibri" panose="020F0502020204030204" pitchFamily="34" charset="0"/>
                            <a:cs typeface="Calibri" panose="020F0502020204030204" pitchFamily="34" charset="0"/>
                          </a:rPr>
                        </m:ctrlPr>
                      </m:sSupPr>
                      <m:e>
                        <m:r>
                          <a:rPr lang="en-US" sz="3000" i="1">
                            <a:latin typeface="Cambria Math" panose="02040503050406030204" pitchFamily="18" charset="0"/>
                            <a:ea typeface="Calibri" panose="020F0502020204030204" pitchFamily="34" charset="0"/>
                            <a:cs typeface="Calibri" panose="020F0502020204030204" pitchFamily="34" charset="0"/>
                          </a:rPr>
                          <m:t>[</m:t>
                        </m:r>
                        <m:r>
                          <a:rPr lang="en-US" sz="3000" i="1">
                            <a:latin typeface="Cambria Math" panose="02040503050406030204" pitchFamily="18" charset="0"/>
                            <a:ea typeface="Calibri" panose="020F0502020204030204" pitchFamily="34" charset="0"/>
                            <a:cs typeface="Calibri" panose="020F0502020204030204" pitchFamily="34" charset="0"/>
                          </a:rPr>
                          <m:t>𝑢</m:t>
                        </m:r>
                        <m:r>
                          <a:rPr lang="en-US" sz="3000" i="1">
                            <a:latin typeface="Cambria Math" panose="02040503050406030204" pitchFamily="18" charset="0"/>
                            <a:ea typeface="Calibri" panose="020F0502020204030204" pitchFamily="34" charset="0"/>
                            <a:cs typeface="Calibri" panose="020F0502020204030204" pitchFamily="34" charset="0"/>
                          </a:rPr>
                          <m:t>,</m:t>
                        </m:r>
                        <m:r>
                          <a:rPr lang="en-US" sz="3000" i="1">
                            <a:latin typeface="Cambria Math" panose="02040503050406030204" pitchFamily="18" charset="0"/>
                            <a:ea typeface="Calibri" panose="020F0502020204030204" pitchFamily="34" charset="0"/>
                            <a:cs typeface="Calibri" panose="020F0502020204030204" pitchFamily="34" charset="0"/>
                          </a:rPr>
                          <m:t>𝑣</m:t>
                        </m:r>
                        <m:r>
                          <a:rPr lang="en-US" sz="3000" i="1">
                            <a:latin typeface="Cambria Math" panose="02040503050406030204" pitchFamily="18" charset="0"/>
                            <a:ea typeface="Calibri" panose="020F0502020204030204" pitchFamily="34" charset="0"/>
                            <a:cs typeface="Calibri" panose="020F0502020204030204" pitchFamily="34" charset="0"/>
                          </a:rPr>
                          <m:t>]</m:t>
                        </m:r>
                      </m:e>
                      <m:sup>
                        <m:r>
                          <a:rPr lang="en-US" sz="3000" b="0" i="1" smtClean="0">
                            <a:latin typeface="Cambria Math" panose="02040503050406030204" pitchFamily="18" charset="0"/>
                            <a:ea typeface="Calibri" panose="020F0502020204030204" pitchFamily="34" charset="0"/>
                            <a:cs typeface="Calibri" panose="020F0502020204030204" pitchFamily="34" charset="0"/>
                          </a:rPr>
                          <m:t>𝑇</m:t>
                        </m:r>
                      </m:sup>
                    </m:sSup>
                  </m:oMath>
                </a14:m>
                <a:r>
                  <a:rPr lang="en-IN" sz="3000" dirty="0" smtClean="0">
                    <a:latin typeface="Times New Roman" panose="02020603050405020304" pitchFamily="18" charset="0"/>
                    <a:ea typeface="Calibri" panose="020F0502020204030204" pitchFamily="34" charset="0"/>
                    <a:cs typeface="Times New Roman" panose="02020603050405020304" pitchFamily="18" charset="0"/>
                  </a:rPr>
                  <a:t>.</a:t>
                </a:r>
              </a:p>
              <a:p>
                <a:pPr marL="571500" indent="-571500" algn="just">
                  <a:buFont typeface="Arial" panose="020B0604020202020204" pitchFamily="34" charset="0"/>
                  <a:buChar char="•"/>
                </a:pPr>
                <a:r>
                  <a:rPr lang="en-US" sz="3000" dirty="0">
                    <a:latin typeface="Times New Roman" panose="02020603050405020304" pitchFamily="18" charset="0"/>
                    <a:ea typeface="Calibri" panose="020F0502020204030204" pitchFamily="34" charset="0"/>
                    <a:cs typeface="Times New Roman" panose="02020603050405020304" pitchFamily="18" charset="0"/>
                  </a:rPr>
                  <a:t>Since the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image plane </a:t>
                </a:r>
                <a:r>
                  <a:rPr lang="en-US" sz="3000" dirty="0">
                    <a:latin typeface="Times New Roman" panose="02020603050405020304" pitchFamily="18" charset="0"/>
                    <a:ea typeface="Calibri" panose="020F0502020204030204" pitchFamily="34" charset="0"/>
                    <a:cs typeface="Times New Roman" panose="02020603050405020304" pitchFamily="18" charset="0"/>
                  </a:rPr>
                  <a:t>is positioned at distance f from the center of projection, the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three dimensional </a:t>
                </a:r>
                <a:r>
                  <a:rPr lang="en-US" sz="3000" dirty="0">
                    <a:latin typeface="Times New Roman" panose="02020603050405020304" pitchFamily="18" charset="0"/>
                    <a:ea typeface="Calibri" panose="020F0502020204030204" pitchFamily="34" charset="0"/>
                    <a:cs typeface="Times New Roman" panose="02020603050405020304" pitchFamily="18" charset="0"/>
                  </a:rPr>
                  <a:t>coordinates of that point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are </a:t>
                </a:r>
                <a14:m>
                  <m:oMath xmlns:m="http://schemas.openxmlformats.org/officeDocument/2006/math">
                    <m:sSup>
                      <m:sSupPr>
                        <m:ctrlPr>
                          <a:rPr lang="en-US" sz="3000" i="1">
                            <a:latin typeface="Cambria Math" panose="02040503050406030204" pitchFamily="18" charset="0"/>
                            <a:ea typeface="Calibri" panose="020F0502020204030204" pitchFamily="34" charset="0"/>
                            <a:cs typeface="Calibri" panose="020F0502020204030204" pitchFamily="34" charset="0"/>
                          </a:rPr>
                        </m:ctrlPr>
                      </m:sSupPr>
                      <m:e>
                        <m:r>
                          <a:rPr lang="en-US" sz="3000" i="1">
                            <a:latin typeface="Cambria Math" panose="02040503050406030204" pitchFamily="18" charset="0"/>
                            <a:ea typeface="Calibri" panose="020F0502020204030204" pitchFamily="34" charset="0"/>
                            <a:cs typeface="Calibri" panose="020F0502020204030204" pitchFamily="34" charset="0"/>
                          </a:rPr>
                          <m:t>[</m:t>
                        </m:r>
                        <m:r>
                          <a:rPr lang="en-US" sz="3000" i="1">
                            <a:latin typeface="Cambria Math" panose="02040503050406030204" pitchFamily="18" charset="0"/>
                            <a:ea typeface="Calibri" panose="020F0502020204030204" pitchFamily="34" charset="0"/>
                            <a:cs typeface="Calibri" panose="020F0502020204030204" pitchFamily="34" charset="0"/>
                          </a:rPr>
                          <m:t>𝑢</m:t>
                        </m:r>
                        <m:r>
                          <a:rPr lang="en-US" sz="3000" i="1">
                            <a:latin typeface="Cambria Math" panose="02040503050406030204" pitchFamily="18" charset="0"/>
                            <a:ea typeface="Calibri" panose="020F0502020204030204" pitchFamily="34" charset="0"/>
                            <a:cs typeface="Calibri" panose="020F0502020204030204" pitchFamily="34" charset="0"/>
                          </a:rPr>
                          <m:t>,</m:t>
                        </m:r>
                        <m:r>
                          <a:rPr lang="en-US" sz="3000" i="1">
                            <a:latin typeface="Cambria Math" panose="02040503050406030204" pitchFamily="18" charset="0"/>
                            <a:ea typeface="Calibri" panose="020F0502020204030204" pitchFamily="34" charset="0"/>
                            <a:cs typeface="Calibri" panose="020F0502020204030204" pitchFamily="34" charset="0"/>
                          </a:rPr>
                          <m:t>𝑣</m:t>
                        </m:r>
                        <m:r>
                          <a:rPr lang="en-US" sz="3000" b="0" i="1" smtClean="0">
                            <a:latin typeface="Cambria Math" panose="02040503050406030204" pitchFamily="18" charset="0"/>
                            <a:ea typeface="Calibri" panose="020F0502020204030204" pitchFamily="34" charset="0"/>
                            <a:cs typeface="Calibri" panose="020F0502020204030204" pitchFamily="34" charset="0"/>
                          </a:rPr>
                          <m:t>,</m:t>
                        </m:r>
                        <m:r>
                          <a:rPr lang="en-US" sz="3000" b="0" i="1" smtClean="0">
                            <a:latin typeface="Cambria Math" panose="02040503050406030204" pitchFamily="18" charset="0"/>
                            <a:ea typeface="Calibri" panose="020F0502020204030204" pitchFamily="34" charset="0"/>
                            <a:cs typeface="Calibri" panose="020F0502020204030204" pitchFamily="34" charset="0"/>
                          </a:rPr>
                          <m:t>𝑓</m:t>
                        </m:r>
                        <m:r>
                          <a:rPr lang="en-US" sz="3000" i="1">
                            <a:latin typeface="Cambria Math" panose="02040503050406030204" pitchFamily="18" charset="0"/>
                            <a:ea typeface="Calibri" panose="020F0502020204030204" pitchFamily="34" charset="0"/>
                            <a:cs typeface="Calibri" panose="020F0502020204030204" pitchFamily="34" charset="0"/>
                          </a:rPr>
                          <m:t>]</m:t>
                        </m:r>
                      </m:e>
                      <m:sup>
                        <m:r>
                          <a:rPr lang="en-US" sz="3000" i="1">
                            <a:latin typeface="Cambria Math" panose="02040503050406030204" pitchFamily="18" charset="0"/>
                            <a:ea typeface="Calibri" panose="020F0502020204030204" pitchFamily="34" charset="0"/>
                            <a:cs typeface="Calibri" panose="020F0502020204030204" pitchFamily="34" charset="0"/>
                          </a:rPr>
                          <m:t>𝑇</m:t>
                        </m:r>
                      </m:sup>
                    </m:sSup>
                    <m:r>
                      <a:rPr lang="en-US" sz="3000" b="0" i="1" smtClean="0">
                        <a:latin typeface="Cambria Math" panose="02040503050406030204" pitchFamily="18" charset="0"/>
                        <a:ea typeface="Calibri" panose="020F0502020204030204" pitchFamily="34" charset="0"/>
                        <a:cs typeface="Calibri" panose="020F0502020204030204" pitchFamily="34" charset="0"/>
                      </a:rPr>
                      <m:t>.</m:t>
                    </m:r>
                  </m:oMath>
                </a14:m>
                <a:endParaRPr lang="en-US" sz="3000" b="0" dirty="0" smtClean="0">
                  <a:latin typeface="Times New Roman" panose="02020603050405020304" pitchFamily="18" charset="0"/>
                  <a:ea typeface="Calibri" panose="020F0502020204030204" pitchFamily="34" charset="0"/>
                  <a:cs typeface="Times New Roman" panose="02020603050405020304" pitchFamily="18" charset="0"/>
                </a:endParaRPr>
              </a:p>
              <a:p>
                <a:pPr marL="571500" indent="-571500" algn="just">
                  <a:buFont typeface="Arial" panose="020B0604020202020204" pitchFamily="34" charset="0"/>
                  <a:buChar char="•"/>
                </a:pPr>
                <a:r>
                  <a:rPr lang="en-US" sz="3000" dirty="0">
                    <a:latin typeface="Times New Roman" panose="02020603050405020304" pitchFamily="18" charset="0"/>
                    <a:ea typeface="Calibri" panose="020F0502020204030204" pitchFamily="34" charset="0"/>
                    <a:cs typeface="Times New Roman" panose="02020603050405020304" pitchFamily="18" charset="0"/>
                  </a:rPr>
                  <a:t>Following a line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from the </a:t>
                </a:r>
                <a:r>
                  <a:rPr lang="en-US" sz="3000" dirty="0">
                    <a:latin typeface="Times New Roman" panose="02020603050405020304" pitchFamily="18" charset="0"/>
                    <a:ea typeface="Calibri" panose="020F0502020204030204" pitchFamily="34" charset="0"/>
                    <a:cs typeface="Times New Roman" panose="02020603050405020304" pitchFamily="18" charset="0"/>
                  </a:rPr>
                  <a:t>origin through [u, v, f]T and out to the object, call the coordinates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of the </a:t>
                </a:r>
                <a:r>
                  <a:rPr lang="en-US" sz="3000" dirty="0">
                    <a:latin typeface="Times New Roman" panose="02020603050405020304" pitchFamily="18" charset="0"/>
                    <a:ea typeface="Calibri" panose="020F0502020204030204" pitchFamily="34" charset="0"/>
                    <a:cs typeface="Times New Roman" panose="02020603050405020304" pitchFamily="18" charset="0"/>
                  </a:rPr>
                  <a:t>point that the ray intersects on the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object </a:t>
                </a:r>
                <a14:m>
                  <m:oMath xmlns:m="http://schemas.openxmlformats.org/officeDocument/2006/math">
                    <m:sSup>
                      <m:sSupPr>
                        <m:ctrlPr>
                          <a:rPr lang="en-US" sz="3000" i="1">
                            <a:latin typeface="Cambria Math" panose="02040503050406030204" pitchFamily="18" charset="0"/>
                            <a:ea typeface="Calibri" panose="020F0502020204030204" pitchFamily="34" charset="0"/>
                            <a:cs typeface="Calibri" panose="020F0502020204030204" pitchFamily="34" charset="0"/>
                          </a:rPr>
                        </m:ctrlPr>
                      </m:sSupPr>
                      <m:e>
                        <m:r>
                          <a:rPr lang="en-US" sz="3000" i="1">
                            <a:latin typeface="Cambria Math" panose="02040503050406030204" pitchFamily="18" charset="0"/>
                            <a:ea typeface="Calibri" panose="020F0502020204030204" pitchFamily="34" charset="0"/>
                            <a:cs typeface="Calibri" panose="020F0502020204030204" pitchFamily="34" charset="0"/>
                          </a:rPr>
                          <m:t>[</m:t>
                        </m:r>
                        <m:r>
                          <a:rPr lang="en-US" sz="3000" b="0" i="1" smtClean="0">
                            <a:latin typeface="Cambria Math" panose="02040503050406030204" pitchFamily="18" charset="0"/>
                            <a:ea typeface="Calibri" panose="020F0502020204030204" pitchFamily="34" charset="0"/>
                            <a:cs typeface="Calibri" panose="020F0502020204030204" pitchFamily="34" charset="0"/>
                          </a:rPr>
                          <m:t>𝑋</m:t>
                        </m:r>
                        <m:r>
                          <a:rPr lang="en-US" sz="3000" i="1">
                            <a:latin typeface="Cambria Math" panose="02040503050406030204" pitchFamily="18" charset="0"/>
                            <a:ea typeface="Calibri" panose="020F0502020204030204" pitchFamily="34" charset="0"/>
                            <a:cs typeface="Calibri" panose="020F0502020204030204" pitchFamily="34" charset="0"/>
                          </a:rPr>
                          <m:t>,</m:t>
                        </m:r>
                        <m:r>
                          <a:rPr lang="en-US" sz="3000" b="0" i="1" smtClean="0">
                            <a:latin typeface="Cambria Math" panose="02040503050406030204" pitchFamily="18" charset="0"/>
                            <a:ea typeface="Calibri" panose="020F0502020204030204" pitchFamily="34" charset="0"/>
                            <a:cs typeface="Calibri" panose="020F0502020204030204" pitchFamily="34" charset="0"/>
                          </a:rPr>
                          <m:t>𝑌</m:t>
                        </m:r>
                        <m:r>
                          <a:rPr lang="en-US" sz="3000" i="1">
                            <a:latin typeface="Cambria Math" panose="02040503050406030204" pitchFamily="18" charset="0"/>
                            <a:ea typeface="Calibri" panose="020F0502020204030204" pitchFamily="34" charset="0"/>
                            <a:cs typeface="Calibri" panose="020F0502020204030204" pitchFamily="34" charset="0"/>
                          </a:rPr>
                          <m:t>,</m:t>
                        </m:r>
                        <m:r>
                          <a:rPr lang="en-US" sz="3000" b="0" i="1" smtClean="0">
                            <a:latin typeface="Cambria Math" panose="02040503050406030204" pitchFamily="18" charset="0"/>
                            <a:ea typeface="Calibri" panose="020F0502020204030204" pitchFamily="34" charset="0"/>
                            <a:cs typeface="Calibri" panose="020F0502020204030204" pitchFamily="34" charset="0"/>
                          </a:rPr>
                          <m:t>𝑍</m:t>
                        </m:r>
                        <m:r>
                          <a:rPr lang="en-US" sz="3000" i="1">
                            <a:latin typeface="Cambria Math" panose="02040503050406030204" pitchFamily="18" charset="0"/>
                            <a:ea typeface="Calibri" panose="020F0502020204030204" pitchFamily="34" charset="0"/>
                            <a:cs typeface="Calibri" panose="020F0502020204030204" pitchFamily="34" charset="0"/>
                          </a:rPr>
                          <m:t>]</m:t>
                        </m:r>
                      </m:e>
                      <m:sup>
                        <m:r>
                          <a:rPr lang="en-US" sz="3000" i="1">
                            <a:latin typeface="Cambria Math" panose="02040503050406030204" pitchFamily="18" charset="0"/>
                            <a:ea typeface="Calibri" panose="020F0502020204030204" pitchFamily="34" charset="0"/>
                            <a:cs typeface="Calibri" panose="020F0502020204030204" pitchFamily="34" charset="0"/>
                          </a:rPr>
                          <m:t>𝑇</m:t>
                        </m:r>
                      </m:sup>
                    </m:sSup>
                    <m:r>
                      <a:rPr lang="en-US" sz="3000" b="0" i="1" smtClean="0">
                        <a:latin typeface="Cambria Math" panose="02040503050406030204" pitchFamily="18" charset="0"/>
                        <a:ea typeface="Calibri" panose="020F0502020204030204" pitchFamily="34" charset="0"/>
                        <a:cs typeface="Calibri" panose="020F0502020204030204" pitchFamily="34" charset="0"/>
                      </a:rPr>
                      <m:t>.</m:t>
                    </m:r>
                  </m:oMath>
                </a14:m>
                <a:endParaRPr lang="en-IN" sz="3000" dirty="0">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351790" y="1162852"/>
                <a:ext cx="11407140" cy="5170646"/>
              </a:xfrm>
              <a:prstGeom prst="rect">
                <a:avLst/>
              </a:prstGeom>
              <a:blipFill>
                <a:blip r:embed="rId2"/>
                <a:stretch>
                  <a:fillRect l="-1122" t="-1533" r="-1229" b="-3302"/>
                </a:stretch>
              </a:blipFill>
            </p:spPr>
            <p:txBody>
              <a:bodyPr/>
              <a:lstStyle/>
              <a:p>
                <a:r>
                  <a:rPr lang="en-US">
                    <a:noFill/>
                  </a:rPr>
                  <a:t> </a:t>
                </a:r>
              </a:p>
            </p:txBody>
          </p:sp>
        </mc:Fallback>
      </mc:AlternateContent>
    </p:spTree>
    <p:extLst>
      <p:ext uri="{BB962C8B-B14F-4D97-AF65-F5344CB8AC3E}">
        <p14:creationId xmlns:p14="http://schemas.microsoft.com/office/powerpoint/2010/main" val="3094411974"/>
      </p:ext>
    </p:extLst>
  </p:cSld>
  <p:clrMapOvr>
    <a:masterClrMapping/>
  </p:clrMapOvr>
  <p:transition spd="med"/>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48</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mc:AlternateContent xmlns:mc="http://schemas.openxmlformats.org/markup-compatibility/2006" xmlns:a14="http://schemas.microsoft.com/office/drawing/2010/main">
        <mc:Choice Requires="a14">
          <p:sp>
            <p:nvSpPr>
              <p:cNvPr id="9" name="Rectangle 8"/>
              <p:cNvSpPr/>
              <p:nvPr/>
            </p:nvSpPr>
            <p:spPr>
              <a:xfrm>
                <a:off x="351790" y="1162852"/>
                <a:ext cx="11407140" cy="4276427"/>
              </a:xfrm>
              <a:prstGeom prst="rect">
                <a:avLst/>
              </a:prstGeom>
            </p:spPr>
            <p:txBody>
              <a:bodyPr wrap="square">
                <a:spAutoFit/>
              </a:bodyPr>
              <a:lstStyle/>
              <a:p>
                <a:pPr marL="571500" indent="-571500" algn="just">
                  <a:buFont typeface="Arial" panose="020B0604020202020204" pitchFamily="34" charset="0"/>
                  <a:buChar char="•"/>
                </a:pPr>
                <a:r>
                  <a:rPr lang="en-US" sz="3200" dirty="0" smtClean="0">
                    <a:latin typeface="Times New Roman" panose="02020603050405020304" pitchFamily="18" charset="0"/>
                    <a:ea typeface="Calibri" panose="020F0502020204030204" pitchFamily="34" charset="0"/>
                    <a:cs typeface="Times New Roman" panose="02020603050405020304" pitchFamily="18" charset="0"/>
                  </a:rPr>
                  <a:t>The relationship of </a:t>
                </a:r>
                <a:r>
                  <a:rPr lang="en-US" sz="3200" dirty="0">
                    <a:latin typeface="Times New Roman" panose="02020603050405020304" pitchFamily="18" charset="0"/>
                    <a:ea typeface="Calibri" panose="020F0502020204030204" pitchFamily="34" charset="0"/>
                    <a:cs typeface="Times New Roman" panose="02020603050405020304" pitchFamily="18" charset="0"/>
                  </a:rPr>
                  <a:t>the image coordinates and object coordinates can be written</a:t>
                </a:r>
                <a:r>
                  <a:rPr lang="en-US" sz="3200" dirty="0" smtClean="0">
                    <a:latin typeface="Times New Roman" panose="02020603050405020304" pitchFamily="18" charset="0"/>
                    <a:ea typeface="Calibri" panose="020F0502020204030204" pitchFamily="34" charset="0"/>
                    <a:cs typeface="Times New Roman" panose="02020603050405020304" pitchFamily="18" charset="0"/>
                  </a:rPr>
                  <a:t>:</a:t>
                </a:r>
              </a:p>
              <a:p>
                <a:pPr marL="571500" indent="-571500" algn="just">
                  <a:buFont typeface="Arial" panose="020B0604020202020204" pitchFamily="34" charset="0"/>
                  <a:buChar char="•"/>
                </a:pPr>
                <a14:m>
                  <m:oMath xmlns:m="http://schemas.openxmlformats.org/officeDocument/2006/math">
                    <m:r>
                      <a:rPr lang="en-US" sz="3200" b="0" i="1" smtClean="0">
                        <a:latin typeface="Cambria Math" panose="02040503050406030204" pitchFamily="18" charset="0"/>
                        <a:ea typeface="Calibri" panose="020F0502020204030204" pitchFamily="34" charset="0"/>
                        <a:cs typeface="Calibri" panose="020F0502020204030204" pitchFamily="34" charset="0"/>
                      </a:rPr>
                      <m:t>𝑢</m:t>
                    </m:r>
                    <m:r>
                      <a:rPr lang="en-US" sz="3200" b="0" i="1" smtClean="0">
                        <a:latin typeface="Cambria Math" panose="02040503050406030204" pitchFamily="18" charset="0"/>
                        <a:ea typeface="Calibri" panose="020F0502020204030204" pitchFamily="34" charset="0"/>
                        <a:cs typeface="Calibri" panose="020F0502020204030204" pitchFamily="34" charset="0"/>
                      </a:rPr>
                      <m:t>=</m:t>
                    </m:r>
                    <m:r>
                      <a:rPr lang="en-US" sz="3200" b="0" i="1" smtClean="0">
                        <a:latin typeface="Cambria Math" panose="02040503050406030204" pitchFamily="18" charset="0"/>
                        <a:ea typeface="Calibri" panose="020F0502020204030204" pitchFamily="34" charset="0"/>
                        <a:cs typeface="Calibri" panose="020F0502020204030204" pitchFamily="34" charset="0"/>
                      </a:rPr>
                      <m:t>𝑓</m:t>
                    </m:r>
                    <m:d>
                      <m:dPr>
                        <m:ctrlPr>
                          <a:rPr lang="en-US" sz="3200" b="0" i="1" smtClean="0">
                            <a:latin typeface="Cambria Math" panose="02040503050406030204" pitchFamily="18" charset="0"/>
                            <a:ea typeface="Calibri" panose="020F0502020204030204" pitchFamily="34" charset="0"/>
                            <a:cs typeface="Calibri" panose="020F0502020204030204" pitchFamily="34" charset="0"/>
                          </a:rPr>
                        </m:ctrlPr>
                      </m:dPr>
                      <m:e>
                        <m:f>
                          <m:fPr>
                            <m:ctrlPr>
                              <a:rPr lang="en-US" sz="3200" b="0" i="1" smtClean="0">
                                <a:latin typeface="Cambria Math" panose="02040503050406030204" pitchFamily="18" charset="0"/>
                                <a:ea typeface="Calibri" panose="020F0502020204030204" pitchFamily="34" charset="0"/>
                                <a:cs typeface="Calibri" panose="020F0502020204030204" pitchFamily="34" charset="0"/>
                              </a:rPr>
                            </m:ctrlPr>
                          </m:fPr>
                          <m:num>
                            <m:r>
                              <a:rPr lang="en-US" sz="3200" b="0" i="1" smtClean="0">
                                <a:latin typeface="Cambria Math" panose="02040503050406030204" pitchFamily="18" charset="0"/>
                                <a:ea typeface="Calibri" panose="020F0502020204030204" pitchFamily="34" charset="0"/>
                                <a:cs typeface="Calibri" panose="020F0502020204030204" pitchFamily="34" charset="0"/>
                              </a:rPr>
                              <m:t>𝑋</m:t>
                            </m:r>
                          </m:num>
                          <m:den>
                            <m:r>
                              <a:rPr lang="en-US" sz="3200" b="0" i="1" smtClean="0">
                                <a:latin typeface="Cambria Math" panose="02040503050406030204" pitchFamily="18" charset="0"/>
                                <a:ea typeface="Calibri" panose="020F0502020204030204" pitchFamily="34" charset="0"/>
                                <a:cs typeface="Calibri" panose="020F0502020204030204" pitchFamily="34" charset="0"/>
                              </a:rPr>
                              <m:t>𝑍</m:t>
                            </m:r>
                          </m:den>
                        </m:f>
                      </m:e>
                    </m:d>
                    <m:r>
                      <a:rPr lang="en-US" sz="3200" i="1">
                        <a:latin typeface="Cambria Math" panose="02040503050406030204" pitchFamily="18" charset="0"/>
                        <a:ea typeface="Calibri" panose="020F0502020204030204" pitchFamily="34" charset="0"/>
                        <a:cs typeface="Calibri" panose="020F0502020204030204" pitchFamily="34" charset="0"/>
                      </a:rPr>
                      <m:t>,  </m:t>
                    </m:r>
                    <m:r>
                      <a:rPr lang="en-US" sz="3200" i="1">
                        <a:latin typeface="Cambria Math" panose="02040503050406030204" pitchFamily="18" charset="0"/>
                        <a:ea typeface="Calibri" panose="020F0502020204030204" pitchFamily="34" charset="0"/>
                        <a:cs typeface="Calibri" panose="020F0502020204030204" pitchFamily="34" charset="0"/>
                      </a:rPr>
                      <m:t>𝑣</m:t>
                    </m:r>
                    <m:r>
                      <a:rPr lang="en-US" sz="3200" i="1">
                        <a:latin typeface="Cambria Math" panose="02040503050406030204" pitchFamily="18" charset="0"/>
                        <a:ea typeface="Calibri" panose="020F0502020204030204" pitchFamily="34" charset="0"/>
                        <a:cs typeface="Calibri" panose="020F0502020204030204" pitchFamily="34" charset="0"/>
                      </a:rPr>
                      <m:t>=</m:t>
                    </m:r>
                    <m:r>
                      <a:rPr lang="en-US" sz="3200" i="1">
                        <a:latin typeface="Cambria Math" panose="02040503050406030204" pitchFamily="18" charset="0"/>
                        <a:ea typeface="Calibri" panose="020F0502020204030204" pitchFamily="34" charset="0"/>
                        <a:cs typeface="Calibri" panose="020F0502020204030204" pitchFamily="34" charset="0"/>
                      </a:rPr>
                      <m:t>𝑓</m:t>
                    </m:r>
                    <m:d>
                      <m:dPr>
                        <m:ctrlPr>
                          <a:rPr lang="en-US" sz="3200" i="1">
                            <a:latin typeface="Cambria Math" panose="02040503050406030204" pitchFamily="18" charset="0"/>
                            <a:ea typeface="Calibri" panose="020F0502020204030204" pitchFamily="34" charset="0"/>
                            <a:cs typeface="Calibri" panose="020F0502020204030204" pitchFamily="34" charset="0"/>
                          </a:rPr>
                        </m:ctrlPr>
                      </m:dPr>
                      <m:e>
                        <m:f>
                          <m:fPr>
                            <m:ctrlPr>
                              <a:rPr lang="en-US" sz="3200" i="1">
                                <a:latin typeface="Cambria Math" panose="02040503050406030204" pitchFamily="18" charset="0"/>
                                <a:ea typeface="Calibri" panose="020F0502020204030204" pitchFamily="34" charset="0"/>
                                <a:cs typeface="Calibri" panose="020F0502020204030204" pitchFamily="34" charset="0"/>
                              </a:rPr>
                            </m:ctrlPr>
                          </m:fPr>
                          <m:num>
                            <m:r>
                              <a:rPr lang="en-US" sz="3200" b="0" i="1" smtClean="0">
                                <a:latin typeface="Cambria Math" panose="02040503050406030204" pitchFamily="18" charset="0"/>
                                <a:ea typeface="Calibri" panose="020F0502020204030204" pitchFamily="34" charset="0"/>
                                <a:cs typeface="Calibri" panose="020F0502020204030204" pitchFamily="34" charset="0"/>
                              </a:rPr>
                              <m:t>𝑌</m:t>
                            </m:r>
                          </m:num>
                          <m:den>
                            <m:r>
                              <a:rPr lang="en-US" sz="3200" i="1">
                                <a:latin typeface="Cambria Math" panose="02040503050406030204" pitchFamily="18" charset="0"/>
                                <a:ea typeface="Calibri" panose="020F0502020204030204" pitchFamily="34" charset="0"/>
                                <a:cs typeface="Calibri" panose="020F0502020204030204" pitchFamily="34" charset="0"/>
                              </a:rPr>
                              <m:t>𝑍</m:t>
                            </m:r>
                          </m:den>
                        </m:f>
                      </m:e>
                    </m:d>
                  </m:oMath>
                </a14:m>
                <a:endParaRPr lang="en-IN" sz="3200" dirty="0" smtClean="0">
                  <a:latin typeface="Times New Roman" panose="02020603050405020304" pitchFamily="18" charset="0"/>
                  <a:ea typeface="Calibri" panose="020F0502020204030204" pitchFamily="34" charset="0"/>
                  <a:cs typeface="Times New Roman" panose="02020603050405020304" pitchFamily="18" charset="0"/>
                </a:endParaRPr>
              </a:p>
              <a:p>
                <a:pPr marL="571500" indent="-571500" algn="just">
                  <a:buFont typeface="Arial" panose="020B0604020202020204" pitchFamily="34" charset="0"/>
                  <a:buChar char="•"/>
                </a:pPr>
                <a:r>
                  <a:rPr lang="en-US" sz="3200" b="1" dirty="0" smtClean="0">
                    <a:latin typeface="Times New Roman" panose="02020603050405020304" pitchFamily="18" charset="0"/>
                    <a:ea typeface="Calibri" panose="020F0502020204030204" pitchFamily="34" charset="0"/>
                    <a:cs typeface="Times New Roman" panose="02020603050405020304" pitchFamily="18" charset="0"/>
                  </a:rPr>
                  <a:t>Thus, information </a:t>
                </a:r>
                <a:r>
                  <a:rPr lang="en-US" sz="3200" b="1" dirty="0">
                    <a:latin typeface="Times New Roman" panose="02020603050405020304" pitchFamily="18" charset="0"/>
                    <a:ea typeface="Calibri" panose="020F0502020204030204" pitchFamily="34" charset="0"/>
                    <a:cs typeface="Times New Roman" panose="02020603050405020304" pitchFamily="18" charset="0"/>
                  </a:rPr>
                  <a:t>is lost in the 3D to 2D transformation</a:t>
                </a:r>
                <a:r>
                  <a:rPr lang="en-US" sz="3200" b="1" dirty="0" smtClean="0">
                    <a:latin typeface="Times New Roman" panose="02020603050405020304" pitchFamily="18" charset="0"/>
                    <a:ea typeface="Calibri" panose="020F0502020204030204" pitchFamily="34" charset="0"/>
                    <a:cs typeface="Times New Roman" panose="02020603050405020304" pitchFamily="18" charset="0"/>
                  </a:rPr>
                  <a:t>.</a:t>
                </a:r>
              </a:p>
              <a:p>
                <a:pPr marL="571500" indent="-571500" algn="just">
                  <a:buFont typeface="Arial" panose="020B0604020202020204" pitchFamily="34" charset="0"/>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This is the </a:t>
                </a:r>
                <a:r>
                  <a:rPr lang="en-US" sz="3200" dirty="0" smtClean="0">
                    <a:latin typeface="Times New Roman" panose="02020603050405020304" pitchFamily="18" charset="0"/>
                    <a:ea typeface="Calibri" panose="020F0502020204030204" pitchFamily="34" charset="0"/>
                    <a:cs typeface="Times New Roman" panose="02020603050405020304" pitchFamily="18" charset="0"/>
                  </a:rPr>
                  <a:t>first problem </a:t>
                </a:r>
                <a:r>
                  <a:rPr lang="en-US" sz="3200" dirty="0">
                    <a:latin typeface="Times New Roman" panose="02020603050405020304" pitchFamily="18" charset="0"/>
                    <a:ea typeface="Calibri" panose="020F0502020204030204" pitchFamily="34" charset="0"/>
                    <a:cs typeface="Times New Roman" panose="02020603050405020304" pitchFamily="18" charset="0"/>
                  </a:rPr>
                  <a:t>that makes computer vision difficult: the 2D structure seen </a:t>
                </a:r>
                <a:r>
                  <a:rPr lang="en-US" sz="3200" dirty="0" smtClean="0">
                    <a:latin typeface="Times New Roman" panose="02020603050405020304" pitchFamily="18" charset="0"/>
                    <a:ea typeface="Calibri" panose="020F0502020204030204" pitchFamily="34" charset="0"/>
                    <a:cs typeface="Times New Roman" panose="02020603050405020304" pitchFamily="18" charset="0"/>
                  </a:rPr>
                  <a:t>on the </a:t>
                </a:r>
                <a:r>
                  <a:rPr lang="en-US" sz="3200" dirty="0">
                    <a:latin typeface="Times New Roman" panose="02020603050405020304" pitchFamily="18" charset="0"/>
                    <a:ea typeface="Calibri" panose="020F0502020204030204" pitchFamily="34" charset="0"/>
                    <a:cs typeface="Times New Roman" panose="02020603050405020304" pitchFamily="18" charset="0"/>
                  </a:rPr>
                  <a:t>image is related in a complex way to the 3D structure of the </a:t>
                </a:r>
                <a:r>
                  <a:rPr lang="en-US" sz="3200" dirty="0" smtClean="0">
                    <a:latin typeface="Times New Roman" panose="02020603050405020304" pitchFamily="18" charset="0"/>
                    <a:ea typeface="Calibri" panose="020F0502020204030204" pitchFamily="34" charset="0"/>
                    <a:cs typeface="Times New Roman" panose="02020603050405020304" pitchFamily="18" charset="0"/>
                  </a:rPr>
                  <a:t>original scene</a:t>
                </a:r>
                <a:r>
                  <a:rPr lang="en-US" sz="3200" dirty="0">
                    <a:latin typeface="Times New Roman" panose="02020603050405020304" pitchFamily="18" charset="0"/>
                    <a:ea typeface="Calibri" panose="020F0502020204030204" pitchFamily="34" charset="0"/>
                    <a:cs typeface="Times New Roman" panose="02020603050405020304" pitchFamily="18" charset="0"/>
                  </a:rPr>
                  <a:t>.</a:t>
                </a:r>
                <a:endParaRPr lang="en-US" sz="3200" dirty="0" smtClean="0">
                  <a:latin typeface="Times New Roman" panose="02020603050405020304" pitchFamily="18" charset="0"/>
                  <a:ea typeface="Calibri" panose="020F0502020204030204" pitchFamily="34" charset="0"/>
                  <a:cs typeface="Times New Roman" panose="02020603050405020304" pitchFamily="18" charset="0"/>
                </a:endParaRPr>
              </a:p>
              <a:p>
                <a:pPr marL="571500" indent="-571500" algn="just">
                  <a:buFont typeface="Arial" panose="020B0604020202020204" pitchFamily="34" charset="0"/>
                  <a:buChar char="•"/>
                </a:pP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351790" y="1162852"/>
                <a:ext cx="11407140" cy="4276427"/>
              </a:xfrm>
              <a:prstGeom prst="rect">
                <a:avLst/>
              </a:prstGeom>
              <a:blipFill>
                <a:blip r:embed="rId2"/>
                <a:stretch>
                  <a:fillRect l="-1229" t="-1997" r="-1336"/>
                </a:stretch>
              </a:blipFill>
            </p:spPr>
            <p:txBody>
              <a:bodyPr/>
              <a:lstStyle/>
              <a:p>
                <a:r>
                  <a:rPr lang="en-US">
                    <a:noFill/>
                  </a:rPr>
                  <a:t> </a:t>
                </a:r>
              </a:p>
            </p:txBody>
          </p:sp>
        </mc:Fallback>
      </mc:AlternateContent>
    </p:spTree>
    <p:extLst>
      <p:ext uri="{BB962C8B-B14F-4D97-AF65-F5344CB8AC3E}">
        <p14:creationId xmlns:p14="http://schemas.microsoft.com/office/powerpoint/2010/main" val="2570894421"/>
      </p:ext>
    </p:extLst>
  </p:cSld>
  <p:clrMapOvr>
    <a:masterClrMapping/>
  </p:clrMapOvr>
  <p:transition spd="med"/>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49</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p:sp>
        <p:nvSpPr>
          <p:cNvPr id="9" name="Rectangle 8"/>
          <p:cNvSpPr/>
          <p:nvPr/>
        </p:nvSpPr>
        <p:spPr>
          <a:xfrm>
            <a:off x="351790" y="1162852"/>
            <a:ext cx="11407140" cy="6001643"/>
          </a:xfrm>
          <a:prstGeom prst="rect">
            <a:avLst/>
          </a:prstGeom>
        </p:spPr>
        <p:txBody>
          <a:bodyPr wrap="square">
            <a:spAutoFit/>
          </a:bodyPr>
          <a:lstStyle/>
          <a:p>
            <a:pPr algn="just"/>
            <a:r>
              <a:rPr lang="en-US" sz="3200" b="1" dirty="0" smtClean="0">
                <a:latin typeface="Times-Roman"/>
                <a:ea typeface="Calibri" panose="020F0502020204030204" pitchFamily="34" charset="0"/>
                <a:cs typeface="Times New Roman" panose="02020603050405020304" pitchFamily="18" charset="0"/>
              </a:rPr>
              <a:t>2. </a:t>
            </a:r>
            <a:r>
              <a:rPr lang="en-US" sz="3200" b="1" dirty="0">
                <a:latin typeface="Times-Roman"/>
              </a:rPr>
              <a:t>To a computer, the image has to be understood pixel by </a:t>
            </a:r>
            <a:r>
              <a:rPr lang="en-US" sz="3200" b="1" dirty="0" smtClean="0">
                <a:latin typeface="Times-Roman"/>
              </a:rPr>
              <a:t>pixel and clearly </a:t>
            </a:r>
            <a:r>
              <a:rPr lang="en-US" sz="3200" b="1" dirty="0">
                <a:latin typeface="Times-Roman"/>
              </a:rPr>
              <a:t>separable into </a:t>
            </a:r>
            <a:r>
              <a:rPr lang="en-US" sz="3200" b="1" dirty="0" smtClean="0">
                <a:latin typeface="Times-Roman"/>
              </a:rPr>
              <a:t>regions.</a:t>
            </a:r>
            <a:endParaRPr lang="en-US" sz="3200" b="1" dirty="0" smtClean="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buFont typeface="Arial" panose="020B0604020202020204" pitchFamily="34" charset="0"/>
              <a:buChar char="•"/>
            </a:pPr>
            <a:r>
              <a:rPr lang="en-US" sz="3200" dirty="0">
                <a:latin typeface="Times-Roman"/>
              </a:rPr>
              <a:t>An image is represented on a computer as an array of pixels.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Each pixel </a:t>
            </a:r>
            <a:r>
              <a:rPr lang="en-US" sz="3200" dirty="0">
                <a:latin typeface="Times-Roman"/>
              </a:rPr>
              <a:t>corresponds to the intensity and the color of light integrated </a:t>
            </a:r>
            <a:r>
              <a:rPr lang="en-US" sz="3200" dirty="0" smtClean="0">
                <a:latin typeface="Times-Roman"/>
              </a:rPr>
              <a:t>over a </a:t>
            </a:r>
            <a:r>
              <a:rPr lang="en-US" sz="3200" dirty="0">
                <a:latin typeface="Times-Roman"/>
              </a:rPr>
              <a:t>small area of the </a:t>
            </a:r>
            <a:r>
              <a:rPr lang="en-US" sz="3200" dirty="0" smtClean="0">
                <a:latin typeface="Times-Roman"/>
              </a:rPr>
              <a:t>image.</a:t>
            </a:r>
          </a:p>
          <a:p>
            <a:pPr marL="457200" indent="-457200" algn="just">
              <a:buFont typeface="Arial" panose="020B0604020202020204" pitchFamily="34" charset="0"/>
              <a:buChar char="•"/>
            </a:pPr>
            <a:r>
              <a:rPr lang="en-US" sz="3200" dirty="0" smtClean="0">
                <a:latin typeface="Times-Roman"/>
              </a:rPr>
              <a:t>A pixel </a:t>
            </a:r>
            <a:r>
              <a:rPr lang="en-US" sz="3200" dirty="0">
                <a:latin typeface="Times-Roman"/>
              </a:rPr>
              <a:t>can be represented as a single value</a:t>
            </a:r>
            <a:r>
              <a:rPr lang="en-US" sz="3200" dirty="0" smtClean="0">
                <a:latin typeface="Times-Roman"/>
              </a:rPr>
              <a:t>, corresponding </a:t>
            </a:r>
            <a:r>
              <a:rPr lang="en-US" sz="3200" dirty="0">
                <a:latin typeface="Times-Roman"/>
              </a:rPr>
              <a:t>to the total intensity of light in that area.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It </a:t>
            </a:r>
            <a:r>
              <a:rPr lang="en-US" sz="3200" dirty="0">
                <a:latin typeface="Times-Roman"/>
              </a:rPr>
              <a:t>can </a:t>
            </a:r>
            <a:r>
              <a:rPr lang="en-US" sz="3200" dirty="0" smtClean="0">
                <a:latin typeface="Times-Roman"/>
              </a:rPr>
              <a:t>also be </a:t>
            </a:r>
            <a:r>
              <a:rPr lang="en-US" sz="3200" dirty="0">
                <a:latin typeface="Times-Roman"/>
              </a:rPr>
              <a:t>represented as a n-tuple of values in some </a:t>
            </a:r>
            <a:r>
              <a:rPr lang="en-US" sz="3200" i="1" dirty="0">
                <a:solidFill>
                  <a:srgbClr val="C00000"/>
                </a:solidFill>
                <a:latin typeface="Times-Italic"/>
              </a:rPr>
              <a:t>c</a:t>
            </a:r>
            <a:r>
              <a:rPr lang="en-US" sz="3200" i="1" dirty="0">
                <a:solidFill>
                  <a:schemeClr val="accent3">
                    <a:lumMod val="60000"/>
                    <a:lumOff val="40000"/>
                  </a:schemeClr>
                </a:solidFill>
                <a:latin typeface="Times-Italic"/>
              </a:rPr>
              <a:t>o</a:t>
            </a:r>
            <a:r>
              <a:rPr lang="en-US" sz="3200" i="1" dirty="0">
                <a:solidFill>
                  <a:srgbClr val="7030A0"/>
                </a:solidFill>
                <a:latin typeface="Times-Italic"/>
              </a:rPr>
              <a:t>l</a:t>
            </a:r>
            <a:r>
              <a:rPr lang="en-US" sz="3200" i="1" dirty="0">
                <a:solidFill>
                  <a:srgbClr val="00B050"/>
                </a:solidFill>
                <a:latin typeface="Times-Italic"/>
              </a:rPr>
              <a:t>o</a:t>
            </a:r>
            <a:r>
              <a:rPr lang="en-US" sz="3200" i="1" dirty="0">
                <a:solidFill>
                  <a:schemeClr val="accent6">
                    <a:lumMod val="75000"/>
                  </a:schemeClr>
                </a:solidFill>
                <a:latin typeface="Times-Italic"/>
              </a:rPr>
              <a:t>r</a:t>
            </a:r>
            <a:r>
              <a:rPr lang="en-US" sz="3200" i="1" dirty="0">
                <a:latin typeface="Times-Italic"/>
              </a:rPr>
              <a:t> </a:t>
            </a:r>
            <a:r>
              <a:rPr lang="en-US" sz="3200" i="1" dirty="0" smtClean="0">
                <a:latin typeface="Times-Italic"/>
              </a:rPr>
              <a:t>space</a:t>
            </a:r>
            <a:r>
              <a:rPr lang="en-US" sz="3200" dirty="0" smtClean="0">
                <a:latin typeface="Times-Roman"/>
              </a:rPr>
              <a:t>.</a:t>
            </a:r>
          </a:p>
          <a:p>
            <a:pPr marL="457200" indent="-457200" algn="just">
              <a:buFont typeface="Arial" panose="020B0604020202020204" pitchFamily="34" charset="0"/>
              <a:buChar char="•"/>
            </a:pPr>
            <a:r>
              <a:rPr lang="en-US" sz="3200" dirty="0" smtClean="0">
                <a:latin typeface="Times-Roman"/>
              </a:rPr>
              <a:t>A typical color </a:t>
            </a:r>
            <a:r>
              <a:rPr lang="en-US" sz="3200" dirty="0">
                <a:latin typeface="Times-Roman"/>
              </a:rPr>
              <a:t>space is RGB (</a:t>
            </a:r>
            <a:r>
              <a:rPr lang="en-US" sz="3200" dirty="0">
                <a:solidFill>
                  <a:schemeClr val="accent6">
                    <a:lumMod val="75000"/>
                  </a:schemeClr>
                </a:solidFill>
                <a:latin typeface="Times-Roman"/>
              </a:rPr>
              <a:t>Red</a:t>
            </a:r>
            <a:r>
              <a:rPr lang="en-US" sz="3200" dirty="0">
                <a:latin typeface="Times-Roman"/>
              </a:rPr>
              <a:t>-</a:t>
            </a:r>
            <a:r>
              <a:rPr lang="en-US" sz="3200" dirty="0">
                <a:solidFill>
                  <a:srgbClr val="00B050"/>
                </a:solidFill>
                <a:latin typeface="Times-Roman"/>
              </a:rPr>
              <a:t>Green</a:t>
            </a:r>
            <a:r>
              <a:rPr lang="en-US" sz="3200" dirty="0">
                <a:latin typeface="Times-Roman"/>
              </a:rPr>
              <a:t>-</a:t>
            </a:r>
            <a:r>
              <a:rPr lang="en-US" sz="3200" dirty="0">
                <a:solidFill>
                  <a:srgbClr val="0070C0"/>
                </a:solidFill>
                <a:latin typeface="Times-Roman"/>
              </a:rPr>
              <a:t>Blue</a:t>
            </a:r>
            <a:r>
              <a:rPr lang="en-US" sz="3200" dirty="0">
                <a:latin typeface="Times-Roman"/>
              </a:rPr>
              <a:t>).</a:t>
            </a:r>
            <a:endParaRPr lang="en-US" sz="3200" b="1"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6364862"/>
      </p:ext>
    </p:extLst>
  </p:cSld>
  <p:clrMapOvr>
    <a:masterClrMapping/>
  </p:clrMapOvr>
  <p:transition spd="med"/>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50</a:t>
            </a:fld>
            <a:endParaRPr dirty="0"/>
          </a:p>
        </p:txBody>
      </p:sp>
      <p:sp>
        <p:nvSpPr>
          <p:cNvPr id="4" name="TextBox 3"/>
          <p:cNvSpPr txBox="1"/>
          <p:nvPr/>
        </p:nvSpPr>
        <p:spPr>
          <a:xfrm>
            <a:off x="1583618"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p:sp>
        <p:nvSpPr>
          <p:cNvPr id="9" name="Rectangle 8"/>
          <p:cNvSpPr/>
          <p:nvPr/>
        </p:nvSpPr>
        <p:spPr>
          <a:xfrm>
            <a:off x="351790" y="1162852"/>
            <a:ext cx="11407140" cy="4524315"/>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A large variety of colors can be represented by a linear combination of the ‘standard’ </a:t>
            </a:r>
            <a:r>
              <a:rPr lang="en-US" sz="3200" b="1" dirty="0" smtClean="0">
                <a:solidFill>
                  <a:srgbClr val="C00000"/>
                </a:solidFill>
                <a:latin typeface="Times-Roman"/>
              </a:rPr>
              <a:t>red</a:t>
            </a:r>
            <a:r>
              <a:rPr lang="en-US" sz="3200" dirty="0" smtClean="0">
                <a:latin typeface="Times-Roman"/>
              </a:rPr>
              <a:t>, </a:t>
            </a:r>
            <a:r>
              <a:rPr lang="en-US" sz="3200" b="1" dirty="0" smtClean="0">
                <a:solidFill>
                  <a:srgbClr val="00B050"/>
                </a:solidFill>
                <a:latin typeface="Times-Roman"/>
              </a:rPr>
              <a:t>green</a:t>
            </a:r>
            <a:r>
              <a:rPr lang="en-US" sz="3200" b="1" dirty="0" smtClean="0">
                <a:latin typeface="Times-Roman"/>
              </a:rPr>
              <a:t> and </a:t>
            </a:r>
            <a:r>
              <a:rPr lang="en-US" sz="3200" b="1" dirty="0" smtClean="0">
                <a:solidFill>
                  <a:schemeClr val="accent1">
                    <a:lumMod val="75000"/>
                    <a:lumOff val="25000"/>
                  </a:schemeClr>
                </a:solidFill>
                <a:latin typeface="Times-Roman"/>
              </a:rPr>
              <a:t>blue</a:t>
            </a:r>
            <a:r>
              <a:rPr lang="en-US" sz="3200" b="1" dirty="0" smtClean="0">
                <a:latin typeface="Times-Roman"/>
              </a:rPr>
              <a:t> </a:t>
            </a:r>
            <a:r>
              <a:rPr lang="en-US" sz="3200" dirty="0" smtClean="0">
                <a:latin typeface="Times-Roman"/>
              </a:rPr>
              <a:t>primary colors- </a:t>
            </a:r>
            <a:r>
              <a:rPr lang="en-US" sz="3200" dirty="0">
                <a:latin typeface="Times-Roman"/>
              </a:rPr>
              <a:t>the coefficients in this linear combination are </a:t>
            </a:r>
            <a:r>
              <a:rPr lang="en-US" sz="3200" dirty="0" smtClean="0">
                <a:latin typeface="Times-Roman"/>
              </a:rPr>
              <a:t>the pixel’s </a:t>
            </a:r>
            <a:r>
              <a:rPr lang="en-US" sz="3200" dirty="0">
                <a:latin typeface="Times-Roman"/>
              </a:rPr>
              <a:t>RGB values.</a:t>
            </a:r>
            <a:endParaRPr lang="en-US" sz="3200" dirty="0" smtClean="0">
              <a:latin typeface="Times-Roman"/>
            </a:endParaRPr>
          </a:p>
          <a:p>
            <a:pPr marL="457200" indent="-457200" algn="just">
              <a:buFont typeface="Arial" panose="020B0604020202020204" pitchFamily="34" charset="0"/>
              <a:buChar char="•"/>
            </a:pPr>
            <a:r>
              <a:rPr lang="en-US" sz="3200" dirty="0">
                <a:latin typeface="Times-Roman"/>
              </a:rPr>
              <a:t>These will often be numbers between 0 and 1</a:t>
            </a:r>
            <a:r>
              <a:rPr lang="en-US" sz="3200" dirty="0" smtClean="0">
                <a:latin typeface="Times-Roman"/>
              </a:rPr>
              <a:t>.</a:t>
            </a:r>
          </a:p>
          <a:p>
            <a:pPr marL="457200" indent="-457200" algn="just">
              <a:buFont typeface="Arial" panose="020B0604020202020204" pitchFamily="34" charset="0"/>
              <a:buChar char="•"/>
            </a:pPr>
            <a:r>
              <a:rPr lang="en-US" sz="3200" dirty="0" smtClean="0">
                <a:latin typeface="Times-Roman"/>
              </a:rPr>
              <a:t>For example</a:t>
            </a:r>
            <a:r>
              <a:rPr lang="en-US" sz="3200" dirty="0">
                <a:latin typeface="Times-Roman"/>
              </a:rPr>
              <a:t>: the RGB value </a:t>
            </a:r>
            <a:r>
              <a:rPr lang="en-US" sz="3200" dirty="0">
                <a:solidFill>
                  <a:srgbClr val="C00000"/>
                </a:solidFill>
                <a:latin typeface="CMR10"/>
              </a:rPr>
              <a:t>(1</a:t>
            </a:r>
            <a:r>
              <a:rPr lang="en-US" sz="3200" i="1" dirty="0">
                <a:solidFill>
                  <a:srgbClr val="C00000"/>
                </a:solidFill>
                <a:latin typeface="CMMI10"/>
              </a:rPr>
              <a:t>, </a:t>
            </a:r>
            <a:r>
              <a:rPr lang="en-US" sz="3200" dirty="0">
                <a:solidFill>
                  <a:srgbClr val="C00000"/>
                </a:solidFill>
                <a:latin typeface="CMR10"/>
              </a:rPr>
              <a:t>0</a:t>
            </a:r>
            <a:r>
              <a:rPr lang="en-US" sz="3200" i="1" dirty="0">
                <a:solidFill>
                  <a:srgbClr val="C00000"/>
                </a:solidFill>
                <a:latin typeface="CMMI10"/>
              </a:rPr>
              <a:t>, </a:t>
            </a:r>
            <a:r>
              <a:rPr lang="en-US" sz="3200" dirty="0">
                <a:solidFill>
                  <a:srgbClr val="C00000"/>
                </a:solidFill>
                <a:latin typeface="CMR10"/>
              </a:rPr>
              <a:t>0) </a:t>
            </a:r>
            <a:r>
              <a:rPr lang="en-US" sz="3200" dirty="0">
                <a:latin typeface="Times-Roman"/>
              </a:rPr>
              <a:t>would denote a pixel that is 100% </a:t>
            </a:r>
            <a:r>
              <a:rPr lang="en-US" sz="3200" b="1" dirty="0">
                <a:solidFill>
                  <a:srgbClr val="C00000"/>
                </a:solidFill>
                <a:latin typeface="Times-Roman"/>
              </a:rPr>
              <a:t>red</a:t>
            </a:r>
            <a:r>
              <a:rPr lang="en-US" sz="3200" dirty="0" smtClean="0">
                <a:latin typeface="Times-Roman"/>
              </a:rPr>
              <a:t>; </a:t>
            </a:r>
            <a:r>
              <a:rPr lang="en-US" sz="3200" dirty="0" smtClean="0">
                <a:latin typeface="CMR10"/>
              </a:rPr>
              <a:t>(</a:t>
            </a:r>
            <a:r>
              <a:rPr lang="en-US" sz="3200" dirty="0">
                <a:latin typeface="CMR10"/>
              </a:rPr>
              <a:t>0</a:t>
            </a:r>
            <a:r>
              <a:rPr lang="en-US" sz="3200" i="1" dirty="0">
                <a:latin typeface="CMMI10"/>
              </a:rPr>
              <a:t>.</a:t>
            </a:r>
            <a:r>
              <a:rPr lang="en-US" sz="3200" dirty="0">
                <a:latin typeface="CMR10"/>
              </a:rPr>
              <a:t>25</a:t>
            </a:r>
            <a:r>
              <a:rPr lang="en-US" sz="3200" i="1" dirty="0">
                <a:latin typeface="CMMI10"/>
              </a:rPr>
              <a:t>, </a:t>
            </a:r>
            <a:r>
              <a:rPr lang="en-US" sz="3200" dirty="0">
                <a:latin typeface="CMR10"/>
              </a:rPr>
              <a:t>0</a:t>
            </a:r>
            <a:r>
              <a:rPr lang="en-US" sz="3200" i="1" dirty="0">
                <a:latin typeface="CMMI10"/>
              </a:rPr>
              <a:t>.</a:t>
            </a:r>
            <a:r>
              <a:rPr lang="en-US" sz="3200" dirty="0">
                <a:latin typeface="CMR10"/>
              </a:rPr>
              <a:t>25</a:t>
            </a:r>
            <a:r>
              <a:rPr lang="en-US" sz="3200" i="1" dirty="0">
                <a:latin typeface="CMMI10"/>
              </a:rPr>
              <a:t>, </a:t>
            </a:r>
            <a:r>
              <a:rPr lang="en-US" sz="3200" dirty="0">
                <a:latin typeface="CMR10"/>
              </a:rPr>
              <a:t>0) </a:t>
            </a:r>
            <a:r>
              <a:rPr lang="en-US" sz="3200" dirty="0">
                <a:latin typeface="Times-Roman"/>
              </a:rPr>
              <a:t>would be a pixel with 25% </a:t>
            </a:r>
            <a:r>
              <a:rPr lang="en-US" sz="3200" b="1" dirty="0">
                <a:solidFill>
                  <a:srgbClr val="C00000"/>
                </a:solidFill>
                <a:latin typeface="Times-Roman"/>
              </a:rPr>
              <a:t>red</a:t>
            </a:r>
            <a:r>
              <a:rPr lang="en-US" sz="3200" dirty="0">
                <a:latin typeface="Times-Roman"/>
              </a:rPr>
              <a:t> and 25% </a:t>
            </a:r>
            <a:r>
              <a:rPr lang="en-US" sz="3200" b="1" dirty="0">
                <a:solidFill>
                  <a:srgbClr val="00B050"/>
                </a:solidFill>
                <a:latin typeface="Times-Roman"/>
              </a:rPr>
              <a:t>green</a:t>
            </a:r>
            <a:r>
              <a:rPr lang="en-US" sz="3200" b="1" dirty="0">
                <a:latin typeface="Times-Roman"/>
              </a:rPr>
              <a:t>, </a:t>
            </a:r>
            <a:r>
              <a:rPr lang="en-US" sz="3200" b="1" dirty="0">
                <a:solidFill>
                  <a:srgbClr val="FFC000"/>
                </a:solidFill>
                <a:latin typeface="Times-Roman"/>
              </a:rPr>
              <a:t>a </a:t>
            </a:r>
            <a:r>
              <a:rPr lang="en-US" sz="3200" b="1" dirty="0" smtClean="0">
                <a:solidFill>
                  <a:srgbClr val="FFC000"/>
                </a:solidFill>
                <a:latin typeface="Times-Roman"/>
              </a:rPr>
              <a:t>dark yellow</a:t>
            </a:r>
            <a:r>
              <a:rPr lang="en-US" sz="3200" dirty="0">
                <a:latin typeface="Times-Roman"/>
              </a:rPr>
              <a:t>; </a:t>
            </a:r>
            <a:r>
              <a:rPr lang="en-US" sz="3200" dirty="0">
                <a:latin typeface="CMR10"/>
              </a:rPr>
              <a:t>(0</a:t>
            </a:r>
            <a:r>
              <a:rPr lang="en-US" sz="3200" i="1" dirty="0">
                <a:latin typeface="CMMI10"/>
              </a:rPr>
              <a:t>, </a:t>
            </a:r>
            <a:r>
              <a:rPr lang="en-US" sz="3200" dirty="0">
                <a:latin typeface="CMR10"/>
              </a:rPr>
              <a:t>0</a:t>
            </a:r>
            <a:r>
              <a:rPr lang="en-US" sz="3200" i="1" dirty="0">
                <a:latin typeface="CMMI10"/>
              </a:rPr>
              <a:t>, </a:t>
            </a:r>
            <a:r>
              <a:rPr lang="en-US" sz="3200" dirty="0">
                <a:latin typeface="CMR10"/>
              </a:rPr>
              <a:t>0) </a:t>
            </a:r>
            <a:r>
              <a:rPr lang="en-US" sz="3200" dirty="0">
                <a:latin typeface="Times-Roman"/>
              </a:rPr>
              <a:t>would be </a:t>
            </a:r>
            <a:r>
              <a:rPr lang="en-US" sz="3200" b="1" dirty="0">
                <a:latin typeface="Times-Roman"/>
              </a:rPr>
              <a:t>black</a:t>
            </a:r>
            <a:r>
              <a:rPr lang="en-US" sz="3200" dirty="0">
                <a:latin typeface="Times-Roman"/>
              </a:rPr>
              <a:t>; and </a:t>
            </a:r>
            <a:r>
              <a:rPr lang="en-US" sz="3200" dirty="0">
                <a:latin typeface="CMR10"/>
              </a:rPr>
              <a:t>(1</a:t>
            </a:r>
            <a:r>
              <a:rPr lang="en-US" sz="3200" i="1" dirty="0">
                <a:latin typeface="CMMI10"/>
              </a:rPr>
              <a:t>, </a:t>
            </a:r>
            <a:r>
              <a:rPr lang="en-US" sz="3200" dirty="0">
                <a:latin typeface="CMR10"/>
              </a:rPr>
              <a:t>1</a:t>
            </a:r>
            <a:r>
              <a:rPr lang="en-US" sz="3200" i="1" dirty="0">
                <a:latin typeface="CMMI10"/>
              </a:rPr>
              <a:t>, </a:t>
            </a:r>
            <a:r>
              <a:rPr lang="en-US" sz="3200" dirty="0">
                <a:latin typeface="CMR10"/>
              </a:rPr>
              <a:t>1) </a:t>
            </a:r>
            <a:r>
              <a:rPr lang="en-US" sz="3200" dirty="0">
                <a:latin typeface="Times-Roman"/>
              </a:rPr>
              <a:t>would be </a:t>
            </a:r>
            <a:r>
              <a:rPr lang="en-US" sz="3200" b="1" dirty="0">
                <a:latin typeface="Times-Roman"/>
              </a:rPr>
              <a:t>white</a:t>
            </a:r>
            <a:r>
              <a:rPr lang="en-US" sz="3200" dirty="0" smtClean="0">
                <a:latin typeface="Times-Roman"/>
              </a:rPr>
              <a:t>.   </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50369474"/>
      </p:ext>
    </p:extLst>
  </p:cSld>
  <p:clrMapOvr>
    <a:masterClrMapping/>
  </p:clrMapOvr>
  <p:transition spd="med"/>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51</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p:sp>
        <p:nvSpPr>
          <p:cNvPr id="9" name="Rectangle 8"/>
          <p:cNvSpPr/>
          <p:nvPr/>
        </p:nvSpPr>
        <p:spPr>
          <a:xfrm>
            <a:off x="351790" y="1162852"/>
            <a:ext cx="11407140" cy="4524315"/>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Figure </a:t>
            </a:r>
            <a:r>
              <a:rPr lang="en-US" sz="3200" dirty="0" smtClean="0">
                <a:latin typeface="Times-Roman"/>
              </a:rPr>
              <a:t>2.4.2 </a:t>
            </a:r>
            <a:r>
              <a:rPr lang="en-US" sz="3200" dirty="0">
                <a:latin typeface="Times-Roman"/>
              </a:rPr>
              <a:t>illustrates a second difficulty in computer vision.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To </a:t>
            </a:r>
            <a:r>
              <a:rPr lang="en-US" sz="3200" dirty="0">
                <a:latin typeface="Times-Roman"/>
              </a:rPr>
              <a:t>a human</a:t>
            </a:r>
            <a:r>
              <a:rPr lang="en-US" sz="3200" dirty="0" smtClean="0">
                <a:latin typeface="Times-Roman"/>
              </a:rPr>
              <a:t>, a </a:t>
            </a:r>
            <a:r>
              <a:rPr lang="en-US" sz="3200" dirty="0">
                <a:latin typeface="Times-Roman"/>
              </a:rPr>
              <a:t>scene such as Figure </a:t>
            </a:r>
            <a:r>
              <a:rPr lang="en-US" sz="3200" dirty="0" smtClean="0">
                <a:latin typeface="Times-Roman"/>
              </a:rPr>
              <a:t>2.4.2(b</a:t>
            </a:r>
            <a:r>
              <a:rPr lang="en-US" sz="3200" dirty="0">
                <a:latin typeface="Times-Roman"/>
              </a:rPr>
              <a:t>) consists of some objects —mountains, trees</a:t>
            </a:r>
            <a:r>
              <a:rPr lang="en-US" sz="3200" dirty="0" smtClean="0">
                <a:latin typeface="Times-Roman"/>
              </a:rPr>
              <a:t>, river </a:t>
            </a:r>
            <a:r>
              <a:rPr lang="en-US" sz="3200" dirty="0">
                <a:latin typeface="Times-Roman"/>
              </a:rPr>
              <a:t>— positioned in the scene relative to each other.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To </a:t>
            </a:r>
            <a:r>
              <a:rPr lang="en-US" sz="3200" dirty="0">
                <a:latin typeface="Times-Roman"/>
              </a:rPr>
              <a:t>a computer, </a:t>
            </a:r>
            <a:r>
              <a:rPr lang="en-US" sz="3200" dirty="0" smtClean="0">
                <a:latin typeface="Times-Roman"/>
              </a:rPr>
              <a:t>the image </a:t>
            </a:r>
            <a:r>
              <a:rPr lang="en-US" sz="3200" dirty="0">
                <a:latin typeface="Times-Roman"/>
              </a:rPr>
              <a:t>has to be understood pixel by pixel, as in Figure </a:t>
            </a:r>
            <a:r>
              <a:rPr lang="en-US" sz="3200" dirty="0" smtClean="0">
                <a:latin typeface="Times-Roman"/>
              </a:rPr>
              <a:t>2.4.2(a</a:t>
            </a:r>
            <a:r>
              <a:rPr lang="en-US" sz="3200" dirty="0">
                <a:latin typeface="Times-Roman"/>
              </a:rPr>
              <a:t>) and the </a:t>
            </a:r>
            <a:r>
              <a:rPr lang="en-US" sz="3200" dirty="0" smtClean="0">
                <a:latin typeface="Times-Roman"/>
              </a:rPr>
              <a:t>scene viewed </a:t>
            </a:r>
            <a:r>
              <a:rPr lang="en-US" sz="3200" dirty="0">
                <a:latin typeface="Times-Roman"/>
              </a:rPr>
              <a:t>at this scale is far less clearly separable into regions </a:t>
            </a:r>
            <a:r>
              <a:rPr lang="en-US" sz="3200" dirty="0" smtClean="0">
                <a:latin typeface="Times-Roman"/>
              </a:rPr>
              <a:t>corresponding to </a:t>
            </a:r>
            <a:r>
              <a:rPr lang="en-US" sz="3200" dirty="0">
                <a:latin typeface="Times-Roman"/>
              </a:rPr>
              <a:t>objects.</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62426288"/>
      </p:ext>
    </p:extLst>
  </p:cSld>
  <p:clrMapOvr>
    <a:masterClrMapping/>
  </p:clrMapOvr>
  <p:transition spd="med"/>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52</a:t>
            </a:fld>
            <a:endParaRPr dirty="0"/>
          </a:p>
        </p:txBody>
      </p:sp>
      <p:sp>
        <p:nvSpPr>
          <p:cNvPr id="4" name="TextBox 3"/>
          <p:cNvSpPr txBox="1"/>
          <p:nvPr/>
        </p:nvSpPr>
        <p:spPr>
          <a:xfrm>
            <a:off x="2005331" y="118468"/>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p:sp>
        <p:nvSpPr>
          <p:cNvPr id="9" name="Rectangle 8"/>
          <p:cNvSpPr/>
          <p:nvPr/>
        </p:nvSpPr>
        <p:spPr>
          <a:xfrm>
            <a:off x="1259457" y="5780781"/>
            <a:ext cx="9920377" cy="584775"/>
          </a:xfrm>
          <a:prstGeom prst="rect">
            <a:avLst/>
          </a:prstGeom>
        </p:spPr>
        <p:txBody>
          <a:bodyPr wrap="square">
            <a:spAutoFit/>
          </a:bodyPr>
          <a:lstStyle/>
          <a:p>
            <a:pPr algn="just"/>
            <a:r>
              <a:rPr lang="en-US" sz="3200" b="1" dirty="0" smtClean="0"/>
              <a:t>Fig 2.4.2 (a</a:t>
            </a:r>
            <a:r>
              <a:rPr lang="en-US" sz="3200" b="1" dirty="0"/>
              <a:t>) Close up (b) of a section of a digital image</a:t>
            </a:r>
            <a:r>
              <a:rPr lang="en-US" sz="3200" b="1" dirty="0" smtClean="0"/>
              <a:t>.</a:t>
            </a:r>
            <a:endParaRPr lang="en-US" sz="3200" b="1" dirty="0" smtClean="0">
              <a:latin typeface="Times-Roman"/>
            </a:endParaRPr>
          </a:p>
        </p:txBody>
      </p:sp>
      <p:pic>
        <p:nvPicPr>
          <p:cNvPr id="3" name="Picture 2"/>
          <p:cNvPicPr>
            <a:picLocks noChangeAspect="1"/>
          </p:cNvPicPr>
          <p:nvPr/>
        </p:nvPicPr>
        <p:blipFill>
          <a:blip r:embed="rId2"/>
          <a:stretch>
            <a:fillRect/>
          </a:stretch>
        </p:blipFill>
        <p:spPr>
          <a:xfrm>
            <a:off x="1632814" y="1067206"/>
            <a:ext cx="8845092" cy="4472721"/>
          </a:xfrm>
          <a:prstGeom prst="rect">
            <a:avLst/>
          </a:prstGeom>
          <a:ln w="38100">
            <a:solidFill>
              <a:schemeClr val="tx1"/>
            </a:solidFill>
          </a:ln>
        </p:spPr>
      </p:pic>
    </p:spTree>
    <p:extLst>
      <p:ext uri="{BB962C8B-B14F-4D97-AF65-F5344CB8AC3E}">
        <p14:creationId xmlns:p14="http://schemas.microsoft.com/office/powerpoint/2010/main" val="2337426761"/>
      </p:ext>
    </p:extLst>
  </p:cSld>
  <p:clrMapOvr>
    <a:masterClrMapping/>
  </p:clrMapOvr>
  <p:transition spd="med"/>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53</a:t>
            </a:fld>
            <a:endParaRPr dirty="0"/>
          </a:p>
        </p:txBody>
      </p:sp>
      <p:sp>
        <p:nvSpPr>
          <p:cNvPr id="4" name="TextBox 3"/>
          <p:cNvSpPr txBox="1"/>
          <p:nvPr/>
        </p:nvSpPr>
        <p:spPr>
          <a:xfrm>
            <a:off x="1278254" y="454968"/>
            <a:ext cx="10480675"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3600" b="1" dirty="0">
                <a:latin typeface="Times-Roman"/>
              </a:rPr>
              <a:t>2.4.1 Vision and Tracking: Following the road</a:t>
            </a: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smtClean="0">
                <a:latin typeface="Times-Roman"/>
              </a:rPr>
              <a:t>Consider the problem </a:t>
            </a:r>
            <a:r>
              <a:rPr lang="en-US" sz="3200" dirty="0">
                <a:latin typeface="Times-Roman"/>
              </a:rPr>
              <a:t>illustrated in </a:t>
            </a:r>
            <a:r>
              <a:rPr lang="en-US" sz="3200" dirty="0" smtClean="0">
                <a:latin typeface="Times-Roman"/>
              </a:rPr>
              <a:t>Figure 2.4.3     </a:t>
            </a:r>
          </a:p>
          <a:p>
            <a:pPr marL="457200" indent="-457200" algn="just">
              <a:buFont typeface="Arial" panose="020B0604020202020204" pitchFamily="34" charset="0"/>
              <a:buChar char="•"/>
            </a:pPr>
            <a:r>
              <a:rPr lang="en-US" sz="3200" dirty="0">
                <a:latin typeface="Times-Roman"/>
              </a:rPr>
              <a:t>This figure shows a </a:t>
            </a:r>
            <a:r>
              <a:rPr lang="en-US" sz="3200" dirty="0" smtClean="0">
                <a:latin typeface="Times-Roman"/>
              </a:rPr>
              <a:t>robot using </a:t>
            </a:r>
            <a:r>
              <a:rPr lang="en-US" sz="3200" dirty="0">
                <a:latin typeface="Times-Roman"/>
              </a:rPr>
              <a:t>its visual sensor to navigate along a path delineated by white </a:t>
            </a:r>
            <a:r>
              <a:rPr lang="en-US" sz="3200" dirty="0" smtClean="0">
                <a:latin typeface="Times-Roman"/>
              </a:rPr>
              <a:t>lines on </a:t>
            </a:r>
            <a:r>
              <a:rPr lang="en-US" sz="3200" dirty="0">
                <a:latin typeface="Times-Roman"/>
              </a:rPr>
              <a:t>the </a:t>
            </a:r>
            <a:r>
              <a:rPr lang="en-US" sz="3200" dirty="0" smtClean="0">
                <a:latin typeface="Times-Roman"/>
              </a:rPr>
              <a:t>ground.</a:t>
            </a: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problems involved are to first identify the lanes (</a:t>
            </a:r>
            <a:r>
              <a:rPr lang="en-US" sz="3200" dirty="0" smtClean="0">
                <a:latin typeface="Times-Roman"/>
              </a:rPr>
              <a:t>the white </a:t>
            </a:r>
            <a:r>
              <a:rPr lang="en-US" sz="3200" dirty="0">
                <a:latin typeface="Times-Roman"/>
              </a:rPr>
              <a:t>lines in the image) and then determine where these lines are in </a:t>
            </a:r>
            <a:r>
              <a:rPr lang="en-US" sz="3200" dirty="0" smtClean="0">
                <a:latin typeface="Times-Roman"/>
              </a:rPr>
              <a:t>space with </a:t>
            </a:r>
            <a:r>
              <a:rPr lang="en-US" sz="3200" dirty="0">
                <a:latin typeface="Times-Roman"/>
              </a:rPr>
              <a:t>respect to the robot</a:t>
            </a:r>
            <a:r>
              <a:rPr lang="en-US" sz="3200" dirty="0" smtClean="0">
                <a:latin typeface="Times-Roman"/>
              </a:rPr>
              <a:t>.</a:t>
            </a:r>
          </a:p>
          <a:p>
            <a:pPr marL="457200" indent="-457200" algn="just">
              <a:buFont typeface="Arial" panose="020B0604020202020204" pitchFamily="34" charset="0"/>
              <a:buChar char="•"/>
            </a:pPr>
            <a:r>
              <a:rPr lang="en-US" sz="3200" dirty="0">
                <a:latin typeface="Times-Roman"/>
              </a:rPr>
              <a:t>We will look at some of the </a:t>
            </a:r>
            <a:r>
              <a:rPr lang="en-US" sz="3200" dirty="0" smtClean="0">
                <a:latin typeface="Times-Roman"/>
              </a:rPr>
              <a:t>computational </a:t>
            </a:r>
            <a:r>
              <a:rPr lang="en-US" sz="3200" dirty="0">
                <a:latin typeface="Times-Roman"/>
              </a:rPr>
              <a:t>steps in road following and how this might be done on a </a:t>
            </a:r>
            <a:r>
              <a:rPr lang="en-US" sz="3200" dirty="0" smtClean="0">
                <a:latin typeface="Times-Roman"/>
              </a:rPr>
              <a:t>cluster.</a:t>
            </a:r>
          </a:p>
          <a:p>
            <a:pPr marL="457200" indent="-457200" algn="just">
              <a:buFont typeface="Arial" panose="020B0604020202020204" pitchFamily="34" charset="0"/>
              <a:buChar char="•"/>
            </a:pPr>
            <a:r>
              <a:rPr lang="en-US" sz="3200" dirty="0" smtClean="0">
                <a:latin typeface="Times-Roman"/>
              </a:rPr>
              <a:t>A robot such </a:t>
            </a:r>
            <a:r>
              <a:rPr lang="en-US" sz="3200" dirty="0">
                <a:latin typeface="Times-Roman"/>
              </a:rPr>
              <a:t>as the Pioneer 3-AT shown in Figure </a:t>
            </a:r>
            <a:r>
              <a:rPr lang="en-US" sz="3200" dirty="0" smtClean="0">
                <a:latin typeface="Times-Roman"/>
              </a:rPr>
              <a:t>2.4.3(a</a:t>
            </a:r>
            <a:r>
              <a:rPr lang="en-US" sz="3200" dirty="0">
                <a:latin typeface="Times-Roman"/>
              </a:rPr>
              <a:t>) does not typically </a:t>
            </a:r>
            <a:r>
              <a:rPr lang="en-US" sz="3200" dirty="0" smtClean="0">
                <a:latin typeface="Times-Roman"/>
              </a:rPr>
              <a:t>carry an </a:t>
            </a:r>
            <a:r>
              <a:rPr lang="en-US" sz="3200" dirty="0">
                <a:latin typeface="Times-Roman"/>
              </a:rPr>
              <a:t>onboard cluster.</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48927819"/>
      </p:ext>
    </p:extLst>
  </p:cSld>
  <p:clrMapOvr>
    <a:masterClrMapping/>
  </p:clrMapOvr>
  <p:transition spd="med"/>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54</a:t>
            </a:fld>
            <a:endParaRPr dirty="0"/>
          </a:p>
        </p:txBody>
      </p:sp>
      <p:sp>
        <p:nvSpPr>
          <p:cNvPr id="4" name="TextBox 3"/>
          <p:cNvSpPr txBox="1"/>
          <p:nvPr/>
        </p:nvSpPr>
        <p:spPr>
          <a:xfrm>
            <a:off x="-345057" y="454968"/>
            <a:ext cx="12335774"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2.4.1 Vision and Tracking: Following the road</a:t>
            </a:r>
          </a:p>
        </p:txBody>
      </p:sp>
      <p:sp>
        <p:nvSpPr>
          <p:cNvPr id="9" name="Rectangle 8"/>
          <p:cNvSpPr/>
          <p:nvPr/>
        </p:nvSpPr>
        <p:spPr>
          <a:xfrm>
            <a:off x="351790" y="5343718"/>
            <a:ext cx="11407140" cy="1077218"/>
          </a:xfrm>
          <a:prstGeom prst="rect">
            <a:avLst/>
          </a:prstGeom>
        </p:spPr>
        <p:txBody>
          <a:bodyPr wrap="square">
            <a:spAutoFit/>
          </a:bodyPr>
          <a:lstStyle/>
          <a:p>
            <a:pPr algn="just"/>
            <a:r>
              <a:rPr lang="en-US" sz="3200" b="1" dirty="0"/>
              <a:t>Figure </a:t>
            </a:r>
            <a:r>
              <a:rPr lang="en-US" sz="3200" b="1" dirty="0" smtClean="0"/>
              <a:t>2.4.3</a:t>
            </a:r>
            <a:r>
              <a:rPr lang="en-US" sz="3200" b="1" dirty="0"/>
              <a:t>: (a) Robot lane following (b) lane </a:t>
            </a:r>
            <a:r>
              <a:rPr lang="en-US" sz="3200" b="1" dirty="0" err="1"/>
              <a:t>closeup</a:t>
            </a:r>
            <a:r>
              <a:rPr lang="en-US" sz="3200" b="1" dirty="0"/>
              <a:t> and (c) </a:t>
            </a:r>
            <a:r>
              <a:rPr lang="en-US" sz="3200" b="1" dirty="0" err="1"/>
              <a:t>thresholded</a:t>
            </a:r>
            <a:r>
              <a:rPr lang="en-US" sz="3200" b="1" dirty="0"/>
              <a:t> </a:t>
            </a:r>
            <a:r>
              <a:rPr lang="en-US" sz="3200" b="1" dirty="0" err="1"/>
              <a:t>Cb</a:t>
            </a:r>
            <a:r>
              <a:rPr lang="en-US" sz="3200" b="1" dirty="0"/>
              <a:t> component of </a:t>
            </a:r>
            <a:r>
              <a:rPr lang="en-US" sz="3200" b="1" dirty="0" err="1"/>
              <a:t>closeup</a:t>
            </a:r>
            <a:r>
              <a:rPr lang="en-US" sz="3200" b="1" dirty="0"/>
              <a:t>.</a:t>
            </a:r>
            <a:endParaRPr lang="en-US" sz="4800" b="1" dirty="0" smtClean="0">
              <a:latin typeface="Times-Roman"/>
            </a:endParaRPr>
          </a:p>
        </p:txBody>
      </p:sp>
      <p:pic>
        <p:nvPicPr>
          <p:cNvPr id="3" name="Picture 2"/>
          <p:cNvPicPr>
            <a:picLocks noChangeAspect="1"/>
          </p:cNvPicPr>
          <p:nvPr/>
        </p:nvPicPr>
        <p:blipFill>
          <a:blip r:embed="rId2"/>
          <a:stretch>
            <a:fillRect/>
          </a:stretch>
        </p:blipFill>
        <p:spPr>
          <a:xfrm>
            <a:off x="167985" y="1318127"/>
            <a:ext cx="12050795" cy="3663281"/>
          </a:xfrm>
          <a:prstGeom prst="rect">
            <a:avLst/>
          </a:prstGeom>
          <a:ln w="38100">
            <a:solidFill>
              <a:schemeClr val="tx1"/>
            </a:solidFill>
          </a:ln>
        </p:spPr>
      </p:pic>
    </p:spTree>
    <p:extLst>
      <p:ext uri="{BB962C8B-B14F-4D97-AF65-F5344CB8AC3E}">
        <p14:creationId xmlns:p14="http://schemas.microsoft.com/office/powerpoint/2010/main" val="1196654354"/>
      </p:ext>
    </p:extLst>
  </p:cSld>
  <p:clrMapOvr>
    <a:masterClrMapping/>
  </p:clrMapOvr>
  <p:transition spd="med"/>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55</a:t>
            </a:fld>
            <a:endParaRPr dirty="0"/>
          </a:p>
        </p:txBody>
      </p:sp>
      <p:sp>
        <p:nvSpPr>
          <p:cNvPr id="4" name="TextBox 3"/>
          <p:cNvSpPr txBox="1"/>
          <p:nvPr/>
        </p:nvSpPr>
        <p:spPr>
          <a:xfrm>
            <a:off x="351790" y="454968"/>
            <a:ext cx="11569916"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Following the road</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046988"/>
          </a:xfrm>
          <a:prstGeom prst="rect">
            <a:avLst/>
          </a:prstGeom>
        </p:spPr>
        <p:txBody>
          <a:bodyPr wrap="square">
            <a:spAutoFit/>
          </a:bodyPr>
          <a:lstStyle/>
          <a:p>
            <a:pPr marL="457200" indent="-457200" algn="just">
              <a:buFont typeface="Arial" panose="020B0604020202020204" pitchFamily="34" charset="0"/>
              <a:buChar char="•"/>
            </a:pPr>
            <a:r>
              <a:rPr lang="en-US" sz="3200" b="1" dirty="0" smtClean="0">
                <a:latin typeface="Times-Roman"/>
              </a:rPr>
              <a:t>However, it is not unreasonable to expect that such machines will carry multiprocessor, multicore computers in the near future.</a:t>
            </a:r>
          </a:p>
          <a:p>
            <a:pPr marL="457200" indent="-457200" algn="just">
              <a:buFont typeface="Arial" panose="020B0604020202020204" pitchFamily="34" charset="0"/>
              <a:buChar char="•"/>
            </a:pPr>
            <a:r>
              <a:rPr lang="en-US" sz="3200" dirty="0">
                <a:latin typeface="Times-Roman"/>
              </a:rPr>
              <a:t>More sophisticated robots, such as Junior, the Stanford University </a:t>
            </a:r>
            <a:r>
              <a:rPr lang="en-US" sz="3200" dirty="0" smtClean="0">
                <a:latin typeface="Times-Roman"/>
              </a:rPr>
              <a:t>entry in </a:t>
            </a:r>
            <a:r>
              <a:rPr lang="en-US" sz="3200" dirty="0">
                <a:latin typeface="Times-Roman"/>
              </a:rPr>
              <a:t>the DARPA Urban Challenge already carry multiprocessor, </a:t>
            </a:r>
            <a:r>
              <a:rPr lang="en-US" sz="3200" dirty="0" smtClean="0">
                <a:latin typeface="Times-Roman"/>
              </a:rPr>
              <a:t>multicore systems onboard</a:t>
            </a:r>
            <a:r>
              <a:rPr lang="en-US" sz="3200" dirty="0">
                <a:latin typeface="Times-Roman"/>
              </a:rPr>
              <a:t>.</a:t>
            </a:r>
            <a:endParaRPr lang="en-IN" sz="3200" b="1"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7562880"/>
      </p:ext>
    </p:extLst>
  </p:cSld>
  <p:clrMapOvr>
    <a:masterClrMapping/>
  </p:clrMapOvr>
  <p:transition spd="med"/>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56</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a:t>
            </a:r>
            <a:r>
              <a:rPr lang="en-US" sz="4000" b="1" dirty="0">
                <a:latin typeface="Times New Roman" panose="02020603050405020304" pitchFamily="18" charset="0"/>
                <a:cs typeface="Times New Roman" panose="02020603050405020304" pitchFamily="18" charset="0"/>
              </a:rPr>
              <a:t>Vision and Tracking: Iconic image processing</a:t>
            </a:r>
          </a:p>
        </p:txBody>
      </p:sp>
      <p:sp>
        <p:nvSpPr>
          <p:cNvPr id="9" name="Rectangle 8"/>
          <p:cNvSpPr/>
          <p:nvPr/>
        </p:nvSpPr>
        <p:spPr>
          <a:xfrm>
            <a:off x="351790" y="1162852"/>
            <a:ext cx="11407140" cy="5509200"/>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Always we </a:t>
            </a:r>
            <a:r>
              <a:rPr lang="en-US" sz="3200" dirty="0">
                <a:latin typeface="Times-Roman"/>
              </a:rPr>
              <a:t>need to preprocess the image at the </a:t>
            </a:r>
            <a:r>
              <a:rPr lang="en-US" sz="3200" dirty="0" smtClean="0">
                <a:latin typeface="Times-Roman"/>
              </a:rPr>
              <a:t>pixel level.</a:t>
            </a: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noise introduced into the image by the camera or </a:t>
            </a:r>
            <a:r>
              <a:rPr lang="en-US" sz="3200" dirty="0" smtClean="0">
                <a:latin typeface="Times-Roman"/>
              </a:rPr>
              <a:t>random lighting </a:t>
            </a:r>
            <a:r>
              <a:rPr lang="en-US" sz="3200" dirty="0">
                <a:latin typeface="Times-Roman"/>
              </a:rPr>
              <a:t>effects may need to be </a:t>
            </a:r>
            <a:r>
              <a:rPr lang="en-US" sz="3200" dirty="0" smtClean="0">
                <a:latin typeface="Times-Roman"/>
              </a:rPr>
              <a:t>reduced.</a:t>
            </a:r>
          </a:p>
          <a:p>
            <a:pPr marL="457200" indent="-457200" algn="just">
              <a:buFont typeface="Arial" panose="020B0604020202020204" pitchFamily="34" charset="0"/>
              <a:buChar char="•"/>
            </a:pPr>
            <a:r>
              <a:rPr lang="en-US" sz="3200" dirty="0" smtClean="0">
                <a:latin typeface="Times-Roman"/>
              </a:rPr>
              <a:t>Aspects </a:t>
            </a:r>
            <a:r>
              <a:rPr lang="en-US" sz="3200" dirty="0">
                <a:latin typeface="Times-Roman"/>
              </a:rPr>
              <a:t>of the image such as </a:t>
            </a:r>
            <a:r>
              <a:rPr lang="en-US" sz="3200" dirty="0" smtClean="0">
                <a:latin typeface="Times-Roman"/>
              </a:rPr>
              <a:t>edges or </a:t>
            </a:r>
            <a:r>
              <a:rPr lang="en-US" sz="3200" dirty="0">
                <a:latin typeface="Times-Roman"/>
              </a:rPr>
              <a:t>regions of color may need to be enhanced.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These </a:t>
            </a:r>
            <a:r>
              <a:rPr lang="en-US" sz="3200" dirty="0">
                <a:latin typeface="Times-Roman"/>
              </a:rPr>
              <a:t>operations </a:t>
            </a:r>
            <a:r>
              <a:rPr lang="en-US" sz="3200" dirty="0" smtClean="0">
                <a:latin typeface="Times-Roman"/>
              </a:rPr>
              <a:t>consider the </a:t>
            </a:r>
            <a:r>
              <a:rPr lang="en-US" sz="3200" dirty="0">
                <a:latin typeface="Times-Roman"/>
              </a:rPr>
              <a:t>image only to be a collection of pixels, and operate pixel by pixel, (</a:t>
            </a:r>
            <a:r>
              <a:rPr lang="en-US" sz="3200" dirty="0" smtClean="0">
                <a:latin typeface="Times-Roman"/>
              </a:rPr>
              <a:t>or pixel </a:t>
            </a:r>
            <a:r>
              <a:rPr lang="en-US" sz="3200" dirty="0">
                <a:latin typeface="Times-Roman"/>
              </a:rPr>
              <a:t>by small regions of pixels</a:t>
            </a:r>
            <a:r>
              <a:rPr lang="en-US" sz="3200" dirty="0" smtClean="0">
                <a:latin typeface="Times-Roman"/>
              </a:rPr>
              <a:t>). </a:t>
            </a:r>
          </a:p>
          <a:p>
            <a:pPr marL="457200" indent="-457200" algn="just">
              <a:buFont typeface="Arial" panose="020B0604020202020204" pitchFamily="34" charset="0"/>
              <a:buChar char="•"/>
            </a:pPr>
            <a:r>
              <a:rPr lang="en-US" sz="3200" dirty="0" smtClean="0">
                <a:latin typeface="Times-Roman"/>
              </a:rPr>
              <a:t>This </a:t>
            </a:r>
            <a:r>
              <a:rPr lang="en-US" sz="3200" dirty="0">
                <a:latin typeface="Times-Roman"/>
              </a:rPr>
              <a:t>kind of processing is called </a:t>
            </a:r>
            <a:r>
              <a:rPr lang="en-US" sz="3200" i="1" dirty="0" smtClean="0">
                <a:latin typeface="Times-Italic"/>
              </a:rPr>
              <a:t>image </a:t>
            </a:r>
            <a:r>
              <a:rPr lang="en-US" sz="3200" i="1" dirty="0">
                <a:latin typeface="Times-Italic"/>
              </a:rPr>
              <a:t>processing </a:t>
            </a:r>
            <a:r>
              <a:rPr lang="en-US" sz="3200" dirty="0">
                <a:latin typeface="Times-Roman"/>
              </a:rPr>
              <a:t>to distinguish it from operations </a:t>
            </a:r>
            <a:r>
              <a:rPr lang="en-US" sz="3200" dirty="0" smtClean="0">
                <a:latin typeface="Times-Roman"/>
              </a:rPr>
              <a:t>the </a:t>
            </a:r>
            <a:r>
              <a:rPr lang="en-US" sz="3200" b="1" i="1" dirty="0" smtClean="0">
                <a:solidFill>
                  <a:schemeClr val="accent1">
                    <a:lumMod val="75000"/>
                    <a:lumOff val="25000"/>
                  </a:schemeClr>
                </a:solidFill>
                <a:latin typeface="Times-Italic"/>
              </a:rPr>
              <a:t>iconic</a:t>
            </a:r>
            <a:r>
              <a:rPr lang="en-US" sz="3200" b="1" i="1" dirty="0" smtClean="0">
                <a:latin typeface="Times-Italic"/>
              </a:rPr>
              <a:t> </a:t>
            </a:r>
            <a:r>
              <a:rPr lang="en-US" sz="3200" dirty="0" smtClean="0">
                <a:latin typeface="Times-Roman"/>
              </a:rPr>
              <a:t>at </a:t>
            </a:r>
            <a:r>
              <a:rPr lang="en-US" sz="3200" dirty="0">
                <a:latin typeface="Times-Roman"/>
              </a:rPr>
              <a:t>attempt to </a:t>
            </a:r>
            <a:r>
              <a:rPr lang="en-US" sz="3200" dirty="0" smtClean="0">
                <a:latin typeface="Times-Roman"/>
              </a:rPr>
              <a:t>identify 3D </a:t>
            </a:r>
            <a:r>
              <a:rPr lang="en-US" sz="3200" dirty="0">
                <a:latin typeface="Times-Roman"/>
              </a:rPr>
              <a:t>structure, objects or shapes in the image.</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11540263"/>
      </p:ext>
    </p:extLst>
  </p:cSld>
  <p:clrMapOvr>
    <a:masterClrMapping/>
  </p:clrMapOvr>
  <p:transition spd="med"/>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57</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Vision and Tracking: Iconic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09200"/>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Iconic image processing is typically more suited to fine grain, </a:t>
            </a:r>
            <a:r>
              <a:rPr lang="en-US" sz="3200" dirty="0" smtClean="0">
                <a:latin typeface="Times-Roman"/>
              </a:rPr>
              <a:t>massively parallel</a:t>
            </a:r>
            <a:r>
              <a:rPr lang="en-US" sz="3200" dirty="0">
                <a:latin typeface="Times-Roman"/>
              </a:rPr>
              <a:t>, single instruction multiple data </a:t>
            </a:r>
            <a:r>
              <a:rPr lang="en-US" sz="3200" dirty="0" smtClean="0">
                <a:latin typeface="Times-Roman"/>
              </a:rPr>
              <a:t>architectures.</a:t>
            </a:r>
          </a:p>
          <a:p>
            <a:pPr marL="457200" indent="-457200" algn="just">
              <a:buFont typeface="Arial" panose="020B0604020202020204" pitchFamily="34" charset="0"/>
              <a:buChar char="•"/>
            </a:pPr>
            <a:r>
              <a:rPr lang="en-US" sz="3200" dirty="0" smtClean="0">
                <a:latin typeface="Times-Roman"/>
              </a:rPr>
              <a:t>However</a:t>
            </a:r>
            <a:r>
              <a:rPr lang="en-US" sz="3200" dirty="0">
                <a:latin typeface="Times-Roman"/>
              </a:rPr>
              <a:t>, </a:t>
            </a:r>
            <a:r>
              <a:rPr lang="en-US" sz="3200" dirty="0" smtClean="0">
                <a:latin typeface="Times-Roman"/>
              </a:rPr>
              <a:t>as long </a:t>
            </a:r>
            <a:r>
              <a:rPr lang="en-US" sz="3200" dirty="0">
                <a:latin typeface="Times-Roman"/>
              </a:rPr>
              <a:t>as the image information can be moved efficiently enough, </a:t>
            </a:r>
            <a:r>
              <a:rPr lang="en-US" sz="3200" dirty="0" smtClean="0">
                <a:latin typeface="Times-Roman"/>
              </a:rPr>
              <a:t>cluster processing </a:t>
            </a:r>
            <a:r>
              <a:rPr lang="en-US" sz="3200" dirty="0">
                <a:latin typeface="Times-Roman"/>
              </a:rPr>
              <a:t>of images can also be </a:t>
            </a:r>
            <a:r>
              <a:rPr lang="en-US" sz="3200" dirty="0" smtClean="0">
                <a:latin typeface="Times-Roman"/>
              </a:rPr>
              <a:t>effective.</a:t>
            </a:r>
          </a:p>
          <a:p>
            <a:pPr marL="457200" indent="-457200" algn="just">
              <a:buFont typeface="Arial" panose="020B0604020202020204" pitchFamily="34" charset="0"/>
              <a:buChar char="•"/>
            </a:pPr>
            <a:r>
              <a:rPr lang="en-US" sz="3200" dirty="0" smtClean="0">
                <a:latin typeface="Times-Roman"/>
              </a:rPr>
              <a:t>One </a:t>
            </a:r>
            <a:r>
              <a:rPr lang="en-US" sz="3200" dirty="0">
                <a:latin typeface="Times-Roman"/>
              </a:rPr>
              <a:t>approach to </a:t>
            </a:r>
            <a:r>
              <a:rPr lang="en-US" sz="3200" dirty="0" smtClean="0">
                <a:latin typeface="Times-Roman"/>
              </a:rPr>
              <a:t>avoiding image </a:t>
            </a:r>
            <a:r>
              <a:rPr lang="en-US" sz="3200" dirty="0">
                <a:latin typeface="Times-Roman"/>
              </a:rPr>
              <a:t>transfer costs is to equip individual nodes in the cluster with </a:t>
            </a:r>
            <a:r>
              <a:rPr lang="en-US" sz="3200" dirty="0" smtClean="0">
                <a:latin typeface="Times-Roman"/>
              </a:rPr>
              <a:t>separate cameras.</a:t>
            </a:r>
          </a:p>
          <a:p>
            <a:pPr marL="457200" indent="-457200" algn="just">
              <a:buFont typeface="Arial" panose="020B0604020202020204" pitchFamily="34" charset="0"/>
              <a:buChar char="•"/>
            </a:pPr>
            <a:r>
              <a:rPr lang="en-US" sz="3200" dirty="0" smtClean="0">
                <a:latin typeface="Times-Roman"/>
              </a:rPr>
              <a:t>Examples </a:t>
            </a:r>
            <a:r>
              <a:rPr lang="en-US" sz="3200" dirty="0">
                <a:latin typeface="Times-Roman"/>
              </a:rPr>
              <a:t>of pixel-based iconic image operation include color </a:t>
            </a:r>
            <a:r>
              <a:rPr lang="en-US" sz="3200" dirty="0" smtClean="0">
                <a:latin typeface="Times-Roman"/>
              </a:rPr>
              <a:t>space transformations</a:t>
            </a:r>
            <a:r>
              <a:rPr lang="en-US" sz="3200" dirty="0">
                <a:latin typeface="Times-Roman"/>
              </a:rPr>
              <a:t>, color filtering, intensity transformations and so forth.</a:t>
            </a:r>
            <a:endParaRPr lang="en-US" sz="3200" dirty="0" smtClean="0">
              <a:latin typeface="Times-Roman"/>
            </a:endParaRPr>
          </a:p>
        </p:txBody>
      </p:sp>
    </p:spTree>
    <p:extLst>
      <p:ext uri="{BB962C8B-B14F-4D97-AF65-F5344CB8AC3E}">
        <p14:creationId xmlns:p14="http://schemas.microsoft.com/office/powerpoint/2010/main" val="2491592328"/>
      </p:ext>
    </p:extLst>
  </p:cSld>
  <p:clrMapOvr>
    <a:masterClrMapping/>
  </p:clrMapOvr>
  <p:transition spd="med"/>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58</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Vision and Tracking: Iconic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09200"/>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For example</a:t>
            </a:r>
            <a:r>
              <a:rPr lang="en-US" sz="3200" dirty="0">
                <a:latin typeface="Times-Roman"/>
              </a:rPr>
              <a:t>, </a:t>
            </a:r>
            <a:r>
              <a:rPr lang="en-US" sz="3200" b="1" dirty="0">
                <a:latin typeface="Times-Roman"/>
              </a:rPr>
              <a:t>the difference between the white lines and the grass </a:t>
            </a:r>
            <a:r>
              <a:rPr lang="en-US" sz="3200" b="1" dirty="0" smtClean="0">
                <a:latin typeface="Times-Roman"/>
              </a:rPr>
              <a:t>background in Fig. 2.4.3 (a) </a:t>
            </a:r>
            <a:r>
              <a:rPr lang="en-US" sz="3200" b="1" dirty="0">
                <a:latin typeface="Times-Roman"/>
              </a:rPr>
              <a:t>becomes much more apparent when the color space </a:t>
            </a:r>
            <a:r>
              <a:rPr lang="en-US" sz="3200" b="1" dirty="0" smtClean="0">
                <a:latin typeface="Times-Roman"/>
              </a:rPr>
              <a:t>is changed </a:t>
            </a:r>
            <a:r>
              <a:rPr lang="en-US" sz="3200" b="1" dirty="0">
                <a:latin typeface="Times-Roman"/>
              </a:rPr>
              <a:t>from RGB to the </a:t>
            </a:r>
            <a:r>
              <a:rPr lang="en-US" sz="3200" b="1" dirty="0" err="1">
                <a:latin typeface="Times-Roman"/>
              </a:rPr>
              <a:t>luma-chroma</a:t>
            </a:r>
            <a:r>
              <a:rPr lang="en-US" sz="3200" b="1" dirty="0">
                <a:latin typeface="Times-Roman"/>
              </a:rPr>
              <a:t> colors space </a:t>
            </a:r>
            <a:r>
              <a:rPr lang="en-US" sz="3200" b="1" i="1" dirty="0" err="1" smtClean="0">
                <a:latin typeface="Times-Italic"/>
              </a:rPr>
              <a:t>YCrCb</a:t>
            </a:r>
            <a:r>
              <a:rPr lang="en-US" sz="3200" b="1" dirty="0" smtClean="0">
                <a:latin typeface="Times-Roman"/>
              </a:rPr>
              <a:t>.</a:t>
            </a:r>
          </a:p>
          <a:p>
            <a:pPr marL="457200" indent="-457200" algn="just">
              <a:buFont typeface="Arial" panose="020B0604020202020204" pitchFamily="34" charset="0"/>
              <a:buChar char="•"/>
            </a:pPr>
            <a:r>
              <a:rPr lang="en-US" sz="3200" dirty="0" smtClean="0">
                <a:latin typeface="Times-Roman"/>
              </a:rPr>
              <a:t>Subsequently restricted </a:t>
            </a:r>
            <a:r>
              <a:rPr lang="en-US" sz="3200" dirty="0">
                <a:latin typeface="Times-Roman"/>
              </a:rPr>
              <a:t>to just the </a:t>
            </a:r>
            <a:r>
              <a:rPr lang="en-US" sz="3200" dirty="0" err="1">
                <a:latin typeface="Times-Roman"/>
              </a:rPr>
              <a:t>Cb</a:t>
            </a:r>
            <a:r>
              <a:rPr lang="en-US" sz="3200" dirty="0">
                <a:latin typeface="Times-Roman"/>
              </a:rPr>
              <a:t> </a:t>
            </a:r>
            <a:r>
              <a:rPr lang="en-US" sz="3200" dirty="0" err="1">
                <a:latin typeface="Times-Roman"/>
              </a:rPr>
              <a:t>chroma</a:t>
            </a:r>
            <a:r>
              <a:rPr lang="en-US" sz="3200" dirty="0">
                <a:latin typeface="Times-Roman"/>
              </a:rPr>
              <a:t> </a:t>
            </a:r>
            <a:r>
              <a:rPr lang="en-US" sz="3200" dirty="0" smtClean="0">
                <a:latin typeface="Times-Roman"/>
              </a:rPr>
              <a:t>component, and </a:t>
            </a:r>
            <a:r>
              <a:rPr lang="en-US" sz="3200" dirty="0">
                <a:latin typeface="Times-Roman"/>
              </a:rPr>
              <a:t>finally </a:t>
            </a:r>
            <a:r>
              <a:rPr lang="en-US" sz="3200" dirty="0" err="1">
                <a:latin typeface="Times-Roman"/>
              </a:rPr>
              <a:t>thresholded</a:t>
            </a:r>
            <a:r>
              <a:rPr lang="en-US" sz="3200" dirty="0">
                <a:latin typeface="Times-Roman"/>
              </a:rPr>
              <a:t> to </a:t>
            </a:r>
            <a:r>
              <a:rPr lang="en-US" sz="3200" dirty="0" smtClean="0">
                <a:latin typeface="Times-Roman"/>
              </a:rPr>
              <a:t>a binary image.</a:t>
            </a:r>
          </a:p>
          <a:p>
            <a:pPr marL="457200" indent="-457200" algn="just">
              <a:buFont typeface="Arial" panose="020B0604020202020204" pitchFamily="34" charset="0"/>
              <a:buChar char="•"/>
            </a:pPr>
            <a:r>
              <a:rPr lang="en-US" sz="3200" b="1" i="1" dirty="0" err="1" smtClean="0">
                <a:solidFill>
                  <a:srgbClr val="A60A2F"/>
                </a:solidFill>
                <a:latin typeface="Times-Italic"/>
              </a:rPr>
              <a:t>Thresholding</a:t>
            </a:r>
            <a:r>
              <a:rPr lang="en-US" sz="3200" i="1" dirty="0" smtClean="0">
                <a:latin typeface="Times-Italic"/>
              </a:rPr>
              <a:t> </a:t>
            </a:r>
            <a:r>
              <a:rPr lang="en-US" sz="3200" dirty="0">
                <a:latin typeface="Times-Roman"/>
              </a:rPr>
              <a:t>is also a pixel-based iconic image </a:t>
            </a:r>
            <a:r>
              <a:rPr lang="en-US" sz="3200" dirty="0" smtClean="0">
                <a:latin typeface="Times-Roman"/>
              </a:rPr>
              <a:t>processing operation</a:t>
            </a:r>
            <a:r>
              <a:rPr lang="en-US" sz="3200" dirty="0">
                <a:latin typeface="Times-Roman"/>
              </a:rPr>
              <a:t>.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Pixels </a:t>
            </a:r>
            <a:r>
              <a:rPr lang="en-US" sz="3200" dirty="0">
                <a:latin typeface="Times-Roman"/>
              </a:rPr>
              <a:t>in the </a:t>
            </a:r>
            <a:r>
              <a:rPr lang="en-US" sz="3200" dirty="0" err="1">
                <a:latin typeface="Times-Roman"/>
              </a:rPr>
              <a:t>thresholded</a:t>
            </a:r>
            <a:r>
              <a:rPr lang="en-US" sz="3200" dirty="0">
                <a:latin typeface="Times-Roman"/>
              </a:rPr>
              <a:t> binary image are set to 1 if the </a:t>
            </a:r>
            <a:r>
              <a:rPr lang="en-US" sz="3200" dirty="0" smtClean="0">
                <a:latin typeface="Times-Roman"/>
              </a:rPr>
              <a:t>pixels in </a:t>
            </a:r>
            <a:r>
              <a:rPr lang="en-US" sz="3200" dirty="0">
                <a:latin typeface="Times-Roman"/>
              </a:rPr>
              <a:t>the original image have a value greater than the </a:t>
            </a:r>
            <a:r>
              <a:rPr lang="en-US" sz="3200" i="1" dirty="0">
                <a:latin typeface="Times-Italic"/>
              </a:rPr>
              <a:t>threshold </a:t>
            </a:r>
            <a:r>
              <a:rPr lang="en-US" sz="3200" dirty="0">
                <a:latin typeface="Times-Roman"/>
              </a:rPr>
              <a:t>value and </a:t>
            </a:r>
            <a:r>
              <a:rPr lang="en-US" sz="3200" dirty="0" smtClean="0">
                <a:latin typeface="Times-Roman"/>
              </a:rPr>
              <a:t>are set </a:t>
            </a:r>
            <a:r>
              <a:rPr lang="en-US" sz="3200" dirty="0">
                <a:latin typeface="Times-Roman"/>
              </a:rPr>
              <a:t>to 0 otherwise.</a:t>
            </a:r>
            <a:endParaRPr lang="en-US" sz="3200" dirty="0" smtClean="0">
              <a:latin typeface="Times-Roman"/>
            </a:endParaRPr>
          </a:p>
        </p:txBody>
      </p:sp>
    </p:spTree>
    <p:extLst>
      <p:ext uri="{BB962C8B-B14F-4D97-AF65-F5344CB8AC3E}">
        <p14:creationId xmlns:p14="http://schemas.microsoft.com/office/powerpoint/2010/main" val="3166906626"/>
      </p:ext>
    </p:extLst>
  </p:cSld>
  <p:clrMapOvr>
    <a:masterClrMapping/>
  </p:clrMapOvr>
  <p:transition spd="med"/>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59</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a:t>
            </a:r>
            <a:r>
              <a:rPr lang="en-US" sz="4000" b="1" dirty="0">
                <a:latin typeface="Times New Roman" panose="02020603050405020304" pitchFamily="18" charset="0"/>
                <a:cs typeface="Times New Roman" panose="02020603050405020304" pitchFamily="18" charset="0"/>
              </a:rPr>
              <a:t>Vision and Tracking: Iconic image processing</a:t>
            </a:r>
          </a:p>
        </p:txBody>
      </p:sp>
      <p:sp>
        <p:nvSpPr>
          <p:cNvPr id="9" name="Rectangle 8"/>
          <p:cNvSpPr/>
          <p:nvPr/>
        </p:nvSpPr>
        <p:spPr>
          <a:xfrm>
            <a:off x="351790" y="1162852"/>
            <a:ext cx="11407140" cy="5632311"/>
          </a:xfrm>
          <a:prstGeom prst="rect">
            <a:avLst/>
          </a:prstGeom>
        </p:spPr>
        <p:txBody>
          <a:bodyPr wrap="square">
            <a:spAutoFit/>
          </a:bodyPr>
          <a:lstStyle/>
          <a:p>
            <a:pPr marL="457200" indent="-457200" algn="just">
              <a:buFont typeface="Arial" panose="020B0604020202020204" pitchFamily="34" charset="0"/>
              <a:buChar char="•"/>
            </a:pPr>
            <a:r>
              <a:rPr lang="en-US" sz="3000" dirty="0">
                <a:latin typeface="Times-Roman"/>
              </a:rPr>
              <a:t>Changes in the lighting of a natural scene are typically not </a:t>
            </a:r>
            <a:r>
              <a:rPr lang="en-US" sz="3000" dirty="0" smtClean="0">
                <a:latin typeface="Times-Roman"/>
              </a:rPr>
              <a:t>very noticeable </a:t>
            </a:r>
            <a:r>
              <a:rPr lang="en-US" sz="3000" dirty="0">
                <a:latin typeface="Times-Roman"/>
              </a:rPr>
              <a:t>to a human observer, but can cause a great deal of </a:t>
            </a:r>
            <a:r>
              <a:rPr lang="en-US" sz="3000" dirty="0" smtClean="0">
                <a:latin typeface="Times-Roman"/>
              </a:rPr>
              <a:t>difficulty in </a:t>
            </a:r>
            <a:r>
              <a:rPr lang="en-US" sz="3000" dirty="0">
                <a:latin typeface="Times-Roman"/>
              </a:rPr>
              <a:t>analysis of images. </a:t>
            </a:r>
            <a:endParaRPr lang="en-US" sz="3000" dirty="0" smtClean="0">
              <a:latin typeface="Times-Roman"/>
            </a:endParaRPr>
          </a:p>
          <a:p>
            <a:pPr marL="457200" indent="-457200" algn="just">
              <a:buFont typeface="Arial" panose="020B0604020202020204" pitchFamily="34" charset="0"/>
              <a:buChar char="•"/>
            </a:pPr>
            <a:r>
              <a:rPr lang="en-US" sz="3000" dirty="0" smtClean="0">
                <a:latin typeface="Times-Roman"/>
              </a:rPr>
              <a:t>A </a:t>
            </a:r>
            <a:r>
              <a:rPr lang="en-US" sz="3000" dirty="0">
                <a:latin typeface="Times-Roman"/>
              </a:rPr>
              <a:t>scene might have overall increases or </a:t>
            </a:r>
            <a:r>
              <a:rPr lang="en-US" sz="3000" dirty="0" smtClean="0">
                <a:latin typeface="Times-Roman"/>
              </a:rPr>
              <a:t>decreases in </a:t>
            </a:r>
            <a:r>
              <a:rPr lang="en-US" sz="3000" dirty="0">
                <a:latin typeface="Times-Roman"/>
              </a:rPr>
              <a:t>light intensity due to the time of day or weather conditions</a:t>
            </a:r>
            <a:r>
              <a:rPr lang="en-US" sz="3000" dirty="0" smtClean="0">
                <a:latin typeface="Times-Roman"/>
              </a:rPr>
              <a:t>.</a:t>
            </a:r>
          </a:p>
          <a:p>
            <a:pPr marL="457200" indent="-457200" algn="just">
              <a:buFont typeface="Arial" panose="020B0604020202020204" pitchFamily="34" charset="0"/>
              <a:buChar char="•"/>
            </a:pPr>
            <a:r>
              <a:rPr lang="en-US" sz="3000" dirty="0" smtClean="0">
                <a:latin typeface="Times-Roman"/>
              </a:rPr>
              <a:t>There may </a:t>
            </a:r>
            <a:r>
              <a:rPr lang="en-US" sz="3000" dirty="0">
                <a:latin typeface="Times-Roman"/>
              </a:rPr>
              <a:t>also be shadow effects as lighting sources move due to the time </a:t>
            </a:r>
            <a:r>
              <a:rPr lang="en-US" sz="3000" dirty="0" smtClean="0">
                <a:latin typeface="Times-Roman"/>
              </a:rPr>
              <a:t>of day</a:t>
            </a:r>
            <a:r>
              <a:rPr lang="en-US" sz="3000" dirty="0">
                <a:latin typeface="Times-Roman"/>
              </a:rPr>
              <a:t>, or as objects move in or adjacent to the scene. </a:t>
            </a:r>
            <a:endParaRPr lang="en-US" sz="3000" dirty="0" smtClean="0">
              <a:latin typeface="Times-Roman"/>
            </a:endParaRPr>
          </a:p>
          <a:p>
            <a:pPr marL="457200" indent="-457200" algn="just">
              <a:buFont typeface="Arial" panose="020B0604020202020204" pitchFamily="34" charset="0"/>
              <a:buChar char="•"/>
            </a:pPr>
            <a:r>
              <a:rPr lang="en-US" sz="3000" b="1" dirty="0" smtClean="0">
                <a:latin typeface="Times-Roman"/>
              </a:rPr>
              <a:t>Another </a:t>
            </a:r>
            <a:r>
              <a:rPr lang="en-US" sz="3000" b="1" dirty="0">
                <a:latin typeface="Times-Roman"/>
              </a:rPr>
              <a:t>reason </a:t>
            </a:r>
            <a:r>
              <a:rPr lang="en-US" sz="3000" b="1" dirty="0" smtClean="0">
                <a:latin typeface="Times-Roman"/>
              </a:rPr>
              <a:t>to use </a:t>
            </a:r>
            <a:r>
              <a:rPr lang="en-US" sz="3000" b="1" dirty="0" err="1">
                <a:latin typeface="Times-Roman"/>
              </a:rPr>
              <a:t>YCrCb</a:t>
            </a:r>
            <a:r>
              <a:rPr lang="en-US" sz="3000" b="1" dirty="0">
                <a:latin typeface="Times-Roman"/>
              </a:rPr>
              <a:t>, rather than RGB, for the analysis of natural images (</a:t>
            </a:r>
            <a:r>
              <a:rPr lang="en-US" sz="3000" b="1" dirty="0" smtClean="0">
                <a:latin typeface="Times-Roman"/>
              </a:rPr>
              <a:t>such as </a:t>
            </a:r>
            <a:r>
              <a:rPr lang="en-US" sz="3000" b="1" dirty="0">
                <a:latin typeface="Times-Roman"/>
              </a:rPr>
              <a:t>Figure </a:t>
            </a:r>
            <a:r>
              <a:rPr lang="en-US" sz="3000" b="1" dirty="0" smtClean="0">
                <a:latin typeface="Times-Roman"/>
              </a:rPr>
              <a:t>2.4.3(a</a:t>
            </a:r>
            <a:r>
              <a:rPr lang="en-US" sz="3000" b="1" dirty="0">
                <a:latin typeface="Times-Roman"/>
              </a:rPr>
              <a:t>)) is that the </a:t>
            </a:r>
            <a:r>
              <a:rPr lang="en-US" sz="3000" b="1" dirty="0" err="1">
                <a:latin typeface="Times-Roman"/>
              </a:rPr>
              <a:t>CrCb</a:t>
            </a:r>
            <a:r>
              <a:rPr lang="en-US" sz="3000" b="1" dirty="0">
                <a:latin typeface="Times-Roman"/>
              </a:rPr>
              <a:t> </a:t>
            </a:r>
            <a:r>
              <a:rPr lang="en-US" sz="3000" b="1" dirty="0" err="1">
                <a:latin typeface="Times-Roman"/>
              </a:rPr>
              <a:t>chroma</a:t>
            </a:r>
            <a:r>
              <a:rPr lang="en-US" sz="3000" b="1" dirty="0">
                <a:latin typeface="Times-Roman"/>
              </a:rPr>
              <a:t> (or color) components </a:t>
            </a:r>
            <a:r>
              <a:rPr lang="en-US" sz="3000" b="1" dirty="0" smtClean="0">
                <a:latin typeface="Times-Roman"/>
              </a:rPr>
              <a:t>are less </a:t>
            </a:r>
            <a:r>
              <a:rPr lang="en-US" sz="3000" b="1" dirty="0">
                <a:latin typeface="Times-Roman"/>
              </a:rPr>
              <a:t>sensitive to changes in light intensity.</a:t>
            </a:r>
            <a:endParaRPr lang="en-US" sz="3000" b="1" dirty="0" smtClean="0">
              <a:latin typeface="Times-Roman"/>
            </a:endParaRPr>
          </a:p>
        </p:txBody>
      </p:sp>
    </p:spTree>
    <p:extLst>
      <p:ext uri="{BB962C8B-B14F-4D97-AF65-F5344CB8AC3E}">
        <p14:creationId xmlns:p14="http://schemas.microsoft.com/office/powerpoint/2010/main" val="2326181303"/>
      </p:ext>
    </p:extLst>
  </p:cSld>
  <p:clrMapOvr>
    <a:masterClrMapping/>
  </p:clrMapOvr>
  <p:transition spd="med"/>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60</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Vision and Tracking: Iconic image processing</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351790" y="1162852"/>
                <a:ext cx="11407140" cy="5016758"/>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The scene lighting intensity variations </a:t>
                </a:r>
                <a:r>
                  <a:rPr lang="en-US" sz="3200" dirty="0">
                    <a:latin typeface="Times-Roman"/>
                  </a:rPr>
                  <a:t>are mostly confined to the Y </a:t>
                </a:r>
                <a:r>
                  <a:rPr lang="en-US" sz="3200" dirty="0" err="1">
                    <a:latin typeface="Times-Roman"/>
                  </a:rPr>
                  <a:t>luma</a:t>
                </a:r>
                <a:r>
                  <a:rPr lang="en-US" sz="3200" dirty="0">
                    <a:latin typeface="Times-Roman"/>
                  </a:rPr>
                  <a:t> component.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In </a:t>
                </a:r>
                <a:r>
                  <a:rPr lang="en-US" sz="3200" dirty="0">
                    <a:latin typeface="Times-Roman"/>
                  </a:rPr>
                  <a:t>RGB all </a:t>
                </a:r>
                <a:r>
                  <a:rPr lang="en-US" sz="3200" dirty="0" smtClean="0">
                    <a:latin typeface="Times-Roman"/>
                  </a:rPr>
                  <a:t>three components </a:t>
                </a:r>
                <a:r>
                  <a:rPr lang="en-US" sz="3200" dirty="0">
                    <a:latin typeface="Times-Roman"/>
                  </a:rPr>
                  <a:t>can vary with intensity.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Hence</a:t>
                </a:r>
                <a:r>
                  <a:rPr lang="en-US" sz="3200" dirty="0">
                    <a:latin typeface="Times-Roman"/>
                  </a:rPr>
                  <a:t>, the </a:t>
                </a:r>
                <a:r>
                  <a:rPr lang="en-US" sz="3200" dirty="0" err="1">
                    <a:latin typeface="Times-Roman"/>
                  </a:rPr>
                  <a:t>Cb</a:t>
                </a:r>
                <a:r>
                  <a:rPr lang="en-US" sz="3200" dirty="0">
                    <a:latin typeface="Times-Roman"/>
                  </a:rPr>
                  <a:t> component is a </a:t>
                </a:r>
                <a:r>
                  <a:rPr lang="en-US" sz="3200" dirty="0" smtClean="0">
                    <a:latin typeface="Times-Roman"/>
                  </a:rPr>
                  <a:t>more reliable </a:t>
                </a:r>
                <a:r>
                  <a:rPr lang="en-US" sz="3200" dirty="0">
                    <a:latin typeface="Times-Roman"/>
                  </a:rPr>
                  <a:t>‘white line’ detector over a wide range of lighting </a:t>
                </a:r>
                <a:r>
                  <a:rPr lang="en-US" sz="3200" dirty="0" smtClean="0">
                    <a:latin typeface="Times-Roman"/>
                  </a:rPr>
                  <a:t>conditions.</a:t>
                </a: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formulae to change RGB to </a:t>
                </a:r>
                <a:r>
                  <a:rPr lang="en-US" sz="3200" dirty="0" err="1">
                    <a:latin typeface="Times-Roman"/>
                  </a:rPr>
                  <a:t>YCrCb</a:t>
                </a:r>
                <a:r>
                  <a:rPr lang="en-US" sz="3200" dirty="0">
                    <a:latin typeface="Times-Roman"/>
                  </a:rPr>
                  <a:t> (from the CCIR-601 </a:t>
                </a:r>
                <a:r>
                  <a:rPr lang="en-US" sz="3200" dirty="0" smtClean="0">
                    <a:latin typeface="Times-Roman"/>
                  </a:rPr>
                  <a:t>digital video </a:t>
                </a:r>
                <a:r>
                  <a:rPr lang="en-US" sz="3200" dirty="0">
                    <a:latin typeface="Times-Roman"/>
                  </a:rPr>
                  <a:t>standard) are</a:t>
                </a:r>
                <a:r>
                  <a:rPr lang="en-US" sz="3200" dirty="0" smtClean="0">
                    <a:latin typeface="Times-Roman"/>
                  </a:rPr>
                  <a:t>:</a:t>
                </a:r>
              </a:p>
              <a:p>
                <a:pPr algn="just"/>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𝑌</m:t>
                      </m:r>
                      <m:r>
                        <a:rPr lang="en-US" sz="3200" b="0" i="1" smtClean="0">
                          <a:latin typeface="Cambria Math" panose="02040503050406030204" pitchFamily="18" charset="0"/>
                        </a:rPr>
                        <m:t>=0.299</m:t>
                      </m:r>
                      <m:r>
                        <a:rPr lang="en-US" sz="3200" b="0" i="1" smtClean="0">
                          <a:latin typeface="Cambria Math" panose="02040503050406030204" pitchFamily="18" charset="0"/>
                        </a:rPr>
                        <m:t>𝑅</m:t>
                      </m:r>
                      <m:r>
                        <a:rPr lang="en-US" sz="3200" b="0" i="1" smtClean="0">
                          <a:latin typeface="Cambria Math" panose="02040503050406030204" pitchFamily="18" charset="0"/>
                        </a:rPr>
                        <m:t>+0.587</m:t>
                      </m:r>
                      <m:r>
                        <a:rPr lang="en-US" sz="3200" b="0" i="1" smtClean="0">
                          <a:latin typeface="Cambria Math" panose="02040503050406030204" pitchFamily="18" charset="0"/>
                        </a:rPr>
                        <m:t>𝐺</m:t>
                      </m:r>
                      <m:r>
                        <a:rPr lang="en-US" sz="3200" b="0" i="1" smtClean="0">
                          <a:latin typeface="Cambria Math" panose="02040503050406030204" pitchFamily="18" charset="0"/>
                        </a:rPr>
                        <m:t>+0.114</m:t>
                      </m:r>
                      <m:r>
                        <a:rPr lang="en-US" sz="3200" b="0" i="1" smtClean="0">
                          <a:latin typeface="Cambria Math" panose="02040503050406030204" pitchFamily="18" charset="0"/>
                        </a:rPr>
                        <m:t>𝐵</m:t>
                      </m:r>
                    </m:oMath>
                  </m:oMathPara>
                </a14:m>
                <a:endParaRPr lang="en-US" sz="3200" b="0" dirty="0" smtClean="0">
                  <a:latin typeface="Times-Roman"/>
                </a:endParaRPr>
              </a:p>
              <a:p>
                <a:pPr algn="just"/>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𝐶</m:t>
                          </m:r>
                        </m:e>
                        <m:sub>
                          <m:r>
                            <a:rPr lang="en-US" sz="3200" b="0" i="1" smtClean="0">
                              <a:latin typeface="Cambria Math" panose="02040503050406030204" pitchFamily="18" charset="0"/>
                            </a:rPr>
                            <m:t>𝑟</m:t>
                          </m:r>
                        </m:sub>
                      </m:sSub>
                      <m:r>
                        <a:rPr lang="en-US" sz="3200" b="0" i="1" smtClean="0">
                          <a:latin typeface="Cambria Math" panose="02040503050406030204" pitchFamily="18" charset="0"/>
                        </a:rPr>
                        <m:t>=</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𝑅</m:t>
                          </m:r>
                          <m:r>
                            <a:rPr lang="en-US" sz="3200" b="0" i="1" smtClean="0">
                              <a:latin typeface="Cambria Math" panose="02040503050406030204" pitchFamily="18" charset="0"/>
                            </a:rPr>
                            <m:t>−</m:t>
                          </m:r>
                          <m:r>
                            <a:rPr lang="en-US" sz="3200" b="0" i="1" smtClean="0">
                              <a:latin typeface="Cambria Math" panose="02040503050406030204" pitchFamily="18" charset="0"/>
                            </a:rPr>
                            <m:t>𝑌</m:t>
                          </m:r>
                        </m:e>
                      </m:d>
                      <m:r>
                        <a:rPr lang="en-US" sz="3200" b="0" i="1" smtClean="0">
                          <a:latin typeface="Cambria Math" panose="02040503050406030204" pitchFamily="18" charset="0"/>
                        </a:rPr>
                        <m:t>∗0.713+128</m:t>
                      </m:r>
                    </m:oMath>
                  </m:oMathPara>
                </a14:m>
                <a:endParaRPr lang="en-US" sz="3200" b="0" dirty="0" smtClean="0">
                  <a:latin typeface="Times-Roman"/>
                </a:endParaRPr>
              </a:p>
              <a:p>
                <a:pPr algn="just"/>
                <a14:m>
                  <m:oMathPara xmlns:m="http://schemas.openxmlformats.org/officeDocument/2006/math">
                    <m:oMathParaPr>
                      <m:jc m:val="centerGroup"/>
                    </m:oMathParaPr>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𝐶</m:t>
                          </m:r>
                        </m:e>
                        <m:sub>
                          <m:r>
                            <a:rPr lang="en-US" sz="3200" b="0" i="1" smtClean="0">
                              <a:latin typeface="Cambria Math" panose="02040503050406030204" pitchFamily="18" charset="0"/>
                            </a:rPr>
                            <m:t>𝐵</m:t>
                          </m:r>
                        </m:sub>
                      </m:sSub>
                      <m:r>
                        <a:rPr lang="en-US" sz="3200" i="1">
                          <a:latin typeface="Cambria Math" panose="02040503050406030204" pitchFamily="18" charset="0"/>
                        </a:rPr>
                        <m:t>=</m:t>
                      </m:r>
                      <m:d>
                        <m:dPr>
                          <m:ctrlPr>
                            <a:rPr lang="en-US" sz="3200" i="1">
                              <a:latin typeface="Cambria Math" panose="02040503050406030204" pitchFamily="18" charset="0"/>
                            </a:rPr>
                          </m:ctrlPr>
                        </m:dPr>
                        <m:e>
                          <m:r>
                            <a:rPr lang="en-US" sz="3200" b="0" i="1" smtClean="0">
                              <a:latin typeface="Cambria Math" panose="02040503050406030204" pitchFamily="18" charset="0"/>
                            </a:rPr>
                            <m:t>𝐵</m:t>
                          </m:r>
                          <m:r>
                            <a:rPr lang="en-US" sz="3200" i="1">
                              <a:latin typeface="Cambria Math" panose="02040503050406030204" pitchFamily="18" charset="0"/>
                            </a:rPr>
                            <m:t>−</m:t>
                          </m:r>
                          <m:r>
                            <a:rPr lang="en-US" sz="3200" i="1">
                              <a:latin typeface="Cambria Math" panose="02040503050406030204" pitchFamily="18" charset="0"/>
                            </a:rPr>
                            <m:t>𝑌</m:t>
                          </m:r>
                        </m:e>
                      </m:d>
                      <m:r>
                        <a:rPr lang="en-US" sz="3200" i="1">
                          <a:latin typeface="Cambria Math" panose="02040503050406030204" pitchFamily="18" charset="0"/>
                        </a:rPr>
                        <m:t>∗0.</m:t>
                      </m:r>
                      <m:r>
                        <a:rPr lang="en-US" sz="3200" b="0" i="1" smtClean="0">
                          <a:latin typeface="Cambria Math" panose="02040503050406030204" pitchFamily="18" charset="0"/>
                        </a:rPr>
                        <m:t>564</m:t>
                      </m:r>
                      <m:r>
                        <a:rPr lang="en-US" sz="3200" i="1">
                          <a:latin typeface="Cambria Math" panose="02040503050406030204" pitchFamily="18" charset="0"/>
                        </a:rPr>
                        <m:t>+128</m:t>
                      </m:r>
                    </m:oMath>
                  </m:oMathPara>
                </a14:m>
                <a:endParaRPr lang="en-US" sz="3200" dirty="0">
                  <a:latin typeface="Times-Roman"/>
                </a:endParaRPr>
              </a:p>
            </p:txBody>
          </p:sp>
        </mc:Choice>
        <mc:Fallback xmlns="">
          <p:sp>
            <p:nvSpPr>
              <p:cNvPr id="9" name="Rectangle 8"/>
              <p:cNvSpPr>
                <a:spLocks noRot="1" noChangeAspect="1" noMove="1" noResize="1" noEditPoints="1" noAdjustHandles="1" noChangeArrowheads="1" noChangeShapeType="1" noTextEdit="1"/>
              </p:cNvSpPr>
              <p:nvPr/>
            </p:nvSpPr>
            <p:spPr>
              <a:xfrm>
                <a:off x="351790" y="1162852"/>
                <a:ext cx="11407140" cy="5016758"/>
              </a:xfrm>
              <a:prstGeom prst="rect">
                <a:avLst/>
              </a:prstGeom>
              <a:blipFill>
                <a:blip r:embed="rId2"/>
                <a:stretch>
                  <a:fillRect l="-1229" t="-1580" r="-1336"/>
                </a:stretch>
              </a:blipFill>
            </p:spPr>
            <p:txBody>
              <a:bodyPr/>
              <a:lstStyle/>
              <a:p>
                <a:r>
                  <a:rPr lang="en-US">
                    <a:noFill/>
                  </a:rPr>
                  <a:t> </a:t>
                </a:r>
              </a:p>
            </p:txBody>
          </p:sp>
        </mc:Fallback>
      </mc:AlternateContent>
    </p:spTree>
    <p:extLst>
      <p:ext uri="{BB962C8B-B14F-4D97-AF65-F5344CB8AC3E}">
        <p14:creationId xmlns:p14="http://schemas.microsoft.com/office/powerpoint/2010/main" val="2244451169"/>
      </p:ext>
    </p:extLst>
  </p:cSld>
  <p:clrMapOvr>
    <a:masterClrMapping/>
  </p:clrMapOvr>
  <p:transition spd="med"/>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61</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Vision and Tracking: Iconic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2554545"/>
          </a:xfrm>
          <a:prstGeom prst="rect">
            <a:avLst/>
          </a:prstGeom>
        </p:spPr>
        <p:txBody>
          <a:bodyPr wrap="square">
            <a:spAutoFit/>
          </a:bodyPr>
          <a:lstStyle/>
          <a:p>
            <a:pPr marL="457200" indent="-457200">
              <a:buFont typeface="Arial" panose="020B0604020202020204" pitchFamily="34" charset="0"/>
              <a:buChar char="•"/>
            </a:pPr>
            <a:r>
              <a:rPr lang="en-US" sz="3200" dirty="0">
                <a:latin typeface="Times-Roman"/>
              </a:rPr>
              <a:t>Notice that there are quite a few isolated white speckles in the </a:t>
            </a:r>
            <a:r>
              <a:rPr lang="en-US" sz="3200" dirty="0" smtClean="0">
                <a:latin typeface="Times-Roman"/>
              </a:rPr>
              <a:t>image in </a:t>
            </a:r>
            <a:r>
              <a:rPr lang="en-US" sz="3200" dirty="0">
                <a:latin typeface="Times-Roman"/>
              </a:rPr>
              <a:t>Figure </a:t>
            </a:r>
            <a:r>
              <a:rPr lang="en-US" sz="3200" dirty="0" smtClean="0">
                <a:latin typeface="Times-Roman"/>
              </a:rPr>
              <a:t>2.4.3(c</a:t>
            </a:r>
            <a:r>
              <a:rPr lang="en-US" sz="3200" dirty="0">
                <a:latin typeface="Times-Roman"/>
              </a:rPr>
              <a:t>). </a:t>
            </a:r>
            <a:endParaRPr lang="en-US" sz="3200" dirty="0" smtClean="0">
              <a:latin typeface="Times-Roman"/>
            </a:endParaRPr>
          </a:p>
          <a:p>
            <a:pPr marL="457200" indent="-457200">
              <a:buFont typeface="Arial" panose="020B0604020202020204" pitchFamily="34" charset="0"/>
              <a:buChar char="•"/>
            </a:pPr>
            <a:r>
              <a:rPr lang="en-US" sz="3200" dirty="0" smtClean="0">
                <a:latin typeface="Times-Roman"/>
              </a:rPr>
              <a:t>These </a:t>
            </a:r>
            <a:r>
              <a:rPr lang="en-US" sz="3200" dirty="0">
                <a:latin typeface="Times-Roman"/>
              </a:rPr>
              <a:t>could be reduced by reducing the threshold </a:t>
            </a:r>
            <a:r>
              <a:rPr lang="en-US" sz="3200" dirty="0" smtClean="0">
                <a:latin typeface="Times-Roman"/>
              </a:rPr>
              <a:t>value.</a:t>
            </a:r>
          </a:p>
          <a:p>
            <a:pPr marL="457200" indent="-457200">
              <a:buFont typeface="Arial" panose="020B0604020202020204" pitchFamily="34" charset="0"/>
              <a:buChar char="•"/>
            </a:pPr>
            <a:r>
              <a:rPr lang="en-US" sz="3200" dirty="0" smtClean="0">
                <a:latin typeface="Times-Roman"/>
              </a:rPr>
              <a:t>However</a:t>
            </a:r>
            <a:r>
              <a:rPr lang="en-US" sz="3200" dirty="0">
                <a:latin typeface="Times-Roman"/>
              </a:rPr>
              <a:t>, if we do that, we may also reduce the amount of the white </a:t>
            </a:r>
            <a:r>
              <a:rPr lang="en-US" sz="3200" dirty="0" smtClean="0">
                <a:latin typeface="Times-Roman"/>
              </a:rPr>
              <a:t>line that </a:t>
            </a:r>
            <a:r>
              <a:rPr lang="en-US" sz="3200" dirty="0">
                <a:latin typeface="Times-Roman"/>
              </a:rPr>
              <a:t>is visible</a:t>
            </a:r>
            <a:r>
              <a:rPr lang="en-US" sz="3200" dirty="0" smtClean="0">
                <a:latin typeface="Times-Roman"/>
              </a:rPr>
              <a:t>.</a:t>
            </a:r>
            <a:endParaRPr lang="en-US" sz="3200" dirty="0">
              <a:latin typeface="Times-Roman"/>
            </a:endParaRPr>
          </a:p>
        </p:txBody>
      </p:sp>
    </p:spTree>
    <p:extLst>
      <p:ext uri="{BB962C8B-B14F-4D97-AF65-F5344CB8AC3E}">
        <p14:creationId xmlns:p14="http://schemas.microsoft.com/office/powerpoint/2010/main" val="351774677"/>
      </p:ext>
    </p:extLst>
  </p:cSld>
  <p:clrMapOvr>
    <a:masterClrMapping/>
  </p:clrMapOvr>
  <p:transition spd="med"/>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62</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Vision and Tracking: Iconic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algn="just"/>
            <a:r>
              <a:rPr lang="en-US" sz="3200" b="1" dirty="0" smtClean="0">
                <a:solidFill>
                  <a:srgbClr val="7030A0"/>
                </a:solidFill>
                <a:latin typeface="Times-Roman"/>
              </a:rPr>
              <a:t>Analysis:</a:t>
            </a:r>
          </a:p>
          <a:p>
            <a:pPr marL="457200" indent="-457200" algn="just">
              <a:buFont typeface="Arial" panose="020B0604020202020204" pitchFamily="34" charset="0"/>
              <a:buChar char="•"/>
            </a:pPr>
            <a:r>
              <a:rPr lang="en-US" sz="3200" dirty="0">
                <a:latin typeface="Times-Roman"/>
              </a:rPr>
              <a:t>Let the time taken to color convert and threshold 1 pixel be </a:t>
            </a:r>
            <a:r>
              <a:rPr lang="en-US" sz="3200" i="1" dirty="0" smtClean="0">
                <a:latin typeface="CMMI10"/>
              </a:rPr>
              <a:t>χ</a:t>
            </a:r>
            <a:r>
              <a:rPr lang="en-US" sz="3200" dirty="0" smtClean="0">
                <a:latin typeface="Times-Roman"/>
              </a:rPr>
              <a:t>.</a:t>
            </a:r>
          </a:p>
          <a:p>
            <a:pPr marL="457200" indent="-457200" algn="just">
              <a:buFont typeface="Arial" panose="020B0604020202020204" pitchFamily="34" charset="0"/>
              <a:buChar char="•"/>
            </a:pPr>
            <a:r>
              <a:rPr lang="en-US" sz="3200" dirty="0" smtClean="0">
                <a:latin typeface="Times-Roman"/>
              </a:rPr>
              <a:t>In </a:t>
            </a:r>
            <a:r>
              <a:rPr lang="en-US" sz="3200" dirty="0">
                <a:latin typeface="Times-Roman"/>
              </a:rPr>
              <a:t>that case</a:t>
            </a:r>
            <a:r>
              <a:rPr lang="en-US" sz="3200" dirty="0" smtClean="0">
                <a:latin typeface="Times-Roman"/>
              </a:rPr>
              <a:t>, the </a:t>
            </a:r>
            <a:r>
              <a:rPr lang="en-US" sz="3200" dirty="0">
                <a:latin typeface="Times-Roman"/>
              </a:rPr>
              <a:t>serial time to process an </a:t>
            </a:r>
            <a:r>
              <a:rPr lang="en-US" sz="3200" i="1" dirty="0" err="1" smtClean="0">
                <a:latin typeface="CMMI10"/>
              </a:rPr>
              <a:t>n</a:t>
            </a:r>
            <a:r>
              <a:rPr lang="en-US" sz="3200" i="1" dirty="0" err="1" smtClean="0">
                <a:latin typeface="CMSY10"/>
              </a:rPr>
              <a:t>×</a:t>
            </a:r>
            <a:r>
              <a:rPr lang="en-US" sz="3200" i="1" dirty="0" err="1" smtClean="0">
                <a:latin typeface="CMMI10"/>
              </a:rPr>
              <a:t>m</a:t>
            </a:r>
            <a:r>
              <a:rPr lang="en-US" sz="3200" i="1" dirty="0" smtClean="0">
                <a:latin typeface="CMMI10"/>
              </a:rPr>
              <a:t> </a:t>
            </a:r>
            <a:r>
              <a:rPr lang="en-US" sz="3200" dirty="0" smtClean="0">
                <a:latin typeface="Times-Roman"/>
              </a:rPr>
              <a:t>image </a:t>
            </a:r>
            <a:r>
              <a:rPr lang="en-US" sz="3200" dirty="0">
                <a:latin typeface="Times-Roman"/>
              </a:rPr>
              <a:t>is easily calculated as </a:t>
            </a:r>
            <a:r>
              <a:rPr lang="en-US" sz="3200" i="1" dirty="0" err="1">
                <a:latin typeface="CMMI10"/>
              </a:rPr>
              <a:t>T</a:t>
            </a:r>
            <a:r>
              <a:rPr lang="en-US" i="1" dirty="0" err="1">
                <a:latin typeface="CMMI8"/>
              </a:rPr>
              <a:t>s</a:t>
            </a:r>
            <a:r>
              <a:rPr lang="en-US" i="1" dirty="0">
                <a:latin typeface="CMMI8"/>
              </a:rPr>
              <a:t> </a:t>
            </a:r>
            <a:r>
              <a:rPr lang="en-US" sz="3200" dirty="0">
                <a:latin typeface="CMR10"/>
              </a:rPr>
              <a:t>= </a:t>
            </a:r>
            <a:r>
              <a:rPr lang="en-US" sz="3200" i="1" dirty="0" err="1" smtClean="0">
                <a:latin typeface="CMMI10"/>
              </a:rPr>
              <a:t>nmχ</a:t>
            </a:r>
            <a:r>
              <a:rPr lang="en-US" sz="3200" dirty="0" smtClean="0">
                <a:latin typeface="Times-Roman"/>
              </a:rPr>
              <a:t>.</a:t>
            </a: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parallel communication time is composed of the time to scatter </a:t>
            </a:r>
            <a:r>
              <a:rPr lang="en-US" sz="3200" dirty="0" smtClean="0">
                <a:latin typeface="Times-Roman"/>
              </a:rPr>
              <a:t>the color </a:t>
            </a:r>
            <a:r>
              <a:rPr lang="en-US" sz="3200" dirty="0">
                <a:latin typeface="Times-Roman"/>
              </a:rPr>
              <a:t>image strips and to gather the </a:t>
            </a:r>
            <a:r>
              <a:rPr lang="en-US" sz="3200" dirty="0" err="1">
                <a:latin typeface="Times-Roman"/>
              </a:rPr>
              <a:t>thresholded</a:t>
            </a:r>
            <a:r>
              <a:rPr lang="en-US" sz="3200" dirty="0">
                <a:latin typeface="Times-Roman"/>
              </a:rPr>
              <a:t> image back </a:t>
            </a:r>
            <a:r>
              <a:rPr lang="en-US" sz="3200" dirty="0" smtClean="0">
                <a:latin typeface="Times-Roman"/>
              </a:rPr>
              <a:t>again.</a:t>
            </a:r>
          </a:p>
          <a:p>
            <a:pPr marL="457200" indent="-457200" algn="just">
              <a:buFont typeface="Arial" panose="020B0604020202020204" pitchFamily="34" charset="0"/>
              <a:buChar char="•"/>
            </a:pPr>
            <a:r>
              <a:rPr lang="en-US" sz="3200" dirty="0" smtClean="0">
                <a:latin typeface="Times-Roman"/>
              </a:rPr>
              <a:t>The time </a:t>
            </a:r>
            <a:r>
              <a:rPr lang="en-US" sz="3200" dirty="0">
                <a:latin typeface="Times-Roman"/>
              </a:rPr>
              <a:t>to scatter the image strips from the root to each processor is given </a:t>
            </a:r>
            <a:r>
              <a:rPr lang="en-US" sz="3200" dirty="0" smtClean="0">
                <a:latin typeface="Times-Roman"/>
              </a:rPr>
              <a:t>by </a:t>
            </a:r>
            <a:r>
              <a:rPr lang="el-GR" sz="3200" i="1" dirty="0" smtClean="0">
                <a:latin typeface="CMMI10"/>
              </a:rPr>
              <a:t>λ</a:t>
            </a:r>
            <a:r>
              <a:rPr lang="en-US" sz="3200" dirty="0">
                <a:latin typeface="CMR10"/>
              </a:rPr>
              <a:t>log </a:t>
            </a:r>
            <a:r>
              <a:rPr lang="en-US" sz="3200" i="1" dirty="0">
                <a:latin typeface="CMMI10"/>
              </a:rPr>
              <a:t>p </a:t>
            </a:r>
            <a:r>
              <a:rPr lang="en-US" sz="3200" dirty="0">
                <a:latin typeface="CMR10"/>
              </a:rPr>
              <a:t>+ 3</a:t>
            </a:r>
            <a:r>
              <a:rPr lang="en-US" sz="3200" i="1" dirty="0">
                <a:latin typeface="CMMI10"/>
              </a:rPr>
              <a:t>nm</a:t>
            </a:r>
            <a:r>
              <a:rPr lang="en-US" sz="3200" dirty="0">
                <a:latin typeface="CMR10"/>
              </a:rPr>
              <a:t>(</a:t>
            </a:r>
            <a:r>
              <a:rPr lang="en-US" sz="3200" i="1" dirty="0">
                <a:latin typeface="CMMI10"/>
              </a:rPr>
              <a:t>p </a:t>
            </a:r>
            <a:r>
              <a:rPr lang="en-US" sz="3200" i="1" dirty="0">
                <a:latin typeface="CMSY10"/>
              </a:rPr>
              <a:t>− </a:t>
            </a:r>
            <a:r>
              <a:rPr lang="en-US" sz="3200" dirty="0">
                <a:latin typeface="CMR10"/>
              </a:rPr>
              <a:t>1)</a:t>
            </a:r>
            <a:r>
              <a:rPr lang="en-US" sz="3200" i="1" dirty="0">
                <a:latin typeface="CMMI10"/>
              </a:rPr>
              <a:t>/p</a:t>
            </a:r>
            <a:r>
              <a:rPr lang="el-GR" sz="3200" i="1" dirty="0">
                <a:latin typeface="CMMI10"/>
              </a:rPr>
              <a:t>β</a:t>
            </a:r>
            <a:r>
              <a:rPr lang="el-GR" sz="3200" dirty="0">
                <a:latin typeface="Times-Roman"/>
              </a:rPr>
              <a:t>.</a:t>
            </a:r>
            <a:endParaRPr lang="en-US" sz="3200" dirty="0" smtClean="0">
              <a:latin typeface="Times-Roman"/>
            </a:endParaRPr>
          </a:p>
        </p:txBody>
      </p:sp>
    </p:spTree>
    <p:extLst>
      <p:ext uri="{BB962C8B-B14F-4D97-AF65-F5344CB8AC3E}">
        <p14:creationId xmlns:p14="http://schemas.microsoft.com/office/powerpoint/2010/main" val="1863961005"/>
      </p:ext>
    </p:extLst>
  </p:cSld>
  <p:clrMapOvr>
    <a:masterClrMapping/>
  </p:clrMapOvr>
  <p:transition spd="med"/>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63</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Vision and Tracking: Iconic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2062103"/>
          </a:xfrm>
          <a:prstGeom prst="rect">
            <a:avLst/>
          </a:prstGeom>
        </p:spPr>
        <p:txBody>
          <a:bodyPr wrap="square">
            <a:spAutoFit/>
          </a:bodyPr>
          <a:lstStyle/>
          <a:p>
            <a:pPr marL="457200" indent="-457200">
              <a:buFont typeface="Arial" panose="020B0604020202020204" pitchFamily="34" charset="0"/>
              <a:buChar char="•"/>
            </a:pPr>
            <a:r>
              <a:rPr lang="en-US" sz="3200" dirty="0">
                <a:latin typeface="Times-Roman"/>
              </a:rPr>
              <a:t>The time to gather the result image back to the</a:t>
            </a:r>
          </a:p>
          <a:p>
            <a:r>
              <a:rPr lang="nl-NL" sz="3200" dirty="0">
                <a:latin typeface="Times-Roman"/>
              </a:rPr>
              <a:t>root is </a:t>
            </a:r>
            <a:r>
              <a:rPr lang="nl-NL" sz="3200" i="1" dirty="0">
                <a:latin typeface="CMMI10"/>
              </a:rPr>
              <a:t>λ</a:t>
            </a:r>
            <a:r>
              <a:rPr lang="nl-NL" sz="3200" dirty="0">
                <a:latin typeface="CMR10"/>
              </a:rPr>
              <a:t>log </a:t>
            </a:r>
            <a:r>
              <a:rPr lang="nl-NL" sz="3200" i="1" dirty="0">
                <a:latin typeface="CMMI10"/>
              </a:rPr>
              <a:t>p </a:t>
            </a:r>
            <a:r>
              <a:rPr lang="nl-NL" sz="3200" dirty="0">
                <a:latin typeface="CMR10"/>
              </a:rPr>
              <a:t>+ </a:t>
            </a:r>
            <a:r>
              <a:rPr lang="nl-NL" sz="3200" i="1" dirty="0">
                <a:latin typeface="CMMI10"/>
              </a:rPr>
              <a:t>nm</a:t>
            </a:r>
            <a:r>
              <a:rPr lang="nl-NL" sz="3200" dirty="0">
                <a:latin typeface="CMR10"/>
              </a:rPr>
              <a:t>(</a:t>
            </a:r>
            <a:r>
              <a:rPr lang="nl-NL" sz="3200" i="1" dirty="0">
                <a:latin typeface="CMMI10"/>
              </a:rPr>
              <a:t>p </a:t>
            </a:r>
            <a:r>
              <a:rPr lang="nl-NL" sz="3200" i="1" dirty="0">
                <a:latin typeface="CMSY10"/>
              </a:rPr>
              <a:t>− </a:t>
            </a:r>
            <a:r>
              <a:rPr lang="nl-NL" sz="3200" dirty="0">
                <a:latin typeface="CMR10"/>
              </a:rPr>
              <a:t>1)</a:t>
            </a:r>
            <a:r>
              <a:rPr lang="nl-NL" sz="3200" i="1" dirty="0">
                <a:latin typeface="CMMI10"/>
              </a:rPr>
              <a:t>/pβ</a:t>
            </a:r>
            <a:r>
              <a:rPr lang="nl-NL" sz="3200" dirty="0" smtClean="0">
                <a:latin typeface="Times-Roman"/>
              </a:rPr>
              <a:t>.</a:t>
            </a:r>
          </a:p>
          <a:p>
            <a:pPr marL="457200" indent="-457200">
              <a:buFont typeface="Arial" panose="020B0604020202020204" pitchFamily="34" charset="0"/>
              <a:buChar char="•"/>
            </a:pPr>
            <a:r>
              <a:rPr lang="en-US" sz="3200" dirty="0">
                <a:latin typeface="Times-Roman"/>
              </a:rPr>
              <a:t>The parallel calculation time is </a:t>
            </a:r>
            <a:r>
              <a:rPr lang="en-US" sz="3200" i="1" dirty="0" err="1">
                <a:latin typeface="CMMI10"/>
              </a:rPr>
              <a:t>nmχ</a:t>
            </a:r>
            <a:r>
              <a:rPr lang="en-US" sz="3200" i="1" dirty="0">
                <a:latin typeface="CMMI10"/>
              </a:rPr>
              <a:t>/p</a:t>
            </a:r>
            <a:r>
              <a:rPr lang="en-US" sz="3200" dirty="0" smtClean="0">
                <a:latin typeface="Times-Roman"/>
              </a:rPr>
              <a:t>.</a:t>
            </a:r>
          </a:p>
          <a:p>
            <a:pPr marL="457200" indent="-457200">
              <a:buFont typeface="Arial" panose="020B0604020202020204" pitchFamily="34" charset="0"/>
              <a:buChar char="•"/>
            </a:pPr>
            <a:endParaRPr lang="en-US" sz="3200" dirty="0" smtClean="0">
              <a:latin typeface="Times-Roman"/>
            </a:endParaRPr>
          </a:p>
        </p:txBody>
      </p:sp>
      <p:pic>
        <p:nvPicPr>
          <p:cNvPr id="3" name="Picture 2"/>
          <p:cNvPicPr>
            <a:picLocks noChangeAspect="1"/>
          </p:cNvPicPr>
          <p:nvPr/>
        </p:nvPicPr>
        <p:blipFill>
          <a:blip r:embed="rId2"/>
          <a:stretch>
            <a:fillRect/>
          </a:stretch>
        </p:blipFill>
        <p:spPr>
          <a:xfrm>
            <a:off x="511718" y="3062962"/>
            <a:ext cx="5642282" cy="3033485"/>
          </a:xfrm>
          <a:prstGeom prst="rect">
            <a:avLst/>
          </a:prstGeom>
          <a:ln w="38100">
            <a:solidFill>
              <a:schemeClr val="tx1"/>
            </a:solidFill>
          </a:ln>
        </p:spPr>
      </p:pic>
      <p:sp>
        <p:nvSpPr>
          <p:cNvPr id="5" name="Rectangle 4"/>
          <p:cNvSpPr/>
          <p:nvPr/>
        </p:nvSpPr>
        <p:spPr>
          <a:xfrm>
            <a:off x="6533072" y="3062961"/>
            <a:ext cx="5026469" cy="2246769"/>
          </a:xfrm>
          <a:prstGeom prst="rect">
            <a:avLst/>
          </a:prstGeom>
        </p:spPr>
        <p:txBody>
          <a:bodyPr wrap="square">
            <a:spAutoFit/>
          </a:bodyPr>
          <a:lstStyle/>
          <a:p>
            <a:pPr algn="just"/>
            <a:r>
              <a:rPr lang="en-US" sz="2800" b="1" dirty="0">
                <a:latin typeface="Times-Bold"/>
              </a:rPr>
              <a:t>Figure </a:t>
            </a:r>
            <a:r>
              <a:rPr lang="en-US" sz="2800" b="1" dirty="0" smtClean="0">
                <a:latin typeface="Times-Bold"/>
              </a:rPr>
              <a:t>2.4.4</a:t>
            </a:r>
            <a:r>
              <a:rPr lang="en-US" sz="2800" b="1" dirty="0">
                <a:latin typeface="Times-Bold"/>
              </a:rPr>
              <a:t>: </a:t>
            </a:r>
            <a:r>
              <a:rPr lang="en-US" sz="2800" dirty="0">
                <a:latin typeface="Times-Roman"/>
              </a:rPr>
              <a:t>Performance graph for parallel pixel-based operations for </a:t>
            </a:r>
            <a:r>
              <a:rPr lang="en-US" sz="2800" dirty="0">
                <a:latin typeface="CMR8"/>
              </a:rPr>
              <a:t>640 </a:t>
            </a:r>
            <a:r>
              <a:rPr lang="en-US" sz="2800" i="1" dirty="0">
                <a:latin typeface="CMSY8"/>
              </a:rPr>
              <a:t>× </a:t>
            </a:r>
            <a:r>
              <a:rPr lang="en-US" sz="2800" dirty="0">
                <a:latin typeface="CMR8"/>
              </a:rPr>
              <a:t>480 </a:t>
            </a:r>
            <a:r>
              <a:rPr lang="en-US" sz="2800" dirty="0">
                <a:latin typeface="Times-Roman"/>
              </a:rPr>
              <a:t>image (</a:t>
            </a:r>
            <a:r>
              <a:rPr lang="en-US" sz="2800" i="1" dirty="0">
                <a:latin typeface="CMMI8"/>
              </a:rPr>
              <a:t>λ </a:t>
            </a:r>
            <a:r>
              <a:rPr lang="en-US" sz="2800" dirty="0">
                <a:latin typeface="CMR8"/>
              </a:rPr>
              <a:t>= 3</a:t>
            </a:r>
            <a:r>
              <a:rPr lang="en-US" sz="2800" i="1" dirty="0">
                <a:latin typeface="CMMI8"/>
              </a:rPr>
              <a:t>μs</a:t>
            </a:r>
            <a:r>
              <a:rPr lang="en-US" sz="2800" dirty="0" smtClean="0">
                <a:latin typeface="Times-Roman"/>
              </a:rPr>
              <a:t>, </a:t>
            </a:r>
            <a:r>
              <a:rPr lang="el-GR" sz="2800" i="1" dirty="0" smtClean="0">
                <a:latin typeface="CMMI8"/>
              </a:rPr>
              <a:t>β </a:t>
            </a:r>
            <a:r>
              <a:rPr lang="el-GR" sz="2800" dirty="0">
                <a:latin typeface="CMR8"/>
              </a:rPr>
              <a:t>= 1</a:t>
            </a:r>
            <a:r>
              <a:rPr lang="en-US" sz="2800" dirty="0" err="1">
                <a:latin typeface="Times-Roman"/>
              </a:rPr>
              <a:t>Gbps</a:t>
            </a:r>
            <a:r>
              <a:rPr lang="en-US" sz="2800" dirty="0">
                <a:latin typeface="Times-Roman"/>
              </a:rPr>
              <a:t>, </a:t>
            </a:r>
            <a:r>
              <a:rPr lang="el-GR" sz="2800" i="1" dirty="0">
                <a:latin typeface="CMMI8"/>
              </a:rPr>
              <a:t>χ </a:t>
            </a:r>
            <a:r>
              <a:rPr lang="el-GR" sz="2800" dirty="0">
                <a:latin typeface="CMR8"/>
              </a:rPr>
              <a:t>= 730 </a:t>
            </a:r>
            <a:r>
              <a:rPr lang="en-US" sz="2800" dirty="0">
                <a:latin typeface="Times-Roman"/>
              </a:rPr>
              <a:t>ns).</a:t>
            </a:r>
            <a:endParaRPr lang="en-US" sz="2800" dirty="0"/>
          </a:p>
        </p:txBody>
      </p:sp>
    </p:spTree>
    <p:extLst>
      <p:ext uri="{BB962C8B-B14F-4D97-AF65-F5344CB8AC3E}">
        <p14:creationId xmlns:p14="http://schemas.microsoft.com/office/powerpoint/2010/main" val="45161409"/>
      </p:ext>
    </p:extLst>
  </p:cSld>
  <p:clrMapOvr>
    <a:masterClrMapping/>
  </p:clrMapOvr>
  <p:transition spd="med"/>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64</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Vision and Tracking: Iconic image processing</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351790" y="1162852"/>
                <a:ext cx="11407140" cy="1605761"/>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The total parallel time is therefore,</a:t>
                </a:r>
              </a:p>
              <a:p>
                <a:pPr algn="just"/>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𝑇</m:t>
                          </m:r>
                        </m:e>
                        <m:sub>
                          <m:r>
                            <a:rPr lang="en-US" sz="3200" b="0" i="1" smtClean="0">
                              <a:latin typeface="Cambria Math" panose="02040503050406030204" pitchFamily="18" charset="0"/>
                            </a:rPr>
                            <m:t>𝑝</m:t>
                          </m:r>
                        </m:sub>
                      </m:sSub>
                      <m:r>
                        <a:rPr lang="en-US" sz="3200" b="0" i="1" smtClean="0">
                          <a:latin typeface="Cambria Math" panose="02040503050406030204" pitchFamily="18" charset="0"/>
                        </a:rPr>
                        <m:t>=2</m:t>
                      </m:r>
                      <m:r>
                        <a:rPr lang="en-US" sz="3200" b="0" i="1" smtClean="0">
                          <a:latin typeface="Cambria Math" panose="02040503050406030204" pitchFamily="18" charset="0"/>
                          <a:ea typeface="Cambria Math" panose="02040503050406030204" pitchFamily="18" charset="0"/>
                        </a:rPr>
                        <m:t>𝜆</m:t>
                      </m:r>
                      <m:func>
                        <m:funcPr>
                          <m:ctrlPr>
                            <a:rPr lang="en-US" sz="3200" b="0" i="1" smtClean="0">
                              <a:latin typeface="Cambria Math" panose="02040503050406030204" pitchFamily="18" charset="0"/>
                              <a:ea typeface="Cambria Math" panose="02040503050406030204" pitchFamily="18" charset="0"/>
                            </a:rPr>
                          </m:ctrlPr>
                        </m:funcPr>
                        <m:fName>
                          <m:r>
                            <m:rPr>
                              <m:sty m:val="p"/>
                            </m:rPr>
                            <a:rPr lang="en-US" sz="3200" b="0" i="0" smtClean="0">
                              <a:latin typeface="Cambria Math" panose="02040503050406030204" pitchFamily="18" charset="0"/>
                              <a:ea typeface="Cambria Math" panose="02040503050406030204" pitchFamily="18" charset="0"/>
                            </a:rPr>
                            <m:t>log</m:t>
                          </m:r>
                        </m:fName>
                        <m:e>
                          <m:r>
                            <a:rPr lang="en-US" sz="3200" b="0" i="1" smtClean="0">
                              <a:latin typeface="Cambria Math" panose="02040503050406030204" pitchFamily="18" charset="0"/>
                              <a:ea typeface="Cambria Math" panose="02040503050406030204" pitchFamily="18" charset="0"/>
                            </a:rPr>
                            <m:t>𝑝</m:t>
                          </m:r>
                          <m:r>
                            <a:rPr lang="en-US" sz="3200" b="0" i="1" smtClean="0">
                              <a:latin typeface="Cambria Math" panose="02040503050406030204" pitchFamily="18" charset="0"/>
                              <a:ea typeface="Cambria Math" panose="02040503050406030204" pitchFamily="18" charset="0"/>
                            </a:rPr>
                            <m:t>+</m:t>
                          </m:r>
                          <m:f>
                            <m:fPr>
                              <m:ctrlPr>
                                <a:rPr lang="en-US" sz="3200" b="0" i="1" smtClean="0">
                                  <a:latin typeface="Cambria Math" panose="02040503050406030204" pitchFamily="18" charset="0"/>
                                  <a:ea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4</m:t>
                              </m:r>
                              <m:r>
                                <a:rPr lang="en-US" sz="3200" b="0" i="1" smtClean="0">
                                  <a:latin typeface="Cambria Math" panose="02040503050406030204" pitchFamily="18" charset="0"/>
                                  <a:ea typeface="Cambria Math" panose="02040503050406030204" pitchFamily="18" charset="0"/>
                                </a:rPr>
                                <m:t>𝑛𝑚</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𝑝</m:t>
                              </m:r>
                              <m:r>
                                <a:rPr lang="en-US" sz="3200" b="0" i="1" smtClean="0">
                                  <a:latin typeface="Cambria Math" panose="02040503050406030204" pitchFamily="18" charset="0"/>
                                  <a:ea typeface="Cambria Math" panose="02040503050406030204" pitchFamily="18" charset="0"/>
                                </a:rPr>
                                <m:t>−1)</m:t>
                              </m:r>
                            </m:num>
                            <m:den>
                              <m:r>
                                <a:rPr lang="en-US" sz="3200" b="0" i="1" smtClean="0">
                                  <a:latin typeface="Cambria Math" panose="02040503050406030204" pitchFamily="18" charset="0"/>
                                  <a:ea typeface="Cambria Math" panose="02040503050406030204" pitchFamily="18" charset="0"/>
                                </a:rPr>
                                <m:t>𝑝</m:t>
                              </m:r>
                              <m:r>
                                <a:rPr lang="en-US" sz="3200" b="0" i="1" smtClean="0">
                                  <a:latin typeface="Cambria Math" panose="02040503050406030204" pitchFamily="18" charset="0"/>
                                  <a:ea typeface="Cambria Math" panose="02040503050406030204" pitchFamily="18" charset="0"/>
                                </a:rPr>
                                <m:t>𝛽</m:t>
                              </m:r>
                            </m:den>
                          </m:f>
                          <m:r>
                            <a:rPr lang="en-US" sz="3200" b="0" i="1" smtClean="0">
                              <a:latin typeface="Cambria Math" panose="02040503050406030204" pitchFamily="18" charset="0"/>
                              <a:ea typeface="Cambria Math" panose="02040503050406030204" pitchFamily="18" charset="0"/>
                            </a:rPr>
                            <m:t>+</m:t>
                          </m:r>
                          <m:f>
                            <m:fPr>
                              <m:ctrlPr>
                                <a:rPr lang="en-US" sz="3200" b="0" i="1" smtClean="0">
                                  <a:latin typeface="Cambria Math" panose="02040503050406030204" pitchFamily="18" charset="0"/>
                                  <a:ea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𝑛𝑚𝑋</m:t>
                              </m:r>
                            </m:num>
                            <m:den>
                              <m:r>
                                <a:rPr lang="en-US" sz="3200" b="0" i="1" smtClean="0">
                                  <a:latin typeface="Cambria Math" panose="02040503050406030204" pitchFamily="18" charset="0"/>
                                  <a:ea typeface="Cambria Math" panose="02040503050406030204" pitchFamily="18" charset="0"/>
                                </a:rPr>
                                <m:t>𝑝</m:t>
                              </m:r>
                            </m:den>
                          </m:f>
                        </m:e>
                      </m:func>
                    </m:oMath>
                  </m:oMathPara>
                </a14:m>
                <a:endParaRPr lang="en-US" sz="3200" dirty="0" smtClean="0">
                  <a:latin typeface="Times-Roman"/>
                </a:endParaRPr>
              </a:p>
            </p:txBody>
          </p:sp>
        </mc:Choice>
        <mc:Fallback xmlns="">
          <p:sp>
            <p:nvSpPr>
              <p:cNvPr id="9" name="Rectangle 8"/>
              <p:cNvSpPr>
                <a:spLocks noRot="1" noChangeAspect="1" noMove="1" noResize="1" noEditPoints="1" noAdjustHandles="1" noChangeArrowheads="1" noChangeShapeType="1" noTextEdit="1"/>
              </p:cNvSpPr>
              <p:nvPr/>
            </p:nvSpPr>
            <p:spPr>
              <a:xfrm>
                <a:off x="351790" y="1162852"/>
                <a:ext cx="11407140" cy="1605761"/>
              </a:xfrm>
              <a:prstGeom prst="rect">
                <a:avLst/>
              </a:prstGeom>
              <a:blipFill>
                <a:blip r:embed="rId2"/>
                <a:stretch>
                  <a:fillRect l="-1229" t="-4943"/>
                </a:stretch>
              </a:blipFill>
            </p:spPr>
            <p:txBody>
              <a:bodyPr/>
              <a:lstStyle/>
              <a:p>
                <a:r>
                  <a:rPr lang="en-US">
                    <a:noFill/>
                  </a:rPr>
                  <a:t> </a:t>
                </a:r>
              </a:p>
            </p:txBody>
          </p:sp>
        </mc:Fallback>
      </mc:AlternateContent>
    </p:spTree>
    <p:extLst>
      <p:ext uri="{BB962C8B-B14F-4D97-AF65-F5344CB8AC3E}">
        <p14:creationId xmlns:p14="http://schemas.microsoft.com/office/powerpoint/2010/main" val="798585951"/>
      </p:ext>
    </p:extLst>
  </p:cSld>
  <p:clrMapOvr>
    <a:masterClrMapping/>
  </p:clrMapOvr>
  <p:transition spd="med"/>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65</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09200"/>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There is an important class of pixel-based operations that involves </a:t>
            </a:r>
            <a:r>
              <a:rPr lang="en-US" sz="3200" dirty="0" smtClean="0">
                <a:latin typeface="Times-Roman"/>
              </a:rPr>
              <a:t>looking at </a:t>
            </a:r>
            <a:r>
              <a:rPr lang="en-US" sz="3200" dirty="0">
                <a:latin typeface="Times-Roman"/>
              </a:rPr>
              <a:t>pixels in a small region of the </a:t>
            </a:r>
            <a:r>
              <a:rPr lang="en-US" sz="3200" dirty="0" smtClean="0">
                <a:latin typeface="Times-Roman"/>
              </a:rPr>
              <a:t>image.</a:t>
            </a:r>
          </a:p>
          <a:p>
            <a:pPr marL="457200" indent="-457200" algn="just">
              <a:buFont typeface="Arial" panose="020B0604020202020204" pitchFamily="34" charset="0"/>
              <a:buChar char="•"/>
            </a:pPr>
            <a:r>
              <a:rPr lang="en-US" sz="3200" dirty="0" smtClean="0">
                <a:latin typeface="Times-Roman"/>
              </a:rPr>
              <a:t>One </a:t>
            </a:r>
            <a:r>
              <a:rPr lang="en-US" sz="3200" dirty="0">
                <a:latin typeface="Times-Roman"/>
              </a:rPr>
              <a:t>such operation, for example</a:t>
            </a:r>
            <a:r>
              <a:rPr lang="en-US" sz="3200" dirty="0" smtClean="0">
                <a:latin typeface="Times-Roman"/>
              </a:rPr>
              <a:t>, calculates </a:t>
            </a:r>
            <a:r>
              <a:rPr lang="en-US" sz="3200" dirty="0">
                <a:latin typeface="Times-Roman"/>
              </a:rPr>
              <a:t>the value of a pixel by averaging the values of the eight </a:t>
            </a:r>
            <a:r>
              <a:rPr lang="en-US" sz="3200" dirty="0" smtClean="0">
                <a:latin typeface="Times-Roman"/>
              </a:rPr>
              <a:t>pixels that </a:t>
            </a:r>
            <a:r>
              <a:rPr lang="en-US" sz="3200" dirty="0">
                <a:latin typeface="Times-Roman"/>
              </a:rPr>
              <a:t>surround that pixel.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When </a:t>
            </a:r>
            <a:r>
              <a:rPr lang="en-US" sz="3200" dirty="0">
                <a:latin typeface="Times-Roman"/>
              </a:rPr>
              <a:t>this is applied to each pixel in an image </a:t>
            </a:r>
            <a:r>
              <a:rPr lang="en-US" sz="3200" dirty="0" smtClean="0">
                <a:latin typeface="Times-Roman"/>
              </a:rPr>
              <a:t>the result </a:t>
            </a:r>
            <a:r>
              <a:rPr lang="en-US" sz="3200" dirty="0">
                <a:latin typeface="Times-Roman"/>
              </a:rPr>
              <a:t>is a </a:t>
            </a:r>
            <a:r>
              <a:rPr lang="en-US" sz="3200" b="1" i="1" dirty="0">
                <a:solidFill>
                  <a:srgbClr val="7030A0"/>
                </a:solidFill>
                <a:latin typeface="Times-Italic"/>
              </a:rPr>
              <a:t>blurring </a:t>
            </a:r>
            <a:r>
              <a:rPr lang="en-US" sz="3200" b="1" dirty="0">
                <a:solidFill>
                  <a:srgbClr val="7030A0"/>
                </a:solidFill>
                <a:latin typeface="Times-Roman"/>
              </a:rPr>
              <a:t>or </a:t>
            </a:r>
            <a:r>
              <a:rPr lang="en-US" sz="3200" b="1" i="1" dirty="0">
                <a:solidFill>
                  <a:srgbClr val="7030A0"/>
                </a:solidFill>
                <a:latin typeface="Times-Italic"/>
              </a:rPr>
              <a:t>smoothing </a:t>
            </a:r>
            <a:r>
              <a:rPr lang="en-US" sz="3200" b="1" dirty="0">
                <a:solidFill>
                  <a:srgbClr val="7030A0"/>
                </a:solidFill>
                <a:latin typeface="Times-Roman"/>
              </a:rPr>
              <a:t>effect </a:t>
            </a:r>
            <a:r>
              <a:rPr lang="en-US" sz="3200" dirty="0">
                <a:latin typeface="Times-Roman"/>
              </a:rPr>
              <a:t>on the image.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Figure 2.4.5(a</a:t>
            </a:r>
            <a:r>
              <a:rPr lang="en-US" sz="3200" dirty="0">
                <a:latin typeface="Times-Roman"/>
              </a:rPr>
              <a:t>) </a:t>
            </a:r>
            <a:r>
              <a:rPr lang="en-US" sz="3200" dirty="0" smtClean="0">
                <a:latin typeface="Times-Roman"/>
              </a:rPr>
              <a:t>shows the </a:t>
            </a:r>
            <a:r>
              <a:rPr lang="en-US" sz="3200" dirty="0">
                <a:latin typeface="Times-Roman"/>
              </a:rPr>
              <a:t>lane close-up view from Figure </a:t>
            </a:r>
            <a:r>
              <a:rPr lang="en-US" sz="3200" dirty="0" smtClean="0">
                <a:latin typeface="Times-Roman"/>
              </a:rPr>
              <a:t>2.4.5. </a:t>
            </a:r>
          </a:p>
          <a:p>
            <a:pPr marL="457200" indent="-457200" algn="just">
              <a:buFont typeface="Arial" panose="020B0604020202020204" pitchFamily="34" charset="0"/>
              <a:buChar char="•"/>
            </a:pPr>
            <a:r>
              <a:rPr lang="en-US" sz="3200" dirty="0" smtClean="0">
                <a:latin typeface="Times-Roman"/>
              </a:rPr>
              <a:t>Figure 2.4.5(b</a:t>
            </a:r>
            <a:r>
              <a:rPr lang="en-US" sz="3200" dirty="0">
                <a:latin typeface="Times-Roman"/>
              </a:rPr>
              <a:t>) shows the results </a:t>
            </a:r>
            <a:r>
              <a:rPr lang="en-US" sz="3200" dirty="0" smtClean="0">
                <a:latin typeface="Times-Roman"/>
              </a:rPr>
              <a:t>of a </a:t>
            </a:r>
            <a:r>
              <a:rPr lang="en-US" sz="3200" dirty="0">
                <a:latin typeface="Times-Roman"/>
              </a:rPr>
              <a:t>blurring operation performed on the lane close-up image.</a:t>
            </a:r>
            <a:endParaRPr lang="en-US" sz="3200" dirty="0" smtClean="0">
              <a:latin typeface="Times-Roman"/>
            </a:endParaRPr>
          </a:p>
        </p:txBody>
      </p:sp>
    </p:spTree>
    <p:extLst>
      <p:ext uri="{BB962C8B-B14F-4D97-AF65-F5344CB8AC3E}">
        <p14:creationId xmlns:p14="http://schemas.microsoft.com/office/powerpoint/2010/main" val="239415804"/>
      </p:ext>
    </p:extLst>
  </p:cSld>
  <p:clrMapOvr>
    <a:masterClrMapping/>
  </p:clrMapOvr>
  <p:transition spd="med"/>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66</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003185" y="5299487"/>
            <a:ext cx="8710823" cy="523220"/>
          </a:xfrm>
          <a:prstGeom prst="rect">
            <a:avLst/>
          </a:prstGeom>
        </p:spPr>
        <p:txBody>
          <a:bodyPr wrap="square">
            <a:spAutoFit/>
          </a:bodyPr>
          <a:lstStyle/>
          <a:p>
            <a:pPr algn="just"/>
            <a:r>
              <a:rPr lang="en-US" sz="2800" b="1" dirty="0"/>
              <a:t>Figure 7-5: (a) Original image; (b) smoothed; (c) edges.</a:t>
            </a:r>
            <a:endParaRPr lang="en-US" sz="4400" b="1" dirty="0" smtClean="0">
              <a:latin typeface="Times-Roman"/>
            </a:endParaRPr>
          </a:p>
        </p:txBody>
      </p:sp>
      <p:pic>
        <p:nvPicPr>
          <p:cNvPr id="3" name="Picture 2"/>
          <p:cNvPicPr>
            <a:picLocks noChangeAspect="1"/>
          </p:cNvPicPr>
          <p:nvPr/>
        </p:nvPicPr>
        <p:blipFill>
          <a:blip r:embed="rId2"/>
          <a:stretch>
            <a:fillRect/>
          </a:stretch>
        </p:blipFill>
        <p:spPr>
          <a:xfrm>
            <a:off x="972345" y="1626895"/>
            <a:ext cx="10166030" cy="3208549"/>
          </a:xfrm>
          <a:prstGeom prst="rect">
            <a:avLst/>
          </a:prstGeom>
          <a:ln w="38100">
            <a:solidFill>
              <a:schemeClr val="tx1"/>
            </a:solidFill>
          </a:ln>
        </p:spPr>
      </p:pic>
    </p:spTree>
    <p:extLst>
      <p:ext uri="{BB962C8B-B14F-4D97-AF65-F5344CB8AC3E}">
        <p14:creationId xmlns:p14="http://schemas.microsoft.com/office/powerpoint/2010/main" val="1356071506"/>
      </p:ext>
    </p:extLst>
  </p:cSld>
  <p:clrMapOvr>
    <a:masterClrMapping/>
  </p:clrMapOvr>
  <p:transition spd="med"/>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67</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09200"/>
          </a:xfrm>
          <a:prstGeom prst="rect">
            <a:avLst/>
          </a:prstGeom>
        </p:spPr>
        <p:txBody>
          <a:bodyPr wrap="square">
            <a:spAutoFit/>
          </a:bodyPr>
          <a:lstStyle/>
          <a:p>
            <a:pPr marL="457200" indent="-457200">
              <a:buFont typeface="Arial" panose="020B0604020202020204" pitchFamily="34" charset="0"/>
              <a:buChar char="•"/>
            </a:pPr>
            <a:r>
              <a:rPr lang="en-US" sz="3200" dirty="0">
                <a:latin typeface="Times-Roman"/>
              </a:rPr>
              <a:t>Another useful spatial operation is one that sharpens the </a:t>
            </a:r>
            <a:r>
              <a:rPr lang="en-US" sz="3200" dirty="0" smtClean="0">
                <a:latin typeface="Times-Roman"/>
              </a:rPr>
              <a:t>image (</a:t>
            </a:r>
            <a:r>
              <a:rPr lang="en-US" sz="3200" dirty="0">
                <a:latin typeface="Times-Roman"/>
              </a:rPr>
              <a:t>e.g., Figure </a:t>
            </a:r>
            <a:r>
              <a:rPr lang="en-US" sz="3200" dirty="0" smtClean="0">
                <a:latin typeface="Times-Roman"/>
              </a:rPr>
              <a:t>2.4.5(c</a:t>
            </a:r>
            <a:r>
              <a:rPr lang="en-US" sz="3200" dirty="0">
                <a:latin typeface="Times-Roman"/>
              </a:rPr>
              <a:t>)). </a:t>
            </a:r>
            <a:endParaRPr lang="en-US" sz="3200" dirty="0" smtClean="0">
              <a:latin typeface="Times-Roman"/>
            </a:endParaRPr>
          </a:p>
          <a:p>
            <a:pPr marL="457200" indent="-457200">
              <a:buFont typeface="Arial" panose="020B0604020202020204" pitchFamily="34" charset="0"/>
              <a:buChar char="•"/>
            </a:pPr>
            <a:r>
              <a:rPr lang="en-US" sz="3200" dirty="0" smtClean="0">
                <a:latin typeface="Times-Roman"/>
              </a:rPr>
              <a:t>In </a:t>
            </a:r>
            <a:r>
              <a:rPr lang="en-US" sz="3200" dirty="0">
                <a:latin typeface="Times-Roman"/>
              </a:rPr>
              <a:t>this case, the central pixel of the </a:t>
            </a:r>
            <a:r>
              <a:rPr lang="en-US" sz="3200" dirty="0" smtClean="0">
                <a:latin typeface="Times-Roman"/>
              </a:rPr>
              <a:t>neighborhood, is </a:t>
            </a:r>
            <a:r>
              <a:rPr lang="en-US" sz="3200" dirty="0">
                <a:latin typeface="Times-Roman"/>
              </a:rPr>
              <a:t>the sum of the differences between the central pixel’s original value </a:t>
            </a:r>
            <a:r>
              <a:rPr lang="en-US" sz="3200" dirty="0" smtClean="0">
                <a:latin typeface="Times-Roman"/>
              </a:rPr>
              <a:t>and the </a:t>
            </a:r>
            <a:r>
              <a:rPr lang="en-US" sz="3200" dirty="0">
                <a:latin typeface="Times-Roman"/>
              </a:rPr>
              <a:t>value each of its eight neighbor </a:t>
            </a:r>
            <a:r>
              <a:rPr lang="en-US" sz="3200" dirty="0" smtClean="0">
                <a:latin typeface="Times-Roman"/>
              </a:rPr>
              <a:t>pixels.</a:t>
            </a:r>
          </a:p>
          <a:p>
            <a:pPr marL="457200" indent="-457200">
              <a:buFont typeface="Arial" panose="020B0604020202020204" pitchFamily="34" charset="0"/>
              <a:buChar char="•"/>
            </a:pPr>
            <a:r>
              <a:rPr lang="en-US" sz="3200" dirty="0" smtClean="0">
                <a:latin typeface="Times-Roman"/>
              </a:rPr>
              <a:t>A </a:t>
            </a:r>
            <a:r>
              <a:rPr lang="en-US" sz="3200" dirty="0">
                <a:latin typeface="Times-Roman"/>
              </a:rPr>
              <a:t>convenient way to express spatial operations of this sort is as a </a:t>
            </a:r>
            <a:r>
              <a:rPr lang="en-US" sz="3200" i="1" dirty="0" smtClean="0">
                <a:latin typeface="Times-Italic"/>
              </a:rPr>
              <a:t>convolution operation</a:t>
            </a:r>
            <a:r>
              <a:rPr lang="en-US" sz="3200" dirty="0">
                <a:latin typeface="Times-Roman"/>
              </a:rPr>
              <a:t>. </a:t>
            </a:r>
            <a:endParaRPr lang="en-US" sz="3200" dirty="0" smtClean="0">
              <a:latin typeface="Times-Roman"/>
            </a:endParaRPr>
          </a:p>
          <a:p>
            <a:pPr marL="457200" indent="-457200">
              <a:buFont typeface="Arial" panose="020B0604020202020204" pitchFamily="34" charset="0"/>
              <a:buChar char="•"/>
            </a:pPr>
            <a:r>
              <a:rPr lang="en-US" sz="3200" dirty="0" smtClean="0">
                <a:latin typeface="Times-Roman"/>
              </a:rPr>
              <a:t>The </a:t>
            </a:r>
            <a:r>
              <a:rPr lang="en-US" sz="3200" dirty="0">
                <a:latin typeface="Times-Roman"/>
              </a:rPr>
              <a:t>convolution operation makes use of a </a:t>
            </a:r>
            <a:r>
              <a:rPr lang="en-US" sz="3200" i="1" dirty="0" smtClean="0">
                <a:latin typeface="Times-Italic"/>
              </a:rPr>
              <a:t>convolution </a:t>
            </a:r>
            <a:r>
              <a:rPr lang="pt-BR" sz="3200" i="1" dirty="0" smtClean="0">
                <a:latin typeface="Times-Italic"/>
              </a:rPr>
              <a:t>kernel </a:t>
            </a:r>
            <a:r>
              <a:rPr lang="pt-BR" sz="3200" i="1" dirty="0">
                <a:latin typeface="CMMI10"/>
              </a:rPr>
              <a:t>G</a:t>
            </a:r>
            <a:r>
              <a:rPr lang="pt-BR" sz="3200" dirty="0">
                <a:latin typeface="Times-Roman"/>
              </a:rPr>
              <a:t>, a </a:t>
            </a:r>
            <a:r>
              <a:rPr lang="pt-BR" sz="3200" i="1" dirty="0">
                <a:latin typeface="CMMI10"/>
              </a:rPr>
              <a:t>q </a:t>
            </a:r>
            <a:r>
              <a:rPr lang="pt-BR" sz="3200" i="1" dirty="0">
                <a:latin typeface="CMSY10"/>
              </a:rPr>
              <a:t>× </a:t>
            </a:r>
            <a:r>
              <a:rPr lang="pt-BR" sz="3200" i="1" dirty="0">
                <a:latin typeface="CMMI10"/>
              </a:rPr>
              <a:t>r </a:t>
            </a:r>
            <a:r>
              <a:rPr lang="pt-BR" sz="3200" dirty="0">
                <a:latin typeface="Times-Roman"/>
              </a:rPr>
              <a:t>matrix. </a:t>
            </a:r>
            <a:endParaRPr lang="pt-BR" sz="3200" dirty="0" smtClean="0">
              <a:latin typeface="Times-Roman"/>
            </a:endParaRPr>
          </a:p>
          <a:p>
            <a:pPr marL="457200" indent="-457200">
              <a:buFont typeface="Arial" panose="020B0604020202020204" pitchFamily="34" charset="0"/>
              <a:buChar char="•"/>
            </a:pPr>
            <a:r>
              <a:rPr lang="pt-BR" sz="3200" dirty="0" smtClean="0">
                <a:latin typeface="Times-Roman"/>
              </a:rPr>
              <a:t>Typically </a:t>
            </a:r>
            <a:r>
              <a:rPr lang="pt-BR" sz="3200" i="1" dirty="0">
                <a:latin typeface="CMMI10"/>
              </a:rPr>
              <a:t>q </a:t>
            </a:r>
            <a:r>
              <a:rPr lang="pt-BR" sz="3200" dirty="0">
                <a:latin typeface="CMR10"/>
              </a:rPr>
              <a:t>= </a:t>
            </a:r>
            <a:r>
              <a:rPr lang="pt-BR" sz="3200" i="1" dirty="0">
                <a:latin typeface="CMMI10"/>
              </a:rPr>
              <a:t>r</a:t>
            </a:r>
            <a:r>
              <a:rPr lang="pt-BR" sz="3200" dirty="0">
                <a:latin typeface="Times-Roman"/>
              </a:rPr>
              <a:t>, and </a:t>
            </a:r>
            <a:r>
              <a:rPr lang="pt-BR" sz="3200" i="1" dirty="0">
                <a:latin typeface="CMMI10"/>
              </a:rPr>
              <a:t>r </a:t>
            </a:r>
            <a:r>
              <a:rPr lang="pt-BR" sz="3200" i="1" dirty="0">
                <a:latin typeface="CMSY10"/>
              </a:rPr>
              <a:t> </a:t>
            </a:r>
            <a:r>
              <a:rPr lang="pt-BR" sz="3200" i="1" dirty="0">
                <a:latin typeface="CMMI10"/>
              </a:rPr>
              <a:t>n</a:t>
            </a:r>
            <a:r>
              <a:rPr lang="pt-BR" sz="3200" dirty="0">
                <a:latin typeface="Times-Roman"/>
              </a:rPr>
              <a:t>, </a:t>
            </a:r>
            <a:r>
              <a:rPr lang="pt-BR" sz="3200" i="1" dirty="0">
                <a:latin typeface="CMMI10"/>
              </a:rPr>
              <a:t>r </a:t>
            </a:r>
            <a:r>
              <a:rPr lang="pt-BR" sz="3200" i="1" dirty="0">
                <a:latin typeface="CMSY10"/>
              </a:rPr>
              <a:t> </a:t>
            </a:r>
            <a:r>
              <a:rPr lang="pt-BR" sz="3200" i="1" dirty="0">
                <a:latin typeface="CMMI10"/>
              </a:rPr>
              <a:t>m</a:t>
            </a:r>
            <a:r>
              <a:rPr lang="pt-BR" sz="3200" dirty="0">
                <a:latin typeface="Times-Roman"/>
              </a:rPr>
              <a:t>, </a:t>
            </a:r>
            <a:r>
              <a:rPr lang="pt-BR" sz="3200" dirty="0" smtClean="0">
                <a:latin typeface="Times-Roman"/>
              </a:rPr>
              <a:t>where </a:t>
            </a:r>
            <a:r>
              <a:rPr lang="en-US" sz="3200" i="1" dirty="0" smtClean="0">
                <a:latin typeface="CMMI10"/>
              </a:rPr>
              <a:t>n </a:t>
            </a:r>
            <a:r>
              <a:rPr lang="en-US" sz="3200" i="1" dirty="0">
                <a:latin typeface="CMSY10"/>
              </a:rPr>
              <a:t>×</a:t>
            </a:r>
            <a:r>
              <a:rPr lang="en-US" sz="3200" i="1" dirty="0">
                <a:latin typeface="CMMI10"/>
              </a:rPr>
              <a:t>m </a:t>
            </a:r>
            <a:r>
              <a:rPr lang="en-US" sz="3200" dirty="0">
                <a:latin typeface="Times-Roman"/>
              </a:rPr>
              <a:t>are dimensions of the image </a:t>
            </a:r>
            <a:r>
              <a:rPr lang="en-US" sz="3200" i="1" dirty="0">
                <a:latin typeface="CMMI10"/>
              </a:rPr>
              <a:t>I</a:t>
            </a:r>
            <a:r>
              <a:rPr lang="en-US" sz="3200" dirty="0">
                <a:latin typeface="Times-Roman"/>
              </a:rPr>
              <a:t>. </a:t>
            </a:r>
            <a:endParaRPr lang="en-US" sz="3200" dirty="0" smtClean="0">
              <a:latin typeface="Times-Roman"/>
            </a:endParaRPr>
          </a:p>
        </p:txBody>
      </p:sp>
    </p:spTree>
    <p:extLst>
      <p:ext uri="{BB962C8B-B14F-4D97-AF65-F5344CB8AC3E}">
        <p14:creationId xmlns:p14="http://schemas.microsoft.com/office/powerpoint/2010/main" val="3586159494"/>
      </p:ext>
    </p:extLst>
  </p:cSld>
  <p:clrMapOvr>
    <a:masterClrMapping/>
  </p:clrMapOvr>
  <p:transition spd="med"/>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68</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No matter what the kernel contains, the convolution </a:t>
            </a:r>
            <a:r>
              <a:rPr lang="en-US" sz="3200" i="1" dirty="0">
                <a:latin typeface="CMMI10"/>
              </a:rPr>
              <a:t>H </a:t>
            </a:r>
            <a:r>
              <a:rPr lang="en-US" sz="3200" dirty="0">
                <a:latin typeface="Times-Roman"/>
              </a:rPr>
              <a:t>is always defined for each point </a:t>
            </a:r>
            <a:r>
              <a:rPr lang="en-US" sz="3200" dirty="0">
                <a:latin typeface="CMR10"/>
              </a:rPr>
              <a:t>(</a:t>
            </a:r>
            <a:r>
              <a:rPr lang="en-US" sz="3200" i="1" dirty="0">
                <a:latin typeface="CMMI10"/>
              </a:rPr>
              <a:t>x, y</a:t>
            </a:r>
            <a:r>
              <a:rPr lang="en-US" sz="3200" dirty="0">
                <a:latin typeface="CMR10"/>
              </a:rPr>
              <a:t>) </a:t>
            </a:r>
            <a:r>
              <a:rPr lang="en-US" sz="3200" dirty="0">
                <a:latin typeface="Times-Roman"/>
              </a:rPr>
              <a:t>in the image </a:t>
            </a:r>
            <a:r>
              <a:rPr lang="en-US" sz="3200" i="1" dirty="0">
                <a:latin typeface="CMMI10"/>
              </a:rPr>
              <a:t>I </a:t>
            </a:r>
            <a:r>
              <a:rPr lang="en-US" sz="3200" dirty="0">
                <a:latin typeface="Times-Roman"/>
              </a:rPr>
              <a:t>as</a:t>
            </a:r>
            <a:r>
              <a:rPr lang="en-US" sz="3200" dirty="0" smtClean="0">
                <a:latin typeface="Times-Roman"/>
              </a:rPr>
              <a:t>:</a:t>
            </a:r>
          </a:p>
          <a:p>
            <a:pPr marL="457200" indent="-457200" algn="just">
              <a:buFont typeface="Arial" panose="020B0604020202020204" pitchFamily="34" charset="0"/>
              <a:buChar char="•"/>
            </a:pPr>
            <a:endParaRPr lang="en-US" sz="3200" dirty="0">
              <a:latin typeface="Times-Roman"/>
            </a:endParaRPr>
          </a:p>
          <a:p>
            <a:pPr marL="457200" indent="-457200" algn="just">
              <a:buFont typeface="Arial" panose="020B0604020202020204" pitchFamily="34" charset="0"/>
              <a:buChar char="•"/>
            </a:pPr>
            <a:endParaRPr lang="en-US" sz="3200" dirty="0" smtClean="0">
              <a:latin typeface="Times-Roman"/>
            </a:endParaRPr>
          </a:p>
          <a:p>
            <a:pPr marL="457200" indent="-457200" algn="just">
              <a:buFont typeface="Arial" panose="020B0604020202020204" pitchFamily="34" charset="0"/>
              <a:buChar char="•"/>
            </a:pPr>
            <a:endParaRPr lang="en-US" sz="3200" dirty="0">
              <a:latin typeface="Times-Roman"/>
            </a:endParaRPr>
          </a:p>
          <a:p>
            <a:pPr marL="457200" indent="-457200" algn="just">
              <a:buFont typeface="Arial" panose="020B0604020202020204" pitchFamily="34" charset="0"/>
              <a:buChar char="•"/>
            </a:pP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Fig.</a:t>
            </a:r>
            <a:r>
              <a:rPr lang="en-US" sz="3200" dirty="0">
                <a:latin typeface="Times-Roman"/>
              </a:rPr>
              <a:t> </a:t>
            </a:r>
            <a:r>
              <a:rPr lang="en-US" sz="3200" dirty="0" smtClean="0">
                <a:latin typeface="Times-Roman"/>
              </a:rPr>
              <a:t>2.4.6 </a:t>
            </a:r>
            <a:r>
              <a:rPr lang="en-US" sz="3200" dirty="0">
                <a:latin typeface="Times-Roman"/>
              </a:rPr>
              <a:t>shows a sharpening kernel and a portion of an image.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 kernel </a:t>
            </a:r>
            <a:r>
              <a:rPr lang="en-US" sz="3200" dirty="0">
                <a:latin typeface="Times-Roman"/>
              </a:rPr>
              <a:t>is applied to each pixel in succession starting at the top left </a:t>
            </a:r>
            <a:r>
              <a:rPr lang="en-US" sz="3200" dirty="0" smtClean="0">
                <a:latin typeface="Times-Roman"/>
              </a:rPr>
              <a:t>and working </a:t>
            </a:r>
            <a:r>
              <a:rPr lang="en-US" sz="3200" dirty="0">
                <a:latin typeface="Times-Roman"/>
              </a:rPr>
              <a:t>to the bottom right.</a:t>
            </a:r>
            <a:r>
              <a:rPr lang="en-US" sz="3200" dirty="0" smtClean="0">
                <a:latin typeface="Times-Roman"/>
              </a:rPr>
              <a:t> </a:t>
            </a:r>
            <a:endParaRPr lang="en-US" sz="3200" dirty="0">
              <a:latin typeface="Times-Roman"/>
            </a:endParaRPr>
          </a:p>
        </p:txBody>
      </p:sp>
      <p:pic>
        <p:nvPicPr>
          <p:cNvPr id="3" name="Picture 2"/>
          <p:cNvPicPr>
            <a:picLocks noChangeAspect="1"/>
          </p:cNvPicPr>
          <p:nvPr/>
        </p:nvPicPr>
        <p:blipFill>
          <a:blip r:embed="rId2"/>
          <a:stretch>
            <a:fillRect/>
          </a:stretch>
        </p:blipFill>
        <p:spPr>
          <a:xfrm>
            <a:off x="1560578" y="2474115"/>
            <a:ext cx="9186843" cy="1444879"/>
          </a:xfrm>
          <a:prstGeom prst="rect">
            <a:avLst/>
          </a:prstGeom>
        </p:spPr>
      </p:pic>
    </p:spTree>
    <p:extLst>
      <p:ext uri="{BB962C8B-B14F-4D97-AF65-F5344CB8AC3E}">
        <p14:creationId xmlns:p14="http://schemas.microsoft.com/office/powerpoint/2010/main" val="4266289365"/>
      </p:ext>
    </p:extLst>
  </p:cSld>
  <p:clrMapOvr>
    <a:masterClrMapping/>
  </p:clrMapOvr>
  <p:transition spd="med"/>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69</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49734" y="5614083"/>
            <a:ext cx="9319548" cy="584775"/>
          </a:xfrm>
          <a:prstGeom prst="rect">
            <a:avLst/>
          </a:prstGeom>
        </p:spPr>
        <p:txBody>
          <a:bodyPr wrap="square">
            <a:spAutoFit/>
          </a:bodyPr>
          <a:lstStyle/>
          <a:p>
            <a:pPr algn="just"/>
            <a:r>
              <a:rPr lang="fr-FR" sz="3200" b="1" dirty="0">
                <a:latin typeface="Times-Bold"/>
              </a:rPr>
              <a:t>Figure 7-6: </a:t>
            </a:r>
            <a:r>
              <a:rPr lang="fr-FR" sz="3200" b="1" dirty="0">
                <a:latin typeface="CMR8"/>
              </a:rPr>
              <a:t>3 </a:t>
            </a:r>
            <a:r>
              <a:rPr lang="fr-FR" sz="3200" b="1" i="1" dirty="0">
                <a:latin typeface="CMSY8"/>
              </a:rPr>
              <a:t>× </a:t>
            </a:r>
            <a:r>
              <a:rPr lang="fr-FR" sz="3200" b="1" dirty="0">
                <a:latin typeface="CMR8"/>
              </a:rPr>
              <a:t>3 </a:t>
            </a:r>
            <a:r>
              <a:rPr lang="fr-FR" sz="3200" b="1" dirty="0">
                <a:latin typeface="Times-Roman"/>
              </a:rPr>
              <a:t>Image convolution </a:t>
            </a:r>
            <a:r>
              <a:rPr lang="fr-FR" sz="3200" b="1" dirty="0" err="1">
                <a:latin typeface="Times-Roman"/>
              </a:rPr>
              <a:t>example</a:t>
            </a:r>
            <a:r>
              <a:rPr lang="fr-FR" sz="3200" b="1" dirty="0">
                <a:latin typeface="Times-Roman"/>
              </a:rPr>
              <a:t>.</a:t>
            </a:r>
            <a:endParaRPr lang="en-US" sz="3200" b="1" dirty="0" smtClean="0">
              <a:latin typeface="Times-Roman"/>
            </a:endParaRPr>
          </a:p>
        </p:txBody>
      </p:sp>
      <p:pic>
        <p:nvPicPr>
          <p:cNvPr id="3" name="Picture 2"/>
          <p:cNvPicPr>
            <a:picLocks noChangeAspect="1"/>
          </p:cNvPicPr>
          <p:nvPr/>
        </p:nvPicPr>
        <p:blipFill>
          <a:blip r:embed="rId2"/>
          <a:stretch>
            <a:fillRect/>
          </a:stretch>
        </p:blipFill>
        <p:spPr>
          <a:xfrm>
            <a:off x="2239100" y="1289085"/>
            <a:ext cx="7632520" cy="4004797"/>
          </a:xfrm>
          <a:prstGeom prst="rect">
            <a:avLst/>
          </a:prstGeom>
          <a:ln w="38100">
            <a:solidFill>
              <a:schemeClr val="tx1"/>
            </a:solidFill>
          </a:ln>
        </p:spPr>
      </p:pic>
    </p:spTree>
    <p:extLst>
      <p:ext uri="{BB962C8B-B14F-4D97-AF65-F5344CB8AC3E}">
        <p14:creationId xmlns:p14="http://schemas.microsoft.com/office/powerpoint/2010/main" val="972256796"/>
      </p:ext>
    </p:extLst>
  </p:cSld>
  <p:clrMapOvr>
    <a:masterClrMapping/>
  </p:clrMapOvr>
  <p:transition spd="med"/>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70</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2215275"/>
            <a:ext cx="11407140" cy="2062103"/>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The pixel value at </a:t>
            </a:r>
            <a:r>
              <a:rPr lang="en-US" sz="3200" dirty="0">
                <a:latin typeface="CMR10"/>
              </a:rPr>
              <a:t>(</a:t>
            </a:r>
            <a:r>
              <a:rPr lang="en-US" sz="3200" i="1" dirty="0">
                <a:latin typeface="CMMI10"/>
              </a:rPr>
              <a:t>x, y</a:t>
            </a:r>
            <a:r>
              <a:rPr lang="en-US" sz="3200" dirty="0">
                <a:latin typeface="CMR10"/>
              </a:rPr>
              <a:t>) </a:t>
            </a:r>
            <a:r>
              <a:rPr lang="en-US" sz="3200" dirty="0">
                <a:latin typeface="Times-Roman"/>
              </a:rPr>
              <a:t>is replaced by </a:t>
            </a:r>
            <a:r>
              <a:rPr lang="en-US" sz="3200" dirty="0" smtClean="0">
                <a:latin typeface="Times-Roman"/>
              </a:rPr>
              <a:t>the sum </a:t>
            </a:r>
            <a:r>
              <a:rPr lang="en-US" sz="3200" dirty="0">
                <a:latin typeface="Times-Roman"/>
              </a:rPr>
              <a:t>of the product of the </a:t>
            </a:r>
            <a:r>
              <a:rPr lang="en-US" sz="3200" dirty="0">
                <a:latin typeface="CMR10"/>
              </a:rPr>
              <a:t>(</a:t>
            </a:r>
            <a:r>
              <a:rPr lang="en-US" sz="3200" i="1" dirty="0" err="1">
                <a:latin typeface="CMMI10"/>
              </a:rPr>
              <a:t>i</a:t>
            </a:r>
            <a:r>
              <a:rPr lang="en-US" sz="3200" i="1" dirty="0">
                <a:latin typeface="CMMI10"/>
              </a:rPr>
              <a:t>, j</a:t>
            </a:r>
            <a:r>
              <a:rPr lang="en-US" sz="3200" dirty="0">
                <a:latin typeface="CMR10"/>
              </a:rPr>
              <a:t>) </a:t>
            </a:r>
            <a:r>
              <a:rPr lang="en-US" sz="3200" dirty="0">
                <a:latin typeface="Times-Roman"/>
              </a:rPr>
              <a:t>element of the kernel with the </a:t>
            </a:r>
            <a:r>
              <a:rPr lang="en-US" sz="3200" dirty="0">
                <a:latin typeface="CMR10"/>
              </a:rPr>
              <a:t>(</a:t>
            </a:r>
            <a:r>
              <a:rPr lang="en-US" sz="3200" i="1" dirty="0">
                <a:latin typeface="CMMI10"/>
              </a:rPr>
              <a:t>x </a:t>
            </a:r>
            <a:r>
              <a:rPr lang="en-US" sz="3200" dirty="0">
                <a:latin typeface="CMR10"/>
              </a:rPr>
              <a:t>+ </a:t>
            </a:r>
            <a:r>
              <a:rPr lang="en-US" sz="3200" i="1" dirty="0" err="1">
                <a:latin typeface="CMMI10"/>
              </a:rPr>
              <a:t>i</a:t>
            </a:r>
            <a:r>
              <a:rPr lang="en-US" sz="3200" i="1" dirty="0">
                <a:latin typeface="CMMI10"/>
              </a:rPr>
              <a:t> </a:t>
            </a:r>
            <a:r>
              <a:rPr lang="en-US" sz="3200" i="1" dirty="0" smtClean="0">
                <a:latin typeface="CMSY10"/>
              </a:rPr>
              <a:t>−</a:t>
            </a:r>
            <a:r>
              <a:rPr lang="en-US" sz="3200" i="1" dirty="0" smtClean="0">
                <a:latin typeface="CMMI10"/>
              </a:rPr>
              <a:t>r/</a:t>
            </a:r>
            <a:r>
              <a:rPr lang="en-US" sz="3200" dirty="0" smtClean="0">
                <a:latin typeface="CMR10"/>
              </a:rPr>
              <a:t>2</a:t>
            </a:r>
            <a:r>
              <a:rPr lang="en-US" sz="3200" i="1" dirty="0">
                <a:latin typeface="CMMI10"/>
              </a:rPr>
              <a:t>, y </a:t>
            </a:r>
            <a:r>
              <a:rPr lang="en-US" sz="3200" dirty="0">
                <a:latin typeface="CMR10"/>
              </a:rPr>
              <a:t>+ </a:t>
            </a:r>
            <a:r>
              <a:rPr lang="en-US" sz="3200" i="1" dirty="0">
                <a:latin typeface="CMMI10"/>
              </a:rPr>
              <a:t>j </a:t>
            </a:r>
            <a:r>
              <a:rPr lang="en-US" sz="3200" i="1" dirty="0">
                <a:latin typeface="CMSY10"/>
              </a:rPr>
              <a:t>− </a:t>
            </a:r>
            <a:r>
              <a:rPr lang="en-US" sz="3200" dirty="0">
                <a:latin typeface="CMR10"/>
              </a:rPr>
              <a:t>1</a:t>
            </a:r>
            <a:r>
              <a:rPr lang="en-US" sz="3200" i="1" dirty="0">
                <a:latin typeface="CMMI10"/>
              </a:rPr>
              <a:t>/</a:t>
            </a:r>
            <a:r>
              <a:rPr lang="en-US" sz="3200" dirty="0">
                <a:latin typeface="CMR10"/>
              </a:rPr>
              <a:t>2) </a:t>
            </a:r>
            <a:r>
              <a:rPr lang="en-US" sz="3200" dirty="0">
                <a:latin typeface="Times-Roman"/>
              </a:rPr>
              <a:t>pixel of the image for all </a:t>
            </a:r>
            <a:r>
              <a:rPr lang="en-US" sz="3200" i="1" dirty="0" err="1">
                <a:latin typeface="CMMI10"/>
              </a:rPr>
              <a:t>i</a:t>
            </a:r>
            <a:r>
              <a:rPr lang="en-US" sz="3200" i="1" dirty="0">
                <a:latin typeface="CMMI10"/>
              </a:rPr>
              <a:t> </a:t>
            </a:r>
            <a:r>
              <a:rPr lang="en-US" sz="3200" dirty="0">
                <a:latin typeface="Times-Roman"/>
              </a:rPr>
              <a:t>and </a:t>
            </a:r>
            <a:r>
              <a:rPr lang="en-US" sz="3200" i="1" dirty="0">
                <a:latin typeface="CMMI10"/>
              </a:rPr>
              <a:t>j</a:t>
            </a:r>
            <a:r>
              <a:rPr lang="en-US" sz="3200" dirty="0" smtClean="0">
                <a:latin typeface="Times-Roman"/>
              </a:rPr>
              <a:t>.</a:t>
            </a:r>
            <a:endParaRPr lang="en-US" sz="3200" dirty="0">
              <a:latin typeface="Times-Roman"/>
            </a:endParaRPr>
          </a:p>
          <a:p>
            <a:pPr marL="457200" indent="-457200" algn="just">
              <a:buFont typeface="Arial" panose="020B0604020202020204" pitchFamily="34" charset="0"/>
              <a:buChar char="•"/>
            </a:pPr>
            <a:endParaRPr lang="en-US" sz="3200" dirty="0" smtClean="0">
              <a:latin typeface="Times-Roman"/>
            </a:endParaRPr>
          </a:p>
        </p:txBody>
      </p:sp>
    </p:spTree>
    <p:extLst>
      <p:ext uri="{BB962C8B-B14F-4D97-AF65-F5344CB8AC3E}">
        <p14:creationId xmlns:p14="http://schemas.microsoft.com/office/powerpoint/2010/main" val="3011258845"/>
      </p:ext>
    </p:extLst>
  </p:cSld>
  <p:clrMapOvr>
    <a:masterClrMapping/>
  </p:clrMapOvr>
  <p:transition spd="med"/>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71</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5170646"/>
          </a:xfrm>
          <a:prstGeom prst="rect">
            <a:avLst/>
          </a:prstGeom>
        </p:spPr>
        <p:txBody>
          <a:bodyPr wrap="square">
            <a:spAutoFit/>
          </a:bodyPr>
          <a:lstStyle/>
          <a:p>
            <a:pPr marL="457200" indent="-457200" algn="just">
              <a:buFont typeface="Arial" panose="020B0604020202020204" pitchFamily="34" charset="0"/>
              <a:buChar char="•"/>
            </a:pPr>
            <a:r>
              <a:rPr lang="en-US" sz="3000" dirty="0">
                <a:latin typeface="Times-Roman"/>
              </a:rPr>
              <a:t>There is an advantage to inspecting an image at several scales, because </a:t>
            </a:r>
            <a:r>
              <a:rPr lang="en-US" sz="3000" dirty="0" smtClean="0">
                <a:latin typeface="Times-Roman"/>
              </a:rPr>
              <a:t>the objects </a:t>
            </a:r>
            <a:r>
              <a:rPr lang="en-US" sz="3000" dirty="0">
                <a:latin typeface="Times-Roman"/>
              </a:rPr>
              <a:t>in an image can vary in </a:t>
            </a:r>
            <a:r>
              <a:rPr lang="en-US" sz="3000" dirty="0" smtClean="0">
                <a:latin typeface="Times-Roman"/>
              </a:rPr>
              <a:t>apparent </a:t>
            </a:r>
            <a:r>
              <a:rPr lang="en-US" sz="3000" dirty="0">
                <a:latin typeface="Times-Roman"/>
              </a:rPr>
              <a:t>size due to visual perspective. </a:t>
            </a:r>
            <a:endParaRPr lang="en-US" sz="3000" dirty="0" smtClean="0">
              <a:latin typeface="Times-Roman"/>
            </a:endParaRPr>
          </a:p>
          <a:p>
            <a:pPr marL="457200" indent="-457200" algn="just">
              <a:buFont typeface="Arial" panose="020B0604020202020204" pitchFamily="34" charset="0"/>
              <a:buChar char="•"/>
            </a:pPr>
            <a:r>
              <a:rPr lang="en-US" sz="3000" dirty="0" smtClean="0">
                <a:latin typeface="Times-Roman"/>
              </a:rPr>
              <a:t>It is </a:t>
            </a:r>
            <a:r>
              <a:rPr lang="en-US" sz="3000" dirty="0">
                <a:latin typeface="Times-Roman"/>
              </a:rPr>
              <a:t>useful to combine the results of applying pixel-based image </a:t>
            </a:r>
            <a:r>
              <a:rPr lang="en-US" sz="3000" dirty="0" smtClean="0">
                <a:latin typeface="Times-Roman"/>
              </a:rPr>
              <a:t>operations at </a:t>
            </a:r>
            <a:r>
              <a:rPr lang="en-US" sz="3000" dirty="0">
                <a:latin typeface="Times-Roman"/>
              </a:rPr>
              <a:t>several different image </a:t>
            </a:r>
            <a:r>
              <a:rPr lang="en-US" sz="3000" dirty="0" smtClean="0">
                <a:latin typeface="Times-Roman"/>
              </a:rPr>
              <a:t>scales.</a:t>
            </a:r>
          </a:p>
          <a:p>
            <a:pPr marL="457200" indent="-457200" algn="just">
              <a:buFont typeface="Arial" panose="020B0604020202020204" pitchFamily="34" charset="0"/>
              <a:buChar char="•"/>
            </a:pPr>
            <a:r>
              <a:rPr lang="en-US" sz="3000" dirty="0" smtClean="0">
                <a:latin typeface="Times-Roman"/>
              </a:rPr>
              <a:t>Consider </a:t>
            </a:r>
            <a:r>
              <a:rPr lang="en-US" sz="3000" dirty="0">
                <a:latin typeface="Times-Roman"/>
              </a:rPr>
              <a:t>the three images shown </a:t>
            </a:r>
            <a:r>
              <a:rPr lang="en-US" sz="3000" dirty="0" smtClean="0">
                <a:latin typeface="Times-Roman"/>
              </a:rPr>
              <a:t>in Figure 2.4.8</a:t>
            </a:r>
            <a:r>
              <a:rPr lang="en-US" sz="3000" dirty="0">
                <a:latin typeface="Times-Roman"/>
              </a:rPr>
              <a:t>. </a:t>
            </a:r>
            <a:endParaRPr lang="en-US" sz="3000" dirty="0" smtClean="0">
              <a:latin typeface="Times-Roman"/>
            </a:endParaRPr>
          </a:p>
          <a:p>
            <a:pPr marL="457200" indent="-457200" algn="just">
              <a:buFont typeface="Arial" panose="020B0604020202020204" pitchFamily="34" charset="0"/>
              <a:buChar char="•"/>
            </a:pPr>
            <a:r>
              <a:rPr lang="en-US" sz="3000" dirty="0" smtClean="0">
                <a:latin typeface="Times-Roman"/>
              </a:rPr>
              <a:t>These </a:t>
            </a:r>
            <a:r>
              <a:rPr lang="en-US" sz="3000" dirty="0">
                <a:latin typeface="Times-Roman"/>
              </a:rPr>
              <a:t>show the result of processing the scene in Figure </a:t>
            </a:r>
            <a:r>
              <a:rPr lang="en-US" sz="3000" dirty="0" smtClean="0">
                <a:latin typeface="Times-Roman"/>
              </a:rPr>
              <a:t>2.4.3(a) with </a:t>
            </a:r>
            <a:r>
              <a:rPr lang="en-US" sz="3000" dirty="0">
                <a:latin typeface="Times-Roman"/>
              </a:rPr>
              <a:t>a pixel-based edge operation, an operation that </a:t>
            </a:r>
            <a:r>
              <a:rPr lang="en-US" sz="3000" dirty="0" smtClean="0">
                <a:latin typeface="Times-Roman"/>
              </a:rPr>
              <a:t>identifies </a:t>
            </a:r>
            <a:r>
              <a:rPr lang="en-US" sz="3000" dirty="0">
                <a:latin typeface="Times-Roman"/>
              </a:rPr>
              <a:t>the </a:t>
            </a:r>
            <a:r>
              <a:rPr lang="en-US" sz="3000" dirty="0" smtClean="0">
                <a:latin typeface="Times-Roman"/>
              </a:rPr>
              <a:t>intensity changes </a:t>
            </a:r>
            <a:r>
              <a:rPr lang="en-US" sz="3000" dirty="0">
                <a:latin typeface="Times-Roman"/>
              </a:rPr>
              <a:t>that typically occur at the edges of objects or color regions in </a:t>
            </a:r>
            <a:r>
              <a:rPr lang="en-US" sz="3000" dirty="0" smtClean="0">
                <a:latin typeface="Times-Roman"/>
              </a:rPr>
              <a:t>an image </a:t>
            </a:r>
            <a:r>
              <a:rPr lang="en-US" sz="3000" dirty="0">
                <a:latin typeface="Times-Roman"/>
              </a:rPr>
              <a:t>and which can also be done using convolution</a:t>
            </a:r>
            <a:r>
              <a:rPr lang="en-US" sz="3000" dirty="0" smtClean="0">
                <a:latin typeface="Times-Roman"/>
              </a:rPr>
              <a:t>.</a:t>
            </a:r>
          </a:p>
        </p:txBody>
      </p:sp>
    </p:spTree>
    <p:extLst>
      <p:ext uri="{BB962C8B-B14F-4D97-AF65-F5344CB8AC3E}">
        <p14:creationId xmlns:p14="http://schemas.microsoft.com/office/powerpoint/2010/main" val="4133747142"/>
      </p:ext>
    </p:extLst>
  </p:cSld>
  <p:clrMapOvr>
    <a:masterClrMapping/>
  </p:clrMapOvr>
  <p:transition spd="med"/>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72</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279604" y="5144070"/>
            <a:ext cx="10279937" cy="523220"/>
          </a:xfrm>
          <a:prstGeom prst="rect">
            <a:avLst/>
          </a:prstGeom>
        </p:spPr>
        <p:txBody>
          <a:bodyPr wrap="square">
            <a:spAutoFit/>
          </a:bodyPr>
          <a:lstStyle/>
          <a:p>
            <a:pPr algn="just"/>
            <a:r>
              <a:rPr lang="en-US" sz="2800" b="1" dirty="0"/>
              <a:t>Figure 7-8: Multiscale edge operations on the scene in Figure 7-3(a).</a:t>
            </a:r>
            <a:endParaRPr lang="en-US" sz="4000" b="1" dirty="0" smtClean="0">
              <a:latin typeface="Times-Roman"/>
            </a:endParaRPr>
          </a:p>
        </p:txBody>
      </p:sp>
      <p:pic>
        <p:nvPicPr>
          <p:cNvPr id="3" name="Picture 2"/>
          <p:cNvPicPr>
            <a:picLocks noChangeAspect="1"/>
          </p:cNvPicPr>
          <p:nvPr/>
        </p:nvPicPr>
        <p:blipFill>
          <a:blip r:embed="rId2"/>
          <a:stretch>
            <a:fillRect/>
          </a:stretch>
        </p:blipFill>
        <p:spPr>
          <a:xfrm>
            <a:off x="892133" y="1538229"/>
            <a:ext cx="10422004" cy="3121398"/>
          </a:xfrm>
          <a:prstGeom prst="rect">
            <a:avLst/>
          </a:prstGeom>
          <a:ln w="28575">
            <a:solidFill>
              <a:schemeClr val="tx1"/>
            </a:solidFill>
          </a:ln>
        </p:spPr>
      </p:pic>
    </p:spTree>
    <p:extLst>
      <p:ext uri="{BB962C8B-B14F-4D97-AF65-F5344CB8AC3E}">
        <p14:creationId xmlns:p14="http://schemas.microsoft.com/office/powerpoint/2010/main" val="2845633661"/>
      </p:ext>
    </p:extLst>
  </p:cSld>
  <p:clrMapOvr>
    <a:masterClrMapping/>
  </p:clrMapOvr>
  <p:transition spd="med"/>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73</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4524315"/>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The identified edges show up as white pixels in these images.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 operation </a:t>
            </a:r>
            <a:r>
              <a:rPr lang="en-US" sz="3200" dirty="0">
                <a:latin typeface="Times-Roman"/>
              </a:rPr>
              <a:t>was performed with the same kernel size on the original </a:t>
            </a:r>
            <a:r>
              <a:rPr lang="en-US" sz="3200" dirty="0" smtClean="0">
                <a:latin typeface="Times-Roman"/>
              </a:rPr>
              <a:t>sized image </a:t>
            </a:r>
            <a:r>
              <a:rPr lang="en-US" sz="3200" dirty="0">
                <a:latin typeface="Times-Roman"/>
              </a:rPr>
              <a:t>(the leftmost image in Figure </a:t>
            </a:r>
            <a:r>
              <a:rPr lang="en-US" sz="3200" dirty="0" smtClean="0">
                <a:latin typeface="Times-Roman"/>
              </a:rPr>
              <a:t>2.4.8</a:t>
            </a:r>
            <a:r>
              <a:rPr lang="en-US" sz="3200" dirty="0">
                <a:latin typeface="Times-Roman"/>
              </a:rPr>
              <a:t>), then on an image with </a:t>
            </a:r>
            <a:r>
              <a:rPr lang="en-US" sz="3200" dirty="0" smtClean="0">
                <a:latin typeface="Times-Roman"/>
              </a:rPr>
              <a:t>half the </a:t>
            </a:r>
            <a:r>
              <a:rPr lang="en-US" sz="3200" dirty="0">
                <a:latin typeface="Times-Roman"/>
              </a:rPr>
              <a:t>height and width dimensions of the original (the second image </a:t>
            </a:r>
            <a:r>
              <a:rPr lang="en-US" sz="3200" dirty="0" smtClean="0">
                <a:latin typeface="Times-Roman"/>
              </a:rPr>
              <a:t>on the </a:t>
            </a:r>
            <a:r>
              <a:rPr lang="en-US" sz="3200" dirty="0">
                <a:latin typeface="Times-Roman"/>
              </a:rPr>
              <a:t>left), and so forth, from left to right.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result images have </a:t>
            </a:r>
            <a:r>
              <a:rPr lang="en-US" sz="3200" dirty="0" smtClean="0">
                <a:latin typeface="Times-Roman"/>
              </a:rPr>
              <a:t>all been </a:t>
            </a:r>
            <a:r>
              <a:rPr lang="en-US" sz="3200" dirty="0">
                <a:latin typeface="Times-Roman"/>
              </a:rPr>
              <a:t>resized identically in Figure </a:t>
            </a:r>
            <a:r>
              <a:rPr lang="en-US" sz="3200" dirty="0" smtClean="0">
                <a:latin typeface="Times-Roman"/>
              </a:rPr>
              <a:t>2.4.8 </a:t>
            </a:r>
            <a:r>
              <a:rPr lang="en-US" sz="3200" dirty="0">
                <a:latin typeface="Times-Roman"/>
              </a:rPr>
              <a:t>for ease of comparison.</a:t>
            </a:r>
            <a:endParaRPr lang="en-US" sz="3000" dirty="0" smtClean="0">
              <a:latin typeface="Times-Roman"/>
            </a:endParaRPr>
          </a:p>
        </p:txBody>
      </p:sp>
    </p:spTree>
    <p:extLst>
      <p:ext uri="{BB962C8B-B14F-4D97-AF65-F5344CB8AC3E}">
        <p14:creationId xmlns:p14="http://schemas.microsoft.com/office/powerpoint/2010/main" val="1644946606"/>
      </p:ext>
    </p:extLst>
  </p:cSld>
  <p:clrMapOvr>
    <a:masterClrMapping/>
  </p:clrMapOvr>
  <p:transition spd="med"/>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74</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4031873"/>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The result images have </a:t>
            </a:r>
            <a:r>
              <a:rPr lang="en-US" sz="3200" dirty="0" smtClean="0">
                <a:latin typeface="Times-Roman"/>
              </a:rPr>
              <a:t>all been </a:t>
            </a:r>
            <a:r>
              <a:rPr lang="en-US" sz="3200" dirty="0">
                <a:latin typeface="Times-Roman"/>
              </a:rPr>
              <a:t>resized identically in Figure 7-8 for ease of comparison.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 image on </a:t>
            </a:r>
            <a:r>
              <a:rPr lang="en-US" sz="3200" dirty="0">
                <a:latin typeface="Times-Roman"/>
              </a:rPr>
              <a:t>the left shows the most detailed breakdown of edges: details of </a:t>
            </a:r>
            <a:r>
              <a:rPr lang="en-US" sz="3200" dirty="0" smtClean="0">
                <a:latin typeface="Times-Roman"/>
              </a:rPr>
              <a:t>the wheels </a:t>
            </a:r>
            <a:r>
              <a:rPr lang="en-US" sz="3200" dirty="0">
                <a:latin typeface="Times-Roman"/>
              </a:rPr>
              <a:t>of the robot are visible as is texture along the white lane </a:t>
            </a:r>
            <a:r>
              <a:rPr lang="en-US" sz="3200" dirty="0" smtClean="0">
                <a:latin typeface="Times-Roman"/>
              </a:rPr>
              <a:t>lines.</a:t>
            </a: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image on the right the least detail: the robot is visible </a:t>
            </a:r>
            <a:r>
              <a:rPr lang="en-US" sz="3200" dirty="0" smtClean="0">
                <a:latin typeface="Times-Roman"/>
              </a:rPr>
              <a:t>mainly as </a:t>
            </a:r>
            <a:r>
              <a:rPr lang="en-US" sz="3200" dirty="0">
                <a:latin typeface="Times-Roman"/>
              </a:rPr>
              <a:t>a rectangular region and the white line lines are devoid of </a:t>
            </a:r>
            <a:r>
              <a:rPr lang="en-US" sz="3200" dirty="0" smtClean="0">
                <a:latin typeface="Times-Roman"/>
              </a:rPr>
              <a:t>internal detail</a:t>
            </a:r>
            <a:r>
              <a:rPr lang="en-US" sz="3200" dirty="0">
                <a:latin typeface="Times-Roman"/>
              </a:rPr>
              <a:t>.</a:t>
            </a:r>
            <a:endParaRPr lang="en-US" sz="3000" dirty="0" smtClean="0">
              <a:latin typeface="Times-Roman"/>
            </a:endParaRPr>
          </a:p>
        </p:txBody>
      </p:sp>
    </p:spTree>
    <p:extLst>
      <p:ext uri="{BB962C8B-B14F-4D97-AF65-F5344CB8AC3E}">
        <p14:creationId xmlns:p14="http://schemas.microsoft.com/office/powerpoint/2010/main" val="475989671"/>
      </p:ext>
    </p:extLst>
  </p:cSld>
  <p:clrMapOvr>
    <a:masterClrMapping/>
  </p:clrMapOvr>
  <p:transition spd="med"/>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75</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3508653"/>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A number of multiscale processing operations have been developed.</a:t>
            </a:r>
          </a:p>
          <a:p>
            <a:pPr marL="457200" indent="-457200" algn="just">
              <a:buFont typeface="Arial" panose="020B0604020202020204" pitchFamily="34" charset="0"/>
              <a:buChar char="•"/>
            </a:pPr>
            <a:r>
              <a:rPr lang="en-US" sz="3200" b="1" i="1" dirty="0">
                <a:solidFill>
                  <a:srgbClr val="7030A0"/>
                </a:solidFill>
                <a:latin typeface="Times-Italic"/>
              </a:rPr>
              <a:t>SIFT features </a:t>
            </a:r>
            <a:r>
              <a:rPr lang="en-US" sz="3200" b="1" dirty="0">
                <a:solidFill>
                  <a:srgbClr val="7030A0"/>
                </a:solidFill>
                <a:latin typeface="Times-Roman"/>
              </a:rPr>
              <a:t>(Scale Invariant Image Transform </a:t>
            </a:r>
            <a:r>
              <a:rPr lang="en-US" sz="3200" b="1" dirty="0" smtClean="0">
                <a:solidFill>
                  <a:srgbClr val="7030A0"/>
                </a:solidFill>
                <a:latin typeface="Times-Roman"/>
              </a:rPr>
              <a:t>features) </a:t>
            </a:r>
            <a:r>
              <a:rPr lang="en-US" sz="3200" dirty="0" smtClean="0">
                <a:latin typeface="Times-Roman"/>
              </a:rPr>
              <a:t>use a multiscale </a:t>
            </a:r>
            <a:r>
              <a:rPr lang="en-US" sz="3200" dirty="0">
                <a:latin typeface="Times-Roman"/>
              </a:rPr>
              <a:t>measurement to identify image features that are unique </a:t>
            </a:r>
            <a:r>
              <a:rPr lang="en-US" sz="3200" dirty="0" smtClean="0">
                <a:latin typeface="Times-Roman"/>
              </a:rPr>
              <a:t>across a </a:t>
            </a:r>
            <a:r>
              <a:rPr lang="en-US" sz="3200" dirty="0">
                <a:latin typeface="Times-Roman"/>
              </a:rPr>
              <a:t>range of scales, image rotations and translations</a:t>
            </a:r>
            <a:r>
              <a:rPr lang="en-US" sz="3200" dirty="0" smtClean="0">
                <a:latin typeface="Times-Roman"/>
              </a:rPr>
              <a:t>.</a:t>
            </a:r>
          </a:p>
          <a:p>
            <a:pPr marL="457200" indent="-457200" algn="just">
              <a:buFont typeface="Arial" panose="020B0604020202020204" pitchFamily="34" charset="0"/>
              <a:buChar char="•"/>
            </a:pPr>
            <a:endParaRPr lang="en-US" sz="3000" dirty="0" smtClean="0">
              <a:latin typeface="Times-Roman"/>
            </a:endParaRPr>
          </a:p>
        </p:txBody>
      </p:sp>
    </p:spTree>
    <p:extLst>
      <p:ext uri="{BB962C8B-B14F-4D97-AF65-F5344CB8AC3E}">
        <p14:creationId xmlns:p14="http://schemas.microsoft.com/office/powerpoint/2010/main" val="434021445"/>
      </p:ext>
    </p:extLst>
  </p:cSld>
  <p:clrMapOvr>
    <a:masterClrMapping/>
  </p:clrMapOvr>
  <p:transition spd="med"/>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76</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4985980"/>
          </a:xfrm>
          <a:prstGeom prst="rect">
            <a:avLst/>
          </a:prstGeom>
        </p:spPr>
        <p:txBody>
          <a:bodyPr wrap="square">
            <a:spAutoFit/>
          </a:bodyPr>
          <a:lstStyle/>
          <a:p>
            <a:pPr algn="just"/>
            <a:r>
              <a:rPr lang="en-US" sz="3000" b="1" dirty="0" smtClean="0">
                <a:solidFill>
                  <a:srgbClr val="A60A2F"/>
                </a:solidFill>
                <a:latin typeface="Times-Roman"/>
              </a:rPr>
              <a:t>Partitioning</a:t>
            </a:r>
          </a:p>
          <a:p>
            <a:pPr marL="457200" indent="-457200" algn="just">
              <a:buFont typeface="Arial" panose="020B0604020202020204" pitchFamily="34" charset="0"/>
              <a:buChar char="•"/>
            </a:pPr>
            <a:r>
              <a:rPr lang="en-US" sz="3200" dirty="0">
                <a:latin typeface="Times-Roman"/>
              </a:rPr>
              <a:t>The serial implementation of a multiscale image operation would </a:t>
            </a:r>
            <a:r>
              <a:rPr lang="en-US" sz="3200" dirty="0" smtClean="0">
                <a:latin typeface="Times-Roman"/>
              </a:rPr>
              <a:t>proceed by </a:t>
            </a:r>
            <a:r>
              <a:rPr lang="en-US" sz="3200" dirty="0">
                <a:latin typeface="Times-Roman"/>
              </a:rPr>
              <a:t>processing each scaled image in </a:t>
            </a:r>
            <a:r>
              <a:rPr lang="en-US" sz="3200" dirty="0" smtClean="0">
                <a:latin typeface="Times-Roman"/>
              </a:rPr>
              <a:t>turn.</a:t>
            </a:r>
          </a:p>
          <a:p>
            <a:pPr marL="457200" indent="-457200" algn="just">
              <a:buFont typeface="Arial" panose="020B0604020202020204" pitchFamily="34" charset="0"/>
              <a:buChar char="•"/>
            </a:pPr>
            <a:r>
              <a:rPr lang="en-US" sz="3200" dirty="0" smtClean="0">
                <a:latin typeface="Times-Roman"/>
              </a:rPr>
              <a:t>Let </a:t>
            </a:r>
            <a:r>
              <a:rPr lang="en-US" sz="3200" dirty="0">
                <a:latin typeface="Times-Roman"/>
              </a:rPr>
              <a:t>there be </a:t>
            </a:r>
            <a:r>
              <a:rPr lang="en-US" sz="3200" i="1" dirty="0">
                <a:latin typeface="CMMI10"/>
              </a:rPr>
              <a:t>s </a:t>
            </a:r>
            <a:r>
              <a:rPr lang="en-US" sz="3200" dirty="0">
                <a:latin typeface="Times-Roman"/>
              </a:rPr>
              <a:t>scales.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 full sized </a:t>
            </a:r>
            <a:r>
              <a:rPr lang="en-US" sz="3200" dirty="0">
                <a:latin typeface="Times-Roman"/>
              </a:rPr>
              <a:t>image will be </a:t>
            </a:r>
            <a:r>
              <a:rPr lang="en-US" sz="3200" i="1" dirty="0">
                <a:latin typeface="CMMI10"/>
              </a:rPr>
              <a:t>n </a:t>
            </a:r>
            <a:r>
              <a:rPr lang="en-US" sz="3200" dirty="0">
                <a:latin typeface="Times-Roman"/>
              </a:rPr>
              <a:t>rows by </a:t>
            </a:r>
            <a:r>
              <a:rPr lang="en-US" sz="3200" i="1" dirty="0">
                <a:latin typeface="CMMI10"/>
              </a:rPr>
              <a:t>m </a:t>
            </a:r>
            <a:r>
              <a:rPr lang="en-US" sz="3200" dirty="0" smtClean="0">
                <a:latin typeface="Times-Roman"/>
              </a:rPr>
              <a:t>columns.</a:t>
            </a:r>
          </a:p>
          <a:p>
            <a:pPr marL="457200" indent="-457200" algn="just">
              <a:buFont typeface="Arial" panose="020B0604020202020204" pitchFamily="34" charset="0"/>
              <a:buChar char="•"/>
            </a:pPr>
            <a:r>
              <a:rPr lang="en-US" sz="3200" dirty="0" smtClean="0">
                <a:latin typeface="Times-Roman"/>
              </a:rPr>
              <a:t>Each </a:t>
            </a:r>
            <a:r>
              <a:rPr lang="en-US" sz="3200" dirty="0">
                <a:latin typeface="Times-Roman"/>
              </a:rPr>
              <a:t>successive image </a:t>
            </a:r>
            <a:r>
              <a:rPr lang="en-US" sz="3200" dirty="0" smtClean="0">
                <a:latin typeface="Times-Roman"/>
              </a:rPr>
              <a:t>will be </a:t>
            </a:r>
            <a:r>
              <a:rPr lang="en-US" sz="3200" dirty="0">
                <a:latin typeface="Times-Roman"/>
              </a:rPr>
              <a:t>half the row size and half the column size of the next larger </a:t>
            </a:r>
            <a:r>
              <a:rPr lang="en-US" sz="3200" dirty="0" smtClean="0">
                <a:latin typeface="Times-Roman"/>
              </a:rPr>
              <a:t>image.</a:t>
            </a:r>
          </a:p>
          <a:p>
            <a:pPr marL="457200" indent="-457200" algn="just">
              <a:buFont typeface="Arial" panose="020B0604020202020204" pitchFamily="34" charset="0"/>
              <a:buChar char="•"/>
            </a:pPr>
            <a:r>
              <a:rPr lang="en-US" sz="3200" dirty="0" smtClean="0">
                <a:latin typeface="Times-Roman"/>
              </a:rPr>
              <a:t>If </a:t>
            </a:r>
            <a:r>
              <a:rPr lang="en-US" sz="3200" dirty="0">
                <a:latin typeface="Times-Roman"/>
              </a:rPr>
              <a:t>the time to process the full size image is </a:t>
            </a:r>
            <a:r>
              <a:rPr lang="en-US" sz="3200" i="1" dirty="0" err="1">
                <a:latin typeface="CMMI10"/>
              </a:rPr>
              <a:t>nmχ</a:t>
            </a:r>
            <a:r>
              <a:rPr lang="en-US" sz="3200" dirty="0">
                <a:latin typeface="Times-Roman"/>
              </a:rPr>
              <a:t>, then the next </a:t>
            </a:r>
            <a:r>
              <a:rPr lang="en-US" sz="3200" dirty="0" smtClean="0">
                <a:latin typeface="Times-Roman"/>
              </a:rPr>
              <a:t>smaller scaled </a:t>
            </a:r>
            <a:r>
              <a:rPr lang="en-US" sz="3200" dirty="0">
                <a:latin typeface="Times-Roman"/>
              </a:rPr>
              <a:t>image will take </a:t>
            </a:r>
            <a:r>
              <a:rPr lang="en-US" sz="3200" i="1" dirty="0" err="1">
                <a:latin typeface="CMMI10"/>
              </a:rPr>
              <a:t>nmχ</a:t>
            </a:r>
            <a:r>
              <a:rPr lang="en-US" sz="3200" i="1" dirty="0">
                <a:latin typeface="CMMI10"/>
              </a:rPr>
              <a:t>/</a:t>
            </a:r>
            <a:r>
              <a:rPr lang="en-US" sz="3200" dirty="0">
                <a:latin typeface="CMR10"/>
              </a:rPr>
              <a:t>4 </a:t>
            </a:r>
            <a:r>
              <a:rPr lang="en-US" sz="3200" dirty="0">
                <a:latin typeface="Times-Roman"/>
              </a:rPr>
              <a:t>and the next smaller will be </a:t>
            </a:r>
            <a:r>
              <a:rPr lang="en-US" sz="3200" i="1" dirty="0" err="1">
                <a:latin typeface="CMMI10"/>
              </a:rPr>
              <a:t>nmχ</a:t>
            </a:r>
            <a:r>
              <a:rPr lang="en-US" sz="3200" i="1" dirty="0">
                <a:latin typeface="CMMI10"/>
              </a:rPr>
              <a:t>/</a:t>
            </a:r>
            <a:r>
              <a:rPr lang="en-US" sz="3200" dirty="0">
                <a:latin typeface="CMR10"/>
              </a:rPr>
              <a:t>16 </a:t>
            </a:r>
            <a:r>
              <a:rPr lang="en-US" sz="3200" dirty="0" smtClean="0">
                <a:latin typeface="Times-Roman"/>
              </a:rPr>
              <a:t>and so </a:t>
            </a:r>
            <a:r>
              <a:rPr lang="en-US" sz="3200" dirty="0">
                <a:latin typeface="Times-Roman"/>
              </a:rPr>
              <a:t>forth.</a:t>
            </a:r>
            <a:endParaRPr lang="en-US" sz="3000" b="1" dirty="0" smtClean="0">
              <a:solidFill>
                <a:srgbClr val="7030A0"/>
              </a:solidFill>
              <a:latin typeface="Times-Roman"/>
            </a:endParaRPr>
          </a:p>
        </p:txBody>
      </p:sp>
    </p:spTree>
    <p:extLst>
      <p:ext uri="{BB962C8B-B14F-4D97-AF65-F5344CB8AC3E}">
        <p14:creationId xmlns:p14="http://schemas.microsoft.com/office/powerpoint/2010/main" val="3889623205"/>
      </p:ext>
    </p:extLst>
  </p:cSld>
  <p:clrMapOvr>
    <a:masterClrMapping/>
  </p:clrMapOvr>
  <p:transition spd="med"/>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77</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4001095"/>
          </a:xfrm>
          <a:prstGeom prst="rect">
            <a:avLst/>
          </a:prstGeom>
        </p:spPr>
        <p:txBody>
          <a:bodyPr wrap="square">
            <a:spAutoFit/>
          </a:bodyPr>
          <a:lstStyle/>
          <a:p>
            <a:pPr marL="457200" indent="-457200">
              <a:buFont typeface="Arial" panose="020B0604020202020204" pitchFamily="34" charset="0"/>
              <a:buChar char="•"/>
            </a:pPr>
            <a:r>
              <a:rPr lang="en-US" sz="3200" dirty="0">
                <a:latin typeface="Times-Roman"/>
              </a:rPr>
              <a:t>This is a geometric progression with ratio 1/4. The total time </a:t>
            </a:r>
            <a:r>
              <a:rPr lang="en-US" sz="3200" dirty="0" smtClean="0">
                <a:latin typeface="Times-Roman"/>
              </a:rPr>
              <a:t>taken to </a:t>
            </a:r>
            <a:r>
              <a:rPr lang="en-US" sz="3200" dirty="0">
                <a:latin typeface="Times-Roman"/>
              </a:rPr>
              <a:t>process </a:t>
            </a:r>
            <a:r>
              <a:rPr lang="en-US" sz="3200" i="1" dirty="0">
                <a:latin typeface="CMMI10"/>
              </a:rPr>
              <a:t>s </a:t>
            </a:r>
            <a:r>
              <a:rPr lang="en-US" sz="3200" dirty="0">
                <a:latin typeface="Times-Roman"/>
              </a:rPr>
              <a:t>scales will therefore </a:t>
            </a:r>
            <a:r>
              <a:rPr lang="en-US" sz="3200" dirty="0" smtClean="0">
                <a:latin typeface="Times-Roman"/>
              </a:rPr>
              <a:t>be,</a:t>
            </a:r>
          </a:p>
          <a:p>
            <a:pPr marL="457200" indent="-457200">
              <a:buFont typeface="Arial" panose="020B0604020202020204" pitchFamily="34" charset="0"/>
              <a:buChar char="•"/>
            </a:pPr>
            <a:endParaRPr lang="en-US" sz="3200" dirty="0">
              <a:latin typeface="Times-Roman"/>
            </a:endParaRPr>
          </a:p>
          <a:p>
            <a:pPr marL="457200" indent="-457200">
              <a:buFont typeface="Arial" panose="020B0604020202020204" pitchFamily="34" charset="0"/>
              <a:buChar char="•"/>
            </a:pPr>
            <a:endParaRPr lang="en-US" sz="3200" dirty="0" smtClean="0">
              <a:latin typeface="Times-Roman"/>
            </a:endParaRPr>
          </a:p>
          <a:p>
            <a:pPr marL="457200" indent="-457200">
              <a:buFont typeface="Arial" panose="020B0604020202020204" pitchFamily="34" charset="0"/>
              <a:buChar char="•"/>
            </a:pPr>
            <a:endParaRPr lang="en-US" sz="3200" dirty="0">
              <a:latin typeface="Times-Roman"/>
            </a:endParaRPr>
          </a:p>
          <a:p>
            <a:pPr marL="457200" indent="-457200">
              <a:buFont typeface="Arial" panose="020B0604020202020204" pitchFamily="34" charset="0"/>
              <a:buChar char="•"/>
            </a:pPr>
            <a:endParaRPr lang="en-US" sz="3200" dirty="0" smtClean="0">
              <a:latin typeface="Times-Roman"/>
            </a:endParaRPr>
          </a:p>
          <a:p>
            <a:pPr marL="457200" indent="-457200">
              <a:buFont typeface="Arial" panose="020B0604020202020204" pitchFamily="34" charset="0"/>
              <a:buChar char="•"/>
            </a:pPr>
            <a:endParaRPr lang="en-US" sz="3200" dirty="0">
              <a:latin typeface="Times-Roman"/>
            </a:endParaRPr>
          </a:p>
          <a:p>
            <a:pPr marL="457200" indent="-457200">
              <a:buFont typeface="Arial" panose="020B0604020202020204" pitchFamily="34" charset="0"/>
              <a:buChar char="•"/>
            </a:pPr>
            <a:endParaRPr lang="en-US" sz="3000" dirty="0" smtClean="0">
              <a:latin typeface="Times-Roman"/>
            </a:endParaRPr>
          </a:p>
        </p:txBody>
      </p:sp>
      <p:pic>
        <p:nvPicPr>
          <p:cNvPr id="3" name="Picture 2"/>
          <p:cNvPicPr>
            <a:picLocks noChangeAspect="1"/>
          </p:cNvPicPr>
          <p:nvPr/>
        </p:nvPicPr>
        <p:blipFill>
          <a:blip r:embed="rId2"/>
          <a:stretch>
            <a:fillRect/>
          </a:stretch>
        </p:blipFill>
        <p:spPr>
          <a:xfrm>
            <a:off x="2047983" y="2923358"/>
            <a:ext cx="7975193" cy="2269743"/>
          </a:xfrm>
          <a:prstGeom prst="rect">
            <a:avLst/>
          </a:prstGeom>
          <a:ln w="38100">
            <a:solidFill>
              <a:schemeClr val="tx1"/>
            </a:solidFill>
          </a:ln>
        </p:spPr>
      </p:pic>
    </p:spTree>
    <p:extLst>
      <p:ext uri="{BB962C8B-B14F-4D97-AF65-F5344CB8AC3E}">
        <p14:creationId xmlns:p14="http://schemas.microsoft.com/office/powerpoint/2010/main" val="3780117607"/>
      </p:ext>
    </p:extLst>
  </p:cSld>
  <p:clrMapOvr>
    <a:masterClrMapping/>
  </p:clrMapOvr>
  <p:transition spd="med"/>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78</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Vision and Tracking: Multiscale image processing</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152401" y="1538229"/>
                <a:ext cx="11407140" cy="4348306"/>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Where </a:t>
                </a:r>
                <a:r>
                  <a:rPr lang="en-US" sz="3200" i="1" dirty="0">
                    <a:latin typeface="CMMI10"/>
                  </a:rPr>
                  <a:t>ξ</a:t>
                </a:r>
                <a:r>
                  <a:rPr lang="en-US" sz="3200" dirty="0">
                    <a:latin typeface="CMR10"/>
                  </a:rPr>
                  <a:t>(</a:t>
                </a:r>
                <a:r>
                  <a:rPr lang="en-US" sz="3200" i="1" dirty="0">
                    <a:latin typeface="CMMI10"/>
                  </a:rPr>
                  <a:t>s</a:t>
                </a:r>
                <a:r>
                  <a:rPr lang="en-US" sz="3200" dirty="0">
                    <a:latin typeface="CMR10"/>
                  </a:rPr>
                  <a:t>) </a:t>
                </a:r>
                <a:r>
                  <a:rPr lang="en-US" sz="3200" dirty="0">
                    <a:latin typeface="Times-Roman"/>
                  </a:rPr>
                  <a:t>is the sum to </a:t>
                </a:r>
                <a:r>
                  <a:rPr lang="en-US" sz="3200" i="1" dirty="0">
                    <a:latin typeface="CMMI10"/>
                  </a:rPr>
                  <a:t>s </a:t>
                </a:r>
                <a:r>
                  <a:rPr lang="en-US" sz="3200" dirty="0">
                    <a:latin typeface="Times-Roman"/>
                  </a:rPr>
                  <a:t>terms of the geometric progression</a:t>
                </a:r>
                <a:r>
                  <a:rPr lang="en-US" sz="3200" dirty="0" smtClean="0">
                    <a:latin typeface="Times-Roman"/>
                  </a:rPr>
                  <a:t>.</a:t>
                </a:r>
              </a:p>
              <a:p>
                <a:pPr marL="457200" indent="-457200" algn="just">
                  <a:buFont typeface="Arial" panose="020B0604020202020204" pitchFamily="34" charset="0"/>
                  <a:buChar char="•"/>
                </a:pPr>
                <a:r>
                  <a:rPr lang="en-US" sz="3200" dirty="0">
                    <a:latin typeface="Times-Roman"/>
                  </a:rPr>
                  <a:t>If </a:t>
                </a:r>
                <a:r>
                  <a:rPr lang="en-US" sz="3200" dirty="0" smtClean="0">
                    <a:latin typeface="Times-Roman"/>
                  </a:rPr>
                  <a:t>we partition </a:t>
                </a:r>
                <a:r>
                  <a:rPr lang="en-US" sz="3200" dirty="0">
                    <a:latin typeface="Times-Roman"/>
                  </a:rPr>
                  <a:t>this processing on the cluster with row stripes as we did before</a:t>
                </a:r>
                <a:r>
                  <a:rPr lang="en-US" sz="3200" dirty="0" smtClean="0">
                    <a:latin typeface="Times-Roman"/>
                  </a:rPr>
                  <a:t>,  we have a parallel calculation time of </a:t>
                </a:r>
                <a14:m>
                  <m:oMath xmlns:m="http://schemas.openxmlformats.org/officeDocument/2006/math">
                    <m:f>
                      <m:fPr>
                        <m:ctrlPr>
                          <a:rPr lang="en-US" sz="3200" i="1" smtClean="0">
                            <a:latin typeface="Cambria Math" panose="02040503050406030204" pitchFamily="18" charset="0"/>
                          </a:rPr>
                        </m:ctrlPr>
                      </m:fPr>
                      <m:num>
                        <m:r>
                          <a:rPr lang="en-US" sz="3200" b="0" i="1" smtClean="0">
                            <a:latin typeface="Cambria Math" panose="02040503050406030204" pitchFamily="18" charset="0"/>
                          </a:rPr>
                          <m:t>𝑛𝑚𝑋</m:t>
                        </m:r>
                        <m:r>
                          <m:rPr>
                            <m:nor/>
                          </m:rPr>
                          <a:rPr lang="en-US" sz="3200" i="1" dirty="0">
                            <a:latin typeface="CMMI10"/>
                          </a:rPr>
                          <m:t>ξ</m:t>
                        </m:r>
                        <m:r>
                          <m:rPr>
                            <m:nor/>
                          </m:rPr>
                          <a:rPr lang="en-US" sz="3200" dirty="0">
                            <a:latin typeface="CMR10"/>
                          </a:rPr>
                          <m:t>(</m:t>
                        </m:r>
                        <m:r>
                          <m:rPr>
                            <m:nor/>
                          </m:rPr>
                          <a:rPr lang="en-US" sz="3200" i="1" dirty="0">
                            <a:latin typeface="CMMI10"/>
                          </a:rPr>
                          <m:t>s</m:t>
                        </m:r>
                        <m:r>
                          <m:rPr>
                            <m:nor/>
                          </m:rPr>
                          <a:rPr lang="en-US" sz="3200" dirty="0">
                            <a:latin typeface="CMR10"/>
                          </a:rPr>
                          <m:t>)</m:t>
                        </m:r>
                      </m:num>
                      <m:den>
                        <m:r>
                          <a:rPr lang="en-US" sz="3200" b="0" i="1" smtClean="0">
                            <a:latin typeface="Cambria Math" panose="02040503050406030204" pitchFamily="18" charset="0"/>
                          </a:rPr>
                          <m:t>𝑃</m:t>
                        </m:r>
                      </m:den>
                    </m:f>
                  </m:oMath>
                </a14:m>
                <a:r>
                  <a:rPr lang="en-US" i="1" dirty="0" smtClean="0">
                    <a:latin typeface="CMMI8"/>
                  </a:rPr>
                  <a:t> </a:t>
                </a:r>
                <a:r>
                  <a:rPr lang="en-US" sz="3200" dirty="0">
                    <a:latin typeface="Times-Roman"/>
                  </a:rPr>
                  <a:t>since each processor </a:t>
                </a:r>
                <a:r>
                  <a:rPr lang="en-US" sz="3200" dirty="0" smtClean="0">
                    <a:latin typeface="Times-Roman"/>
                  </a:rPr>
                  <a:t>just does </a:t>
                </a:r>
                <a:r>
                  <a:rPr lang="en-US" sz="3200" dirty="0">
                    <a:latin typeface="Times-Roman"/>
                  </a:rPr>
                  <a:t>the processing for every scale on its row strip of the image in parallel</a:t>
                </a:r>
                <a:r>
                  <a:rPr lang="en-US" sz="3200" dirty="0" smtClean="0">
                    <a:latin typeface="Times-Roman"/>
                  </a:rPr>
                  <a:t>.</a:t>
                </a:r>
              </a:p>
              <a:p>
                <a:pPr marL="457200" indent="-457200" algn="just">
                  <a:buFont typeface="Arial" panose="020B0604020202020204" pitchFamily="34" charset="0"/>
                  <a:buChar char="•"/>
                </a:pPr>
                <a:r>
                  <a:rPr lang="en-US" sz="3200" dirty="0">
                    <a:latin typeface="Times-Roman"/>
                  </a:rPr>
                  <a:t>The communication time for this approach is the same as for the </a:t>
                </a:r>
                <a:r>
                  <a:rPr lang="en-US" sz="3200" dirty="0" smtClean="0">
                    <a:latin typeface="Times-Roman"/>
                  </a:rPr>
                  <a:t>previous single-scale</a:t>
                </a:r>
                <a:r>
                  <a:rPr lang="en-US" sz="3200" dirty="0">
                    <a:latin typeface="Times-Roman"/>
                  </a:rPr>
                  <a:t>, pixel-based operations.</a:t>
                </a:r>
                <a:endParaRPr lang="en-US" sz="3000" dirty="0" smtClean="0">
                  <a:latin typeface="Times-Roman"/>
                </a:endParaRPr>
              </a:p>
            </p:txBody>
          </p:sp>
        </mc:Choice>
        <mc:Fallback xmlns="">
          <p:sp>
            <p:nvSpPr>
              <p:cNvPr id="9" name="Rectangle 8"/>
              <p:cNvSpPr>
                <a:spLocks noRot="1" noChangeAspect="1" noMove="1" noResize="1" noEditPoints="1" noAdjustHandles="1" noChangeArrowheads="1" noChangeShapeType="1" noTextEdit="1"/>
              </p:cNvSpPr>
              <p:nvPr/>
            </p:nvSpPr>
            <p:spPr>
              <a:xfrm>
                <a:off x="152401" y="1538229"/>
                <a:ext cx="11407140" cy="4348306"/>
              </a:xfrm>
              <a:prstGeom prst="rect">
                <a:avLst/>
              </a:prstGeom>
              <a:blipFill>
                <a:blip r:embed="rId2"/>
                <a:stretch>
                  <a:fillRect l="-1229" t="-1821" r="-1336" b="-3501"/>
                </a:stretch>
              </a:blipFill>
            </p:spPr>
            <p:txBody>
              <a:bodyPr/>
              <a:lstStyle/>
              <a:p>
                <a:r>
                  <a:rPr lang="en-US">
                    <a:noFill/>
                  </a:rPr>
                  <a:t> </a:t>
                </a:r>
              </a:p>
            </p:txBody>
          </p:sp>
        </mc:Fallback>
      </mc:AlternateContent>
    </p:spTree>
    <p:extLst>
      <p:ext uri="{BB962C8B-B14F-4D97-AF65-F5344CB8AC3E}">
        <p14:creationId xmlns:p14="http://schemas.microsoft.com/office/powerpoint/2010/main" val="2709667207"/>
      </p:ext>
    </p:extLst>
  </p:cSld>
  <p:clrMapOvr>
    <a:masterClrMapping/>
  </p:clrMapOvr>
  <p:transition spd="med"/>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79</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3970318"/>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Each partition will process its scale in parallel, so the calculation time </a:t>
            </a:r>
            <a:r>
              <a:rPr lang="en-US" sz="3200" dirty="0" smtClean="0">
                <a:latin typeface="Times-Roman"/>
              </a:rPr>
              <a:t>in this </a:t>
            </a:r>
            <a:r>
              <a:rPr lang="en-US" sz="3200" dirty="0">
                <a:latin typeface="Times-Roman"/>
              </a:rPr>
              <a:t>case is the time for the largest scale (taking the longest time) to finish</a:t>
            </a:r>
            <a:r>
              <a:rPr lang="en-US" sz="3200" dirty="0" smtClean="0">
                <a:latin typeface="Times-Roman"/>
              </a:rPr>
              <a:t>:</a:t>
            </a:r>
          </a:p>
          <a:p>
            <a:pPr marL="457200" indent="-457200" algn="just">
              <a:buFont typeface="Arial" panose="020B0604020202020204" pitchFamily="34" charset="0"/>
              <a:buChar char="•"/>
            </a:pPr>
            <a:endParaRPr lang="en-US" sz="3200" dirty="0">
              <a:latin typeface="Times-Roman"/>
            </a:endParaRPr>
          </a:p>
          <a:p>
            <a:pPr marL="457200" indent="-457200" algn="just">
              <a:buFont typeface="Arial" panose="020B0604020202020204" pitchFamily="34" charset="0"/>
              <a:buChar char="•"/>
            </a:pPr>
            <a:endParaRPr lang="en-US" sz="3000" dirty="0" smtClean="0">
              <a:latin typeface="Times-Roman"/>
            </a:endParaRPr>
          </a:p>
          <a:p>
            <a:pPr marL="457200" indent="-457200" algn="just">
              <a:buFont typeface="Arial" panose="020B0604020202020204" pitchFamily="34" charset="0"/>
              <a:buChar char="•"/>
            </a:pPr>
            <a:endParaRPr lang="en-US" sz="3000" dirty="0">
              <a:latin typeface="Times-Roman"/>
            </a:endParaRPr>
          </a:p>
          <a:p>
            <a:pPr marL="457200" indent="-457200">
              <a:buFont typeface="Arial" panose="020B0604020202020204" pitchFamily="34" charset="0"/>
              <a:buChar char="•"/>
            </a:pPr>
            <a:r>
              <a:rPr lang="en-US" sz="3200" dirty="0">
                <a:latin typeface="Times-Roman"/>
              </a:rPr>
              <a:t>This is the same as for the simpler row stripe partition, so there is </a:t>
            </a:r>
            <a:r>
              <a:rPr lang="en-US" sz="3200" dirty="0" smtClean="0">
                <a:latin typeface="Times-Roman"/>
              </a:rPr>
              <a:t>no calculation </a:t>
            </a:r>
            <a:r>
              <a:rPr lang="en-US" sz="3200" dirty="0">
                <a:latin typeface="Times-Roman"/>
              </a:rPr>
              <a:t>advantage in partitioning by scale.</a:t>
            </a:r>
            <a:endParaRPr lang="en-US" sz="3000" dirty="0" smtClean="0">
              <a:latin typeface="Times-Roman"/>
            </a:endParaRPr>
          </a:p>
        </p:txBody>
      </p:sp>
      <p:pic>
        <p:nvPicPr>
          <p:cNvPr id="3" name="Picture 2"/>
          <p:cNvPicPr>
            <a:picLocks noChangeAspect="1"/>
          </p:cNvPicPr>
          <p:nvPr/>
        </p:nvPicPr>
        <p:blipFill>
          <a:blip r:embed="rId2"/>
          <a:stretch>
            <a:fillRect/>
          </a:stretch>
        </p:blipFill>
        <p:spPr>
          <a:xfrm>
            <a:off x="3555679" y="3319078"/>
            <a:ext cx="4294358" cy="1139734"/>
          </a:xfrm>
          <a:prstGeom prst="rect">
            <a:avLst/>
          </a:prstGeom>
        </p:spPr>
      </p:pic>
    </p:spTree>
    <p:extLst>
      <p:ext uri="{BB962C8B-B14F-4D97-AF65-F5344CB8AC3E}">
        <p14:creationId xmlns:p14="http://schemas.microsoft.com/office/powerpoint/2010/main" val="1350047646"/>
      </p:ext>
    </p:extLst>
  </p:cSld>
  <p:clrMapOvr>
    <a:masterClrMapping/>
  </p:clrMapOvr>
  <p:transition spd="med"/>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80</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5170646"/>
          </a:xfrm>
          <a:prstGeom prst="rect">
            <a:avLst/>
          </a:prstGeom>
        </p:spPr>
        <p:txBody>
          <a:bodyPr wrap="square">
            <a:spAutoFit/>
          </a:bodyPr>
          <a:lstStyle/>
          <a:p>
            <a:pPr algn="just"/>
            <a:r>
              <a:rPr lang="en-US" sz="3000" b="1" dirty="0" smtClean="0">
                <a:solidFill>
                  <a:srgbClr val="FF0000"/>
                </a:solidFill>
                <a:latin typeface="Times-Roman"/>
              </a:rPr>
              <a:t>Video Tracking</a:t>
            </a:r>
          </a:p>
          <a:p>
            <a:pPr marL="457200" indent="-457200" algn="just">
              <a:buFont typeface="Arial" panose="020B0604020202020204" pitchFamily="34" charset="0"/>
              <a:buChar char="•"/>
            </a:pPr>
            <a:r>
              <a:rPr lang="en-US" sz="3000" dirty="0">
                <a:latin typeface="Times-Roman"/>
              </a:rPr>
              <a:t>Tracking is the process of monitoring and predicting the motion or </a:t>
            </a:r>
            <a:r>
              <a:rPr lang="en-US" sz="3000" dirty="0" smtClean="0">
                <a:latin typeface="Times-Roman"/>
              </a:rPr>
              <a:t>location of </a:t>
            </a:r>
            <a:r>
              <a:rPr lang="en-US" sz="3000" dirty="0">
                <a:latin typeface="Times-Roman"/>
              </a:rPr>
              <a:t>a target object using sensory </a:t>
            </a:r>
            <a:r>
              <a:rPr lang="en-US" sz="3000" dirty="0" smtClean="0">
                <a:latin typeface="Times-Roman"/>
              </a:rPr>
              <a:t>information.</a:t>
            </a:r>
          </a:p>
          <a:p>
            <a:pPr marL="457200" indent="-457200" algn="just">
              <a:buFont typeface="Arial" panose="020B0604020202020204" pitchFamily="34" charset="0"/>
              <a:buChar char="•"/>
            </a:pPr>
            <a:r>
              <a:rPr lang="en-US" sz="3000" dirty="0" smtClean="0">
                <a:latin typeface="Times-Roman"/>
              </a:rPr>
              <a:t>A robot </a:t>
            </a:r>
            <a:r>
              <a:rPr lang="en-US" sz="3000" dirty="0">
                <a:latin typeface="Times-Roman"/>
              </a:rPr>
              <a:t>may need to track significant aspects of its environment.</a:t>
            </a:r>
          </a:p>
          <a:p>
            <a:pPr marL="457200" indent="-457200" algn="just">
              <a:buFont typeface="Arial" panose="020B0604020202020204" pitchFamily="34" charset="0"/>
              <a:buChar char="•"/>
            </a:pPr>
            <a:r>
              <a:rPr lang="en-US" sz="3000" dirty="0">
                <a:latin typeface="Times-Roman"/>
              </a:rPr>
              <a:t>For example, a robot operating with a team of other robots may need </a:t>
            </a:r>
            <a:r>
              <a:rPr lang="en-US" sz="3000" dirty="0" smtClean="0">
                <a:latin typeface="Times-Roman"/>
              </a:rPr>
              <a:t>to track </a:t>
            </a:r>
            <a:r>
              <a:rPr lang="en-US" sz="3000" dirty="0">
                <a:latin typeface="Times-Roman"/>
              </a:rPr>
              <a:t>the locations of its team members</a:t>
            </a:r>
            <a:r>
              <a:rPr lang="en-US" sz="3000" dirty="0" smtClean="0">
                <a:latin typeface="Times-Roman"/>
              </a:rPr>
              <a:t>.</a:t>
            </a:r>
          </a:p>
          <a:p>
            <a:pPr marL="457200" indent="-457200" algn="just">
              <a:buFont typeface="Arial" panose="020B0604020202020204" pitchFamily="34" charset="0"/>
              <a:buChar char="•"/>
            </a:pPr>
            <a:r>
              <a:rPr lang="en-US" sz="3000" dirty="0">
                <a:latin typeface="Times-Roman"/>
              </a:rPr>
              <a:t>We will look at one approach </a:t>
            </a:r>
            <a:r>
              <a:rPr lang="en-US" sz="3000" dirty="0" smtClean="0">
                <a:latin typeface="Times-Roman"/>
              </a:rPr>
              <a:t>to visual </a:t>
            </a:r>
            <a:r>
              <a:rPr lang="en-US" sz="3000" dirty="0">
                <a:latin typeface="Times-Roman"/>
              </a:rPr>
              <a:t>tracking. </a:t>
            </a:r>
            <a:endParaRPr lang="en-US" sz="3000" dirty="0" smtClean="0">
              <a:latin typeface="Times-Roman"/>
            </a:endParaRPr>
          </a:p>
          <a:p>
            <a:pPr marL="457200" indent="-457200" algn="just">
              <a:buFont typeface="Arial" panose="020B0604020202020204" pitchFamily="34" charset="0"/>
              <a:buChar char="•"/>
            </a:pPr>
            <a:r>
              <a:rPr lang="en-US" sz="3000" dirty="0" smtClean="0">
                <a:latin typeface="Times-Roman"/>
              </a:rPr>
              <a:t>A </a:t>
            </a:r>
            <a:r>
              <a:rPr lang="en-US" sz="3000" b="1" dirty="0">
                <a:latin typeface="Times-Roman"/>
              </a:rPr>
              <a:t>robot looking at visual landmarks </a:t>
            </a:r>
            <a:r>
              <a:rPr lang="en-US" sz="3000" dirty="0">
                <a:latin typeface="Times-Roman"/>
              </a:rPr>
              <a:t>for place </a:t>
            </a:r>
            <a:r>
              <a:rPr lang="en-US" sz="3000" dirty="0" smtClean="0">
                <a:latin typeface="Times-Roman"/>
              </a:rPr>
              <a:t>recognition.</a:t>
            </a:r>
            <a:endParaRPr lang="en-US" sz="3000" dirty="0">
              <a:latin typeface="Times-Roman"/>
            </a:endParaRPr>
          </a:p>
          <a:p>
            <a:pPr marL="457200" indent="-457200" algn="just">
              <a:buFont typeface="Arial" panose="020B0604020202020204" pitchFamily="34" charset="0"/>
              <a:buChar char="•"/>
            </a:pPr>
            <a:r>
              <a:rPr lang="en-US" sz="3000" dirty="0" smtClean="0">
                <a:latin typeface="Times-Roman"/>
              </a:rPr>
              <a:t>For </a:t>
            </a:r>
            <a:r>
              <a:rPr lang="en-US" sz="3000" dirty="0">
                <a:latin typeface="Times-Roman"/>
              </a:rPr>
              <a:t>example may need to track the relative location of </a:t>
            </a:r>
            <a:r>
              <a:rPr lang="en-US" sz="3000" dirty="0" smtClean="0">
                <a:latin typeface="Times-Roman"/>
              </a:rPr>
              <a:t>a landmark </a:t>
            </a:r>
            <a:r>
              <a:rPr lang="en-US" sz="3000" dirty="0">
                <a:latin typeface="Times-Roman"/>
              </a:rPr>
              <a:t>as the robot moves in the area around the landmark.</a:t>
            </a:r>
            <a:endParaRPr lang="en-US" sz="3000" dirty="0" smtClean="0">
              <a:latin typeface="Times-Roman"/>
            </a:endParaRPr>
          </a:p>
        </p:txBody>
      </p:sp>
    </p:spTree>
    <p:extLst>
      <p:ext uri="{BB962C8B-B14F-4D97-AF65-F5344CB8AC3E}">
        <p14:creationId xmlns:p14="http://schemas.microsoft.com/office/powerpoint/2010/main" val="2567224276"/>
      </p:ext>
    </p:extLst>
  </p:cSld>
  <p:clrMapOvr>
    <a:masterClrMapping/>
  </p:clrMapOvr>
  <p:transition spd="med"/>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81</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4708981"/>
          </a:xfrm>
          <a:prstGeom prst="rect">
            <a:avLst/>
          </a:prstGeom>
        </p:spPr>
        <p:txBody>
          <a:bodyPr wrap="square">
            <a:spAutoFit/>
          </a:bodyPr>
          <a:lstStyle/>
          <a:p>
            <a:pPr algn="just"/>
            <a:r>
              <a:rPr lang="en-US" sz="3000" b="1" dirty="0" smtClean="0">
                <a:solidFill>
                  <a:srgbClr val="FF0000"/>
                </a:solidFill>
                <a:latin typeface="Times-Roman"/>
              </a:rPr>
              <a:t>Video Tracking</a:t>
            </a:r>
          </a:p>
          <a:p>
            <a:pPr marL="457200" indent="-457200" algn="just">
              <a:buFont typeface="Arial" panose="020B0604020202020204" pitchFamily="34" charset="0"/>
              <a:buChar char="•"/>
            </a:pPr>
            <a:r>
              <a:rPr lang="en-US" sz="3000" dirty="0">
                <a:solidFill>
                  <a:schemeClr val="bg1">
                    <a:lumMod val="25000"/>
                  </a:schemeClr>
                </a:solidFill>
                <a:latin typeface="Times-Roman"/>
              </a:rPr>
              <a:t>Let’s say the robot is keeping track of targets t1 through </a:t>
            </a:r>
            <a:r>
              <a:rPr lang="en-US" sz="3000" dirty="0" err="1">
                <a:solidFill>
                  <a:schemeClr val="bg1">
                    <a:lumMod val="25000"/>
                  </a:schemeClr>
                </a:solidFill>
                <a:latin typeface="Times-Roman"/>
              </a:rPr>
              <a:t>tn</a:t>
            </a:r>
            <a:r>
              <a:rPr lang="en-US" sz="3000" dirty="0">
                <a:solidFill>
                  <a:schemeClr val="bg1">
                    <a:lumMod val="25000"/>
                  </a:schemeClr>
                </a:solidFill>
                <a:latin typeface="Times-Roman"/>
              </a:rPr>
              <a:t> up to </a:t>
            </a:r>
            <a:r>
              <a:rPr lang="en-US" sz="3000" dirty="0" smtClean="0">
                <a:solidFill>
                  <a:schemeClr val="bg1">
                    <a:lumMod val="25000"/>
                  </a:schemeClr>
                </a:solidFill>
                <a:latin typeface="Times-Roman"/>
              </a:rPr>
              <a:t>some point </a:t>
            </a:r>
            <a:r>
              <a:rPr lang="en-US" sz="3000" dirty="0">
                <a:solidFill>
                  <a:schemeClr val="bg1">
                    <a:lumMod val="25000"/>
                  </a:schemeClr>
                </a:solidFill>
                <a:latin typeface="Times-Roman"/>
              </a:rPr>
              <a:t>in time</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An image taken at the next point in time will yield </a:t>
            </a:r>
            <a:r>
              <a:rPr lang="en-US" sz="3000" dirty="0" smtClean="0">
                <a:solidFill>
                  <a:schemeClr val="bg1">
                    <a:lumMod val="25000"/>
                  </a:schemeClr>
                </a:solidFill>
                <a:latin typeface="Times-Roman"/>
              </a:rPr>
              <a:t>some candidate </a:t>
            </a:r>
            <a:r>
              <a:rPr lang="en-US" sz="3000" dirty="0">
                <a:solidFill>
                  <a:schemeClr val="bg1">
                    <a:lumMod val="25000"/>
                  </a:schemeClr>
                </a:solidFill>
                <a:latin typeface="Times-Roman"/>
              </a:rPr>
              <a:t>target locations, c1 through cm</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Data </a:t>
            </a:r>
            <a:r>
              <a:rPr lang="en-US" sz="3000" dirty="0" smtClean="0">
                <a:solidFill>
                  <a:schemeClr val="bg1">
                    <a:lumMod val="25000"/>
                  </a:schemeClr>
                </a:solidFill>
                <a:latin typeface="Times-Roman"/>
              </a:rPr>
              <a:t>association </a:t>
            </a:r>
            <a:r>
              <a:rPr lang="en-US" sz="3000" dirty="0">
                <a:solidFill>
                  <a:schemeClr val="bg1">
                    <a:lumMod val="25000"/>
                  </a:schemeClr>
                </a:solidFill>
                <a:latin typeface="Times-Roman"/>
              </a:rPr>
              <a:t>is </a:t>
            </a:r>
            <a:r>
              <a:rPr lang="en-US" sz="3000" dirty="0" smtClean="0">
                <a:solidFill>
                  <a:schemeClr val="bg1">
                    <a:lumMod val="25000"/>
                  </a:schemeClr>
                </a:solidFill>
                <a:latin typeface="Times-Roman"/>
              </a:rPr>
              <a:t>the process </a:t>
            </a:r>
            <a:r>
              <a:rPr lang="en-US" sz="3000" dirty="0">
                <a:solidFill>
                  <a:schemeClr val="bg1">
                    <a:lumMod val="25000"/>
                  </a:schemeClr>
                </a:solidFill>
                <a:latin typeface="Times-Roman"/>
              </a:rPr>
              <a:t>of determining which candidates should be associated with </a:t>
            </a:r>
            <a:r>
              <a:rPr lang="en-US" sz="3000" dirty="0" smtClean="0">
                <a:solidFill>
                  <a:schemeClr val="bg1">
                    <a:lumMod val="25000"/>
                  </a:schemeClr>
                </a:solidFill>
                <a:latin typeface="Times-Roman"/>
              </a:rPr>
              <a:t>which targets.</a:t>
            </a:r>
          </a:p>
          <a:p>
            <a:pPr marL="457200" indent="-457200" algn="just">
              <a:buFont typeface="Arial" panose="020B0604020202020204" pitchFamily="34" charset="0"/>
              <a:buChar char="•"/>
            </a:pPr>
            <a:r>
              <a:rPr lang="en-US" sz="3000" dirty="0">
                <a:solidFill>
                  <a:schemeClr val="bg1">
                    <a:lumMod val="25000"/>
                  </a:schemeClr>
                </a:solidFill>
                <a:latin typeface="Times-Roman"/>
              </a:rPr>
              <a:t>Let us suppose we have a function s(t, c) that captures how </a:t>
            </a:r>
            <a:r>
              <a:rPr lang="en-US" sz="3000" dirty="0" smtClean="0">
                <a:solidFill>
                  <a:schemeClr val="bg1">
                    <a:lumMod val="25000"/>
                  </a:schemeClr>
                </a:solidFill>
                <a:latin typeface="Times-Roman"/>
              </a:rPr>
              <a:t>similar the </a:t>
            </a:r>
            <a:r>
              <a:rPr lang="en-US" sz="3000" dirty="0">
                <a:solidFill>
                  <a:schemeClr val="bg1">
                    <a:lumMod val="25000"/>
                  </a:schemeClr>
                </a:solidFill>
                <a:latin typeface="Times-Roman"/>
              </a:rPr>
              <a:t>candidate is to the target.</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p:txBody>
      </p:sp>
    </p:spTree>
    <p:extLst>
      <p:ext uri="{BB962C8B-B14F-4D97-AF65-F5344CB8AC3E}">
        <p14:creationId xmlns:p14="http://schemas.microsoft.com/office/powerpoint/2010/main" val="1011026481"/>
      </p:ext>
    </p:extLst>
  </p:cSld>
  <p:clrMapOvr>
    <a:masterClrMapping/>
  </p:clrMapOvr>
  <p:transition spd="med"/>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82</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4708981"/>
          </a:xfrm>
          <a:prstGeom prst="rect">
            <a:avLst/>
          </a:prstGeom>
        </p:spPr>
        <p:txBody>
          <a:bodyPr wrap="square">
            <a:spAutoFit/>
          </a:bodyPr>
          <a:lstStyle/>
          <a:p>
            <a:pPr algn="just"/>
            <a:r>
              <a:rPr lang="en-US" sz="3000" b="1" dirty="0" smtClean="0">
                <a:solidFill>
                  <a:srgbClr val="FF0000"/>
                </a:solidFill>
                <a:latin typeface="Times-Roman"/>
              </a:rPr>
              <a:t>Video Tracking</a:t>
            </a:r>
          </a:p>
          <a:p>
            <a:pPr marL="457200" indent="-457200" algn="just">
              <a:buFont typeface="Arial" panose="020B0604020202020204" pitchFamily="34" charset="0"/>
              <a:buChar char="•"/>
            </a:pPr>
            <a:r>
              <a:rPr lang="en-US" sz="3000" dirty="0">
                <a:solidFill>
                  <a:schemeClr val="bg1">
                    <a:lumMod val="25000"/>
                  </a:schemeClr>
                </a:solidFill>
                <a:latin typeface="Times-Roman"/>
              </a:rPr>
              <a:t>In Nearest Neighbor data association, </a:t>
            </a:r>
            <a:r>
              <a:rPr lang="en-US" sz="3000" dirty="0" smtClean="0">
                <a:solidFill>
                  <a:schemeClr val="bg1">
                    <a:lumMod val="25000"/>
                  </a:schemeClr>
                </a:solidFill>
                <a:latin typeface="Times-Roman"/>
              </a:rPr>
              <a:t>the correct </a:t>
            </a:r>
            <a:r>
              <a:rPr lang="en-US" sz="3000" dirty="0">
                <a:solidFill>
                  <a:schemeClr val="bg1">
                    <a:lumMod val="25000"/>
                  </a:schemeClr>
                </a:solidFill>
                <a:latin typeface="Times-Roman"/>
              </a:rPr>
              <a:t>data association for each target is chosen </a:t>
            </a:r>
            <a:r>
              <a:rPr lang="en-US" sz="3000" dirty="0" smtClean="0">
                <a:solidFill>
                  <a:schemeClr val="bg1">
                    <a:lumMod val="25000"/>
                  </a:schemeClr>
                </a:solidFill>
                <a:latin typeface="Times-Roman"/>
              </a:rPr>
              <a:t>as,</a:t>
            </a: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a:solidFill>
                  <a:schemeClr val="bg1">
                    <a:lumMod val="25000"/>
                  </a:schemeClr>
                </a:solidFill>
                <a:latin typeface="Times-Roman"/>
              </a:rPr>
              <a:t>Of course, the candidate that appears to be the best at one point in </a:t>
            </a:r>
            <a:r>
              <a:rPr lang="en-US" sz="3000" dirty="0" smtClean="0">
                <a:solidFill>
                  <a:schemeClr val="bg1">
                    <a:lumMod val="25000"/>
                  </a:schemeClr>
                </a:solidFill>
                <a:latin typeface="Times-Roman"/>
              </a:rPr>
              <a:t>time might </a:t>
            </a:r>
            <a:r>
              <a:rPr lang="en-US" sz="3000" dirty="0">
                <a:solidFill>
                  <a:schemeClr val="bg1">
                    <a:lumMod val="25000"/>
                  </a:schemeClr>
                </a:solidFill>
                <a:latin typeface="Times-Roman"/>
              </a:rPr>
              <a:t>later turn out to be incorrect</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b="1" dirty="0">
                <a:solidFill>
                  <a:schemeClr val="bg1">
                    <a:lumMod val="25000"/>
                  </a:schemeClr>
                </a:solidFill>
                <a:latin typeface="Times-Roman"/>
              </a:rPr>
              <a:t>Tracking algorithms</a:t>
            </a:r>
            <a:r>
              <a:rPr lang="en-US" sz="3000" dirty="0">
                <a:solidFill>
                  <a:schemeClr val="bg1">
                    <a:lumMod val="25000"/>
                  </a:schemeClr>
                </a:solidFill>
                <a:latin typeface="Times-Roman"/>
              </a:rPr>
              <a:t> such as the </a:t>
            </a:r>
            <a:r>
              <a:rPr lang="en-US" sz="3000" b="1" dirty="0" smtClean="0">
                <a:solidFill>
                  <a:srgbClr val="0070C0"/>
                </a:solidFill>
                <a:latin typeface="Times-Roman"/>
              </a:rPr>
              <a:t>Joint Probability </a:t>
            </a:r>
            <a:r>
              <a:rPr lang="en-US" sz="3000" b="1" dirty="0">
                <a:solidFill>
                  <a:srgbClr val="0070C0"/>
                </a:solidFill>
                <a:latin typeface="Times-Roman"/>
              </a:rPr>
              <a:t>Data Association Filter (JPDAF</a:t>
            </a:r>
            <a:r>
              <a:rPr lang="en-US" sz="3000" b="1" dirty="0" smtClean="0">
                <a:solidFill>
                  <a:srgbClr val="0070C0"/>
                </a:solidFill>
                <a:latin typeface="Times-Roman"/>
              </a:rPr>
              <a:t>) </a:t>
            </a:r>
            <a:r>
              <a:rPr lang="en-US" sz="3000" b="1" dirty="0">
                <a:solidFill>
                  <a:srgbClr val="0070C0"/>
                </a:solidFill>
                <a:latin typeface="Times-Roman"/>
              </a:rPr>
              <a:t>and Multiple </a:t>
            </a:r>
            <a:r>
              <a:rPr lang="en-US" sz="3000" b="1" dirty="0" smtClean="0">
                <a:solidFill>
                  <a:srgbClr val="0070C0"/>
                </a:solidFill>
                <a:latin typeface="Times-Roman"/>
              </a:rPr>
              <a:t>Hypothesis Tracking </a:t>
            </a:r>
            <a:r>
              <a:rPr lang="en-US" sz="3000" b="1" dirty="0">
                <a:solidFill>
                  <a:srgbClr val="0070C0"/>
                </a:solidFill>
                <a:latin typeface="Times-Roman"/>
              </a:rPr>
              <a:t>(</a:t>
            </a:r>
            <a:r>
              <a:rPr lang="en-US" sz="3000" b="1" dirty="0" smtClean="0">
                <a:solidFill>
                  <a:srgbClr val="0070C0"/>
                </a:solidFill>
                <a:latin typeface="Times-Roman"/>
              </a:rPr>
              <a:t>MHT) </a:t>
            </a:r>
            <a:r>
              <a:rPr lang="en-US" sz="3000" dirty="0" smtClean="0">
                <a:solidFill>
                  <a:schemeClr val="bg1">
                    <a:lumMod val="25000"/>
                  </a:schemeClr>
                </a:solidFill>
                <a:latin typeface="Times-Roman"/>
              </a:rPr>
              <a:t>address </a:t>
            </a:r>
            <a:r>
              <a:rPr lang="en-US" sz="3000" dirty="0">
                <a:solidFill>
                  <a:schemeClr val="bg1">
                    <a:lumMod val="25000"/>
                  </a:schemeClr>
                </a:solidFill>
                <a:latin typeface="Times-Roman"/>
              </a:rPr>
              <a:t>this issue.</a:t>
            </a:r>
            <a:endParaRPr lang="en-US" sz="3000" dirty="0" smtClean="0">
              <a:solidFill>
                <a:schemeClr val="bg1">
                  <a:lumMod val="25000"/>
                </a:schemeClr>
              </a:solidFill>
              <a:latin typeface="Times-Roman"/>
            </a:endParaRPr>
          </a:p>
        </p:txBody>
      </p:sp>
      <p:pic>
        <p:nvPicPr>
          <p:cNvPr id="3" name="Picture 2"/>
          <p:cNvPicPr>
            <a:picLocks noChangeAspect="1"/>
          </p:cNvPicPr>
          <p:nvPr/>
        </p:nvPicPr>
        <p:blipFill>
          <a:blip r:embed="rId2"/>
          <a:stretch>
            <a:fillRect/>
          </a:stretch>
        </p:blipFill>
        <p:spPr>
          <a:xfrm>
            <a:off x="4199671" y="2624353"/>
            <a:ext cx="3067196" cy="862650"/>
          </a:xfrm>
          <a:prstGeom prst="rect">
            <a:avLst/>
          </a:prstGeom>
          <a:ln w="28575">
            <a:solidFill>
              <a:schemeClr val="tx1"/>
            </a:solidFill>
          </a:ln>
        </p:spPr>
      </p:pic>
    </p:spTree>
    <p:extLst>
      <p:ext uri="{BB962C8B-B14F-4D97-AF65-F5344CB8AC3E}">
        <p14:creationId xmlns:p14="http://schemas.microsoft.com/office/powerpoint/2010/main" val="3499423798"/>
      </p:ext>
    </p:extLst>
  </p:cSld>
  <p:clrMapOvr>
    <a:masterClrMapping/>
  </p:clrMapOvr>
  <p:transition spd="med"/>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83</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2400657"/>
          </a:xfrm>
          <a:prstGeom prst="rect">
            <a:avLst/>
          </a:prstGeom>
        </p:spPr>
        <p:txBody>
          <a:bodyPr wrap="square">
            <a:spAutoFit/>
          </a:bodyPr>
          <a:lstStyle/>
          <a:p>
            <a:pPr algn="just"/>
            <a:r>
              <a:rPr lang="en-US" sz="3000" b="1" dirty="0" smtClean="0">
                <a:solidFill>
                  <a:srgbClr val="FF0000"/>
                </a:solidFill>
                <a:latin typeface="Times-Roman"/>
              </a:rPr>
              <a:t>Video Tracking</a:t>
            </a:r>
          </a:p>
          <a:p>
            <a:pPr marL="457200" indent="-457200" algn="just">
              <a:buFont typeface="Arial" panose="020B0604020202020204" pitchFamily="34" charset="0"/>
              <a:buChar char="•"/>
            </a:pPr>
            <a:r>
              <a:rPr lang="en-US" sz="3000" dirty="0" err="1">
                <a:solidFill>
                  <a:schemeClr val="bg1">
                    <a:lumMod val="25000"/>
                  </a:schemeClr>
                </a:solidFill>
                <a:latin typeface="Times-Roman"/>
              </a:rPr>
              <a:t>Isard</a:t>
            </a:r>
            <a:r>
              <a:rPr lang="en-US" sz="3000" dirty="0">
                <a:solidFill>
                  <a:schemeClr val="bg1">
                    <a:lumMod val="25000"/>
                  </a:schemeClr>
                </a:solidFill>
                <a:latin typeface="Times-Roman"/>
              </a:rPr>
              <a:t> and Blake </a:t>
            </a:r>
            <a:r>
              <a:rPr lang="en-US" sz="3000" dirty="0" smtClean="0">
                <a:solidFill>
                  <a:schemeClr val="bg1">
                    <a:lumMod val="25000"/>
                  </a:schemeClr>
                </a:solidFill>
                <a:latin typeface="Times-Roman"/>
              </a:rPr>
              <a:t>introduced an </a:t>
            </a:r>
            <a:r>
              <a:rPr lang="en-US" sz="3000" dirty="0">
                <a:solidFill>
                  <a:schemeClr val="bg1">
                    <a:lumMod val="25000"/>
                  </a:schemeClr>
                </a:solidFill>
                <a:latin typeface="Times-Roman"/>
              </a:rPr>
              <a:t>approach to tracking called </a:t>
            </a:r>
            <a:r>
              <a:rPr lang="en-US" sz="3000" b="1" dirty="0">
                <a:solidFill>
                  <a:srgbClr val="00B050"/>
                </a:solidFill>
                <a:latin typeface="Times-Roman"/>
              </a:rPr>
              <a:t>Condensation</a:t>
            </a:r>
            <a:r>
              <a:rPr lang="en-US" sz="3000" dirty="0">
                <a:solidFill>
                  <a:schemeClr val="bg1">
                    <a:lumMod val="25000"/>
                  </a:schemeClr>
                </a:solidFill>
                <a:latin typeface="Times-Roman"/>
              </a:rPr>
              <a:t> that is based on </a:t>
            </a:r>
            <a:r>
              <a:rPr lang="en-US" sz="3000" dirty="0" smtClean="0">
                <a:solidFill>
                  <a:schemeClr val="bg1">
                    <a:lumMod val="25000"/>
                  </a:schemeClr>
                </a:solidFill>
                <a:latin typeface="Times-Roman"/>
              </a:rPr>
              <a:t>particle filters</a:t>
            </a:r>
            <a:r>
              <a:rPr lang="en-US" sz="3000" dirty="0">
                <a:solidFill>
                  <a:schemeClr val="bg1">
                    <a:lumMod val="25000"/>
                  </a:schemeClr>
                </a:solidFill>
                <a:latin typeface="Times-Roman"/>
              </a:rPr>
              <a:t>.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A </a:t>
            </a:r>
            <a:r>
              <a:rPr lang="en-US" sz="3000" dirty="0">
                <a:solidFill>
                  <a:schemeClr val="bg1">
                    <a:lumMod val="25000"/>
                  </a:schemeClr>
                </a:solidFill>
                <a:latin typeface="Times-Roman"/>
              </a:rPr>
              <a:t>particle filter approach is particularly appropriate for </a:t>
            </a:r>
            <a:r>
              <a:rPr lang="en-US" sz="3000" dirty="0" smtClean="0">
                <a:solidFill>
                  <a:schemeClr val="bg1">
                    <a:lumMod val="25000"/>
                  </a:schemeClr>
                </a:solidFill>
                <a:latin typeface="Times-Roman"/>
              </a:rPr>
              <a:t>parallel implementation.</a:t>
            </a:r>
          </a:p>
        </p:txBody>
      </p:sp>
    </p:spTree>
    <p:extLst>
      <p:ext uri="{BB962C8B-B14F-4D97-AF65-F5344CB8AC3E}">
        <p14:creationId xmlns:p14="http://schemas.microsoft.com/office/powerpoint/2010/main" val="3561458116"/>
      </p:ext>
    </p:extLst>
  </p:cSld>
  <p:clrMapOvr>
    <a:masterClrMapping/>
  </p:clrMapOvr>
  <p:transition spd="med"/>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84</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4708981"/>
          </a:xfrm>
          <a:prstGeom prst="rect">
            <a:avLst/>
          </a:prstGeom>
        </p:spPr>
        <p:txBody>
          <a:bodyPr wrap="square">
            <a:spAutoFit/>
          </a:bodyPr>
          <a:lstStyle/>
          <a:p>
            <a:pPr algn="just"/>
            <a:r>
              <a:rPr lang="en-US" sz="3000" b="1" dirty="0" smtClean="0">
                <a:solidFill>
                  <a:srgbClr val="FF0000"/>
                </a:solidFill>
                <a:latin typeface="Times-Roman"/>
              </a:rPr>
              <a:t>2.5.1 Spatial Histograms</a:t>
            </a:r>
          </a:p>
          <a:p>
            <a:pPr marL="457200" indent="-457200" algn="just">
              <a:buFont typeface="Arial" panose="020B0604020202020204" pitchFamily="34" charset="0"/>
              <a:buChar char="•"/>
            </a:pPr>
            <a:r>
              <a:rPr lang="en-US" sz="3000" dirty="0">
                <a:solidFill>
                  <a:schemeClr val="bg1">
                    <a:lumMod val="25000"/>
                  </a:schemeClr>
                </a:solidFill>
                <a:latin typeface="Times-Roman"/>
              </a:rPr>
              <a:t>A histogram is a measurement of the frequencies with which pixel </a:t>
            </a:r>
            <a:r>
              <a:rPr lang="en-US" sz="3000" dirty="0" smtClean="0">
                <a:solidFill>
                  <a:schemeClr val="bg1">
                    <a:lumMod val="25000"/>
                  </a:schemeClr>
                </a:solidFill>
                <a:latin typeface="Times-Roman"/>
              </a:rPr>
              <a:t>values appear </a:t>
            </a:r>
            <a:r>
              <a:rPr lang="en-US" sz="3000" dirty="0">
                <a:solidFill>
                  <a:schemeClr val="bg1">
                    <a:lumMod val="25000"/>
                  </a:schemeClr>
                </a:solidFill>
                <a:latin typeface="Times-Roman"/>
              </a:rPr>
              <a:t>in an image.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Lets </a:t>
            </a:r>
            <a:r>
              <a:rPr lang="en-US" sz="3000" dirty="0">
                <a:solidFill>
                  <a:schemeClr val="bg1">
                    <a:lumMod val="25000"/>
                  </a:schemeClr>
                </a:solidFill>
                <a:latin typeface="Times-Roman"/>
              </a:rPr>
              <a:t>us consider a gray level image, that is, an </a:t>
            </a:r>
            <a:r>
              <a:rPr lang="en-US" sz="3000" dirty="0" smtClean="0">
                <a:solidFill>
                  <a:schemeClr val="bg1">
                    <a:lumMod val="25000"/>
                  </a:schemeClr>
                </a:solidFill>
                <a:latin typeface="Times-Roman"/>
              </a:rPr>
              <a:t>image with </a:t>
            </a:r>
            <a:r>
              <a:rPr lang="en-US" sz="3000" dirty="0">
                <a:solidFill>
                  <a:schemeClr val="bg1">
                    <a:lumMod val="25000"/>
                  </a:schemeClr>
                </a:solidFill>
                <a:latin typeface="Times-Roman"/>
              </a:rPr>
              <a:t>just one color </a:t>
            </a:r>
            <a:r>
              <a:rPr lang="en-US" sz="3000" dirty="0" smtClean="0">
                <a:solidFill>
                  <a:schemeClr val="bg1">
                    <a:lumMod val="25000"/>
                  </a:schemeClr>
                </a:solidFill>
                <a:latin typeface="Times-Roman"/>
              </a:rPr>
              <a:t>channel. </a:t>
            </a:r>
          </a:p>
          <a:p>
            <a:pPr marL="457200" indent="-457200" algn="just">
              <a:buFont typeface="Arial" panose="020B0604020202020204" pitchFamily="34" charset="0"/>
              <a:buChar char="•"/>
            </a:pPr>
            <a:r>
              <a:rPr lang="en-US" sz="3000" dirty="0" smtClean="0">
                <a:solidFill>
                  <a:schemeClr val="bg1">
                    <a:lumMod val="25000"/>
                  </a:schemeClr>
                </a:solidFill>
                <a:latin typeface="Times-Roman"/>
              </a:rPr>
              <a:t>Let </a:t>
            </a:r>
            <a:r>
              <a:rPr lang="en-US" sz="3000" dirty="0">
                <a:solidFill>
                  <a:schemeClr val="bg1">
                    <a:lumMod val="25000"/>
                  </a:schemeClr>
                </a:solidFill>
                <a:latin typeface="Times-Roman"/>
              </a:rPr>
              <a:t>I : P → V be a function that </a:t>
            </a:r>
            <a:r>
              <a:rPr lang="en-US" sz="3000" dirty="0" smtClean="0">
                <a:solidFill>
                  <a:schemeClr val="bg1">
                    <a:lumMod val="25000"/>
                  </a:schemeClr>
                </a:solidFill>
                <a:latin typeface="Times-Roman"/>
              </a:rPr>
              <a:t>returns the </a:t>
            </a:r>
            <a:r>
              <a:rPr lang="en-US" sz="3000" dirty="0">
                <a:solidFill>
                  <a:schemeClr val="bg1">
                    <a:lumMod val="25000"/>
                  </a:schemeClr>
                </a:solidFill>
                <a:latin typeface="Times-Roman"/>
              </a:rPr>
              <a:t>value v ∈ V of a pixel at a location p ∈ P in the image</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smtClean="0">
                <a:solidFill>
                  <a:schemeClr val="bg1">
                    <a:lumMod val="25000"/>
                  </a:schemeClr>
                </a:solidFill>
                <a:latin typeface="Times-Roman"/>
              </a:rPr>
              <a:t>The histogram </a:t>
            </a:r>
            <a:r>
              <a:rPr lang="en-US" sz="3000" dirty="0">
                <a:solidFill>
                  <a:schemeClr val="bg1">
                    <a:lumMod val="25000"/>
                  </a:schemeClr>
                </a:solidFill>
                <a:latin typeface="Times-Roman"/>
              </a:rPr>
              <a:t>of I captures the number of times each pixel value occurs </a:t>
            </a:r>
            <a:r>
              <a:rPr lang="en-US" sz="3000" dirty="0" smtClean="0">
                <a:solidFill>
                  <a:schemeClr val="bg1">
                    <a:lumMod val="25000"/>
                  </a:schemeClr>
                </a:solidFill>
                <a:latin typeface="Times-Roman"/>
              </a:rPr>
              <a:t>in the </a:t>
            </a:r>
            <a:r>
              <a:rPr lang="en-US" sz="3000" dirty="0">
                <a:solidFill>
                  <a:schemeClr val="bg1">
                    <a:lumMod val="25000"/>
                  </a:schemeClr>
                </a:solidFill>
                <a:latin typeface="Times-Roman"/>
              </a:rPr>
              <a:t>range of the function</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Consider a set B of equivalence classes on </a:t>
            </a:r>
            <a:r>
              <a:rPr lang="en-US" sz="3000" dirty="0" smtClean="0">
                <a:solidFill>
                  <a:schemeClr val="bg1">
                    <a:lumMod val="25000"/>
                  </a:schemeClr>
                </a:solidFill>
                <a:latin typeface="Times-Roman"/>
              </a:rPr>
              <a:t>V.</a:t>
            </a:r>
          </a:p>
        </p:txBody>
      </p:sp>
    </p:spTree>
    <p:extLst>
      <p:ext uri="{BB962C8B-B14F-4D97-AF65-F5344CB8AC3E}">
        <p14:creationId xmlns:p14="http://schemas.microsoft.com/office/powerpoint/2010/main" val="3786256178"/>
      </p:ext>
    </p:extLst>
  </p:cSld>
  <p:clrMapOvr>
    <a:masterClrMapping/>
  </p:clrMapOvr>
  <p:transition spd="med"/>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85</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29699" y="1162852"/>
                <a:ext cx="11407140" cy="5632311"/>
              </a:xfrm>
              <a:prstGeom prst="rect">
                <a:avLst/>
              </a:prstGeom>
            </p:spPr>
            <p:txBody>
              <a:bodyPr wrap="square">
                <a:spAutoFit/>
              </a:bodyPr>
              <a:lstStyle/>
              <a:p>
                <a:pPr algn="just"/>
                <a:r>
                  <a:rPr lang="en-US" sz="3000" b="1" dirty="0">
                    <a:solidFill>
                      <a:srgbClr val="FF0000"/>
                    </a:solidFill>
                    <a:latin typeface="Times-Roman"/>
                  </a:rPr>
                  <a:t>Spatial Histograms</a:t>
                </a:r>
              </a:p>
              <a:p>
                <a:pPr marL="457200" indent="-457200" algn="just">
                  <a:buFont typeface="Arial" panose="020B0604020202020204" pitchFamily="34" charset="0"/>
                  <a:buChar char="•"/>
                </a:pPr>
                <a:r>
                  <a:rPr lang="en-US" sz="3000" dirty="0" smtClean="0">
                    <a:solidFill>
                      <a:schemeClr val="bg1">
                        <a:lumMod val="25000"/>
                      </a:schemeClr>
                    </a:solidFill>
                    <a:latin typeface="Times-Roman"/>
                  </a:rPr>
                  <a:t>A </a:t>
                </a:r>
                <a:r>
                  <a:rPr lang="en-US" sz="3000" dirty="0">
                    <a:solidFill>
                      <a:schemeClr val="bg1">
                        <a:lumMod val="25000"/>
                      </a:schemeClr>
                    </a:solidFill>
                    <a:latin typeface="Times-Roman"/>
                  </a:rPr>
                  <a:t>histogram of I, written </a:t>
                </a:r>
                <a14:m>
                  <m:oMath xmlns:m="http://schemas.openxmlformats.org/officeDocument/2006/math">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h</m:t>
                        </m:r>
                      </m:e>
                      <m:sub>
                        <m:r>
                          <a:rPr lang="en-US" sz="3000" b="0" i="1" smtClean="0">
                            <a:solidFill>
                              <a:schemeClr val="bg1">
                                <a:lumMod val="25000"/>
                              </a:schemeClr>
                            </a:solidFill>
                            <a:latin typeface="Cambria Math" panose="02040503050406030204" pitchFamily="18" charset="0"/>
                          </a:rPr>
                          <m:t>𝐼</m:t>
                        </m:r>
                      </m:sub>
                    </m:sSub>
                  </m:oMath>
                </a14:m>
                <a:r>
                  <a:rPr lang="en-US" sz="3000" dirty="0" smtClean="0">
                    <a:solidFill>
                      <a:schemeClr val="bg1">
                        <a:lumMod val="25000"/>
                      </a:schemeClr>
                    </a:solidFill>
                    <a:latin typeface="Times-Roman"/>
                  </a:rPr>
                  <a:t>, </a:t>
                </a:r>
                <a:r>
                  <a:rPr lang="en-US" sz="3000" dirty="0">
                    <a:solidFill>
                      <a:schemeClr val="bg1">
                        <a:lumMod val="25000"/>
                      </a:schemeClr>
                    </a:solidFill>
                    <a:latin typeface="Times-Roman"/>
                  </a:rPr>
                  <a:t>maps B to the set {0, . . . , |P|} such </a:t>
                </a:r>
                <a:r>
                  <a:rPr lang="en-US" sz="3000" dirty="0" smtClean="0">
                    <a:solidFill>
                      <a:schemeClr val="bg1">
                        <a:lumMod val="25000"/>
                      </a:schemeClr>
                    </a:solidFill>
                    <a:latin typeface="Times-Roman"/>
                  </a:rPr>
                  <a:t>that </a:t>
                </a:r>
                <a14:m>
                  <m:oMath xmlns:m="http://schemas.openxmlformats.org/officeDocument/2006/math">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h</m:t>
                        </m:r>
                      </m:e>
                      <m:sub>
                        <m:r>
                          <a:rPr lang="en-US" sz="3000" b="0" i="1" smtClean="0">
                            <a:solidFill>
                              <a:schemeClr val="bg1">
                                <a:lumMod val="25000"/>
                              </a:schemeClr>
                            </a:solidFill>
                            <a:latin typeface="Cambria Math" panose="02040503050406030204" pitchFamily="18" charset="0"/>
                          </a:rPr>
                          <m:t>𝐼</m:t>
                        </m:r>
                      </m:sub>
                    </m:sSub>
                    <m:r>
                      <a:rPr lang="en-US" sz="3000" b="0" i="1" smtClean="0">
                        <a:solidFill>
                          <a:schemeClr val="bg1">
                            <a:lumMod val="25000"/>
                          </a:schemeClr>
                        </a:solidFill>
                        <a:latin typeface="Cambria Math" panose="02040503050406030204" pitchFamily="18" charset="0"/>
                      </a:rPr>
                      <m:t>(</m:t>
                    </m:r>
                    <m:r>
                      <a:rPr lang="en-US" sz="3000" b="0" i="1" smtClean="0">
                        <a:solidFill>
                          <a:schemeClr val="bg1">
                            <a:lumMod val="25000"/>
                          </a:schemeClr>
                        </a:solidFill>
                        <a:latin typeface="Cambria Math" panose="02040503050406030204" pitchFamily="18" charset="0"/>
                      </a:rPr>
                      <m:t>𝑏</m:t>
                    </m:r>
                    <m:r>
                      <a:rPr lang="en-US" sz="3000" b="0" i="1" smtClean="0">
                        <a:solidFill>
                          <a:schemeClr val="bg1">
                            <a:lumMod val="25000"/>
                          </a:schemeClr>
                        </a:solidFill>
                        <a:latin typeface="Cambria Math" panose="02040503050406030204" pitchFamily="18" charset="0"/>
                      </a:rPr>
                      <m:t>)</m:t>
                    </m:r>
                  </m:oMath>
                </a14:m>
                <a:r>
                  <a:rPr lang="en-US" sz="3000" dirty="0" smtClean="0">
                    <a:solidFill>
                      <a:schemeClr val="bg1">
                        <a:lumMod val="25000"/>
                      </a:schemeClr>
                    </a:solidFill>
                    <a:latin typeface="Times-Roman"/>
                  </a:rPr>
                  <a:t>=</a:t>
                </a:r>
                <a14:m>
                  <m:oMath xmlns:m="http://schemas.openxmlformats.org/officeDocument/2006/math">
                    <m:sSub>
                      <m:sSubPr>
                        <m:ctrlPr>
                          <a:rPr lang="en-US" sz="3000" i="1" dirty="0" smtClean="0">
                            <a:solidFill>
                              <a:schemeClr val="bg1">
                                <a:lumMod val="25000"/>
                              </a:schemeClr>
                            </a:solidFill>
                            <a:latin typeface="Cambria Math" panose="02040503050406030204" pitchFamily="18" charset="0"/>
                          </a:rPr>
                        </m:ctrlPr>
                      </m:sSubPr>
                      <m:e>
                        <m:r>
                          <a:rPr lang="en-US" sz="3000" b="0" i="1" dirty="0" smtClean="0">
                            <a:solidFill>
                              <a:schemeClr val="bg1">
                                <a:lumMod val="25000"/>
                              </a:schemeClr>
                            </a:solidFill>
                            <a:latin typeface="Cambria Math" panose="02040503050406030204" pitchFamily="18" charset="0"/>
                          </a:rPr>
                          <m:t>𝑛</m:t>
                        </m:r>
                      </m:e>
                      <m:sub>
                        <m:r>
                          <a:rPr lang="en-US" sz="3000" b="0" i="1" dirty="0" smtClean="0">
                            <a:solidFill>
                              <a:schemeClr val="bg1">
                                <a:lumMod val="25000"/>
                              </a:schemeClr>
                            </a:solidFill>
                            <a:latin typeface="Cambria Math" panose="02040503050406030204" pitchFamily="18" charset="0"/>
                          </a:rPr>
                          <m:t>𝑏</m:t>
                        </m:r>
                      </m:sub>
                    </m:sSub>
                    <m:r>
                      <a:rPr lang="en-US" sz="3000" b="0" i="1" dirty="0" smtClean="0">
                        <a:solidFill>
                          <a:schemeClr val="bg1">
                            <a:lumMod val="25000"/>
                          </a:schemeClr>
                        </a:solidFill>
                        <a:latin typeface="Cambria Math" panose="02040503050406030204" pitchFamily="18" charset="0"/>
                      </a:rPr>
                      <m:t> </m:t>
                    </m:r>
                  </m:oMath>
                </a14:m>
                <a:r>
                  <a:rPr lang="en-US" sz="3000" dirty="0" smtClean="0">
                    <a:solidFill>
                      <a:schemeClr val="bg1">
                        <a:lumMod val="25000"/>
                      </a:schemeClr>
                    </a:solidFill>
                    <a:latin typeface="Times-Roman"/>
                  </a:rPr>
                  <a:t>and</a:t>
                </a:r>
              </a:p>
              <a:p>
                <a:pPr marL="457200" indent="-457200" algn="just">
                  <a:buFont typeface="Arial" panose="020B0604020202020204" pitchFamily="34" charset="0"/>
                  <a:buChar char="•"/>
                </a:pPr>
                <a:endParaRPr lang="en-US" sz="3000" dirty="0">
                  <a:solidFill>
                    <a:schemeClr val="bg1">
                      <a:lumMod val="25000"/>
                    </a:schemeClr>
                  </a:solidFill>
                  <a:latin typeface="Times-Roman"/>
                </a:endParaRP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endParaRPr lang="en-US" sz="3000" dirty="0">
                  <a:solidFill>
                    <a:schemeClr val="bg1">
                      <a:lumMod val="25000"/>
                    </a:schemeClr>
                  </a:solidFill>
                  <a:latin typeface="Times-Roman"/>
                </a:endParaRPr>
              </a:p>
              <a:p>
                <a:pPr marL="457200" indent="-457200" algn="just">
                  <a:buFont typeface="Arial" panose="020B0604020202020204" pitchFamily="34" charset="0"/>
                  <a:buChar char="•"/>
                </a:pPr>
                <a:r>
                  <a:rPr lang="en-US" sz="3000" dirty="0">
                    <a:solidFill>
                      <a:schemeClr val="bg1">
                        <a:lumMod val="25000"/>
                      </a:schemeClr>
                    </a:solidFill>
                    <a:latin typeface="Times-Roman"/>
                  </a:rPr>
                  <a:t>where </a:t>
                </a:r>
                <a:r>
                  <a:rPr lang="en-US" sz="3000" dirty="0" err="1">
                    <a:solidFill>
                      <a:schemeClr val="bg1">
                        <a:lumMod val="25000"/>
                      </a:schemeClr>
                    </a:solidFill>
                    <a:latin typeface="Times-Roman"/>
                  </a:rPr>
                  <a:t>δib</a:t>
                </a:r>
                <a:r>
                  <a:rPr lang="en-US" sz="3000" dirty="0">
                    <a:solidFill>
                      <a:schemeClr val="bg1">
                        <a:lumMod val="25000"/>
                      </a:schemeClr>
                    </a:solidFill>
                    <a:latin typeface="Times-Roman"/>
                  </a:rPr>
                  <a:t> is equal to 1 </a:t>
                </a:r>
                <a:r>
                  <a:rPr lang="en-US" sz="3000" dirty="0" err="1">
                    <a:solidFill>
                      <a:schemeClr val="bg1">
                        <a:lumMod val="25000"/>
                      </a:schemeClr>
                    </a:solidFill>
                    <a:latin typeface="Times-Roman"/>
                  </a:rPr>
                  <a:t>iff</a:t>
                </a:r>
                <a:r>
                  <a:rPr lang="en-US" sz="3000" dirty="0">
                    <a:solidFill>
                      <a:schemeClr val="bg1">
                        <a:lumMod val="25000"/>
                      </a:schemeClr>
                    </a:solidFill>
                    <a:latin typeface="Times-Roman"/>
                  </a:rPr>
                  <a:t> the </a:t>
                </a:r>
                <a:r>
                  <a:rPr lang="en-US" sz="3000" dirty="0" err="1">
                    <a:solidFill>
                      <a:schemeClr val="bg1">
                        <a:lumMod val="25000"/>
                      </a:schemeClr>
                    </a:solidFill>
                    <a:latin typeface="Times-Roman"/>
                  </a:rPr>
                  <a:t>ith</a:t>
                </a:r>
                <a:r>
                  <a:rPr lang="en-US" sz="3000" dirty="0">
                    <a:solidFill>
                      <a:schemeClr val="bg1">
                        <a:lumMod val="25000"/>
                      </a:schemeClr>
                    </a:solidFill>
                    <a:latin typeface="Times-Roman"/>
                  </a:rPr>
                  <a:t> pixel is in the </a:t>
                </a:r>
                <a:r>
                  <a:rPr lang="en-US" sz="3000" dirty="0" err="1">
                    <a:solidFill>
                      <a:schemeClr val="bg1">
                        <a:lumMod val="25000"/>
                      </a:schemeClr>
                    </a:solidFill>
                    <a:latin typeface="Times-Roman"/>
                  </a:rPr>
                  <a:t>bth</a:t>
                </a:r>
                <a:r>
                  <a:rPr lang="en-US" sz="3000" dirty="0">
                    <a:solidFill>
                      <a:schemeClr val="bg1">
                        <a:lumMod val="25000"/>
                      </a:schemeClr>
                    </a:solidFill>
                    <a:latin typeface="Times-Roman"/>
                  </a:rPr>
                  <a:t> equivalence class </a:t>
                </a:r>
                <a:r>
                  <a:rPr lang="en-US" sz="3000" dirty="0" smtClean="0">
                    <a:solidFill>
                      <a:schemeClr val="bg1">
                        <a:lumMod val="25000"/>
                      </a:schemeClr>
                    </a:solidFill>
                    <a:latin typeface="Times-Roman"/>
                  </a:rPr>
                  <a:t>and 0 </a:t>
                </a:r>
                <a:r>
                  <a:rPr lang="en-US" sz="3000" dirty="0">
                    <a:solidFill>
                      <a:schemeClr val="bg1">
                        <a:lumMod val="25000"/>
                      </a:schemeClr>
                    </a:solidFill>
                    <a:latin typeface="Times-Roman"/>
                  </a:rPr>
                  <a:t>otherwise, and η is a normalizing constant</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The equivalence classes </a:t>
                </a:r>
                <a:r>
                  <a:rPr lang="en-US" sz="3000" dirty="0" smtClean="0">
                    <a:solidFill>
                      <a:schemeClr val="bg1">
                        <a:lumMod val="25000"/>
                      </a:schemeClr>
                    </a:solidFill>
                    <a:latin typeface="Times-Roman"/>
                  </a:rPr>
                  <a:t>are called </a:t>
                </a:r>
                <a:r>
                  <a:rPr lang="en-US" sz="3000" b="1" dirty="0">
                    <a:solidFill>
                      <a:schemeClr val="bg1">
                        <a:lumMod val="25000"/>
                      </a:schemeClr>
                    </a:solidFill>
                    <a:latin typeface="Times-Roman"/>
                  </a:rPr>
                  <a:t>bins or buckets</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Figure </a:t>
                </a:r>
                <a:r>
                  <a:rPr lang="en-US" sz="3000" dirty="0" smtClean="0">
                    <a:solidFill>
                      <a:schemeClr val="bg1">
                        <a:lumMod val="25000"/>
                      </a:schemeClr>
                    </a:solidFill>
                    <a:latin typeface="Times-Roman"/>
                  </a:rPr>
                  <a:t>2.5.1(a</a:t>
                </a:r>
                <a:r>
                  <a:rPr lang="en-US" sz="3000" dirty="0">
                    <a:solidFill>
                      <a:schemeClr val="bg1">
                        <a:lumMod val="25000"/>
                      </a:schemeClr>
                    </a:solidFill>
                    <a:latin typeface="Times-Roman"/>
                  </a:rPr>
                  <a:t>) shows a histogram of a </a:t>
                </a:r>
                <a:r>
                  <a:rPr lang="en-US" sz="3000" dirty="0" smtClean="0">
                    <a:solidFill>
                      <a:schemeClr val="bg1">
                        <a:lumMod val="25000"/>
                      </a:schemeClr>
                    </a:solidFill>
                    <a:latin typeface="Times-Roman"/>
                  </a:rPr>
                  <a:t>gray-level scene</a:t>
                </a:r>
                <a:r>
                  <a:rPr lang="en-US" sz="3000" dirty="0">
                    <a:solidFill>
                      <a:schemeClr val="bg1">
                        <a:lumMod val="25000"/>
                      </a:schemeClr>
                    </a:solidFill>
                    <a:latin typeface="Times-Roman"/>
                  </a:rPr>
                  <a:t>, shown in Figure </a:t>
                </a:r>
                <a:r>
                  <a:rPr lang="en-US" sz="3000" dirty="0" smtClean="0">
                    <a:solidFill>
                      <a:schemeClr val="bg1">
                        <a:lumMod val="25000"/>
                      </a:schemeClr>
                    </a:solidFill>
                    <a:latin typeface="Times-Roman"/>
                  </a:rPr>
                  <a:t>2.5.1(b</a:t>
                </a:r>
                <a:r>
                  <a:rPr lang="en-US" sz="3000" dirty="0">
                    <a:solidFill>
                      <a:schemeClr val="bg1">
                        <a:lumMod val="25000"/>
                      </a:schemeClr>
                    </a:solidFill>
                    <a:latin typeface="Times-Roman"/>
                  </a:rPr>
                  <a:t>).</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p:txBody>
          </p:sp>
        </mc:Choice>
        <mc:Fallback xmlns="">
          <p:sp>
            <p:nvSpPr>
              <p:cNvPr id="9" name="Rectangle 8"/>
              <p:cNvSpPr>
                <a:spLocks noRot="1" noChangeAspect="1" noMove="1" noResize="1" noEditPoints="1" noAdjustHandles="1" noChangeArrowheads="1" noChangeShapeType="1" noTextEdit="1"/>
              </p:cNvSpPr>
              <p:nvPr/>
            </p:nvSpPr>
            <p:spPr>
              <a:xfrm>
                <a:off x="29699" y="1162852"/>
                <a:ext cx="11407140" cy="5632311"/>
              </a:xfrm>
              <a:prstGeom prst="rect">
                <a:avLst/>
              </a:prstGeom>
              <a:blipFill>
                <a:blip r:embed="rId2"/>
                <a:stretch>
                  <a:fillRect l="-1283" t="-1407" r="-1229"/>
                </a:stretch>
              </a:blipFill>
            </p:spPr>
            <p:txBody>
              <a:bodyPr/>
              <a:lstStyle/>
              <a:p>
                <a:r>
                  <a:rPr lang="en-US">
                    <a:noFill/>
                  </a:rPr>
                  <a:t> </a:t>
                </a:r>
              </a:p>
            </p:txBody>
          </p:sp>
        </mc:Fallback>
      </mc:AlternateContent>
      <p:pic>
        <p:nvPicPr>
          <p:cNvPr id="3" name="Picture 2"/>
          <p:cNvPicPr>
            <a:picLocks noChangeAspect="1"/>
          </p:cNvPicPr>
          <p:nvPr/>
        </p:nvPicPr>
        <p:blipFill>
          <a:blip r:embed="rId3"/>
          <a:stretch>
            <a:fillRect/>
          </a:stretch>
        </p:blipFill>
        <p:spPr>
          <a:xfrm>
            <a:off x="4416724" y="2161980"/>
            <a:ext cx="2551462" cy="1407170"/>
          </a:xfrm>
          <a:prstGeom prst="rect">
            <a:avLst/>
          </a:prstGeom>
          <a:ln w="28575">
            <a:solidFill>
              <a:schemeClr val="tx1"/>
            </a:solidFill>
          </a:ln>
        </p:spPr>
      </p:pic>
    </p:spTree>
    <p:extLst>
      <p:ext uri="{BB962C8B-B14F-4D97-AF65-F5344CB8AC3E}">
        <p14:creationId xmlns:p14="http://schemas.microsoft.com/office/powerpoint/2010/main" val="1344511219"/>
      </p:ext>
    </p:extLst>
  </p:cSld>
  <p:clrMapOvr>
    <a:masterClrMapping/>
  </p:clrMapOvr>
  <p:transition spd="med"/>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86</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6767892" y="1887989"/>
            <a:ext cx="4954438" cy="1384995"/>
          </a:xfrm>
          <a:prstGeom prst="rect">
            <a:avLst/>
          </a:prstGeom>
        </p:spPr>
        <p:txBody>
          <a:bodyPr wrap="square">
            <a:spAutoFit/>
          </a:bodyPr>
          <a:lstStyle/>
          <a:p>
            <a:pPr algn="just"/>
            <a:r>
              <a:rPr lang="en-US" sz="2800" b="1" dirty="0" smtClean="0"/>
              <a:t>Fig. 2.5.1 (a</a:t>
            </a:r>
            <a:r>
              <a:rPr lang="en-US" sz="2800" b="1" dirty="0"/>
              <a:t>) Image histogram (freq. vs. pixel value) (b) of gray-level image.</a:t>
            </a:r>
            <a:endParaRPr lang="en-US" sz="4000" b="1" dirty="0" smtClean="0">
              <a:solidFill>
                <a:schemeClr val="bg1">
                  <a:lumMod val="25000"/>
                </a:schemeClr>
              </a:solidFill>
              <a:latin typeface="Times-Roman"/>
            </a:endParaRPr>
          </a:p>
        </p:txBody>
      </p:sp>
      <p:pic>
        <p:nvPicPr>
          <p:cNvPr id="3" name="Picture 2"/>
          <p:cNvPicPr>
            <a:picLocks noChangeAspect="1"/>
          </p:cNvPicPr>
          <p:nvPr/>
        </p:nvPicPr>
        <p:blipFill>
          <a:blip r:embed="rId2"/>
          <a:stretch>
            <a:fillRect/>
          </a:stretch>
        </p:blipFill>
        <p:spPr>
          <a:xfrm>
            <a:off x="741872" y="904060"/>
            <a:ext cx="5653190" cy="5759603"/>
          </a:xfrm>
          <a:prstGeom prst="rect">
            <a:avLst/>
          </a:prstGeom>
          <a:ln w="28575">
            <a:solidFill>
              <a:schemeClr val="tx1"/>
            </a:solidFill>
          </a:ln>
        </p:spPr>
      </p:pic>
    </p:spTree>
    <p:extLst>
      <p:ext uri="{BB962C8B-B14F-4D97-AF65-F5344CB8AC3E}">
        <p14:creationId xmlns:p14="http://schemas.microsoft.com/office/powerpoint/2010/main" val="284707231"/>
      </p:ext>
    </p:extLst>
  </p:cSld>
  <p:clrMapOvr>
    <a:masterClrMapping/>
  </p:clrMapOvr>
  <p:transition spd="med"/>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87</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467682" y="910972"/>
            <a:ext cx="11407140" cy="563231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The horizontal axis is the bin number.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This histogram </a:t>
            </a:r>
            <a:r>
              <a:rPr lang="en-US" sz="3000" dirty="0">
                <a:solidFill>
                  <a:schemeClr val="bg1">
                    <a:lumMod val="25000"/>
                  </a:schemeClr>
                </a:solidFill>
                <a:latin typeface="Times-Roman"/>
              </a:rPr>
              <a:t>has 32 bins (so each bin covers a range of 8 consecutive </a:t>
            </a:r>
            <a:r>
              <a:rPr lang="en-US" sz="3000" dirty="0" smtClean="0">
                <a:solidFill>
                  <a:schemeClr val="bg1">
                    <a:lumMod val="25000"/>
                  </a:schemeClr>
                </a:solidFill>
                <a:latin typeface="Times-Roman"/>
              </a:rPr>
              <a:t>pixel values</a:t>
            </a:r>
            <a:r>
              <a:rPr lang="en-US" sz="3000" dirty="0">
                <a:solidFill>
                  <a:schemeClr val="bg1">
                    <a:lumMod val="25000"/>
                  </a:schemeClr>
                </a:solidFill>
                <a:latin typeface="Times-Roman"/>
              </a:rPr>
              <a:t>).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The </a:t>
            </a:r>
            <a:r>
              <a:rPr lang="en-US" sz="3000" dirty="0">
                <a:solidFill>
                  <a:schemeClr val="bg1">
                    <a:lumMod val="25000"/>
                  </a:schemeClr>
                </a:solidFill>
                <a:latin typeface="Times-Roman"/>
              </a:rPr>
              <a:t>vertical axis is the normalized frequency.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The </a:t>
            </a:r>
            <a:r>
              <a:rPr lang="en-US" sz="3000" dirty="0">
                <a:solidFill>
                  <a:schemeClr val="bg1">
                    <a:lumMod val="25000"/>
                  </a:schemeClr>
                </a:solidFill>
                <a:latin typeface="Times-Roman"/>
              </a:rPr>
              <a:t>large peak </a:t>
            </a:r>
            <a:r>
              <a:rPr lang="en-US" sz="3000" dirty="0" smtClean="0">
                <a:solidFill>
                  <a:schemeClr val="bg1">
                    <a:lumMod val="25000"/>
                  </a:schemeClr>
                </a:solidFill>
                <a:latin typeface="Times-Roman"/>
              </a:rPr>
              <a:t>is due </a:t>
            </a:r>
            <a:r>
              <a:rPr lang="en-US" sz="3000" dirty="0">
                <a:solidFill>
                  <a:schemeClr val="bg1">
                    <a:lumMod val="25000"/>
                  </a:schemeClr>
                </a:solidFill>
                <a:latin typeface="Times-Roman"/>
              </a:rPr>
              <a:t>to the dark ground in the bottom of the image in Figure </a:t>
            </a:r>
            <a:r>
              <a:rPr lang="en-US" sz="3000" dirty="0" smtClean="0">
                <a:solidFill>
                  <a:schemeClr val="bg1">
                    <a:lumMod val="25000"/>
                  </a:schemeClr>
                </a:solidFill>
                <a:latin typeface="Times-Roman"/>
              </a:rPr>
              <a:t>2.5.1(b</a:t>
            </a:r>
            <a:r>
              <a:rPr lang="en-US" sz="3000" dirty="0">
                <a:solidFill>
                  <a:schemeClr val="bg1">
                    <a:lumMod val="25000"/>
                  </a:schemeClr>
                </a:solidFill>
                <a:latin typeface="Times-Roman"/>
              </a:rPr>
              <a:t>).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The two </a:t>
            </a:r>
            <a:r>
              <a:rPr lang="en-US" sz="3000" dirty="0">
                <a:solidFill>
                  <a:schemeClr val="bg1">
                    <a:lumMod val="25000"/>
                  </a:schemeClr>
                </a:solidFill>
                <a:latin typeface="Times-Roman"/>
              </a:rPr>
              <a:t>smaller peaks are the bright garage doors in the image</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A histogram for a region within an image will return the same </a:t>
            </a:r>
            <a:r>
              <a:rPr lang="en-US" sz="3000" dirty="0" smtClean="0">
                <a:solidFill>
                  <a:schemeClr val="bg1">
                    <a:lumMod val="25000"/>
                  </a:schemeClr>
                </a:solidFill>
                <a:latin typeface="Times-Roman"/>
              </a:rPr>
              <a:t>information no </a:t>
            </a:r>
            <a:r>
              <a:rPr lang="en-US" sz="3000" dirty="0">
                <a:solidFill>
                  <a:schemeClr val="bg1">
                    <a:lumMod val="25000"/>
                  </a:schemeClr>
                </a:solidFill>
                <a:latin typeface="Times-Roman"/>
              </a:rPr>
              <a:t>matter the orientation or translation of that region in the image, </a:t>
            </a:r>
            <a:r>
              <a:rPr lang="en-US" sz="3000" dirty="0" smtClean="0">
                <a:solidFill>
                  <a:schemeClr val="bg1">
                    <a:lumMod val="25000"/>
                  </a:schemeClr>
                </a:solidFill>
                <a:latin typeface="Times-Roman"/>
              </a:rPr>
              <a:t>and if </a:t>
            </a:r>
            <a:r>
              <a:rPr lang="en-US" sz="3000" dirty="0">
                <a:solidFill>
                  <a:schemeClr val="bg1">
                    <a:lumMod val="25000"/>
                  </a:schemeClr>
                </a:solidFill>
                <a:latin typeface="Times-Roman"/>
              </a:rPr>
              <a:t>the region size can be normalized, then the histogram will be </a:t>
            </a:r>
            <a:r>
              <a:rPr lang="en-US" sz="3000" dirty="0" smtClean="0">
                <a:solidFill>
                  <a:schemeClr val="bg1">
                    <a:lumMod val="25000"/>
                  </a:schemeClr>
                </a:solidFill>
                <a:latin typeface="Times-Roman"/>
              </a:rPr>
              <a:t>invariant to </a:t>
            </a:r>
            <a:r>
              <a:rPr lang="en-US" sz="3000" dirty="0">
                <a:solidFill>
                  <a:schemeClr val="bg1">
                    <a:lumMod val="25000"/>
                  </a:schemeClr>
                </a:solidFill>
                <a:latin typeface="Times-Roman"/>
              </a:rPr>
              <a:t>scale as well.</a:t>
            </a:r>
            <a:endParaRPr lang="en-US" sz="3000" dirty="0" smtClean="0">
              <a:solidFill>
                <a:schemeClr val="bg1">
                  <a:lumMod val="25000"/>
                </a:schemeClr>
              </a:solidFill>
              <a:latin typeface="Times-Roman"/>
            </a:endParaRPr>
          </a:p>
        </p:txBody>
      </p:sp>
    </p:spTree>
    <p:extLst>
      <p:ext uri="{BB962C8B-B14F-4D97-AF65-F5344CB8AC3E}">
        <p14:creationId xmlns:p14="http://schemas.microsoft.com/office/powerpoint/2010/main" val="1090788308"/>
      </p:ext>
    </p:extLst>
  </p:cSld>
  <p:clrMapOvr>
    <a:masterClrMapping/>
  </p:clrMapOvr>
  <p:transition spd="med"/>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88</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1162852"/>
            <a:ext cx="11407140" cy="470898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Because the location, rotation and scale of a </a:t>
            </a:r>
            <a:r>
              <a:rPr lang="en-US" sz="3000" dirty="0" smtClean="0">
                <a:solidFill>
                  <a:schemeClr val="bg1">
                    <a:lumMod val="25000"/>
                  </a:schemeClr>
                </a:solidFill>
                <a:latin typeface="Times-Roman"/>
              </a:rPr>
              <a:t>landmark will </a:t>
            </a:r>
            <a:r>
              <a:rPr lang="en-US" sz="3000" dirty="0">
                <a:solidFill>
                  <a:schemeClr val="bg1">
                    <a:lumMod val="25000"/>
                  </a:schemeClr>
                </a:solidFill>
                <a:latin typeface="Times-Roman"/>
              </a:rPr>
              <a:t>change in an image due to perspective and robot motion, </a:t>
            </a:r>
            <a:r>
              <a:rPr lang="en-US" sz="3000" dirty="0" smtClean="0">
                <a:solidFill>
                  <a:schemeClr val="bg1">
                    <a:lumMod val="25000"/>
                  </a:schemeClr>
                </a:solidFill>
                <a:latin typeface="Times-Roman"/>
              </a:rPr>
              <a:t>invariance to </a:t>
            </a:r>
            <a:r>
              <a:rPr lang="en-US" sz="3000" dirty="0">
                <a:solidFill>
                  <a:schemeClr val="bg1">
                    <a:lumMod val="25000"/>
                  </a:schemeClr>
                </a:solidFill>
                <a:latin typeface="Times-Roman"/>
              </a:rPr>
              <a:t>these changes is a good feature for a landmark tracking </a:t>
            </a:r>
            <a:r>
              <a:rPr lang="en-US" sz="3000" dirty="0" smtClean="0">
                <a:solidFill>
                  <a:schemeClr val="bg1">
                    <a:lumMod val="25000"/>
                  </a:schemeClr>
                </a:solidFill>
                <a:latin typeface="Times-Roman"/>
              </a:rPr>
              <a:t>similarity measurement.</a:t>
            </a:r>
          </a:p>
          <a:p>
            <a:pPr marL="457200" indent="-457200" algn="just">
              <a:buFont typeface="Arial" panose="020B0604020202020204" pitchFamily="34" charset="0"/>
              <a:buChar char="•"/>
            </a:pPr>
            <a:r>
              <a:rPr lang="en-US" sz="3000" dirty="0">
                <a:solidFill>
                  <a:schemeClr val="bg1">
                    <a:lumMod val="25000"/>
                  </a:schemeClr>
                </a:solidFill>
                <a:latin typeface="Times-Roman"/>
              </a:rPr>
              <a:t>Unfortunately, </a:t>
            </a:r>
            <a:r>
              <a:rPr lang="en-US" sz="3000" b="1" dirty="0">
                <a:solidFill>
                  <a:schemeClr val="bg1">
                    <a:lumMod val="25000"/>
                  </a:schemeClr>
                </a:solidFill>
                <a:latin typeface="Times-Roman"/>
              </a:rPr>
              <a:t>a histogram is also invariant to the relative </a:t>
            </a:r>
            <a:r>
              <a:rPr lang="en-US" sz="3000" b="1" dirty="0" smtClean="0">
                <a:solidFill>
                  <a:schemeClr val="bg1">
                    <a:lumMod val="25000"/>
                  </a:schemeClr>
                </a:solidFill>
                <a:latin typeface="Times-Roman"/>
              </a:rPr>
              <a:t>location of </a:t>
            </a:r>
            <a:r>
              <a:rPr lang="en-US" sz="3000" b="1" dirty="0">
                <a:solidFill>
                  <a:schemeClr val="bg1">
                    <a:lumMod val="25000"/>
                  </a:schemeClr>
                </a:solidFill>
                <a:latin typeface="Times-Roman"/>
              </a:rPr>
              <a:t>the pixel values in the </a:t>
            </a:r>
            <a:r>
              <a:rPr lang="en-US" sz="3000" b="1" dirty="0" smtClean="0">
                <a:solidFill>
                  <a:schemeClr val="bg1">
                    <a:lumMod val="25000"/>
                  </a:schemeClr>
                </a:solidFill>
                <a:latin typeface="Times-Roman"/>
              </a:rPr>
              <a:t>region.</a:t>
            </a:r>
          </a:p>
          <a:p>
            <a:pPr marL="457200" indent="-457200" algn="just">
              <a:buFont typeface="Arial" panose="020B0604020202020204" pitchFamily="34" charset="0"/>
              <a:buChar char="•"/>
            </a:pPr>
            <a:r>
              <a:rPr lang="en-US" sz="3000" dirty="0" smtClean="0">
                <a:solidFill>
                  <a:schemeClr val="bg1">
                    <a:lumMod val="25000"/>
                  </a:schemeClr>
                </a:solidFill>
                <a:latin typeface="Times-Roman"/>
              </a:rPr>
              <a:t>A </a:t>
            </a:r>
            <a:r>
              <a:rPr lang="en-US" sz="3000" dirty="0">
                <a:solidFill>
                  <a:schemeClr val="bg1">
                    <a:lumMod val="25000"/>
                  </a:schemeClr>
                </a:solidFill>
                <a:latin typeface="Times-Roman"/>
              </a:rPr>
              <a:t>red and white checkerboard </a:t>
            </a:r>
            <a:r>
              <a:rPr lang="en-US" sz="3000" dirty="0" smtClean="0">
                <a:solidFill>
                  <a:schemeClr val="bg1">
                    <a:lumMod val="25000"/>
                  </a:schemeClr>
                </a:solidFill>
                <a:latin typeface="Times-Roman"/>
              </a:rPr>
              <a:t>may give </a:t>
            </a:r>
            <a:r>
              <a:rPr lang="en-US" sz="3000" dirty="0">
                <a:solidFill>
                  <a:schemeClr val="bg1">
                    <a:lumMod val="25000"/>
                  </a:schemeClr>
                </a:solidFill>
                <a:latin typeface="Times-Roman"/>
              </a:rPr>
              <a:t>exactly the same histogram as a set of similarly sized red </a:t>
            </a:r>
            <a:r>
              <a:rPr lang="en-US" sz="3000" dirty="0" smtClean="0">
                <a:solidFill>
                  <a:schemeClr val="bg1">
                    <a:lumMod val="25000"/>
                  </a:schemeClr>
                </a:solidFill>
                <a:latin typeface="Times-Roman"/>
              </a:rPr>
              <a:t>and white </a:t>
            </a:r>
            <a:r>
              <a:rPr lang="en-US" sz="3000" dirty="0">
                <a:solidFill>
                  <a:schemeClr val="bg1">
                    <a:lumMod val="25000"/>
                  </a:schemeClr>
                </a:solidFill>
                <a:latin typeface="Times-Roman"/>
              </a:rPr>
              <a:t>strips</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One approach to minimizing the undesirable </a:t>
            </a:r>
            <a:r>
              <a:rPr lang="en-US" sz="3000" dirty="0" smtClean="0">
                <a:solidFill>
                  <a:schemeClr val="bg1">
                    <a:lumMod val="25000"/>
                  </a:schemeClr>
                </a:solidFill>
                <a:latin typeface="Times-Roman"/>
              </a:rPr>
              <a:t>invariance properties </a:t>
            </a:r>
            <a:r>
              <a:rPr lang="en-US" sz="3000" dirty="0">
                <a:solidFill>
                  <a:schemeClr val="bg1">
                    <a:lumMod val="25000"/>
                  </a:schemeClr>
                </a:solidFill>
                <a:latin typeface="Times-Roman"/>
              </a:rPr>
              <a:t>of histograms is to use </a:t>
            </a:r>
            <a:r>
              <a:rPr lang="en-US" sz="3000" b="1" dirty="0" err="1">
                <a:solidFill>
                  <a:srgbClr val="0070C0"/>
                </a:solidFill>
                <a:latin typeface="Times-Roman"/>
              </a:rPr>
              <a:t>spatiograms</a:t>
            </a:r>
            <a:r>
              <a:rPr lang="en-US" sz="3000" b="1" dirty="0" smtClean="0">
                <a:solidFill>
                  <a:srgbClr val="0070C0"/>
                </a:solidFill>
                <a:latin typeface="Times-Roman"/>
              </a:rPr>
              <a:t>.</a:t>
            </a:r>
          </a:p>
        </p:txBody>
      </p:sp>
    </p:spTree>
    <p:extLst>
      <p:ext uri="{BB962C8B-B14F-4D97-AF65-F5344CB8AC3E}">
        <p14:creationId xmlns:p14="http://schemas.microsoft.com/office/powerpoint/2010/main" val="4084770533"/>
      </p:ext>
    </p:extLst>
  </p:cSld>
  <p:clrMapOvr>
    <a:masterClrMapping/>
  </p:clrMapOvr>
  <p:transition spd="med"/>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89</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369042" y="1162852"/>
                <a:ext cx="11407140" cy="5170646"/>
              </a:xfrm>
              <a:prstGeom prst="rect">
                <a:avLst/>
              </a:prstGeom>
            </p:spPr>
            <p:txBody>
              <a:bodyPr wrap="square">
                <a:spAutoFit/>
              </a:bodyPr>
              <a:lstStyle/>
              <a:p>
                <a:pPr marL="457200" indent="-457200" algn="just">
                  <a:buFont typeface="Arial" panose="020B0604020202020204" pitchFamily="34" charset="0"/>
                  <a:buChar char="•"/>
                </a:pPr>
                <a:r>
                  <a:rPr lang="en-US" sz="3000" dirty="0" smtClean="0">
                    <a:solidFill>
                      <a:schemeClr val="bg1">
                        <a:lumMod val="25000"/>
                      </a:schemeClr>
                    </a:solidFill>
                    <a:latin typeface="Times-Roman"/>
                  </a:rPr>
                  <a:t>A </a:t>
                </a:r>
                <a:r>
                  <a:rPr lang="en-US" sz="3000" dirty="0" err="1">
                    <a:solidFill>
                      <a:schemeClr val="bg1">
                        <a:lumMod val="25000"/>
                      </a:schemeClr>
                    </a:solidFill>
                    <a:latin typeface="Times-Roman"/>
                  </a:rPr>
                  <a:t>Spatiogram</a:t>
                </a:r>
                <a:r>
                  <a:rPr lang="en-US" sz="3000" dirty="0">
                    <a:solidFill>
                      <a:schemeClr val="bg1">
                        <a:lumMod val="25000"/>
                      </a:schemeClr>
                    </a:solidFill>
                    <a:latin typeface="Times-Roman"/>
                  </a:rPr>
                  <a:t> </a:t>
                </a:r>
                <a:r>
                  <a:rPr lang="en-US" sz="3000" dirty="0" smtClean="0">
                    <a:solidFill>
                      <a:schemeClr val="bg1">
                        <a:lumMod val="25000"/>
                      </a:schemeClr>
                    </a:solidFill>
                    <a:latin typeface="Times-Roman"/>
                  </a:rPr>
                  <a:t>extends the </a:t>
                </a:r>
                <a:r>
                  <a:rPr lang="en-US" sz="3000" dirty="0">
                    <a:solidFill>
                      <a:schemeClr val="bg1">
                        <a:lumMod val="25000"/>
                      </a:schemeClr>
                    </a:solidFill>
                    <a:latin typeface="Times-Roman"/>
                  </a:rPr>
                  <a:t>concept of a histogram by adding a normal distribution to </a:t>
                </a:r>
                <a:r>
                  <a:rPr lang="en-US" sz="3000" dirty="0" smtClean="0">
                    <a:solidFill>
                      <a:schemeClr val="bg1">
                        <a:lumMod val="25000"/>
                      </a:schemeClr>
                    </a:solidFill>
                    <a:latin typeface="Times-Roman"/>
                  </a:rPr>
                  <a:t>each bin </a:t>
                </a:r>
                <a:r>
                  <a:rPr lang="en-US" sz="3000" dirty="0">
                    <a:solidFill>
                      <a:schemeClr val="bg1">
                        <a:lumMod val="25000"/>
                      </a:schemeClr>
                    </a:solidFill>
                    <a:latin typeface="Times-Roman"/>
                  </a:rPr>
                  <a:t>that gives the spatial concentration of the pixels that contribute </a:t>
                </a:r>
                <a:r>
                  <a:rPr lang="en-US" sz="3000" dirty="0" smtClean="0">
                    <a:solidFill>
                      <a:schemeClr val="bg1">
                        <a:lumMod val="25000"/>
                      </a:schemeClr>
                    </a:solidFill>
                    <a:latin typeface="Times-Roman"/>
                  </a:rPr>
                  <a:t>to that </a:t>
                </a:r>
                <a:r>
                  <a:rPr lang="en-US" sz="3000" dirty="0">
                    <a:solidFill>
                      <a:schemeClr val="bg1">
                        <a:lumMod val="25000"/>
                      </a:schemeClr>
                    </a:solidFill>
                    <a:latin typeface="Times-Roman"/>
                  </a:rPr>
                  <a:t>bin</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endParaRPr lang="en-US" sz="3000" dirty="0">
                  <a:solidFill>
                    <a:schemeClr val="bg1">
                      <a:lumMod val="25000"/>
                    </a:schemeClr>
                  </a:solidFill>
                  <a:latin typeface="Times-Roman"/>
                </a:endParaRP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a:solidFill>
                      <a:schemeClr val="bg1">
                        <a:lumMod val="25000"/>
                      </a:schemeClr>
                    </a:solidFill>
                    <a:latin typeface="Times-Roman"/>
                  </a:rPr>
                  <a:t>where </a:t>
                </a:r>
                <a:r>
                  <a:rPr lang="en-US" sz="3000" dirty="0" err="1">
                    <a:solidFill>
                      <a:schemeClr val="bg1">
                        <a:lumMod val="25000"/>
                      </a:schemeClr>
                    </a:solidFill>
                    <a:latin typeface="Times-Roman"/>
                  </a:rPr>
                  <a:t>μb</a:t>
                </a:r>
                <a:r>
                  <a:rPr lang="en-US" sz="3000" dirty="0">
                    <a:solidFill>
                      <a:schemeClr val="bg1">
                        <a:lumMod val="25000"/>
                      </a:schemeClr>
                    </a:solidFill>
                    <a:latin typeface="Times-Roman"/>
                  </a:rPr>
                  <a:t> and </a:t>
                </a:r>
                <a:r>
                  <a:rPr lang="en-US" sz="3000" dirty="0" err="1">
                    <a:solidFill>
                      <a:schemeClr val="bg1">
                        <a:lumMod val="25000"/>
                      </a:schemeClr>
                    </a:solidFill>
                    <a:latin typeface="Times-Roman"/>
                  </a:rPr>
                  <a:t>Σb</a:t>
                </a:r>
                <a:r>
                  <a:rPr lang="en-US" sz="3000" dirty="0">
                    <a:solidFill>
                      <a:schemeClr val="bg1">
                        <a:lumMod val="25000"/>
                      </a:schemeClr>
                    </a:solidFill>
                    <a:latin typeface="Times-Roman"/>
                  </a:rPr>
                  <a:t> are the spatial mean and covariance of the values </a:t>
                </a:r>
                <a:r>
                  <a:rPr lang="en-US" sz="3000" dirty="0" smtClean="0">
                    <a:solidFill>
                      <a:schemeClr val="bg1">
                        <a:lumMod val="25000"/>
                      </a:schemeClr>
                    </a:solidFill>
                    <a:latin typeface="Times-Roman"/>
                  </a:rPr>
                  <a:t>in the </a:t>
                </a:r>
                <a:r>
                  <a:rPr lang="en-US" sz="3000" dirty="0">
                    <a:solidFill>
                      <a:schemeClr val="bg1">
                        <a:lumMod val="25000"/>
                      </a:schemeClr>
                    </a:solidFill>
                    <a:latin typeface="Times-Roman"/>
                  </a:rPr>
                  <a:t>class b.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One </a:t>
                </a:r>
                <a:r>
                  <a:rPr lang="en-US" sz="3000" dirty="0" err="1">
                    <a:solidFill>
                      <a:schemeClr val="bg1">
                        <a:lumMod val="25000"/>
                      </a:schemeClr>
                    </a:solidFill>
                    <a:latin typeface="Times-Roman"/>
                  </a:rPr>
                  <a:t>spatiogram</a:t>
                </a:r>
                <a:r>
                  <a:rPr lang="en-US" sz="3000" dirty="0">
                    <a:solidFill>
                      <a:schemeClr val="bg1">
                        <a:lumMod val="25000"/>
                      </a:schemeClr>
                    </a:solidFill>
                    <a:latin typeface="Times-Roman"/>
                  </a:rPr>
                  <a:t> h can be compared to another </a:t>
                </a:r>
                <a14:m>
                  <m:oMath xmlns:m="http://schemas.openxmlformats.org/officeDocument/2006/math">
                    <m:sSup>
                      <m:sSupPr>
                        <m:ctrlPr>
                          <a:rPr lang="en-US" sz="3000" i="1" smtClean="0">
                            <a:solidFill>
                              <a:schemeClr val="bg1">
                                <a:lumMod val="25000"/>
                              </a:schemeClr>
                            </a:solidFill>
                            <a:latin typeface="Cambria Math" panose="02040503050406030204" pitchFamily="18" charset="0"/>
                          </a:rPr>
                        </m:ctrlPr>
                      </m:sSupPr>
                      <m:e>
                        <m:r>
                          <a:rPr lang="en-US" sz="3000" b="0" i="1" smtClean="0">
                            <a:solidFill>
                              <a:schemeClr val="bg1">
                                <a:lumMod val="25000"/>
                              </a:schemeClr>
                            </a:solidFill>
                            <a:latin typeface="Cambria Math" panose="02040503050406030204" pitchFamily="18" charset="0"/>
                          </a:rPr>
                          <m:t>h</m:t>
                        </m:r>
                      </m:e>
                      <m:sup>
                        <m:r>
                          <a:rPr lang="en-US" sz="3000" b="0" i="1" smtClean="0">
                            <a:solidFill>
                              <a:schemeClr val="bg1">
                                <a:lumMod val="25000"/>
                              </a:schemeClr>
                            </a:solidFill>
                            <a:latin typeface="Cambria Math" panose="02040503050406030204" pitchFamily="18" charset="0"/>
                          </a:rPr>
                          <m:t>′</m:t>
                        </m:r>
                      </m:sup>
                    </m:sSup>
                  </m:oMath>
                </a14:m>
                <a:r>
                  <a:rPr lang="en-US" sz="3000" dirty="0" smtClean="0">
                    <a:solidFill>
                      <a:schemeClr val="bg1">
                        <a:lumMod val="25000"/>
                      </a:schemeClr>
                    </a:solidFill>
                    <a:latin typeface="Times-Roman"/>
                  </a:rPr>
                  <a:t>with the normalized comparison,</a:t>
                </a: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p:txBody>
          </p:sp>
        </mc:Choice>
        <mc:Fallback xmlns="">
          <p:sp>
            <p:nvSpPr>
              <p:cNvPr id="9" name="Rectangle 8"/>
              <p:cNvSpPr>
                <a:spLocks noRot="1" noChangeAspect="1" noMove="1" noResize="1" noEditPoints="1" noAdjustHandles="1" noChangeArrowheads="1" noChangeShapeType="1" noTextEdit="1"/>
              </p:cNvSpPr>
              <p:nvPr/>
            </p:nvSpPr>
            <p:spPr>
              <a:xfrm>
                <a:off x="369042" y="1162852"/>
                <a:ext cx="11407140" cy="5170646"/>
              </a:xfrm>
              <a:prstGeom prst="rect">
                <a:avLst/>
              </a:prstGeom>
              <a:blipFill>
                <a:blip r:embed="rId2"/>
                <a:stretch>
                  <a:fillRect l="-1122" t="-1533" r="-1229"/>
                </a:stretch>
              </a:blipFill>
            </p:spPr>
            <p:txBody>
              <a:bodyPr/>
              <a:lstStyle/>
              <a:p>
                <a:r>
                  <a:rPr lang="en-US">
                    <a:noFill/>
                  </a:rPr>
                  <a:t> </a:t>
                </a:r>
              </a:p>
            </p:txBody>
          </p:sp>
        </mc:Fallback>
      </mc:AlternateContent>
      <p:pic>
        <p:nvPicPr>
          <p:cNvPr id="3" name="Picture 2"/>
          <p:cNvPicPr>
            <a:picLocks noChangeAspect="1"/>
          </p:cNvPicPr>
          <p:nvPr/>
        </p:nvPicPr>
        <p:blipFill>
          <a:blip r:embed="rId3"/>
          <a:stretch>
            <a:fillRect/>
          </a:stretch>
        </p:blipFill>
        <p:spPr>
          <a:xfrm>
            <a:off x="3540126" y="2714857"/>
            <a:ext cx="4174763" cy="773973"/>
          </a:xfrm>
          <a:prstGeom prst="rect">
            <a:avLst/>
          </a:prstGeom>
          <a:ln w="28575">
            <a:solidFill>
              <a:schemeClr val="tx1"/>
            </a:solidFill>
          </a:ln>
        </p:spPr>
      </p:pic>
      <p:pic>
        <p:nvPicPr>
          <p:cNvPr id="5" name="Picture 4"/>
          <p:cNvPicPr>
            <a:picLocks noChangeAspect="1"/>
          </p:cNvPicPr>
          <p:nvPr/>
        </p:nvPicPr>
        <p:blipFill>
          <a:blip r:embed="rId4"/>
          <a:stretch>
            <a:fillRect/>
          </a:stretch>
        </p:blipFill>
        <p:spPr>
          <a:xfrm>
            <a:off x="5629752" y="5358729"/>
            <a:ext cx="3773040" cy="1245645"/>
          </a:xfrm>
          <a:prstGeom prst="rect">
            <a:avLst/>
          </a:prstGeom>
          <a:ln w="28575">
            <a:solidFill>
              <a:schemeClr val="tx1"/>
            </a:solidFill>
          </a:ln>
        </p:spPr>
      </p:pic>
    </p:spTree>
    <p:extLst>
      <p:ext uri="{BB962C8B-B14F-4D97-AF65-F5344CB8AC3E}">
        <p14:creationId xmlns:p14="http://schemas.microsoft.com/office/powerpoint/2010/main" val="2502050533"/>
      </p:ext>
    </p:extLst>
  </p:cSld>
  <p:clrMapOvr>
    <a:masterClrMapping/>
  </p:clrMapOvr>
  <p:transition spd="med"/>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90</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470898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where the normalizing term </a:t>
            </a:r>
            <a:r>
              <a:rPr lang="en-US" sz="3000" dirty="0" err="1">
                <a:solidFill>
                  <a:schemeClr val="bg1">
                    <a:lumMod val="25000"/>
                  </a:schemeClr>
                </a:solidFill>
                <a:latin typeface="Times-Roman"/>
              </a:rPr>
              <a:t>ϕb</a:t>
            </a:r>
            <a:r>
              <a:rPr lang="en-US" sz="3000" dirty="0">
                <a:solidFill>
                  <a:schemeClr val="bg1">
                    <a:lumMod val="25000"/>
                  </a:schemeClr>
                </a:solidFill>
                <a:latin typeface="Times-Roman"/>
              </a:rPr>
              <a:t> is given as </a:t>
            </a:r>
            <a:r>
              <a:rPr lang="en-US" sz="3000" dirty="0" smtClean="0">
                <a:solidFill>
                  <a:schemeClr val="bg1">
                    <a:lumMod val="25000"/>
                  </a:schemeClr>
                </a:solidFill>
                <a:latin typeface="Times-Roman"/>
              </a:rPr>
              <a:t>follows,</a:t>
            </a:r>
          </a:p>
          <a:p>
            <a:pPr marL="457200" indent="-457200" algn="just">
              <a:buFont typeface="Arial" panose="020B0604020202020204" pitchFamily="34" charset="0"/>
              <a:buChar char="•"/>
            </a:pPr>
            <a:endParaRPr lang="en-US" sz="3000" dirty="0">
              <a:solidFill>
                <a:schemeClr val="bg1">
                  <a:lumMod val="25000"/>
                </a:schemeClr>
              </a:solidFill>
              <a:latin typeface="Times-Roman"/>
            </a:endParaRP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endParaRPr lang="en-US" sz="3000" dirty="0">
              <a:solidFill>
                <a:schemeClr val="bg1">
                  <a:lumMod val="25000"/>
                </a:schemeClr>
              </a:solidFill>
              <a:latin typeface="Times-Roman"/>
            </a:endParaRP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a:solidFill>
                  <a:schemeClr val="bg1">
                    <a:lumMod val="25000"/>
                  </a:schemeClr>
                </a:solidFill>
                <a:latin typeface="Times-Roman"/>
              </a:rPr>
              <a:t>Returning to tracking: We will </a:t>
            </a:r>
            <a:r>
              <a:rPr lang="en-US" sz="3000" b="1" dirty="0">
                <a:solidFill>
                  <a:schemeClr val="bg1">
                    <a:lumMod val="25000"/>
                  </a:schemeClr>
                </a:solidFill>
                <a:latin typeface="Times-Roman"/>
              </a:rPr>
              <a:t>assume</a:t>
            </a:r>
            <a:r>
              <a:rPr lang="en-US" sz="3000" dirty="0">
                <a:solidFill>
                  <a:schemeClr val="bg1">
                    <a:lumMod val="25000"/>
                  </a:schemeClr>
                </a:solidFill>
                <a:latin typeface="Times-Roman"/>
              </a:rPr>
              <a:t> that </a:t>
            </a:r>
            <a:r>
              <a:rPr lang="en-US" sz="3000" b="1" dirty="0">
                <a:solidFill>
                  <a:schemeClr val="bg1">
                    <a:lumMod val="25000"/>
                  </a:schemeClr>
                </a:solidFill>
                <a:latin typeface="Times-Roman"/>
              </a:rPr>
              <a:t>target state consists of </a:t>
            </a:r>
            <a:r>
              <a:rPr lang="en-US" sz="3000" b="1" dirty="0" smtClean="0">
                <a:solidFill>
                  <a:schemeClr val="bg1">
                    <a:lumMod val="25000"/>
                  </a:schemeClr>
                </a:solidFill>
                <a:latin typeface="Times-Roman"/>
              </a:rPr>
              <a:t>a location </a:t>
            </a:r>
            <a:r>
              <a:rPr lang="en-US" sz="3000" b="1" dirty="0">
                <a:solidFill>
                  <a:schemeClr val="bg1">
                    <a:lumMod val="25000"/>
                  </a:schemeClr>
                </a:solidFill>
                <a:latin typeface="Times-Roman"/>
              </a:rPr>
              <a:t>in the image</a:t>
            </a:r>
            <a:r>
              <a:rPr lang="en-US" sz="3000" dirty="0">
                <a:solidFill>
                  <a:schemeClr val="bg1">
                    <a:lumMod val="25000"/>
                  </a:schemeClr>
                </a:solidFill>
                <a:latin typeface="Times-Roman"/>
              </a:rPr>
              <a:t>, and we will calculate the spatial histogram on </a:t>
            </a:r>
            <a:r>
              <a:rPr lang="en-US" sz="3000" dirty="0" smtClean="0">
                <a:solidFill>
                  <a:schemeClr val="bg1">
                    <a:lumMod val="25000"/>
                  </a:schemeClr>
                </a:solidFill>
                <a:latin typeface="Times-Roman"/>
              </a:rPr>
              <a:t>a fixed </a:t>
            </a:r>
            <a:r>
              <a:rPr lang="en-US" sz="3000" dirty="0">
                <a:solidFill>
                  <a:schemeClr val="bg1">
                    <a:lumMod val="25000"/>
                  </a:schemeClr>
                </a:solidFill>
                <a:latin typeface="Times-Roman"/>
              </a:rPr>
              <a:t>size region of the image centered on the target location.</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p:txBody>
      </p:sp>
      <p:pic>
        <p:nvPicPr>
          <p:cNvPr id="3" name="Picture 2"/>
          <p:cNvPicPr>
            <a:picLocks noChangeAspect="1"/>
          </p:cNvPicPr>
          <p:nvPr/>
        </p:nvPicPr>
        <p:blipFill>
          <a:blip r:embed="rId2"/>
          <a:stretch>
            <a:fillRect/>
          </a:stretch>
        </p:blipFill>
        <p:spPr>
          <a:xfrm>
            <a:off x="998737" y="1827144"/>
            <a:ext cx="9711750" cy="1220325"/>
          </a:xfrm>
          <a:prstGeom prst="rect">
            <a:avLst/>
          </a:prstGeom>
          <a:ln w="28575">
            <a:solidFill>
              <a:schemeClr val="tx1"/>
            </a:solidFill>
          </a:ln>
        </p:spPr>
      </p:pic>
    </p:spTree>
    <p:extLst>
      <p:ext uri="{BB962C8B-B14F-4D97-AF65-F5344CB8AC3E}">
        <p14:creationId xmlns:p14="http://schemas.microsoft.com/office/powerpoint/2010/main" val="1649305860"/>
      </p:ext>
    </p:extLst>
  </p:cSld>
  <p:clrMapOvr>
    <a:masterClrMapping/>
  </p:clrMapOvr>
  <p:transition spd="med"/>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91</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2400657"/>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The </a:t>
            </a:r>
            <a:r>
              <a:rPr lang="en-US" sz="3000" dirty="0" smtClean="0">
                <a:solidFill>
                  <a:schemeClr val="bg1">
                    <a:lumMod val="25000"/>
                  </a:schemeClr>
                </a:solidFill>
                <a:latin typeface="Times-Roman"/>
              </a:rPr>
              <a:t>above definitions </a:t>
            </a:r>
            <a:r>
              <a:rPr lang="en-US" sz="3000" dirty="0">
                <a:solidFill>
                  <a:schemeClr val="bg1">
                    <a:lumMod val="25000"/>
                  </a:schemeClr>
                </a:solidFill>
                <a:latin typeface="Times-Roman"/>
              </a:rPr>
              <a:t>are for single channel, gray level </a:t>
            </a:r>
            <a:r>
              <a:rPr lang="en-US" sz="3000" dirty="0" err="1">
                <a:solidFill>
                  <a:schemeClr val="bg1">
                    <a:lumMod val="25000"/>
                  </a:schemeClr>
                </a:solidFill>
                <a:latin typeface="Times-Roman"/>
              </a:rPr>
              <a:t>spatiograms</a:t>
            </a:r>
            <a:r>
              <a:rPr lang="en-US" sz="3000" dirty="0">
                <a:solidFill>
                  <a:schemeClr val="bg1">
                    <a:lumMod val="25000"/>
                  </a:schemeClr>
                </a:solidFill>
                <a:latin typeface="Times-Roman"/>
              </a:rPr>
              <a:t>.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An </a:t>
            </a:r>
            <a:r>
              <a:rPr lang="en-US" sz="3000" dirty="0">
                <a:solidFill>
                  <a:schemeClr val="bg1">
                    <a:lumMod val="25000"/>
                  </a:schemeClr>
                </a:solidFill>
                <a:latin typeface="Times-Roman"/>
              </a:rPr>
              <a:t>easy way </a:t>
            </a:r>
            <a:r>
              <a:rPr lang="en-US" sz="3000" dirty="0" smtClean="0">
                <a:solidFill>
                  <a:schemeClr val="bg1">
                    <a:lumMod val="25000"/>
                  </a:schemeClr>
                </a:solidFill>
                <a:latin typeface="Times-Roman"/>
              </a:rPr>
              <a:t>to extend </a:t>
            </a:r>
            <a:r>
              <a:rPr lang="en-US" sz="3000" dirty="0">
                <a:solidFill>
                  <a:schemeClr val="bg1">
                    <a:lumMod val="25000"/>
                  </a:schemeClr>
                </a:solidFill>
                <a:latin typeface="Times-Roman"/>
              </a:rPr>
              <a:t>to color </a:t>
            </a:r>
            <a:r>
              <a:rPr lang="en-US" sz="3000" dirty="0" err="1">
                <a:solidFill>
                  <a:schemeClr val="bg1">
                    <a:lumMod val="25000"/>
                  </a:schemeClr>
                </a:solidFill>
                <a:latin typeface="Times-Roman"/>
              </a:rPr>
              <a:t>spatiograms</a:t>
            </a:r>
            <a:r>
              <a:rPr lang="en-US" sz="3000" dirty="0">
                <a:solidFill>
                  <a:schemeClr val="bg1">
                    <a:lumMod val="25000"/>
                  </a:schemeClr>
                </a:solidFill>
                <a:latin typeface="Times-Roman"/>
              </a:rPr>
              <a:t> is by defining single channel </a:t>
            </a:r>
            <a:r>
              <a:rPr lang="en-US" sz="3000" dirty="0" err="1">
                <a:solidFill>
                  <a:schemeClr val="bg1">
                    <a:lumMod val="25000"/>
                  </a:schemeClr>
                </a:solidFill>
                <a:latin typeface="Times-Roman"/>
              </a:rPr>
              <a:t>spatiograms</a:t>
            </a:r>
            <a:r>
              <a:rPr lang="en-US" sz="3000" dirty="0">
                <a:solidFill>
                  <a:schemeClr val="bg1">
                    <a:lumMod val="25000"/>
                  </a:schemeClr>
                </a:solidFill>
                <a:latin typeface="Times-Roman"/>
              </a:rPr>
              <a:t> </a:t>
            </a:r>
            <a:r>
              <a:rPr lang="en-US" sz="3000" dirty="0" smtClean="0">
                <a:solidFill>
                  <a:schemeClr val="bg1">
                    <a:lumMod val="25000"/>
                  </a:schemeClr>
                </a:solidFill>
                <a:latin typeface="Times-Roman"/>
              </a:rPr>
              <a:t>for each </a:t>
            </a:r>
            <a:r>
              <a:rPr lang="en-US" sz="3000" dirty="0">
                <a:solidFill>
                  <a:schemeClr val="bg1">
                    <a:lumMod val="25000"/>
                  </a:schemeClr>
                </a:solidFill>
                <a:latin typeface="Times-Roman"/>
              </a:rPr>
              <a:t>of the color channels of the image.</a:t>
            </a:r>
            <a:endParaRPr lang="en-US" sz="3000" dirty="0" smtClean="0">
              <a:solidFill>
                <a:schemeClr val="bg1">
                  <a:lumMod val="25000"/>
                </a:schemeClr>
              </a:solidFill>
              <a:latin typeface="Times-Roman"/>
            </a:endParaRPr>
          </a:p>
        </p:txBody>
      </p:sp>
    </p:spTree>
    <p:extLst>
      <p:ext uri="{BB962C8B-B14F-4D97-AF65-F5344CB8AC3E}">
        <p14:creationId xmlns:p14="http://schemas.microsoft.com/office/powerpoint/2010/main" val="403395260"/>
      </p:ext>
    </p:extLst>
  </p:cSld>
  <p:clrMapOvr>
    <a:masterClrMapping/>
  </p:clrMapOvr>
  <p:transition spd="med"/>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92</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957601"/>
            <a:ext cx="11407140" cy="5463034"/>
          </a:xfrm>
          <a:prstGeom prst="rect">
            <a:avLst/>
          </a:prstGeom>
        </p:spPr>
        <p:txBody>
          <a:bodyPr wrap="square">
            <a:spAutoFit/>
          </a:bodyPr>
          <a:lstStyle/>
          <a:p>
            <a:pPr algn="just"/>
            <a:r>
              <a:rPr lang="en-US" sz="3000" b="1" dirty="0" smtClean="0">
                <a:solidFill>
                  <a:srgbClr val="FF0000"/>
                </a:solidFill>
                <a:latin typeface="Times-Roman"/>
              </a:rPr>
              <a:t>2.5.2 Condensation</a:t>
            </a:r>
          </a:p>
          <a:p>
            <a:pPr marL="457200" indent="-457200" algn="just">
              <a:buFont typeface="Arial" panose="020B0604020202020204" pitchFamily="34" charset="0"/>
              <a:buChar char="•"/>
            </a:pPr>
            <a:r>
              <a:rPr lang="en-US" sz="2900" dirty="0">
                <a:solidFill>
                  <a:schemeClr val="tx1"/>
                </a:solidFill>
                <a:latin typeface="Times-Roman"/>
              </a:rPr>
              <a:t>The implementation of the </a:t>
            </a:r>
            <a:r>
              <a:rPr lang="en-US" sz="2900" dirty="0" smtClean="0">
                <a:solidFill>
                  <a:srgbClr val="0070C0"/>
                </a:solidFill>
                <a:latin typeface="Times-Roman"/>
              </a:rPr>
              <a:t>CONDENSATION video </a:t>
            </a:r>
            <a:r>
              <a:rPr lang="en-US" sz="2900" dirty="0">
                <a:solidFill>
                  <a:srgbClr val="0070C0"/>
                </a:solidFill>
                <a:latin typeface="Times-Roman"/>
              </a:rPr>
              <a:t>tracking </a:t>
            </a:r>
            <a:r>
              <a:rPr lang="en-US" sz="2900" dirty="0" smtClean="0">
                <a:solidFill>
                  <a:srgbClr val="0070C0"/>
                </a:solidFill>
                <a:latin typeface="Times-Roman"/>
              </a:rPr>
              <a:t>algorithm </a:t>
            </a:r>
            <a:r>
              <a:rPr lang="en-US" sz="2900" dirty="0" smtClean="0">
                <a:solidFill>
                  <a:schemeClr val="tx1"/>
                </a:solidFill>
                <a:latin typeface="Times-Roman"/>
              </a:rPr>
              <a:t>will </a:t>
            </a:r>
            <a:r>
              <a:rPr lang="en-US" sz="2900" dirty="0">
                <a:solidFill>
                  <a:schemeClr val="tx1"/>
                </a:solidFill>
                <a:latin typeface="Times-Roman"/>
              </a:rPr>
              <a:t>look very similar to the implementation of the </a:t>
            </a:r>
            <a:r>
              <a:rPr lang="en-US" sz="2900" dirty="0" smtClean="0">
                <a:solidFill>
                  <a:schemeClr val="tx1"/>
                </a:solidFill>
                <a:latin typeface="Times-Roman"/>
              </a:rPr>
              <a:t>Monte Carlo Localization (MCL) localization.</a:t>
            </a:r>
          </a:p>
          <a:p>
            <a:pPr marL="457200" indent="-457200" algn="just">
              <a:buFont typeface="Arial" panose="020B0604020202020204" pitchFamily="34" charset="0"/>
              <a:buChar char="•"/>
            </a:pPr>
            <a:r>
              <a:rPr lang="en-US" sz="2900" dirty="0">
                <a:solidFill>
                  <a:schemeClr val="tx1"/>
                </a:solidFill>
                <a:latin typeface="Times-Roman"/>
              </a:rPr>
              <a:t>We will need a motion </a:t>
            </a:r>
            <a:r>
              <a:rPr lang="en-US" sz="2900" dirty="0" smtClean="0">
                <a:solidFill>
                  <a:schemeClr val="tx1"/>
                </a:solidFill>
                <a:latin typeface="Times-Roman"/>
              </a:rPr>
              <a:t>model for </a:t>
            </a:r>
            <a:r>
              <a:rPr lang="en-US" sz="2900" dirty="0">
                <a:solidFill>
                  <a:schemeClr val="tx1"/>
                </a:solidFill>
                <a:latin typeface="Times-Roman"/>
              </a:rPr>
              <a:t>the target</a:t>
            </a:r>
            <a:r>
              <a:rPr lang="en-US" sz="2900" dirty="0" smtClean="0">
                <a:solidFill>
                  <a:schemeClr val="tx1"/>
                </a:solidFill>
                <a:latin typeface="Times-Roman"/>
              </a:rPr>
              <a:t>.</a:t>
            </a:r>
          </a:p>
          <a:p>
            <a:pPr marL="457200" indent="-457200" algn="just">
              <a:buFont typeface="Arial" panose="020B0604020202020204" pitchFamily="34" charset="0"/>
              <a:buChar char="•"/>
            </a:pPr>
            <a:r>
              <a:rPr lang="en-US" sz="2900" dirty="0" smtClean="0">
                <a:solidFill>
                  <a:schemeClr val="tx1"/>
                </a:solidFill>
                <a:latin typeface="Times-Roman"/>
              </a:rPr>
              <a:t>If </a:t>
            </a:r>
            <a:r>
              <a:rPr lang="en-US" sz="2900" dirty="0" err="1" smtClean="0">
                <a:solidFill>
                  <a:schemeClr val="tx1"/>
                </a:solidFill>
                <a:latin typeface="Times-Roman"/>
              </a:rPr>
              <a:t>xt</a:t>
            </a:r>
            <a:r>
              <a:rPr lang="en-US" sz="2900" dirty="0" smtClean="0">
                <a:solidFill>
                  <a:schemeClr val="tx1"/>
                </a:solidFill>
                <a:latin typeface="Times-Roman"/>
              </a:rPr>
              <a:t> is the state of the target (its location and velocity in image coordinates, for example) then the condition distribution p(xt|xt−1</a:t>
            </a:r>
            <a:r>
              <a:rPr lang="en-US" sz="2900" dirty="0">
                <a:solidFill>
                  <a:schemeClr val="tx1"/>
                </a:solidFill>
                <a:latin typeface="Times-Roman"/>
              </a:rPr>
              <a:t>) is our motion model. </a:t>
            </a:r>
            <a:endParaRPr lang="en-US" sz="2900" dirty="0" smtClean="0">
              <a:solidFill>
                <a:schemeClr val="tx1"/>
              </a:solidFill>
              <a:latin typeface="Times-Roman"/>
            </a:endParaRPr>
          </a:p>
          <a:p>
            <a:pPr marL="457200" indent="-457200" algn="just">
              <a:buFont typeface="Arial" panose="020B0604020202020204" pitchFamily="34" charset="0"/>
              <a:buChar char="•"/>
            </a:pPr>
            <a:r>
              <a:rPr lang="en-US" sz="2900" dirty="0" smtClean="0">
                <a:solidFill>
                  <a:schemeClr val="tx1"/>
                </a:solidFill>
                <a:latin typeface="Times-Roman"/>
              </a:rPr>
              <a:t>We </a:t>
            </a:r>
            <a:r>
              <a:rPr lang="en-US" sz="2900" dirty="0">
                <a:solidFill>
                  <a:schemeClr val="tx1"/>
                </a:solidFill>
                <a:latin typeface="Times-Roman"/>
              </a:rPr>
              <a:t>also need an observation model. </a:t>
            </a:r>
            <a:endParaRPr lang="en-US" sz="2900" dirty="0" smtClean="0">
              <a:solidFill>
                <a:schemeClr val="tx1"/>
              </a:solidFill>
              <a:latin typeface="Times-Roman"/>
            </a:endParaRPr>
          </a:p>
          <a:p>
            <a:pPr marL="457200" indent="-457200" algn="just">
              <a:buFont typeface="Arial" panose="020B0604020202020204" pitchFamily="34" charset="0"/>
              <a:buChar char="•"/>
            </a:pPr>
            <a:r>
              <a:rPr lang="en-US" sz="2900" dirty="0" smtClean="0">
                <a:solidFill>
                  <a:schemeClr val="tx1"/>
                </a:solidFill>
                <a:latin typeface="Times-Roman"/>
              </a:rPr>
              <a:t>If </a:t>
            </a:r>
            <a:r>
              <a:rPr lang="en-US" sz="2900" dirty="0">
                <a:solidFill>
                  <a:schemeClr val="tx1"/>
                </a:solidFill>
                <a:latin typeface="Times-Roman"/>
              </a:rPr>
              <a:t>we </a:t>
            </a:r>
            <a:r>
              <a:rPr lang="en-US" sz="2900" dirty="0" smtClean="0">
                <a:solidFill>
                  <a:schemeClr val="tx1"/>
                </a:solidFill>
                <a:latin typeface="Times-Roman"/>
              </a:rPr>
              <a:t>predict that </a:t>
            </a:r>
            <a:r>
              <a:rPr lang="en-US" sz="2900" dirty="0">
                <a:solidFill>
                  <a:schemeClr val="tx1"/>
                </a:solidFill>
                <a:latin typeface="Times-Roman"/>
              </a:rPr>
              <a:t>the target has state </a:t>
            </a:r>
            <a:r>
              <a:rPr lang="en-US" sz="2900" dirty="0" err="1">
                <a:solidFill>
                  <a:schemeClr val="tx1"/>
                </a:solidFill>
                <a:latin typeface="Times-Roman"/>
              </a:rPr>
              <a:t>xt</a:t>
            </a:r>
            <a:r>
              <a:rPr lang="en-US" sz="2900" dirty="0">
                <a:solidFill>
                  <a:schemeClr val="tx1"/>
                </a:solidFill>
                <a:latin typeface="Times-Roman"/>
              </a:rPr>
              <a:t> then, when we measure the image at the </a:t>
            </a:r>
            <a:r>
              <a:rPr lang="en-US" sz="2900" dirty="0" smtClean="0">
                <a:solidFill>
                  <a:schemeClr val="tx1"/>
                </a:solidFill>
                <a:latin typeface="Times-Roman"/>
              </a:rPr>
              <a:t>location given </a:t>
            </a:r>
            <a:r>
              <a:rPr lang="en-US" sz="2900" dirty="0">
                <a:solidFill>
                  <a:schemeClr val="tx1"/>
                </a:solidFill>
                <a:latin typeface="Times-Roman"/>
              </a:rPr>
              <a:t>by the state, and get a measurement </a:t>
            </a:r>
            <a:r>
              <a:rPr lang="en-US" sz="2900" dirty="0" err="1">
                <a:solidFill>
                  <a:schemeClr val="tx1"/>
                </a:solidFill>
                <a:latin typeface="Times-Roman"/>
              </a:rPr>
              <a:t>zt</a:t>
            </a:r>
            <a:r>
              <a:rPr lang="en-US" sz="2900" dirty="0">
                <a:solidFill>
                  <a:schemeClr val="tx1"/>
                </a:solidFill>
                <a:latin typeface="Times-Roman"/>
              </a:rPr>
              <a:t>, our observation model is </a:t>
            </a:r>
            <a:r>
              <a:rPr lang="en-US" sz="2900" dirty="0" smtClean="0">
                <a:solidFill>
                  <a:schemeClr val="tx1"/>
                </a:solidFill>
                <a:latin typeface="Times-Roman"/>
              </a:rPr>
              <a:t>the distribution </a:t>
            </a:r>
            <a:r>
              <a:rPr lang="en-US" sz="2900" dirty="0">
                <a:solidFill>
                  <a:schemeClr val="tx1"/>
                </a:solidFill>
                <a:latin typeface="Times-Roman"/>
              </a:rPr>
              <a:t>p(</a:t>
            </a:r>
            <a:r>
              <a:rPr lang="en-US" sz="2900" dirty="0" err="1">
                <a:solidFill>
                  <a:schemeClr val="tx1"/>
                </a:solidFill>
                <a:latin typeface="Times-Roman"/>
              </a:rPr>
              <a:t>zt|xt</a:t>
            </a:r>
            <a:r>
              <a:rPr lang="en-US" sz="2900" dirty="0">
                <a:solidFill>
                  <a:schemeClr val="tx1"/>
                </a:solidFill>
                <a:latin typeface="Times-Roman"/>
              </a:rPr>
              <a:t>).</a:t>
            </a:r>
          </a:p>
        </p:txBody>
      </p:sp>
    </p:spTree>
    <p:extLst>
      <p:ext uri="{BB962C8B-B14F-4D97-AF65-F5344CB8AC3E}">
        <p14:creationId xmlns:p14="http://schemas.microsoft.com/office/powerpoint/2010/main" val="2627594838"/>
      </p:ext>
    </p:extLst>
  </p:cSld>
  <p:clrMapOvr>
    <a:masterClrMapping/>
  </p:clrMapOvr>
  <p:transition spd="med"/>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93</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957601"/>
            <a:ext cx="11407140" cy="563231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If h(</a:t>
            </a:r>
            <a:r>
              <a:rPr lang="en-US" sz="3000" dirty="0" err="1">
                <a:solidFill>
                  <a:schemeClr val="bg1">
                    <a:lumMod val="25000"/>
                  </a:schemeClr>
                </a:solidFill>
                <a:latin typeface="Times-Roman"/>
              </a:rPr>
              <a:t>xt</a:t>
            </a:r>
            <a:r>
              <a:rPr lang="en-US" sz="3000" dirty="0">
                <a:solidFill>
                  <a:schemeClr val="bg1">
                    <a:lumMod val="25000"/>
                  </a:schemeClr>
                </a:solidFill>
                <a:latin typeface="Times-Roman"/>
              </a:rPr>
              <a:t>) is the </a:t>
            </a:r>
            <a:r>
              <a:rPr lang="en-US" sz="3000" dirty="0" err="1">
                <a:solidFill>
                  <a:schemeClr val="bg1">
                    <a:lumMod val="25000"/>
                  </a:schemeClr>
                </a:solidFill>
                <a:latin typeface="Times-Roman"/>
              </a:rPr>
              <a:t>spatiogram</a:t>
            </a:r>
            <a:r>
              <a:rPr lang="en-US" sz="3000" dirty="0">
                <a:solidFill>
                  <a:schemeClr val="bg1">
                    <a:lumMod val="25000"/>
                  </a:schemeClr>
                </a:solidFill>
                <a:latin typeface="Times-Roman"/>
              </a:rPr>
              <a:t> presenting the target and </a:t>
            </a:r>
            <a:r>
              <a:rPr lang="en-US" sz="3000" dirty="0" err="1" smtClean="0">
                <a:solidFill>
                  <a:schemeClr val="bg1">
                    <a:lumMod val="25000"/>
                  </a:schemeClr>
                </a:solidFill>
                <a:latin typeface="Times-Roman"/>
              </a:rPr>
              <a:t>zt</a:t>
            </a:r>
            <a:r>
              <a:rPr lang="en-US" sz="3000" dirty="0" smtClean="0">
                <a:solidFill>
                  <a:schemeClr val="bg1">
                    <a:lumMod val="25000"/>
                  </a:schemeClr>
                </a:solidFill>
                <a:latin typeface="Times-Roman"/>
              </a:rPr>
              <a:t> is </a:t>
            </a:r>
            <a:r>
              <a:rPr lang="en-US" sz="3000" dirty="0">
                <a:solidFill>
                  <a:schemeClr val="bg1">
                    <a:lumMod val="25000"/>
                  </a:schemeClr>
                </a:solidFill>
                <a:latin typeface="Times-Roman"/>
              </a:rPr>
              <a:t>the </a:t>
            </a:r>
            <a:r>
              <a:rPr lang="en-US" sz="3000" dirty="0" err="1">
                <a:solidFill>
                  <a:schemeClr val="bg1">
                    <a:lumMod val="25000"/>
                  </a:schemeClr>
                </a:solidFill>
                <a:latin typeface="Times-Roman"/>
              </a:rPr>
              <a:t>spatiogram</a:t>
            </a:r>
            <a:r>
              <a:rPr lang="en-US" sz="3000" dirty="0">
                <a:solidFill>
                  <a:schemeClr val="bg1">
                    <a:lumMod val="25000"/>
                  </a:schemeClr>
                </a:solidFill>
                <a:latin typeface="Times-Roman"/>
              </a:rPr>
              <a:t> of the candidate region, then we can </a:t>
            </a:r>
            <a:r>
              <a:rPr lang="en-US" sz="3000" dirty="0" smtClean="0">
                <a:solidFill>
                  <a:schemeClr val="bg1">
                    <a:lumMod val="25000"/>
                  </a:schemeClr>
                </a:solidFill>
                <a:latin typeface="Times-Roman"/>
              </a:rPr>
              <a:t>say,</a:t>
            </a: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endParaRPr lang="en-US" sz="3000" dirty="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An </a:t>
            </a:r>
            <a:r>
              <a:rPr lang="en-US" sz="3000" dirty="0">
                <a:solidFill>
                  <a:schemeClr val="bg1">
                    <a:lumMod val="25000"/>
                  </a:schemeClr>
                </a:solidFill>
                <a:latin typeface="Times-Roman"/>
              </a:rPr>
              <a:t>advantage of Condensation over other tracking methods is </a:t>
            </a:r>
            <a:r>
              <a:rPr lang="en-US" sz="3000" dirty="0" smtClean="0">
                <a:solidFill>
                  <a:schemeClr val="bg1">
                    <a:lumMod val="25000"/>
                  </a:schemeClr>
                </a:solidFill>
                <a:latin typeface="Times-Roman"/>
              </a:rPr>
              <a:t>that it </a:t>
            </a:r>
            <a:r>
              <a:rPr lang="en-US" sz="3000" dirty="0">
                <a:solidFill>
                  <a:schemeClr val="bg1">
                    <a:lumMod val="25000"/>
                  </a:schemeClr>
                </a:solidFill>
                <a:latin typeface="Times-Roman"/>
              </a:rPr>
              <a:t>places little constraints on the motion and observation model </a:t>
            </a:r>
            <a:r>
              <a:rPr lang="en-US" sz="3000" dirty="0" smtClean="0">
                <a:solidFill>
                  <a:schemeClr val="bg1">
                    <a:lumMod val="25000"/>
                  </a:schemeClr>
                </a:solidFill>
                <a:latin typeface="Times-Roman"/>
              </a:rPr>
              <a:t>except that </a:t>
            </a:r>
            <a:r>
              <a:rPr lang="en-US" sz="3000" dirty="0">
                <a:solidFill>
                  <a:schemeClr val="bg1">
                    <a:lumMod val="25000"/>
                  </a:schemeClr>
                </a:solidFill>
                <a:latin typeface="Times-Roman"/>
              </a:rPr>
              <a:t>they can be evaluated on each particle</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This advantage is </a:t>
            </a:r>
            <a:r>
              <a:rPr lang="en-US" sz="3000" dirty="0" smtClean="0">
                <a:solidFill>
                  <a:schemeClr val="bg1">
                    <a:lumMod val="25000"/>
                  </a:schemeClr>
                </a:solidFill>
                <a:latin typeface="Times-Roman"/>
              </a:rPr>
              <a:t>bought at </a:t>
            </a:r>
            <a:r>
              <a:rPr lang="en-US" sz="3000" dirty="0">
                <a:solidFill>
                  <a:schemeClr val="bg1">
                    <a:lumMod val="25000"/>
                  </a:schemeClr>
                </a:solidFill>
                <a:latin typeface="Times-Roman"/>
              </a:rPr>
              <a:t>the cost of needing a large number of particles for accurate results</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This is also the reason it is a good choice for cluster </a:t>
            </a:r>
            <a:r>
              <a:rPr lang="en-US" sz="3000" dirty="0" smtClean="0">
                <a:solidFill>
                  <a:schemeClr val="bg1">
                    <a:lumMod val="25000"/>
                  </a:schemeClr>
                </a:solidFill>
                <a:latin typeface="Times-Roman"/>
              </a:rPr>
              <a:t>implementation since</a:t>
            </a:r>
            <a:r>
              <a:rPr lang="en-US" sz="3000" dirty="0">
                <a:solidFill>
                  <a:schemeClr val="bg1">
                    <a:lumMod val="25000"/>
                  </a:schemeClr>
                </a:solidFill>
                <a:latin typeface="Times-Roman"/>
              </a:rPr>
              <a:t>, </a:t>
            </a:r>
            <a:r>
              <a:rPr lang="en-US" sz="3000" dirty="0" smtClean="0">
                <a:solidFill>
                  <a:schemeClr val="bg1">
                    <a:lumMod val="25000"/>
                  </a:schemeClr>
                </a:solidFill>
                <a:latin typeface="Times-Roman"/>
              </a:rPr>
              <a:t>the </a:t>
            </a:r>
            <a:r>
              <a:rPr lang="en-US" sz="3000" dirty="0">
                <a:solidFill>
                  <a:schemeClr val="bg1">
                    <a:lumMod val="25000"/>
                  </a:schemeClr>
                </a:solidFill>
                <a:latin typeface="Times-Roman"/>
              </a:rPr>
              <a:t>operations on each particle </a:t>
            </a:r>
            <a:r>
              <a:rPr lang="en-US" sz="3000" dirty="0" smtClean="0">
                <a:solidFill>
                  <a:schemeClr val="bg1">
                    <a:lumMod val="25000"/>
                  </a:schemeClr>
                </a:solidFill>
                <a:latin typeface="Times-Roman"/>
              </a:rPr>
              <a:t>are independent</a:t>
            </a:r>
            <a:r>
              <a:rPr lang="en-US" sz="3000" dirty="0">
                <a:solidFill>
                  <a:schemeClr val="bg1">
                    <a:lumMod val="25000"/>
                  </a:schemeClr>
                </a:solidFill>
                <a:latin typeface="Times-Roman"/>
              </a:rPr>
              <a:t>.</a:t>
            </a:r>
            <a:endParaRPr lang="en-US" sz="3000" dirty="0" smtClean="0">
              <a:solidFill>
                <a:schemeClr val="bg1">
                  <a:lumMod val="25000"/>
                </a:schemeClr>
              </a:solidFill>
              <a:latin typeface="Times-Roman"/>
            </a:endParaRPr>
          </a:p>
        </p:txBody>
      </p:sp>
      <p:pic>
        <p:nvPicPr>
          <p:cNvPr id="3" name="Picture 2"/>
          <p:cNvPicPr>
            <a:picLocks noChangeAspect="1"/>
          </p:cNvPicPr>
          <p:nvPr/>
        </p:nvPicPr>
        <p:blipFill>
          <a:blip r:embed="rId2"/>
          <a:stretch>
            <a:fillRect/>
          </a:stretch>
        </p:blipFill>
        <p:spPr>
          <a:xfrm>
            <a:off x="2863973" y="1935497"/>
            <a:ext cx="5244857" cy="983411"/>
          </a:xfrm>
          <a:prstGeom prst="rect">
            <a:avLst/>
          </a:prstGeom>
          <a:ln w="28575">
            <a:solidFill>
              <a:schemeClr val="tx1"/>
            </a:solidFill>
          </a:ln>
        </p:spPr>
      </p:pic>
    </p:spTree>
    <p:extLst>
      <p:ext uri="{BB962C8B-B14F-4D97-AF65-F5344CB8AC3E}">
        <p14:creationId xmlns:p14="http://schemas.microsoft.com/office/powerpoint/2010/main" val="2636301272"/>
      </p:ext>
    </p:extLst>
  </p:cSld>
  <p:clrMapOvr>
    <a:masterClrMapping/>
  </p:clrMapOvr>
  <p:transition spd="med"/>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94</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29699" y="1162852"/>
                <a:ext cx="11407140" cy="5171031"/>
              </a:xfrm>
              <a:prstGeom prst="rect">
                <a:avLst/>
              </a:prstGeom>
            </p:spPr>
            <p:txBody>
              <a:bodyPr wrap="square">
                <a:spAutoFit/>
              </a:bodyPr>
              <a:lstStyle/>
              <a:p>
                <a:pPr algn="just"/>
                <a:r>
                  <a:rPr lang="en-US" sz="3000" b="1" dirty="0" smtClean="0">
                    <a:solidFill>
                      <a:schemeClr val="accent6">
                        <a:lumMod val="75000"/>
                      </a:schemeClr>
                    </a:solidFill>
                    <a:latin typeface="Times-Roman"/>
                  </a:rPr>
                  <a:t>CONDENSATION Algorithm:</a:t>
                </a:r>
              </a:p>
              <a:p>
                <a:pPr marL="514350" indent="-514350" algn="just">
                  <a:buAutoNum type="arabicParenBoth"/>
                </a:pPr>
                <a:r>
                  <a:rPr lang="en-US" sz="3000" dirty="0" smtClean="0">
                    <a:solidFill>
                      <a:schemeClr val="bg1">
                        <a:lumMod val="25000"/>
                      </a:schemeClr>
                    </a:solidFill>
                    <a:latin typeface="Times-Roman"/>
                  </a:rPr>
                  <a:t>The </a:t>
                </a:r>
                <a:r>
                  <a:rPr lang="en-US" sz="3000" dirty="0">
                    <a:solidFill>
                      <a:schemeClr val="bg1">
                        <a:lumMod val="25000"/>
                      </a:schemeClr>
                    </a:solidFill>
                    <a:latin typeface="Times-Roman"/>
                  </a:rPr>
                  <a:t>algorithm starts at step t−1 with a collection </a:t>
                </a:r>
                <a14:m>
                  <m:oMath xmlns:m="http://schemas.openxmlformats.org/officeDocument/2006/math">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𝑆</m:t>
                        </m:r>
                      </m:e>
                      <m:sub>
                        <m:r>
                          <a:rPr lang="en-US" sz="3000" b="0" i="1" smtClean="0">
                            <a:solidFill>
                              <a:schemeClr val="bg1">
                                <a:lumMod val="25000"/>
                              </a:schemeClr>
                            </a:solidFill>
                            <a:latin typeface="Cambria Math" panose="02040503050406030204" pitchFamily="18" charset="0"/>
                          </a:rPr>
                          <m:t>𝑡</m:t>
                        </m:r>
                        <m:r>
                          <a:rPr lang="en-US" sz="3000" b="0" i="1" smtClean="0">
                            <a:solidFill>
                              <a:schemeClr val="bg1">
                                <a:lumMod val="25000"/>
                              </a:schemeClr>
                            </a:solidFill>
                            <a:latin typeface="Cambria Math" panose="02040503050406030204" pitchFamily="18" charset="0"/>
                          </a:rPr>
                          <m:t>−1</m:t>
                        </m:r>
                      </m:sub>
                    </m:sSub>
                  </m:oMath>
                </a14:m>
                <a:r>
                  <a:rPr lang="en-US" sz="3000" dirty="0" smtClean="0">
                    <a:solidFill>
                      <a:schemeClr val="bg1">
                        <a:lumMod val="25000"/>
                      </a:schemeClr>
                    </a:solidFill>
                    <a:latin typeface="Times-Roman"/>
                  </a:rPr>
                  <a:t> </a:t>
                </a:r>
                <a:r>
                  <a:rPr lang="en-US" sz="3000" dirty="0">
                    <a:solidFill>
                      <a:schemeClr val="bg1">
                        <a:lumMod val="25000"/>
                      </a:schemeClr>
                    </a:solidFill>
                    <a:latin typeface="Times-Roman"/>
                  </a:rPr>
                  <a:t>of n particles </a:t>
                </a:r>
                <a14:m>
                  <m:oMath xmlns:m="http://schemas.openxmlformats.org/officeDocument/2006/math">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𝑥</m:t>
                        </m:r>
                      </m:e>
                      <m:sub>
                        <m:r>
                          <a:rPr lang="en-US" sz="3000" b="0" i="1" smtClean="0">
                            <a:solidFill>
                              <a:schemeClr val="bg1">
                                <a:lumMod val="25000"/>
                              </a:schemeClr>
                            </a:solidFill>
                            <a:latin typeface="Cambria Math" panose="02040503050406030204" pitchFamily="18" charset="0"/>
                          </a:rPr>
                          <m:t>𝑖</m:t>
                        </m:r>
                      </m:sub>
                    </m:sSub>
                  </m:oMath>
                </a14:m>
                <a:r>
                  <a:rPr lang="en-US" sz="3000" dirty="0" smtClean="0">
                    <a:solidFill>
                      <a:schemeClr val="bg1">
                        <a:lumMod val="25000"/>
                      </a:schemeClr>
                    </a:solidFill>
                    <a:latin typeface="Times-Roman"/>
                  </a:rPr>
                  <a:t> for </a:t>
                </a:r>
                <a:r>
                  <a:rPr lang="en-US" sz="3000" dirty="0" err="1">
                    <a:solidFill>
                      <a:schemeClr val="bg1">
                        <a:lumMod val="25000"/>
                      </a:schemeClr>
                    </a:solidFill>
                    <a:latin typeface="Times-Roman"/>
                  </a:rPr>
                  <a:t>i</a:t>
                </a:r>
                <a:r>
                  <a:rPr lang="en-US" sz="3000" dirty="0">
                    <a:solidFill>
                      <a:schemeClr val="bg1">
                        <a:lumMod val="25000"/>
                      </a:schemeClr>
                    </a:solidFill>
                    <a:latin typeface="Times-Roman"/>
                  </a:rPr>
                  <a:t> ∈ {1, . . . ,N} representing the location of a target being </a:t>
                </a:r>
                <a:r>
                  <a:rPr lang="en-US" sz="3000" dirty="0" smtClean="0">
                    <a:solidFill>
                      <a:schemeClr val="bg1">
                        <a:lumMod val="25000"/>
                      </a:schemeClr>
                    </a:solidFill>
                    <a:latin typeface="Times-Roman"/>
                  </a:rPr>
                  <a:t>tracked in </a:t>
                </a:r>
                <a:r>
                  <a:rPr lang="en-US" sz="3000" dirty="0">
                    <a:solidFill>
                      <a:schemeClr val="bg1">
                        <a:lumMod val="25000"/>
                      </a:schemeClr>
                    </a:solidFill>
                    <a:latin typeface="Times-Roman"/>
                  </a:rPr>
                  <a:t>the image</a:t>
                </a:r>
                <a:r>
                  <a:rPr lang="en-US" sz="3000" dirty="0" smtClean="0">
                    <a:solidFill>
                      <a:schemeClr val="bg1">
                        <a:lumMod val="25000"/>
                      </a:schemeClr>
                    </a:solidFill>
                    <a:latin typeface="Times-Roman"/>
                  </a:rPr>
                  <a:t>.</a:t>
                </a:r>
              </a:p>
              <a:p>
                <a:pPr marL="514350" indent="-514350" algn="just">
                  <a:buAutoNum type="arabicParenBoth"/>
                </a:pPr>
                <a:r>
                  <a:rPr lang="en-US" sz="3000" dirty="0">
                    <a:solidFill>
                      <a:schemeClr val="bg1">
                        <a:lumMod val="25000"/>
                      </a:schemeClr>
                    </a:solidFill>
                    <a:latin typeface="Times-Roman"/>
                  </a:rPr>
                  <a:t>The motion model for the target: </a:t>
                </a:r>
                <a14:m>
                  <m:oMath xmlns:m="http://schemas.openxmlformats.org/officeDocument/2006/math">
                    <m:r>
                      <a:rPr lang="en-US" sz="3000" b="0" i="1" smtClean="0">
                        <a:solidFill>
                          <a:schemeClr val="bg1">
                            <a:lumMod val="25000"/>
                          </a:schemeClr>
                        </a:solidFill>
                        <a:latin typeface="Cambria Math" panose="02040503050406030204" pitchFamily="18" charset="0"/>
                      </a:rPr>
                      <m:t>𝑝</m:t>
                    </m:r>
                    <m:r>
                      <a:rPr lang="en-US" sz="3000" b="0" i="1" smtClean="0">
                        <a:solidFill>
                          <a:schemeClr val="bg1">
                            <a:lumMod val="25000"/>
                          </a:schemeClr>
                        </a:solidFill>
                        <a:latin typeface="Cambria Math" panose="02040503050406030204" pitchFamily="18" charset="0"/>
                      </a:rPr>
                      <m:t>(</m:t>
                    </m:r>
                    <m:sSubSup>
                      <m:sSubSupPr>
                        <m:ctrlPr>
                          <a:rPr lang="en-US" sz="3000" b="0" i="1" smtClean="0">
                            <a:solidFill>
                              <a:schemeClr val="bg1">
                                <a:lumMod val="25000"/>
                              </a:schemeClr>
                            </a:solidFill>
                            <a:latin typeface="Cambria Math" panose="02040503050406030204" pitchFamily="18" charset="0"/>
                          </a:rPr>
                        </m:ctrlPr>
                      </m:sSubSupPr>
                      <m:e>
                        <m:r>
                          <a:rPr lang="en-US" sz="3000" b="0" i="1" smtClean="0">
                            <a:solidFill>
                              <a:schemeClr val="bg1">
                                <a:lumMod val="25000"/>
                              </a:schemeClr>
                            </a:solidFill>
                            <a:latin typeface="Cambria Math" panose="02040503050406030204" pitchFamily="18" charset="0"/>
                          </a:rPr>
                          <m:t>𝑥</m:t>
                        </m:r>
                      </m:e>
                      <m:sub>
                        <m:r>
                          <a:rPr lang="en-US" sz="3000" b="0" i="1" smtClean="0">
                            <a:solidFill>
                              <a:schemeClr val="bg1">
                                <a:lumMod val="25000"/>
                              </a:schemeClr>
                            </a:solidFill>
                            <a:latin typeface="Cambria Math" panose="02040503050406030204" pitchFamily="18" charset="0"/>
                          </a:rPr>
                          <m:t>𝑖</m:t>
                        </m:r>
                      </m:sub>
                      <m:sup>
                        <m:r>
                          <a:rPr lang="en-US" sz="3000" b="0" i="1" smtClean="0">
                            <a:solidFill>
                              <a:schemeClr val="bg1">
                                <a:lumMod val="25000"/>
                              </a:schemeClr>
                            </a:solidFill>
                            <a:latin typeface="Cambria Math" panose="02040503050406030204" pitchFamily="18" charset="0"/>
                          </a:rPr>
                          <m:t>′</m:t>
                        </m:r>
                      </m:sup>
                    </m:sSubSup>
                    <m:r>
                      <a:rPr lang="en-US" sz="3000" b="0" i="1" smtClean="0">
                        <a:solidFill>
                          <a:schemeClr val="bg1">
                            <a:lumMod val="25000"/>
                          </a:schemeClr>
                        </a:solidFill>
                        <a:latin typeface="Cambria Math" panose="02040503050406030204" pitchFamily="18" charset="0"/>
                      </a:rPr>
                      <m:t>|</m:t>
                    </m:r>
                    <m:sSub>
                      <m:sSubPr>
                        <m:ctrlPr>
                          <a:rPr lang="en-US" sz="3000" b="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𝑥</m:t>
                        </m:r>
                      </m:e>
                      <m:sub>
                        <m:r>
                          <a:rPr lang="en-US" sz="3000" b="0" i="1" smtClean="0">
                            <a:solidFill>
                              <a:schemeClr val="bg1">
                                <a:lumMod val="25000"/>
                              </a:schemeClr>
                            </a:solidFill>
                            <a:latin typeface="Cambria Math" panose="02040503050406030204" pitchFamily="18" charset="0"/>
                          </a:rPr>
                          <m:t>𝑖</m:t>
                        </m:r>
                      </m:sub>
                    </m:sSub>
                    <m:r>
                      <a:rPr lang="en-US" sz="3000" b="0" i="1" smtClean="0">
                        <a:solidFill>
                          <a:schemeClr val="bg1">
                            <a:lumMod val="25000"/>
                          </a:schemeClr>
                        </a:solidFill>
                        <a:latin typeface="Cambria Math" panose="02040503050406030204" pitchFamily="18" charset="0"/>
                      </a:rPr>
                      <m:t>)</m:t>
                    </m:r>
                  </m:oMath>
                </a14:m>
                <a:r>
                  <a:rPr lang="en-US" sz="3000" dirty="0" smtClean="0">
                    <a:solidFill>
                      <a:schemeClr val="bg1">
                        <a:lumMod val="25000"/>
                      </a:schemeClr>
                    </a:solidFill>
                    <a:latin typeface="Times-Roman"/>
                  </a:rPr>
                  <a:t> </a:t>
                </a:r>
                <a:r>
                  <a:rPr lang="en-US" sz="3000" dirty="0">
                    <a:solidFill>
                      <a:schemeClr val="bg1">
                        <a:lumMod val="25000"/>
                      </a:schemeClr>
                    </a:solidFill>
                    <a:latin typeface="Times-Roman"/>
                  </a:rPr>
                  <a:t>is used to propagate </a:t>
                </a:r>
                <a:r>
                  <a:rPr lang="en-US" sz="3000" dirty="0" smtClean="0">
                    <a:solidFill>
                      <a:schemeClr val="bg1">
                        <a:lumMod val="25000"/>
                      </a:schemeClr>
                    </a:solidFill>
                    <a:latin typeface="Times-Roman"/>
                  </a:rPr>
                  <a:t>each particle’s </a:t>
                </a:r>
                <a:r>
                  <a:rPr lang="en-US" sz="3000" dirty="0">
                    <a:solidFill>
                      <a:schemeClr val="bg1">
                        <a:lumMod val="25000"/>
                      </a:schemeClr>
                    </a:solidFill>
                    <a:latin typeface="Times-Roman"/>
                  </a:rPr>
                  <a:t>state. The new collection </a:t>
                </a:r>
                <a14:m>
                  <m:oMath xmlns:m="http://schemas.openxmlformats.org/officeDocument/2006/math">
                    <m:sSubSup>
                      <m:sSubSupPr>
                        <m:ctrlPr>
                          <a:rPr lang="en-US" sz="3000" i="1" smtClean="0">
                            <a:solidFill>
                              <a:schemeClr val="bg1">
                                <a:lumMod val="25000"/>
                              </a:schemeClr>
                            </a:solidFill>
                            <a:latin typeface="Cambria Math" panose="02040503050406030204" pitchFamily="18" charset="0"/>
                          </a:rPr>
                        </m:ctrlPr>
                      </m:sSubSupPr>
                      <m:e>
                        <m:r>
                          <a:rPr lang="en-US" sz="3000" b="0" i="1" smtClean="0">
                            <a:solidFill>
                              <a:schemeClr val="bg1">
                                <a:lumMod val="25000"/>
                              </a:schemeClr>
                            </a:solidFill>
                            <a:latin typeface="Cambria Math" panose="02040503050406030204" pitchFamily="18" charset="0"/>
                          </a:rPr>
                          <m:t>𝑆</m:t>
                        </m:r>
                      </m:e>
                      <m:sub>
                        <m:r>
                          <a:rPr lang="en-US" sz="3000" b="0" i="1" smtClean="0">
                            <a:solidFill>
                              <a:schemeClr val="bg1">
                                <a:lumMod val="25000"/>
                              </a:schemeClr>
                            </a:solidFill>
                            <a:latin typeface="Cambria Math" panose="02040503050406030204" pitchFamily="18" charset="0"/>
                          </a:rPr>
                          <m:t>𝑡</m:t>
                        </m:r>
                      </m:sub>
                      <m:sup>
                        <m:r>
                          <a:rPr lang="en-US" sz="3000" b="0" i="1" smtClean="0">
                            <a:solidFill>
                              <a:schemeClr val="bg1">
                                <a:lumMod val="25000"/>
                              </a:schemeClr>
                            </a:solidFill>
                            <a:latin typeface="Cambria Math" panose="02040503050406030204" pitchFamily="18" charset="0"/>
                          </a:rPr>
                          <m:t>′</m:t>
                        </m:r>
                      </m:sup>
                    </m:sSubSup>
                  </m:oMath>
                </a14:m>
                <a:r>
                  <a:rPr lang="en-US" sz="3000" dirty="0" smtClean="0">
                    <a:solidFill>
                      <a:schemeClr val="bg1">
                        <a:lumMod val="25000"/>
                      </a:schemeClr>
                    </a:solidFill>
                    <a:latin typeface="Times-Roman"/>
                  </a:rPr>
                  <a:t> represents </a:t>
                </a:r>
                <a:r>
                  <a:rPr lang="en-US" sz="3000" dirty="0">
                    <a:solidFill>
                      <a:schemeClr val="bg1">
                        <a:lumMod val="25000"/>
                      </a:schemeClr>
                    </a:solidFill>
                    <a:latin typeface="Times-Roman"/>
                  </a:rPr>
                  <a:t>all the locations </a:t>
                </a:r>
                <a:r>
                  <a:rPr lang="en-US" sz="3000" dirty="0" smtClean="0">
                    <a:solidFill>
                      <a:schemeClr val="bg1">
                        <a:lumMod val="25000"/>
                      </a:schemeClr>
                    </a:solidFill>
                    <a:latin typeface="Times-Roman"/>
                  </a:rPr>
                  <a:t>that the </a:t>
                </a:r>
                <a:r>
                  <a:rPr lang="en-US" sz="3000" dirty="0">
                    <a:solidFill>
                      <a:schemeClr val="bg1">
                        <a:lumMod val="25000"/>
                      </a:schemeClr>
                    </a:solidFill>
                    <a:latin typeface="Times-Roman"/>
                  </a:rPr>
                  <a:t>target could have moved to when starting </a:t>
                </a:r>
                <a:r>
                  <a:rPr lang="en-US" sz="3000" dirty="0" smtClean="0">
                    <a:solidFill>
                      <a:schemeClr val="bg1">
                        <a:lumMod val="25000"/>
                      </a:schemeClr>
                    </a:solidFill>
                    <a:latin typeface="Times-Roman"/>
                  </a:rPr>
                  <a:t>from </a:t>
                </a:r>
                <a14:m>
                  <m:oMath xmlns:m="http://schemas.openxmlformats.org/officeDocument/2006/math">
                    <m:sSub>
                      <m:sSubPr>
                        <m:ctrlPr>
                          <a:rPr lang="en-US" sz="3000" i="1">
                            <a:solidFill>
                              <a:schemeClr val="bg1">
                                <a:lumMod val="25000"/>
                              </a:schemeClr>
                            </a:solidFill>
                            <a:latin typeface="Cambria Math" panose="02040503050406030204" pitchFamily="18" charset="0"/>
                          </a:rPr>
                        </m:ctrlPr>
                      </m:sSubPr>
                      <m:e>
                        <m:r>
                          <a:rPr lang="en-US" sz="3000" i="1">
                            <a:solidFill>
                              <a:schemeClr val="bg1">
                                <a:lumMod val="25000"/>
                              </a:schemeClr>
                            </a:solidFill>
                            <a:latin typeface="Cambria Math" panose="02040503050406030204" pitchFamily="18" charset="0"/>
                          </a:rPr>
                          <m:t>𝑆</m:t>
                        </m:r>
                      </m:e>
                      <m:sub>
                        <m:r>
                          <a:rPr lang="en-US" sz="3000" i="1">
                            <a:solidFill>
                              <a:schemeClr val="bg1">
                                <a:lumMod val="25000"/>
                              </a:schemeClr>
                            </a:solidFill>
                            <a:latin typeface="Cambria Math" panose="02040503050406030204" pitchFamily="18" charset="0"/>
                          </a:rPr>
                          <m:t>𝑡</m:t>
                        </m:r>
                        <m:r>
                          <a:rPr lang="en-US" sz="3000" i="1">
                            <a:solidFill>
                              <a:schemeClr val="bg1">
                                <a:lumMod val="25000"/>
                              </a:schemeClr>
                            </a:solidFill>
                            <a:latin typeface="Cambria Math" panose="02040503050406030204" pitchFamily="18" charset="0"/>
                          </a:rPr>
                          <m:t>−1</m:t>
                        </m:r>
                      </m:sub>
                    </m:sSub>
                  </m:oMath>
                </a14:m>
                <a:r>
                  <a:rPr lang="en-US" sz="3000" dirty="0" smtClean="0">
                    <a:solidFill>
                      <a:schemeClr val="bg1">
                        <a:lumMod val="25000"/>
                      </a:schemeClr>
                    </a:solidFill>
                    <a:latin typeface="Times-Roman"/>
                  </a:rPr>
                  <a:t>.</a:t>
                </a:r>
              </a:p>
              <a:p>
                <a:pPr marL="514350" indent="-514350" algn="just">
                  <a:buAutoNum type="arabicParenBoth"/>
                </a:pPr>
                <a:r>
                  <a:rPr lang="en-US" sz="3000" dirty="0">
                    <a:solidFill>
                      <a:schemeClr val="bg1">
                        <a:lumMod val="25000"/>
                      </a:schemeClr>
                    </a:solidFill>
                    <a:latin typeface="Times-Roman"/>
                  </a:rPr>
                  <a:t>The observation model </a:t>
                </a:r>
                <a14:m>
                  <m:oMath xmlns:m="http://schemas.openxmlformats.org/officeDocument/2006/math">
                    <m:r>
                      <a:rPr lang="en-US" sz="3000" i="1">
                        <a:solidFill>
                          <a:schemeClr val="bg1">
                            <a:lumMod val="25000"/>
                          </a:schemeClr>
                        </a:solidFill>
                        <a:latin typeface="Cambria Math" panose="02040503050406030204" pitchFamily="18" charset="0"/>
                      </a:rPr>
                      <m:t>𝑝</m:t>
                    </m:r>
                    <m:r>
                      <a:rPr lang="en-US" sz="3000" i="1">
                        <a:solidFill>
                          <a:schemeClr val="bg1">
                            <a:lumMod val="25000"/>
                          </a:schemeClr>
                        </a:solidFill>
                        <a:latin typeface="Cambria Math" panose="02040503050406030204" pitchFamily="18" charset="0"/>
                      </a:rPr>
                      <m:t>(</m:t>
                    </m:r>
                    <m:sSubSup>
                      <m:sSubSupPr>
                        <m:ctrlPr>
                          <a:rPr lang="en-US" sz="3000" i="1">
                            <a:solidFill>
                              <a:schemeClr val="bg1">
                                <a:lumMod val="25000"/>
                              </a:schemeClr>
                            </a:solidFill>
                            <a:latin typeface="Cambria Math" panose="02040503050406030204" pitchFamily="18" charset="0"/>
                          </a:rPr>
                        </m:ctrlPr>
                      </m:sSubSupPr>
                      <m:e>
                        <m:r>
                          <a:rPr lang="en-US" sz="3000" b="0" i="1" smtClean="0">
                            <a:solidFill>
                              <a:schemeClr val="bg1">
                                <a:lumMod val="25000"/>
                              </a:schemeClr>
                            </a:solidFill>
                            <a:latin typeface="Cambria Math" panose="02040503050406030204" pitchFamily="18" charset="0"/>
                          </a:rPr>
                          <m:t>𝑧</m:t>
                        </m:r>
                      </m:e>
                      <m:sub>
                        <m:r>
                          <a:rPr lang="en-US" sz="3000" i="1">
                            <a:solidFill>
                              <a:schemeClr val="bg1">
                                <a:lumMod val="25000"/>
                              </a:schemeClr>
                            </a:solidFill>
                            <a:latin typeface="Cambria Math" panose="02040503050406030204" pitchFamily="18" charset="0"/>
                          </a:rPr>
                          <m:t>𝑖</m:t>
                        </m:r>
                      </m:sub>
                      <m:sup>
                        <m:r>
                          <a:rPr lang="en-US" sz="3000" i="1">
                            <a:solidFill>
                              <a:schemeClr val="bg1">
                                <a:lumMod val="25000"/>
                              </a:schemeClr>
                            </a:solidFill>
                            <a:latin typeface="Cambria Math" panose="02040503050406030204" pitchFamily="18" charset="0"/>
                          </a:rPr>
                          <m:t>′</m:t>
                        </m:r>
                      </m:sup>
                    </m:sSubSup>
                    <m:r>
                      <a:rPr lang="en-US" sz="3000" i="1">
                        <a:solidFill>
                          <a:schemeClr val="bg1">
                            <a:lumMod val="25000"/>
                          </a:schemeClr>
                        </a:solidFill>
                        <a:latin typeface="Cambria Math" panose="02040503050406030204" pitchFamily="18" charset="0"/>
                      </a:rPr>
                      <m:t>|</m:t>
                    </m:r>
                    <m:sSubSup>
                      <m:sSubSupPr>
                        <m:ctrlPr>
                          <a:rPr lang="en-US" sz="3000" i="1">
                            <a:solidFill>
                              <a:schemeClr val="bg1">
                                <a:lumMod val="25000"/>
                              </a:schemeClr>
                            </a:solidFill>
                            <a:latin typeface="Cambria Math" panose="02040503050406030204" pitchFamily="18" charset="0"/>
                          </a:rPr>
                        </m:ctrlPr>
                      </m:sSubSupPr>
                      <m:e>
                        <m:r>
                          <a:rPr lang="en-US" sz="3000" i="1">
                            <a:solidFill>
                              <a:schemeClr val="bg1">
                                <a:lumMod val="25000"/>
                              </a:schemeClr>
                            </a:solidFill>
                            <a:latin typeface="Cambria Math" panose="02040503050406030204" pitchFamily="18" charset="0"/>
                          </a:rPr>
                          <m:t>𝑥</m:t>
                        </m:r>
                      </m:e>
                      <m:sub>
                        <m:r>
                          <a:rPr lang="en-US" sz="3000" i="1">
                            <a:solidFill>
                              <a:schemeClr val="bg1">
                                <a:lumMod val="25000"/>
                              </a:schemeClr>
                            </a:solidFill>
                            <a:latin typeface="Cambria Math" panose="02040503050406030204" pitchFamily="18" charset="0"/>
                          </a:rPr>
                          <m:t>𝑖</m:t>
                        </m:r>
                      </m:sub>
                      <m:sup>
                        <m:r>
                          <a:rPr lang="en-US" sz="3000" i="1">
                            <a:solidFill>
                              <a:schemeClr val="bg1">
                                <a:lumMod val="25000"/>
                              </a:schemeClr>
                            </a:solidFill>
                            <a:latin typeface="Cambria Math" panose="02040503050406030204" pitchFamily="18" charset="0"/>
                          </a:rPr>
                          <m:t>′</m:t>
                        </m:r>
                      </m:sup>
                    </m:sSubSup>
                    <m:r>
                      <a:rPr lang="en-US" sz="3000" i="1">
                        <a:solidFill>
                          <a:schemeClr val="bg1">
                            <a:lumMod val="25000"/>
                          </a:schemeClr>
                        </a:solidFill>
                        <a:latin typeface="Cambria Math" panose="02040503050406030204" pitchFamily="18" charset="0"/>
                      </a:rPr>
                      <m:t>) </m:t>
                    </m:r>
                  </m:oMath>
                </a14:m>
                <a:r>
                  <a:rPr lang="en-US" sz="3000" dirty="0">
                    <a:solidFill>
                      <a:schemeClr val="bg1">
                        <a:lumMod val="25000"/>
                      </a:schemeClr>
                    </a:solidFill>
                    <a:latin typeface="Times-Roman"/>
                  </a:rPr>
                  <a:t>is used to weight the particle. </a:t>
                </a:r>
                <a:r>
                  <a:rPr lang="en-US" sz="3000" dirty="0" smtClean="0">
                    <a:solidFill>
                      <a:schemeClr val="bg1">
                        <a:lumMod val="25000"/>
                      </a:schemeClr>
                    </a:solidFill>
                    <a:latin typeface="Times-Roman"/>
                  </a:rPr>
                  <a:t>The weights</a:t>
                </a:r>
                <a:r>
                  <a:rPr lang="en-US" sz="3000" dirty="0">
                    <a:solidFill>
                      <a:schemeClr val="bg1">
                        <a:lumMod val="25000"/>
                      </a:schemeClr>
                    </a:solidFill>
                    <a:latin typeface="Times-Roman"/>
                  </a:rPr>
                  <a:t>, </a:t>
                </a:r>
                <a:r>
                  <a:rPr lang="en-US" sz="3000" dirty="0" err="1">
                    <a:solidFill>
                      <a:schemeClr val="bg1">
                        <a:lumMod val="25000"/>
                      </a:schemeClr>
                    </a:solidFill>
                    <a:latin typeface="Times-Roman"/>
                  </a:rPr>
                  <a:t>wi</a:t>
                </a:r>
                <a:r>
                  <a:rPr lang="en-US" sz="3000" dirty="0">
                    <a:solidFill>
                      <a:schemeClr val="bg1">
                        <a:lumMod val="25000"/>
                      </a:schemeClr>
                    </a:solidFill>
                    <a:latin typeface="Times-Roman"/>
                  </a:rPr>
                  <a:t> for </a:t>
                </a:r>
                <a:r>
                  <a:rPr lang="en-US" sz="3000" dirty="0" err="1">
                    <a:solidFill>
                      <a:schemeClr val="bg1">
                        <a:lumMod val="25000"/>
                      </a:schemeClr>
                    </a:solidFill>
                    <a:latin typeface="Times-Roman"/>
                  </a:rPr>
                  <a:t>i</a:t>
                </a:r>
                <a:r>
                  <a:rPr lang="en-US" sz="3000" dirty="0">
                    <a:solidFill>
                      <a:schemeClr val="bg1">
                        <a:lumMod val="25000"/>
                      </a:schemeClr>
                    </a:solidFill>
                    <a:latin typeface="Times-Roman"/>
                  </a:rPr>
                  <a:t> ∈ {1, . . . ,N}, </a:t>
                </a:r>
                <a:r>
                  <a:rPr lang="en-US" sz="3000" dirty="0" smtClean="0">
                    <a:solidFill>
                      <a:schemeClr val="bg1">
                        <a:lumMod val="25000"/>
                      </a:schemeClr>
                    </a:solidFill>
                    <a:latin typeface="Times-Roman"/>
                  </a:rPr>
                  <a:t>are normalized</a:t>
                </a:r>
                <a:r>
                  <a:rPr lang="en-US" sz="3000" dirty="0">
                    <a:solidFill>
                      <a:schemeClr val="bg1">
                        <a:lumMod val="25000"/>
                      </a:schemeClr>
                    </a:solidFill>
                    <a:latin typeface="Times-Roman"/>
                  </a:rPr>
                  <a:t>, and a </a:t>
                </a:r>
                <a:r>
                  <a:rPr lang="en-US" sz="3000" dirty="0" smtClean="0">
                    <a:solidFill>
                      <a:schemeClr val="bg1">
                        <a:lumMod val="25000"/>
                      </a:schemeClr>
                    </a:solidFill>
                    <a:latin typeface="Times-Roman"/>
                  </a:rPr>
                  <a:t>cumulative weight </a:t>
                </a:r>
                <a:r>
                  <a:rPr lang="en-US" sz="3000" dirty="0">
                    <a:solidFill>
                      <a:schemeClr val="bg1">
                        <a:lumMod val="25000"/>
                      </a:schemeClr>
                    </a:solidFill>
                    <a:latin typeface="Times-Roman"/>
                  </a:rPr>
                  <a:t>is calculated for each particle.</a:t>
                </a:r>
                <a:endParaRPr lang="en-US" sz="3000" dirty="0" smtClean="0">
                  <a:solidFill>
                    <a:schemeClr val="bg1">
                      <a:lumMod val="25000"/>
                    </a:schemeClr>
                  </a:solidFill>
                  <a:latin typeface="Times-Roman"/>
                </a:endParaRPr>
              </a:p>
            </p:txBody>
          </p:sp>
        </mc:Choice>
        <mc:Fallback xmlns="">
          <p:sp>
            <p:nvSpPr>
              <p:cNvPr id="9" name="Rectangle 8"/>
              <p:cNvSpPr>
                <a:spLocks noRot="1" noChangeAspect="1" noMove="1" noResize="1" noEditPoints="1" noAdjustHandles="1" noChangeArrowheads="1" noChangeShapeType="1" noTextEdit="1"/>
              </p:cNvSpPr>
              <p:nvPr/>
            </p:nvSpPr>
            <p:spPr>
              <a:xfrm>
                <a:off x="29699" y="1162852"/>
                <a:ext cx="11407140" cy="5171031"/>
              </a:xfrm>
              <a:prstGeom prst="rect">
                <a:avLst/>
              </a:prstGeom>
              <a:blipFill>
                <a:blip r:embed="rId2"/>
                <a:stretch>
                  <a:fillRect l="-1283" t="-1533" r="-1229" b="-2712"/>
                </a:stretch>
              </a:blipFill>
            </p:spPr>
            <p:txBody>
              <a:bodyPr/>
              <a:lstStyle/>
              <a:p>
                <a:r>
                  <a:rPr lang="en-US">
                    <a:noFill/>
                  </a:rPr>
                  <a:t> </a:t>
                </a:r>
              </a:p>
            </p:txBody>
          </p:sp>
        </mc:Fallback>
      </mc:AlternateContent>
    </p:spTree>
    <p:extLst>
      <p:ext uri="{BB962C8B-B14F-4D97-AF65-F5344CB8AC3E}">
        <p14:creationId xmlns:p14="http://schemas.microsoft.com/office/powerpoint/2010/main" val="2977819765"/>
      </p:ext>
    </p:extLst>
  </p:cSld>
  <p:clrMapOvr>
    <a:masterClrMapping/>
  </p:clrMapOvr>
  <p:transition spd="med"/>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95</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29699" y="1162852"/>
                <a:ext cx="11407140" cy="1483035"/>
              </a:xfrm>
              <a:prstGeom prst="rect">
                <a:avLst/>
              </a:prstGeom>
            </p:spPr>
            <p:txBody>
              <a:bodyPr wrap="square">
                <a:spAutoFit/>
              </a:bodyPr>
              <a:lstStyle/>
              <a:p>
                <a:pPr algn="just"/>
                <a:r>
                  <a:rPr lang="en-US" sz="3000" dirty="0" smtClean="0">
                    <a:solidFill>
                      <a:schemeClr val="bg1">
                        <a:lumMod val="25000"/>
                      </a:schemeClr>
                    </a:solidFill>
                    <a:latin typeface="Times-Roman"/>
                  </a:rPr>
                  <a:t>(4) The set </a:t>
                </a:r>
                <a14:m>
                  <m:oMath xmlns:m="http://schemas.openxmlformats.org/officeDocument/2006/math">
                    <m:sSubSup>
                      <m:sSubSupPr>
                        <m:ctrlPr>
                          <a:rPr lang="en-US" sz="3000" i="1">
                            <a:solidFill>
                              <a:schemeClr val="bg1">
                                <a:lumMod val="25000"/>
                              </a:schemeClr>
                            </a:solidFill>
                            <a:latin typeface="Cambria Math" panose="02040503050406030204" pitchFamily="18" charset="0"/>
                          </a:rPr>
                        </m:ctrlPr>
                      </m:sSubSupPr>
                      <m:e>
                        <m:r>
                          <a:rPr lang="en-US" sz="3000" i="1">
                            <a:solidFill>
                              <a:schemeClr val="bg1">
                                <a:lumMod val="25000"/>
                              </a:schemeClr>
                            </a:solidFill>
                            <a:latin typeface="Cambria Math" panose="02040503050406030204" pitchFamily="18" charset="0"/>
                          </a:rPr>
                          <m:t>𝑆</m:t>
                        </m:r>
                      </m:e>
                      <m:sub>
                        <m:r>
                          <a:rPr lang="en-US" sz="3000" i="1">
                            <a:solidFill>
                              <a:schemeClr val="bg1">
                                <a:lumMod val="25000"/>
                              </a:schemeClr>
                            </a:solidFill>
                            <a:latin typeface="Cambria Math" panose="02040503050406030204" pitchFamily="18" charset="0"/>
                          </a:rPr>
                          <m:t>𝑡</m:t>
                        </m:r>
                      </m:sub>
                      <m:sup>
                        <m:r>
                          <a:rPr lang="en-US" sz="3000" i="1">
                            <a:solidFill>
                              <a:schemeClr val="bg1">
                                <a:lumMod val="25000"/>
                              </a:schemeClr>
                            </a:solidFill>
                            <a:latin typeface="Cambria Math" panose="02040503050406030204" pitchFamily="18" charset="0"/>
                          </a:rPr>
                          <m:t>′</m:t>
                        </m:r>
                      </m:sup>
                    </m:sSubSup>
                  </m:oMath>
                </a14:m>
                <a:r>
                  <a:rPr lang="en-US" sz="3000" dirty="0" smtClean="0">
                    <a:solidFill>
                      <a:schemeClr val="bg1">
                        <a:lumMod val="25000"/>
                      </a:schemeClr>
                    </a:solidFill>
                    <a:latin typeface="Times-Roman"/>
                  </a:rPr>
                  <a:t> </a:t>
                </a:r>
                <a:r>
                  <a:rPr lang="en-US" sz="3000" dirty="0">
                    <a:solidFill>
                      <a:schemeClr val="bg1">
                        <a:lumMod val="25000"/>
                      </a:schemeClr>
                    </a:solidFill>
                    <a:latin typeface="Times-Roman"/>
                  </a:rPr>
                  <a:t>is resampled so that higher weighted particles are </a:t>
                </a:r>
                <a:r>
                  <a:rPr lang="en-US" sz="3000" dirty="0" smtClean="0">
                    <a:solidFill>
                      <a:schemeClr val="bg1">
                        <a:lumMod val="25000"/>
                      </a:schemeClr>
                    </a:solidFill>
                    <a:latin typeface="Times-Roman"/>
                  </a:rPr>
                  <a:t>more likely </a:t>
                </a:r>
                <a:r>
                  <a:rPr lang="en-US" sz="3000" dirty="0">
                    <a:solidFill>
                      <a:schemeClr val="bg1">
                        <a:lumMod val="25000"/>
                      </a:schemeClr>
                    </a:solidFill>
                    <a:latin typeface="Times-Roman"/>
                  </a:rPr>
                  <a:t>to be selected to </a:t>
                </a:r>
                <a:r>
                  <a:rPr lang="en-US" sz="3000" dirty="0" smtClean="0">
                    <a:solidFill>
                      <a:schemeClr val="bg1">
                        <a:lumMod val="25000"/>
                      </a:schemeClr>
                    </a:solidFill>
                    <a:latin typeface="Times-Roman"/>
                  </a:rPr>
                  <a:t>produce</a:t>
                </a:r>
                <a14:m>
                  <m:oMath xmlns:m="http://schemas.openxmlformats.org/officeDocument/2006/math">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 </m:t>
                        </m:r>
                        <m:r>
                          <a:rPr lang="en-US" sz="3000" b="0" i="1" smtClean="0">
                            <a:solidFill>
                              <a:schemeClr val="bg1">
                                <a:lumMod val="25000"/>
                              </a:schemeClr>
                            </a:solidFill>
                            <a:latin typeface="Cambria Math" panose="02040503050406030204" pitchFamily="18" charset="0"/>
                          </a:rPr>
                          <m:t>𝑆</m:t>
                        </m:r>
                      </m:e>
                      <m:sub>
                        <m:r>
                          <a:rPr lang="en-US" sz="3000" b="0" i="1" smtClean="0">
                            <a:solidFill>
                              <a:schemeClr val="bg1">
                                <a:lumMod val="25000"/>
                              </a:schemeClr>
                            </a:solidFill>
                            <a:latin typeface="Cambria Math" panose="02040503050406030204" pitchFamily="18" charset="0"/>
                          </a:rPr>
                          <m:t>𝑡</m:t>
                        </m:r>
                        <m:r>
                          <a:rPr lang="en-US" sz="3000" b="0" i="1" smtClean="0">
                            <a:solidFill>
                              <a:schemeClr val="bg1">
                                <a:lumMod val="25000"/>
                              </a:schemeClr>
                            </a:solidFill>
                            <a:latin typeface="Cambria Math" panose="02040503050406030204" pitchFamily="18" charset="0"/>
                          </a:rPr>
                          <m:t>+1</m:t>
                        </m:r>
                      </m:sub>
                    </m:sSub>
                  </m:oMath>
                </a14:m>
                <a:r>
                  <a:rPr lang="en-US" sz="3000" dirty="0" smtClean="0">
                    <a:solidFill>
                      <a:schemeClr val="bg1">
                        <a:lumMod val="25000"/>
                      </a:schemeClr>
                    </a:solidFill>
                    <a:latin typeface="Times-Roman"/>
                  </a:rPr>
                  <a:t>. </a:t>
                </a:r>
              </a:p>
              <a:p>
                <a:pPr algn="just"/>
                <a:r>
                  <a:rPr lang="en-US" sz="3000" dirty="0" smtClean="0">
                    <a:solidFill>
                      <a:schemeClr val="bg1">
                        <a:lumMod val="25000"/>
                      </a:schemeClr>
                    </a:solidFill>
                    <a:latin typeface="Times-Roman"/>
                  </a:rPr>
                  <a:t>(5) The state of the target is calculated as the linear sum </a:t>
                </a:r>
                <a14:m>
                  <m:oMath xmlns:m="http://schemas.openxmlformats.org/officeDocument/2006/math">
                    <m:nary>
                      <m:naryPr>
                        <m:chr m:val="∑"/>
                        <m:ctrlPr>
                          <a:rPr lang="en-US" sz="3000" i="1" smtClean="0">
                            <a:solidFill>
                              <a:schemeClr val="bg1">
                                <a:lumMod val="25000"/>
                              </a:schemeClr>
                            </a:solidFill>
                            <a:latin typeface="Cambria Math" panose="02040503050406030204" pitchFamily="18" charset="0"/>
                          </a:rPr>
                        </m:ctrlPr>
                      </m:naryPr>
                      <m:sub>
                        <m:r>
                          <m:rPr>
                            <m:brk m:alnAt="23"/>
                          </m:rPr>
                          <a:rPr lang="en-US" sz="3000" b="0" i="1" smtClean="0">
                            <a:solidFill>
                              <a:schemeClr val="bg1">
                                <a:lumMod val="25000"/>
                              </a:schemeClr>
                            </a:solidFill>
                            <a:latin typeface="Cambria Math" panose="02040503050406030204" pitchFamily="18" charset="0"/>
                          </a:rPr>
                          <m:t>1</m:t>
                        </m:r>
                      </m:sub>
                      <m:sup>
                        <m:r>
                          <a:rPr lang="en-US" sz="3000" b="0" i="1" smtClean="0">
                            <a:solidFill>
                              <a:schemeClr val="bg1">
                                <a:lumMod val="25000"/>
                              </a:schemeClr>
                            </a:solidFill>
                            <a:latin typeface="Cambria Math" panose="02040503050406030204" pitchFamily="18" charset="0"/>
                          </a:rPr>
                          <m:t>𝑁</m:t>
                        </m:r>
                      </m:sup>
                      <m:e>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𝑤</m:t>
                            </m:r>
                          </m:e>
                          <m:sub>
                            <m:r>
                              <a:rPr lang="en-US" sz="3000" b="0" i="1" smtClean="0">
                                <a:solidFill>
                                  <a:schemeClr val="bg1">
                                    <a:lumMod val="25000"/>
                                  </a:schemeClr>
                                </a:solidFill>
                                <a:latin typeface="Cambria Math" panose="02040503050406030204" pitchFamily="18" charset="0"/>
                              </a:rPr>
                              <m:t>𝑖</m:t>
                            </m:r>
                          </m:sub>
                        </m:sSub>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𝑥</m:t>
                            </m:r>
                          </m:e>
                          <m:sub>
                            <m:r>
                              <a:rPr lang="en-US" sz="3000" b="0" i="1" smtClean="0">
                                <a:solidFill>
                                  <a:schemeClr val="bg1">
                                    <a:lumMod val="25000"/>
                                  </a:schemeClr>
                                </a:solidFill>
                                <a:latin typeface="Cambria Math" panose="02040503050406030204" pitchFamily="18" charset="0"/>
                              </a:rPr>
                              <m:t>𝑖</m:t>
                            </m:r>
                          </m:sub>
                        </m:sSub>
                      </m:e>
                    </m:nary>
                  </m:oMath>
                </a14:m>
                <a:r>
                  <a:rPr lang="en-US" sz="3000" dirty="0" smtClean="0">
                    <a:solidFill>
                      <a:schemeClr val="bg1">
                        <a:lumMod val="25000"/>
                      </a:schemeClr>
                    </a:solidFill>
                    <a:latin typeface="Times-Roman"/>
                  </a:rPr>
                  <a:t>.</a:t>
                </a:r>
              </a:p>
            </p:txBody>
          </p:sp>
        </mc:Choice>
        <mc:Fallback xmlns="">
          <p:sp>
            <p:nvSpPr>
              <p:cNvPr id="9" name="Rectangle 8"/>
              <p:cNvSpPr>
                <a:spLocks noRot="1" noChangeAspect="1" noMove="1" noResize="1" noEditPoints="1" noAdjustHandles="1" noChangeArrowheads="1" noChangeShapeType="1" noTextEdit="1"/>
              </p:cNvSpPr>
              <p:nvPr/>
            </p:nvSpPr>
            <p:spPr>
              <a:xfrm>
                <a:off x="29699" y="1162852"/>
                <a:ext cx="11407140" cy="1483035"/>
              </a:xfrm>
              <a:prstGeom prst="rect">
                <a:avLst/>
              </a:prstGeom>
              <a:blipFill>
                <a:blip r:embed="rId2"/>
                <a:stretch>
                  <a:fillRect l="-1283" t="-5350" r="-1229" b="-11934"/>
                </a:stretch>
              </a:blipFill>
            </p:spPr>
            <p:txBody>
              <a:bodyPr/>
              <a:lstStyle/>
              <a:p>
                <a:r>
                  <a:rPr lang="en-US">
                    <a:noFill/>
                  </a:rPr>
                  <a:t> </a:t>
                </a:r>
              </a:p>
            </p:txBody>
          </p:sp>
        </mc:Fallback>
      </mc:AlternateContent>
    </p:spTree>
    <p:extLst>
      <p:ext uri="{BB962C8B-B14F-4D97-AF65-F5344CB8AC3E}">
        <p14:creationId xmlns:p14="http://schemas.microsoft.com/office/powerpoint/2010/main" val="2611798966"/>
      </p:ext>
    </p:extLst>
  </p:cSld>
  <p:clrMapOvr>
    <a:masterClrMapping/>
  </p:clrMapOvr>
  <p:transition spd="med"/>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96</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5170646"/>
          </a:xfrm>
          <a:prstGeom prst="rect">
            <a:avLst/>
          </a:prstGeom>
        </p:spPr>
        <p:txBody>
          <a:bodyPr wrap="square">
            <a:spAutoFit/>
          </a:bodyPr>
          <a:lstStyle/>
          <a:p>
            <a:pPr algn="just"/>
            <a:r>
              <a:rPr lang="en-US" sz="3000" b="1" dirty="0" smtClean="0">
                <a:solidFill>
                  <a:schemeClr val="accent6">
                    <a:lumMod val="75000"/>
                  </a:schemeClr>
                </a:solidFill>
                <a:latin typeface="Times-Roman"/>
              </a:rPr>
              <a:t>Partitioning CONDENSATION </a:t>
            </a:r>
            <a:r>
              <a:rPr lang="en-US" sz="3000" b="1" dirty="0">
                <a:solidFill>
                  <a:schemeClr val="accent6">
                    <a:lumMod val="75000"/>
                  </a:schemeClr>
                </a:solidFill>
                <a:latin typeface="Times-Roman"/>
              </a:rPr>
              <a:t>Algorithm</a:t>
            </a:r>
            <a:r>
              <a:rPr lang="en-US" sz="3000" b="1" dirty="0" smtClean="0">
                <a:solidFill>
                  <a:schemeClr val="accent6">
                    <a:lumMod val="75000"/>
                  </a:schemeClr>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We can partition the condensation algorithm in a fashion similar to </a:t>
            </a:r>
            <a:r>
              <a:rPr lang="en-US" sz="3000" dirty="0" smtClean="0">
                <a:solidFill>
                  <a:schemeClr val="tx1"/>
                </a:solidFill>
                <a:latin typeface="Times-Roman"/>
              </a:rPr>
              <a:t>our scheme </a:t>
            </a:r>
            <a:r>
              <a:rPr lang="en-US" sz="3000" dirty="0">
                <a:solidFill>
                  <a:schemeClr val="tx1"/>
                </a:solidFill>
                <a:latin typeface="Times-Roman"/>
              </a:rPr>
              <a:t>for MCL </a:t>
            </a:r>
            <a:r>
              <a:rPr lang="en-US" sz="3000" dirty="0" smtClean="0">
                <a:solidFill>
                  <a:schemeClr val="tx1"/>
                </a:solidFill>
                <a:latin typeface="Times-Roman"/>
              </a:rPr>
              <a:t>Localization.</a:t>
            </a:r>
          </a:p>
          <a:p>
            <a:pPr marL="457200" indent="-457200" algn="just">
              <a:buFont typeface="Arial" panose="020B0604020202020204" pitchFamily="34" charset="0"/>
              <a:buChar char="•"/>
            </a:pPr>
            <a:r>
              <a:rPr lang="en-US" sz="3000" dirty="0">
                <a:solidFill>
                  <a:schemeClr val="tx1"/>
                </a:solidFill>
                <a:latin typeface="Times-Roman"/>
              </a:rPr>
              <a:t>We broadcast the n × m image to </a:t>
            </a:r>
            <a:r>
              <a:rPr lang="en-US" sz="3000" dirty="0" smtClean="0">
                <a:solidFill>
                  <a:schemeClr val="tx1"/>
                </a:solidFill>
                <a:latin typeface="Times-Roman"/>
              </a:rPr>
              <a:t>all p </a:t>
            </a:r>
            <a:r>
              <a:rPr lang="en-US" sz="3000" dirty="0">
                <a:solidFill>
                  <a:schemeClr val="tx1"/>
                </a:solidFill>
                <a:latin typeface="Times-Roman"/>
              </a:rPr>
              <a:t>processors, and then partition the N samples equally among the </a:t>
            </a:r>
            <a:r>
              <a:rPr lang="en-US" sz="3000" dirty="0" smtClean="0">
                <a:solidFill>
                  <a:schemeClr val="tx1"/>
                </a:solidFill>
                <a:latin typeface="Times-Roman"/>
              </a:rPr>
              <a:t>p processors.</a:t>
            </a:r>
          </a:p>
          <a:p>
            <a:pPr marL="457200" indent="-457200" algn="just">
              <a:buFont typeface="Arial" panose="020B0604020202020204" pitchFamily="34" charset="0"/>
              <a:buChar char="•"/>
            </a:pPr>
            <a:r>
              <a:rPr lang="en-US" sz="3000" dirty="0">
                <a:solidFill>
                  <a:schemeClr val="tx1"/>
                </a:solidFill>
                <a:latin typeface="Times-Roman"/>
              </a:rPr>
              <a:t>The communication cost is (</a:t>
            </a:r>
            <a:r>
              <a:rPr lang="en-US" sz="3000" dirty="0" err="1">
                <a:solidFill>
                  <a:schemeClr val="tx1"/>
                </a:solidFill>
                <a:latin typeface="Times-Roman"/>
              </a:rPr>
              <a:t>λ+nm</a:t>
            </a:r>
            <a:r>
              <a:rPr lang="en-US" sz="3000" dirty="0">
                <a:solidFill>
                  <a:schemeClr val="tx1"/>
                </a:solidFill>
                <a:latin typeface="Times-Roman"/>
              </a:rPr>
              <a:t>/β)log p for the broadcast</a:t>
            </a:r>
            <a:r>
              <a:rPr lang="en-US" sz="3000" dirty="0" smtClean="0">
                <a:solidFill>
                  <a:schemeClr val="tx1"/>
                </a:solidFill>
                <a:latin typeface="Times-Roman"/>
              </a:rPr>
              <a:t>, and </a:t>
            </a:r>
            <a:r>
              <a:rPr lang="en-US" sz="3000" dirty="0" err="1">
                <a:solidFill>
                  <a:schemeClr val="tx1"/>
                </a:solidFill>
                <a:latin typeface="Times-Roman"/>
              </a:rPr>
              <a:t>λlog</a:t>
            </a:r>
            <a:r>
              <a:rPr lang="en-US" sz="3000" dirty="0">
                <a:solidFill>
                  <a:schemeClr val="tx1"/>
                </a:solidFill>
                <a:latin typeface="Times-Roman"/>
              </a:rPr>
              <a:t> p + N(p − 1)/pβ for the particle scatter</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Each processor then propagates its N/p particles with the </a:t>
            </a:r>
            <a:r>
              <a:rPr lang="en-US" sz="3000" dirty="0" smtClean="0">
                <a:solidFill>
                  <a:schemeClr val="tx1"/>
                </a:solidFill>
                <a:latin typeface="Times-Roman"/>
              </a:rPr>
              <a:t>motion model</a:t>
            </a:r>
            <a:r>
              <a:rPr lang="en-US" sz="3000" dirty="0">
                <a:solidFill>
                  <a:schemeClr val="tx1"/>
                </a:solidFill>
                <a:latin typeface="Times-Roman"/>
              </a:rPr>
              <a:t>. </a:t>
            </a:r>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smtClean="0">
                <a:solidFill>
                  <a:schemeClr val="tx1"/>
                </a:solidFill>
                <a:latin typeface="Times-Roman"/>
              </a:rPr>
              <a:t>It </a:t>
            </a:r>
            <a:r>
              <a:rPr lang="en-US" sz="3000" dirty="0">
                <a:solidFill>
                  <a:schemeClr val="tx1"/>
                </a:solidFill>
                <a:latin typeface="Times-Roman"/>
              </a:rPr>
              <a:t>then calculates N/p </a:t>
            </a:r>
            <a:r>
              <a:rPr lang="en-US" sz="3000" dirty="0" err="1">
                <a:solidFill>
                  <a:schemeClr val="tx1"/>
                </a:solidFill>
                <a:latin typeface="Times-Roman"/>
              </a:rPr>
              <a:t>spatiograms</a:t>
            </a:r>
            <a:r>
              <a:rPr lang="en-US" sz="3000" dirty="0">
                <a:solidFill>
                  <a:schemeClr val="tx1"/>
                </a:solidFill>
                <a:latin typeface="Times-Roman"/>
              </a:rPr>
              <a:t> on fixed size regions </a:t>
            </a:r>
            <a:r>
              <a:rPr lang="en-US" sz="3000" dirty="0" smtClean="0">
                <a:solidFill>
                  <a:schemeClr val="tx1"/>
                </a:solidFill>
                <a:latin typeface="Times-Roman"/>
              </a:rPr>
              <a:t>around the </a:t>
            </a:r>
            <a:r>
              <a:rPr lang="en-US" sz="3000" dirty="0">
                <a:solidFill>
                  <a:schemeClr val="tx1"/>
                </a:solidFill>
                <a:latin typeface="Times-Roman"/>
              </a:rPr>
              <a:t>locations of each particle. </a:t>
            </a:r>
          </a:p>
        </p:txBody>
      </p:sp>
    </p:spTree>
    <p:extLst>
      <p:ext uri="{BB962C8B-B14F-4D97-AF65-F5344CB8AC3E}">
        <p14:creationId xmlns:p14="http://schemas.microsoft.com/office/powerpoint/2010/main" val="57209011"/>
      </p:ext>
    </p:extLst>
  </p:cSld>
  <p:clrMapOvr>
    <a:masterClrMapping/>
  </p:clrMapOvr>
  <p:transition spd="med"/>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97</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563231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Finally it carries out N/p </a:t>
            </a:r>
            <a:r>
              <a:rPr lang="en-US" sz="3000" dirty="0" err="1">
                <a:solidFill>
                  <a:schemeClr val="bg1">
                    <a:lumMod val="25000"/>
                  </a:schemeClr>
                </a:solidFill>
                <a:latin typeface="Times-Roman"/>
              </a:rPr>
              <a:t>spatiogram</a:t>
            </a:r>
            <a:r>
              <a:rPr lang="en-US" sz="3000" dirty="0">
                <a:solidFill>
                  <a:schemeClr val="bg1">
                    <a:lumMod val="25000"/>
                  </a:schemeClr>
                </a:solidFill>
                <a:latin typeface="Times-Roman"/>
              </a:rPr>
              <a:t> comparison operations between the </a:t>
            </a:r>
            <a:r>
              <a:rPr lang="en-US" sz="3000" dirty="0" err="1">
                <a:solidFill>
                  <a:schemeClr val="bg1">
                    <a:lumMod val="25000"/>
                  </a:schemeClr>
                </a:solidFill>
                <a:latin typeface="Times-Roman"/>
              </a:rPr>
              <a:t>spatiogram</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An alternative partition scheme is to partition the image by row strips</a:t>
            </a:r>
            <a:r>
              <a:rPr lang="en-US" sz="3000" dirty="0" smtClean="0">
                <a:solidFill>
                  <a:schemeClr val="bg1">
                    <a:lumMod val="25000"/>
                  </a:schemeClr>
                </a:solidFill>
                <a:latin typeface="Times-Roman"/>
              </a:rPr>
              <a:t>, and </a:t>
            </a:r>
            <a:r>
              <a:rPr lang="en-US" sz="3000" dirty="0">
                <a:solidFill>
                  <a:schemeClr val="bg1">
                    <a:lumMod val="25000"/>
                  </a:schemeClr>
                </a:solidFill>
                <a:latin typeface="Times-Roman"/>
              </a:rPr>
              <a:t>broadcast all n particles</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Each processor calculates only the </a:t>
            </a:r>
            <a:r>
              <a:rPr lang="en-US" sz="3000" dirty="0" smtClean="0">
                <a:solidFill>
                  <a:schemeClr val="bg1">
                    <a:lumMod val="25000"/>
                  </a:schemeClr>
                </a:solidFill>
                <a:latin typeface="Times-Roman"/>
              </a:rPr>
              <a:t>portion of </a:t>
            </a:r>
            <a:r>
              <a:rPr lang="en-US" sz="3000" dirty="0">
                <a:solidFill>
                  <a:schemeClr val="bg1">
                    <a:lumMod val="25000"/>
                  </a:schemeClr>
                </a:solidFill>
                <a:latin typeface="Times-Roman"/>
              </a:rPr>
              <a:t>propagations, </a:t>
            </a:r>
            <a:r>
              <a:rPr lang="en-US" sz="3000" dirty="0" err="1">
                <a:solidFill>
                  <a:schemeClr val="bg1">
                    <a:lumMod val="25000"/>
                  </a:schemeClr>
                </a:solidFill>
                <a:latin typeface="Times-Roman"/>
              </a:rPr>
              <a:t>spatiograms</a:t>
            </a:r>
            <a:r>
              <a:rPr lang="en-US" sz="3000" dirty="0">
                <a:solidFill>
                  <a:schemeClr val="bg1">
                    <a:lumMod val="25000"/>
                  </a:schemeClr>
                </a:solidFill>
                <a:latin typeface="Times-Roman"/>
              </a:rPr>
              <a:t> and comparisons that occur in its </a:t>
            </a:r>
            <a:r>
              <a:rPr lang="en-US" sz="3000" dirty="0" smtClean="0">
                <a:solidFill>
                  <a:schemeClr val="bg1">
                    <a:lumMod val="25000"/>
                  </a:schemeClr>
                </a:solidFill>
                <a:latin typeface="Times-Roman"/>
              </a:rPr>
              <a:t>image strip.</a:t>
            </a:r>
          </a:p>
          <a:p>
            <a:pPr marL="457200" indent="-457200" algn="just">
              <a:buFont typeface="Arial" panose="020B0604020202020204" pitchFamily="34" charset="0"/>
              <a:buChar char="•"/>
            </a:pPr>
            <a:r>
              <a:rPr lang="en-US" sz="3000" dirty="0">
                <a:solidFill>
                  <a:schemeClr val="bg1">
                    <a:lumMod val="25000"/>
                  </a:schemeClr>
                </a:solidFill>
                <a:latin typeface="Times-Roman"/>
              </a:rPr>
              <a:t>Figure </a:t>
            </a:r>
            <a:r>
              <a:rPr lang="en-US" sz="3000" dirty="0" smtClean="0">
                <a:solidFill>
                  <a:schemeClr val="bg1">
                    <a:lumMod val="25000"/>
                  </a:schemeClr>
                </a:solidFill>
                <a:latin typeface="Times-Roman"/>
              </a:rPr>
              <a:t>2.5.2 </a:t>
            </a:r>
            <a:r>
              <a:rPr lang="en-US" sz="3000" dirty="0">
                <a:solidFill>
                  <a:schemeClr val="bg1">
                    <a:lumMod val="25000"/>
                  </a:schemeClr>
                </a:solidFill>
                <a:latin typeface="Times-Roman"/>
              </a:rPr>
              <a:t>shows that for smaller collections of particles (N = </a:t>
            </a:r>
            <a:r>
              <a:rPr lang="en-US" sz="3000" dirty="0" smtClean="0">
                <a:solidFill>
                  <a:schemeClr val="bg1">
                    <a:lumMod val="25000"/>
                  </a:schemeClr>
                </a:solidFill>
                <a:latin typeface="Times-Roman"/>
              </a:rPr>
              <a:t>10^4), for </a:t>
            </a:r>
            <a:r>
              <a:rPr lang="en-US" sz="3000" dirty="0">
                <a:solidFill>
                  <a:schemeClr val="bg1">
                    <a:lumMod val="25000"/>
                  </a:schemeClr>
                </a:solidFill>
                <a:latin typeface="Times-Roman"/>
              </a:rPr>
              <a:t>a fixed size (640 × 480) image, broadcasting particles and </a:t>
            </a:r>
            <a:r>
              <a:rPr lang="en-US" sz="3000" dirty="0" smtClean="0">
                <a:solidFill>
                  <a:schemeClr val="bg1">
                    <a:lumMod val="25000"/>
                  </a:schemeClr>
                </a:solidFill>
                <a:latin typeface="Times-Roman"/>
              </a:rPr>
              <a:t>scattering the </a:t>
            </a:r>
            <a:r>
              <a:rPr lang="en-US" sz="3000" dirty="0">
                <a:solidFill>
                  <a:schemeClr val="bg1">
                    <a:lumMod val="25000"/>
                  </a:schemeClr>
                </a:solidFill>
                <a:latin typeface="Times-Roman"/>
              </a:rPr>
              <a:t>image has marginally smaller cost</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However, for larger collections </a:t>
            </a:r>
            <a:r>
              <a:rPr lang="en-US" sz="3000" dirty="0" smtClean="0">
                <a:solidFill>
                  <a:schemeClr val="bg1">
                    <a:lumMod val="25000"/>
                  </a:schemeClr>
                </a:solidFill>
                <a:latin typeface="Times-Roman"/>
              </a:rPr>
              <a:t>of particles </a:t>
            </a:r>
            <a:r>
              <a:rPr lang="en-US" sz="3000" dirty="0">
                <a:solidFill>
                  <a:schemeClr val="bg1">
                    <a:lumMod val="25000"/>
                  </a:schemeClr>
                </a:solidFill>
                <a:latin typeface="Times-Roman"/>
              </a:rPr>
              <a:t>(N = </a:t>
            </a:r>
            <a:r>
              <a:rPr lang="en-US" sz="3000" dirty="0" smtClean="0">
                <a:solidFill>
                  <a:schemeClr val="bg1">
                    <a:lumMod val="25000"/>
                  </a:schemeClr>
                </a:solidFill>
                <a:latin typeface="Times-Roman"/>
              </a:rPr>
              <a:t>10^6</a:t>
            </a:r>
            <a:r>
              <a:rPr lang="en-US" sz="3000" dirty="0">
                <a:solidFill>
                  <a:schemeClr val="bg1">
                    <a:lumMod val="25000"/>
                  </a:schemeClr>
                </a:solidFill>
                <a:latin typeface="Times-Roman"/>
              </a:rPr>
              <a:t>), broadcasting the image and scattering the </a:t>
            </a:r>
            <a:r>
              <a:rPr lang="en-US" sz="3000" dirty="0" smtClean="0">
                <a:solidFill>
                  <a:schemeClr val="bg1">
                    <a:lumMod val="25000"/>
                  </a:schemeClr>
                </a:solidFill>
                <a:latin typeface="Times-Roman"/>
              </a:rPr>
              <a:t>particles has </a:t>
            </a:r>
            <a:r>
              <a:rPr lang="en-US" sz="3000" dirty="0">
                <a:solidFill>
                  <a:schemeClr val="bg1">
                    <a:lumMod val="25000"/>
                  </a:schemeClr>
                </a:solidFill>
                <a:latin typeface="Times-Roman"/>
              </a:rPr>
              <a:t>the better performance.</a:t>
            </a:r>
          </a:p>
        </p:txBody>
      </p:sp>
    </p:spTree>
    <p:extLst>
      <p:ext uri="{BB962C8B-B14F-4D97-AF65-F5344CB8AC3E}">
        <p14:creationId xmlns:p14="http://schemas.microsoft.com/office/powerpoint/2010/main" val="216583608"/>
      </p:ext>
    </p:extLst>
  </p:cSld>
  <p:clrMapOvr>
    <a:masterClrMapping/>
  </p:clrMapOvr>
  <p:transition spd="med"/>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98</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262590" y="5634121"/>
            <a:ext cx="9267790" cy="830997"/>
          </a:xfrm>
          <a:prstGeom prst="rect">
            <a:avLst/>
          </a:prstGeom>
        </p:spPr>
        <p:txBody>
          <a:bodyPr wrap="square">
            <a:spAutoFit/>
          </a:bodyPr>
          <a:lstStyle/>
          <a:p>
            <a:pPr algn="just"/>
            <a:r>
              <a:rPr lang="en-US" sz="2400" b="1" dirty="0"/>
              <a:t>Figure </a:t>
            </a:r>
            <a:r>
              <a:rPr lang="en-US" sz="2400" b="1" dirty="0" smtClean="0"/>
              <a:t>2.5.2: </a:t>
            </a:r>
            <a:r>
              <a:rPr lang="en-US" sz="2400" dirty="0"/>
              <a:t>Performance comparison of condensation partitioning approaches.</a:t>
            </a:r>
            <a:endParaRPr lang="en-US" sz="3600" dirty="0" smtClean="0">
              <a:solidFill>
                <a:schemeClr val="bg1">
                  <a:lumMod val="25000"/>
                </a:schemeClr>
              </a:solidFill>
              <a:latin typeface="Times-Roman"/>
            </a:endParaRPr>
          </a:p>
        </p:txBody>
      </p:sp>
      <p:pic>
        <p:nvPicPr>
          <p:cNvPr id="3" name="Picture 2"/>
          <p:cNvPicPr>
            <a:picLocks noChangeAspect="1"/>
          </p:cNvPicPr>
          <p:nvPr/>
        </p:nvPicPr>
        <p:blipFill>
          <a:blip r:embed="rId2"/>
          <a:stretch>
            <a:fillRect/>
          </a:stretch>
        </p:blipFill>
        <p:spPr>
          <a:xfrm>
            <a:off x="1794295" y="1439851"/>
            <a:ext cx="8204380" cy="3813754"/>
          </a:xfrm>
          <a:prstGeom prst="rect">
            <a:avLst/>
          </a:prstGeom>
          <a:ln w="28575">
            <a:solidFill>
              <a:schemeClr val="tx1"/>
            </a:solidFill>
          </a:ln>
        </p:spPr>
      </p:pic>
    </p:spTree>
    <p:extLst>
      <p:ext uri="{BB962C8B-B14F-4D97-AF65-F5344CB8AC3E}">
        <p14:creationId xmlns:p14="http://schemas.microsoft.com/office/powerpoint/2010/main" val="1227122937"/>
      </p:ext>
    </p:extLst>
  </p:cSld>
  <p:clrMapOvr>
    <a:masterClrMapping/>
  </p:clrMapOvr>
  <p:transition spd="med"/>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99</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2862322"/>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We would prefer to work with larger </a:t>
            </a:r>
            <a:r>
              <a:rPr lang="en-US" sz="3000" dirty="0" smtClean="0">
                <a:solidFill>
                  <a:schemeClr val="bg1">
                    <a:lumMod val="25000"/>
                  </a:schemeClr>
                </a:solidFill>
                <a:latin typeface="Times-Roman"/>
              </a:rPr>
              <a:t>collections of </a:t>
            </a:r>
            <a:r>
              <a:rPr lang="en-US" sz="3000" dirty="0">
                <a:solidFill>
                  <a:schemeClr val="bg1">
                    <a:lumMod val="25000"/>
                  </a:schemeClr>
                </a:solidFill>
                <a:latin typeface="Times-Roman"/>
              </a:rPr>
              <a:t>particles, since condensation produces a </a:t>
            </a:r>
            <a:r>
              <a:rPr lang="en-US" sz="3000" b="1" dirty="0" smtClean="0">
                <a:solidFill>
                  <a:srgbClr val="00B050"/>
                </a:solidFill>
                <a:latin typeface="Times-Roman"/>
              </a:rPr>
              <a:t>more accurate </a:t>
            </a:r>
            <a:r>
              <a:rPr lang="en-US" sz="3000" dirty="0" smtClean="0">
                <a:solidFill>
                  <a:schemeClr val="bg1">
                    <a:lumMod val="25000"/>
                  </a:schemeClr>
                </a:solidFill>
                <a:latin typeface="Times-Roman"/>
              </a:rPr>
              <a:t>tracking </a:t>
            </a:r>
            <a:r>
              <a:rPr lang="en-US" sz="3000" dirty="0">
                <a:solidFill>
                  <a:schemeClr val="bg1">
                    <a:lumMod val="25000"/>
                  </a:schemeClr>
                </a:solidFill>
                <a:latin typeface="Times-Roman"/>
              </a:rPr>
              <a:t>in that</a:t>
            </a:r>
          </a:p>
          <a:p>
            <a:pPr marL="457200" indent="-457200" algn="just">
              <a:buFont typeface="Arial" panose="020B0604020202020204" pitchFamily="34" charset="0"/>
              <a:buChar char="•"/>
            </a:pPr>
            <a:r>
              <a:rPr lang="en-US" sz="3000" dirty="0">
                <a:solidFill>
                  <a:schemeClr val="bg1">
                    <a:lumMod val="25000"/>
                  </a:schemeClr>
                </a:solidFill>
                <a:latin typeface="Times-Roman"/>
              </a:rPr>
              <a:t>case.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But </a:t>
            </a:r>
            <a:r>
              <a:rPr lang="en-US" sz="3000" dirty="0">
                <a:solidFill>
                  <a:schemeClr val="bg1">
                    <a:lumMod val="25000"/>
                  </a:schemeClr>
                </a:solidFill>
                <a:latin typeface="Times-Roman"/>
              </a:rPr>
              <a:t>furthermore, scattering the image has the </a:t>
            </a:r>
            <a:r>
              <a:rPr lang="en-US" sz="3000" b="1" dirty="0">
                <a:solidFill>
                  <a:srgbClr val="C00000"/>
                </a:solidFill>
                <a:latin typeface="Times-Roman"/>
              </a:rPr>
              <a:t>disadvantage</a:t>
            </a:r>
            <a:r>
              <a:rPr lang="en-US" sz="3000" dirty="0">
                <a:solidFill>
                  <a:schemeClr val="bg1">
                    <a:lumMod val="25000"/>
                  </a:schemeClr>
                </a:solidFill>
                <a:latin typeface="Times-Roman"/>
              </a:rPr>
              <a:t> that </a:t>
            </a:r>
            <a:r>
              <a:rPr lang="en-US" sz="3000" b="1" dirty="0" smtClean="0">
                <a:solidFill>
                  <a:schemeClr val="bg1">
                    <a:lumMod val="25000"/>
                  </a:schemeClr>
                </a:solidFill>
                <a:latin typeface="Times-Roman"/>
              </a:rPr>
              <a:t>all the </a:t>
            </a:r>
            <a:r>
              <a:rPr lang="en-US" sz="3000" b="1" dirty="0">
                <a:solidFill>
                  <a:schemeClr val="bg1">
                    <a:lumMod val="25000"/>
                  </a:schemeClr>
                </a:solidFill>
                <a:latin typeface="Times-Roman"/>
              </a:rPr>
              <a:t>particles may end up in a small number of row stripes, leaving </a:t>
            </a:r>
            <a:r>
              <a:rPr lang="en-US" sz="3000" b="1" dirty="0" smtClean="0">
                <a:solidFill>
                  <a:schemeClr val="bg1">
                    <a:lumMod val="25000"/>
                  </a:schemeClr>
                </a:solidFill>
                <a:latin typeface="Times-Roman"/>
              </a:rPr>
              <a:t>most processors </a:t>
            </a:r>
            <a:r>
              <a:rPr lang="en-US" sz="3000" b="1" dirty="0">
                <a:solidFill>
                  <a:schemeClr val="bg1">
                    <a:lumMod val="25000"/>
                  </a:schemeClr>
                </a:solidFill>
                <a:latin typeface="Times-Roman"/>
              </a:rPr>
              <a:t>idle.</a:t>
            </a:r>
            <a:endParaRPr lang="en-US" sz="3000" b="1" dirty="0" smtClean="0">
              <a:solidFill>
                <a:schemeClr val="bg1">
                  <a:lumMod val="25000"/>
                </a:schemeClr>
              </a:solidFill>
              <a:latin typeface="Times-Roman"/>
            </a:endParaRPr>
          </a:p>
        </p:txBody>
      </p:sp>
    </p:spTree>
    <p:extLst>
      <p:ext uri="{BB962C8B-B14F-4D97-AF65-F5344CB8AC3E}">
        <p14:creationId xmlns:p14="http://schemas.microsoft.com/office/powerpoint/2010/main" val="2550080743"/>
      </p:ext>
    </p:extLst>
  </p:cSld>
  <p:clrMapOvr>
    <a:masterClrMapping/>
  </p:clrMapOvr>
  <p:transition spd="med"/>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100</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467682" y="1162852"/>
            <a:ext cx="11407140" cy="5170646"/>
          </a:xfrm>
          <a:prstGeom prst="rect">
            <a:avLst/>
          </a:prstGeom>
        </p:spPr>
        <p:txBody>
          <a:bodyPr wrap="square">
            <a:spAutoFit/>
          </a:bodyPr>
          <a:lstStyle/>
          <a:p>
            <a:pPr marL="457200" indent="-457200" algn="just">
              <a:buFont typeface="Arial" panose="020B0604020202020204" pitchFamily="34" charset="0"/>
              <a:buChar char="•"/>
            </a:pPr>
            <a:r>
              <a:rPr lang="en-US" sz="3000" b="1" dirty="0" smtClean="0">
                <a:solidFill>
                  <a:srgbClr val="FF0000"/>
                </a:solidFill>
                <a:latin typeface="Times-Roman"/>
              </a:rPr>
              <a:t>Key purposes of </a:t>
            </a:r>
            <a:r>
              <a:rPr lang="en-US" sz="3000" b="1" dirty="0">
                <a:solidFill>
                  <a:srgbClr val="FF0000"/>
                </a:solidFill>
                <a:latin typeface="Times-Roman"/>
              </a:rPr>
              <a:t>for having the robot learn a </a:t>
            </a:r>
            <a:r>
              <a:rPr lang="en-US" sz="3000" b="1" dirty="0" smtClean="0">
                <a:solidFill>
                  <a:srgbClr val="FF0000"/>
                </a:solidFill>
                <a:latin typeface="Times-Roman"/>
              </a:rPr>
              <a:t>map is to</a:t>
            </a:r>
          </a:p>
          <a:p>
            <a:pPr algn="just"/>
            <a:r>
              <a:rPr lang="en-US" sz="3000" dirty="0" smtClean="0">
                <a:solidFill>
                  <a:schemeClr val="bg1">
                    <a:lumMod val="25000"/>
                  </a:schemeClr>
                </a:solidFill>
                <a:latin typeface="Times-Roman"/>
              </a:rPr>
              <a:t>	1. allow </a:t>
            </a:r>
            <a:r>
              <a:rPr lang="en-US" sz="3000" dirty="0">
                <a:solidFill>
                  <a:schemeClr val="bg1">
                    <a:lumMod val="25000"/>
                  </a:schemeClr>
                </a:solidFill>
                <a:latin typeface="Times-Roman"/>
              </a:rPr>
              <a:t>it to localize (determine where </a:t>
            </a:r>
            <a:r>
              <a:rPr lang="en-US" sz="3000" dirty="0" smtClean="0">
                <a:solidFill>
                  <a:schemeClr val="bg1">
                    <a:lumMod val="25000"/>
                  </a:schemeClr>
                </a:solidFill>
                <a:latin typeface="Times-Roman"/>
              </a:rPr>
              <a:t>it is</a:t>
            </a:r>
            <a:r>
              <a:rPr lang="en-US" sz="3000" dirty="0">
                <a:solidFill>
                  <a:schemeClr val="bg1">
                    <a:lumMod val="25000"/>
                  </a:schemeClr>
                </a:solidFill>
                <a:latin typeface="Times-Roman"/>
              </a:rPr>
              <a:t>). </a:t>
            </a:r>
            <a:endParaRPr lang="en-US" sz="3000" dirty="0" smtClean="0">
              <a:solidFill>
                <a:schemeClr val="bg1">
                  <a:lumMod val="25000"/>
                </a:schemeClr>
              </a:solidFill>
              <a:latin typeface="Times-Roman"/>
            </a:endParaRPr>
          </a:p>
          <a:p>
            <a:pPr algn="just"/>
            <a:r>
              <a:rPr lang="en-US" sz="3000" dirty="0" smtClean="0">
                <a:solidFill>
                  <a:schemeClr val="bg1">
                    <a:lumMod val="25000"/>
                  </a:schemeClr>
                </a:solidFill>
                <a:latin typeface="Times-Roman"/>
              </a:rPr>
              <a:t>	2. carry </a:t>
            </a:r>
            <a:r>
              <a:rPr lang="en-US" sz="3000" dirty="0">
                <a:solidFill>
                  <a:schemeClr val="bg1">
                    <a:lumMod val="25000"/>
                  </a:schemeClr>
                </a:solidFill>
                <a:latin typeface="Times-Roman"/>
              </a:rPr>
              <a:t>out better motion planning by </a:t>
            </a:r>
            <a:r>
              <a:rPr lang="en-US" sz="3000" dirty="0" smtClean="0">
                <a:solidFill>
                  <a:schemeClr val="bg1">
                    <a:lumMod val="25000"/>
                  </a:schemeClr>
                </a:solidFill>
                <a:latin typeface="Times-Roman"/>
              </a:rPr>
              <a:t>using knowledge </a:t>
            </a:r>
            <a:r>
              <a:rPr lang="en-US" sz="3000" dirty="0">
                <a:solidFill>
                  <a:schemeClr val="bg1">
                    <a:lumMod val="25000"/>
                  </a:schemeClr>
                </a:solidFill>
                <a:latin typeface="Times-Roman"/>
              </a:rPr>
              <a:t>about the space in which the motion will occur</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However, </a:t>
            </a:r>
            <a:r>
              <a:rPr lang="en-US" sz="3000" b="1" dirty="0" smtClean="0">
                <a:solidFill>
                  <a:schemeClr val="bg1">
                    <a:lumMod val="25000"/>
                  </a:schemeClr>
                </a:solidFill>
                <a:latin typeface="Times-Roman"/>
              </a:rPr>
              <a:t>an issue </a:t>
            </a:r>
            <a:r>
              <a:rPr lang="en-US" sz="3000" b="1" dirty="0">
                <a:solidFill>
                  <a:schemeClr val="bg1">
                    <a:lumMod val="25000"/>
                  </a:schemeClr>
                </a:solidFill>
                <a:latin typeface="Times-Roman"/>
              </a:rPr>
              <a:t>with occupancy maps is that their storage requirements scale with </a:t>
            </a:r>
            <a:r>
              <a:rPr lang="en-US" sz="3000" b="1" dirty="0" smtClean="0">
                <a:solidFill>
                  <a:schemeClr val="bg1">
                    <a:lumMod val="25000"/>
                  </a:schemeClr>
                </a:solidFill>
                <a:latin typeface="Times-Roman"/>
              </a:rPr>
              <a:t>the square </a:t>
            </a:r>
            <a:r>
              <a:rPr lang="en-US" sz="3000" b="1" dirty="0">
                <a:solidFill>
                  <a:schemeClr val="bg1">
                    <a:lumMod val="25000"/>
                  </a:schemeClr>
                </a:solidFill>
                <a:latin typeface="Times-Roman"/>
              </a:rPr>
              <a:t>of the area to be represented</a:t>
            </a:r>
            <a:r>
              <a:rPr lang="en-US" sz="3000" b="1"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Even worse, much of this area may </a:t>
            </a:r>
            <a:r>
              <a:rPr lang="en-US" sz="3000" dirty="0" smtClean="0">
                <a:solidFill>
                  <a:schemeClr val="bg1">
                    <a:lumMod val="25000"/>
                  </a:schemeClr>
                </a:solidFill>
                <a:latin typeface="Times-Roman"/>
              </a:rPr>
              <a:t>not be </a:t>
            </a:r>
            <a:r>
              <a:rPr lang="en-US" sz="3000" dirty="0">
                <a:solidFill>
                  <a:schemeClr val="bg1">
                    <a:lumMod val="25000"/>
                  </a:schemeClr>
                </a:solidFill>
                <a:latin typeface="Times-Roman"/>
              </a:rPr>
              <a:t>interesting or relevant for the tasks that the robot must carry out — </a:t>
            </a:r>
            <a:r>
              <a:rPr lang="en-US" sz="3000" dirty="0" smtClean="0">
                <a:solidFill>
                  <a:schemeClr val="bg1">
                    <a:lumMod val="25000"/>
                  </a:schemeClr>
                </a:solidFill>
                <a:latin typeface="Times-Roman"/>
              </a:rPr>
              <a:t>it may </a:t>
            </a:r>
            <a:r>
              <a:rPr lang="en-US" sz="3000" dirty="0">
                <a:solidFill>
                  <a:schemeClr val="bg1">
                    <a:lumMod val="25000"/>
                  </a:schemeClr>
                </a:solidFill>
                <a:latin typeface="Times-Roman"/>
              </a:rPr>
              <a:t>simply be area through which the robot must pass to get to destination.</a:t>
            </a:r>
            <a:endParaRPr lang="en-US" sz="3000" dirty="0" smtClean="0">
              <a:solidFill>
                <a:schemeClr val="bg1">
                  <a:lumMod val="25000"/>
                </a:schemeClr>
              </a:solidFill>
              <a:latin typeface="Times-Roman"/>
            </a:endParaRPr>
          </a:p>
        </p:txBody>
      </p:sp>
    </p:spTree>
    <p:extLst>
      <p:ext uri="{BB962C8B-B14F-4D97-AF65-F5344CB8AC3E}">
        <p14:creationId xmlns:p14="http://schemas.microsoft.com/office/powerpoint/2010/main" val="4203503433"/>
      </p:ext>
    </p:extLst>
  </p:cSld>
  <p:clrMapOvr>
    <a:masterClrMapping/>
  </p:clrMapOvr>
  <p:transition spd="med"/>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101</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1407401"/>
            <a:ext cx="11407140" cy="470898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Consider your morning commute.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Unless </a:t>
            </a:r>
            <a:r>
              <a:rPr lang="en-US" sz="3000" dirty="0">
                <a:solidFill>
                  <a:schemeClr val="bg1">
                    <a:lumMod val="25000"/>
                  </a:schemeClr>
                </a:solidFill>
                <a:latin typeface="Times-Roman"/>
              </a:rPr>
              <a:t>you are lucky enough to </a:t>
            </a:r>
            <a:r>
              <a:rPr lang="en-US" sz="3000" dirty="0" smtClean="0">
                <a:solidFill>
                  <a:schemeClr val="bg1">
                    <a:lumMod val="25000"/>
                  </a:schemeClr>
                </a:solidFill>
                <a:latin typeface="Times-Roman"/>
              </a:rPr>
              <a:t>work at </a:t>
            </a:r>
            <a:r>
              <a:rPr lang="en-US" sz="3000" dirty="0">
                <a:solidFill>
                  <a:schemeClr val="bg1">
                    <a:lumMod val="25000"/>
                  </a:schemeClr>
                </a:solidFill>
                <a:latin typeface="Times-Roman"/>
              </a:rPr>
              <a:t>home, you probably have to drive on some local roads from your </a:t>
            </a:r>
            <a:r>
              <a:rPr lang="en-US" sz="3000" dirty="0" smtClean="0">
                <a:solidFill>
                  <a:schemeClr val="bg1">
                    <a:lumMod val="25000"/>
                  </a:schemeClr>
                </a:solidFill>
                <a:latin typeface="Times-Roman"/>
              </a:rPr>
              <a:t>house until </a:t>
            </a:r>
            <a:r>
              <a:rPr lang="en-US" sz="3000" dirty="0">
                <a:solidFill>
                  <a:schemeClr val="bg1">
                    <a:lumMod val="25000"/>
                  </a:schemeClr>
                </a:solidFill>
                <a:latin typeface="Times-Roman"/>
              </a:rPr>
              <a:t>you get to a larger road or highway.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From </a:t>
            </a:r>
            <a:r>
              <a:rPr lang="en-US" sz="3000" dirty="0">
                <a:solidFill>
                  <a:schemeClr val="bg1">
                    <a:lumMod val="25000"/>
                  </a:schemeClr>
                </a:solidFill>
                <a:latin typeface="Times-Roman"/>
              </a:rPr>
              <a:t>this, you sooner or </a:t>
            </a:r>
            <a:r>
              <a:rPr lang="en-US" sz="3000" dirty="0" smtClean="0">
                <a:solidFill>
                  <a:schemeClr val="bg1">
                    <a:lumMod val="25000"/>
                  </a:schemeClr>
                </a:solidFill>
                <a:latin typeface="Times-Roman"/>
              </a:rPr>
              <a:t>later take </a:t>
            </a:r>
            <a:r>
              <a:rPr lang="en-US" sz="3000" dirty="0">
                <a:solidFill>
                  <a:schemeClr val="bg1">
                    <a:lumMod val="25000"/>
                  </a:schemeClr>
                </a:solidFill>
                <a:latin typeface="Times-Roman"/>
              </a:rPr>
              <a:t>an exit and proceed on some local roads to your place of work.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It is important </a:t>
            </a:r>
            <a:r>
              <a:rPr lang="en-US" sz="3000" dirty="0">
                <a:solidFill>
                  <a:schemeClr val="bg1">
                    <a:lumMod val="25000"/>
                  </a:schemeClr>
                </a:solidFill>
                <a:latin typeface="Times-Roman"/>
              </a:rPr>
              <a:t>to have good map </a:t>
            </a:r>
            <a:r>
              <a:rPr lang="en-US" sz="3000" dirty="0" smtClean="0">
                <a:solidFill>
                  <a:schemeClr val="bg1">
                    <a:lumMod val="25000"/>
                  </a:schemeClr>
                </a:solidFill>
                <a:latin typeface="Times-Roman"/>
              </a:rPr>
              <a:t>information </a:t>
            </a:r>
            <a:r>
              <a:rPr lang="en-US" sz="3000" dirty="0">
                <a:solidFill>
                  <a:schemeClr val="bg1">
                    <a:lumMod val="25000"/>
                  </a:schemeClr>
                </a:solidFill>
                <a:latin typeface="Times-Roman"/>
              </a:rPr>
              <a:t>whenever you have to make </a:t>
            </a:r>
            <a:r>
              <a:rPr lang="en-US" sz="3000" dirty="0" smtClean="0">
                <a:solidFill>
                  <a:schemeClr val="bg1">
                    <a:lumMod val="25000"/>
                  </a:schemeClr>
                </a:solidFill>
                <a:latin typeface="Times-Roman"/>
              </a:rPr>
              <a:t>a choice </a:t>
            </a:r>
            <a:r>
              <a:rPr lang="en-US" sz="3000" dirty="0">
                <a:solidFill>
                  <a:schemeClr val="bg1">
                    <a:lumMod val="25000"/>
                  </a:schemeClr>
                </a:solidFill>
                <a:latin typeface="Times-Roman"/>
              </a:rPr>
              <a:t>along this route: for example, switching between local roads, or </a:t>
            </a:r>
            <a:r>
              <a:rPr lang="en-US" sz="3000" dirty="0" smtClean="0">
                <a:solidFill>
                  <a:schemeClr val="bg1">
                    <a:lumMod val="25000"/>
                  </a:schemeClr>
                </a:solidFill>
                <a:latin typeface="Times-Roman"/>
              </a:rPr>
              <a:t>to get </a:t>
            </a:r>
            <a:r>
              <a:rPr lang="en-US" sz="3000" dirty="0">
                <a:solidFill>
                  <a:schemeClr val="bg1">
                    <a:lumMod val="25000"/>
                  </a:schemeClr>
                </a:solidFill>
                <a:latin typeface="Times-Roman"/>
              </a:rPr>
              <a:t>on, or off, the highway</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endParaRPr lang="en-US" sz="3000" b="1" dirty="0" smtClean="0">
              <a:solidFill>
                <a:schemeClr val="bg1">
                  <a:lumMod val="25000"/>
                </a:schemeClr>
              </a:solidFill>
              <a:latin typeface="Times-Roman"/>
            </a:endParaRPr>
          </a:p>
        </p:txBody>
      </p:sp>
    </p:spTree>
    <p:extLst>
      <p:ext uri="{BB962C8B-B14F-4D97-AF65-F5344CB8AC3E}">
        <p14:creationId xmlns:p14="http://schemas.microsoft.com/office/powerpoint/2010/main" val="1703871977"/>
      </p:ext>
    </p:extLst>
  </p:cSld>
  <p:clrMapOvr>
    <a:masterClrMapping/>
  </p:clrMapOvr>
  <p:transition spd="med"/>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102</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957601"/>
            <a:ext cx="11407140" cy="5632311"/>
          </a:xfrm>
          <a:prstGeom prst="rect">
            <a:avLst/>
          </a:prstGeom>
        </p:spPr>
        <p:txBody>
          <a:bodyPr wrap="square">
            <a:spAutoFit/>
          </a:bodyPr>
          <a:lstStyle/>
          <a:p>
            <a:pPr marL="457200" indent="-457200" algn="just">
              <a:buFont typeface="Arial" panose="020B0604020202020204" pitchFamily="34" charset="0"/>
              <a:buChar char="•"/>
            </a:pPr>
            <a:r>
              <a:rPr lang="en-US" sz="3000" b="1" dirty="0" smtClean="0">
                <a:solidFill>
                  <a:srgbClr val="002060"/>
                </a:solidFill>
                <a:latin typeface="Times-Roman"/>
              </a:rPr>
              <a:t>A </a:t>
            </a:r>
            <a:r>
              <a:rPr lang="en-US" sz="3000" b="1" dirty="0">
                <a:solidFill>
                  <a:srgbClr val="002060"/>
                </a:solidFill>
                <a:latin typeface="Times-Roman"/>
              </a:rPr>
              <a:t>topological map:</a:t>
            </a:r>
            <a:r>
              <a:rPr lang="en-US" sz="3000" dirty="0">
                <a:solidFill>
                  <a:schemeClr val="bg1">
                    <a:lumMod val="25000"/>
                  </a:schemeClr>
                </a:solidFill>
                <a:latin typeface="Times-Roman"/>
              </a:rPr>
              <a:t> </a:t>
            </a:r>
            <a:r>
              <a:rPr lang="en-US" sz="3000" dirty="0" smtClean="0">
                <a:solidFill>
                  <a:schemeClr val="bg1">
                    <a:lumMod val="25000"/>
                  </a:schemeClr>
                </a:solidFill>
                <a:latin typeface="Times-Roman"/>
              </a:rPr>
              <a:t>a graph-like </a:t>
            </a:r>
            <a:r>
              <a:rPr lang="en-US" sz="3000" dirty="0">
                <a:solidFill>
                  <a:schemeClr val="bg1">
                    <a:lumMod val="25000"/>
                  </a:schemeClr>
                </a:solidFill>
                <a:latin typeface="Times-Roman"/>
              </a:rPr>
              <a:t>collection of places. Each place is identified by sensory </a:t>
            </a:r>
            <a:r>
              <a:rPr lang="en-US" sz="3000" dirty="0" smtClean="0">
                <a:solidFill>
                  <a:schemeClr val="bg1">
                    <a:lumMod val="25000"/>
                  </a:schemeClr>
                </a:solidFill>
                <a:latin typeface="Times-Roman"/>
              </a:rPr>
              <a:t>feature measurements </a:t>
            </a:r>
            <a:r>
              <a:rPr lang="en-US" sz="3000" dirty="0">
                <a:solidFill>
                  <a:schemeClr val="bg1">
                    <a:lumMod val="25000"/>
                  </a:schemeClr>
                </a:solidFill>
                <a:latin typeface="Times-Roman"/>
              </a:rPr>
              <a:t>(the place signature) and the places are linked together </a:t>
            </a:r>
            <a:r>
              <a:rPr lang="en-US" sz="3000" dirty="0" smtClean="0">
                <a:solidFill>
                  <a:schemeClr val="bg1">
                    <a:lumMod val="25000"/>
                  </a:schemeClr>
                </a:solidFill>
                <a:latin typeface="Times-Roman"/>
              </a:rPr>
              <a:t>by routes </a:t>
            </a:r>
            <a:r>
              <a:rPr lang="en-US" sz="3000" dirty="0">
                <a:solidFill>
                  <a:schemeClr val="bg1">
                    <a:lumMod val="25000"/>
                  </a:schemeClr>
                </a:solidFill>
                <a:latin typeface="Times-Roman"/>
              </a:rPr>
              <a:t>without any absolute spatial measurements</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smtClean="0">
                <a:solidFill>
                  <a:schemeClr val="bg1">
                    <a:lumMod val="25000"/>
                  </a:schemeClr>
                </a:solidFill>
                <a:latin typeface="Times-Roman"/>
              </a:rPr>
              <a:t>Your recollection of your daily commute may be a bit more like this topological map than </a:t>
            </a:r>
            <a:r>
              <a:rPr lang="en-US" sz="3000" dirty="0">
                <a:solidFill>
                  <a:schemeClr val="bg1">
                    <a:lumMod val="25000"/>
                  </a:schemeClr>
                </a:solidFill>
                <a:latin typeface="Times-Roman"/>
              </a:rPr>
              <a:t>like an occupancy-grid map, except for those places where you need to </a:t>
            </a:r>
            <a:r>
              <a:rPr lang="en-US" sz="3000" dirty="0" smtClean="0">
                <a:solidFill>
                  <a:schemeClr val="bg1">
                    <a:lumMod val="25000"/>
                  </a:schemeClr>
                </a:solidFill>
                <a:latin typeface="Times-Roman"/>
              </a:rPr>
              <a:t>make decisions.</a:t>
            </a:r>
          </a:p>
          <a:p>
            <a:pPr marL="457200" indent="-457200" algn="just">
              <a:buFont typeface="Arial" panose="020B0604020202020204" pitchFamily="34" charset="0"/>
              <a:buChar char="•"/>
            </a:pPr>
            <a:r>
              <a:rPr lang="en-US" sz="3000" dirty="0">
                <a:solidFill>
                  <a:schemeClr val="bg1">
                    <a:lumMod val="25000"/>
                  </a:schemeClr>
                </a:solidFill>
                <a:latin typeface="Times-Roman"/>
              </a:rPr>
              <a:t>A reasonable approach to trade off the map storage </a:t>
            </a:r>
            <a:r>
              <a:rPr lang="en-US" sz="3000" dirty="0" smtClean="0">
                <a:solidFill>
                  <a:schemeClr val="bg1">
                    <a:lumMod val="25000"/>
                  </a:schemeClr>
                </a:solidFill>
                <a:latin typeface="Times-Roman"/>
              </a:rPr>
              <a:t>requirements with </a:t>
            </a:r>
            <a:r>
              <a:rPr lang="en-US" sz="3000" dirty="0">
                <a:solidFill>
                  <a:schemeClr val="bg1">
                    <a:lumMod val="25000"/>
                  </a:schemeClr>
                </a:solidFill>
                <a:latin typeface="Times-Roman"/>
              </a:rPr>
              <a:t>map accuracy requirements is as follows</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Use a local metric </a:t>
            </a:r>
            <a:r>
              <a:rPr lang="en-US" sz="3000" dirty="0" smtClean="0">
                <a:solidFill>
                  <a:schemeClr val="bg1">
                    <a:lumMod val="25000"/>
                  </a:schemeClr>
                </a:solidFill>
                <a:latin typeface="Times-Roman"/>
              </a:rPr>
              <a:t>map representation </a:t>
            </a:r>
            <a:r>
              <a:rPr lang="en-US" sz="3000" dirty="0">
                <a:solidFill>
                  <a:schemeClr val="bg1">
                    <a:lumMod val="25000"/>
                  </a:schemeClr>
                </a:solidFill>
                <a:latin typeface="Times-Roman"/>
              </a:rPr>
              <a:t>within places, but recognize places with sensory </a:t>
            </a:r>
            <a:r>
              <a:rPr lang="en-US" sz="3000" dirty="0" smtClean="0">
                <a:solidFill>
                  <a:schemeClr val="bg1">
                    <a:lumMod val="25000"/>
                  </a:schemeClr>
                </a:solidFill>
                <a:latin typeface="Times-Roman"/>
              </a:rPr>
              <a:t>signatures, and </a:t>
            </a:r>
            <a:r>
              <a:rPr lang="en-US" sz="3000" dirty="0">
                <a:solidFill>
                  <a:schemeClr val="bg1">
                    <a:lumMod val="25000"/>
                  </a:schemeClr>
                </a:solidFill>
                <a:latin typeface="Times-Roman"/>
              </a:rPr>
              <a:t>store just the route connectivity information between places. </a:t>
            </a:r>
          </a:p>
        </p:txBody>
      </p:sp>
    </p:spTree>
    <p:extLst>
      <p:ext uri="{BB962C8B-B14F-4D97-AF65-F5344CB8AC3E}">
        <p14:creationId xmlns:p14="http://schemas.microsoft.com/office/powerpoint/2010/main" val="4159246856"/>
      </p:ext>
    </p:extLst>
  </p:cSld>
  <p:clrMapOvr>
    <a:masterClrMapping/>
  </p:clrMapOvr>
  <p:transition spd="med"/>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103</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1407401"/>
            <a:ext cx="11407140" cy="4708981"/>
          </a:xfrm>
          <a:prstGeom prst="rect">
            <a:avLst/>
          </a:prstGeom>
        </p:spPr>
        <p:txBody>
          <a:bodyPr wrap="square">
            <a:spAutoFit/>
          </a:bodyPr>
          <a:lstStyle/>
          <a:p>
            <a:pPr marL="457200" indent="-457200" algn="just">
              <a:buFont typeface="Arial" panose="020B0604020202020204" pitchFamily="34" charset="0"/>
              <a:buChar char="•"/>
            </a:pPr>
            <a:r>
              <a:rPr lang="en-US" sz="3000" dirty="0" smtClean="0">
                <a:solidFill>
                  <a:schemeClr val="bg1">
                    <a:lumMod val="25000"/>
                  </a:schemeClr>
                </a:solidFill>
                <a:latin typeface="Times-Roman"/>
              </a:rPr>
              <a:t>The route </a:t>
            </a:r>
            <a:r>
              <a:rPr lang="en-US" sz="3000" dirty="0">
                <a:solidFill>
                  <a:schemeClr val="bg1">
                    <a:lumMod val="25000"/>
                  </a:schemeClr>
                </a:solidFill>
                <a:latin typeface="Times-Roman"/>
              </a:rPr>
              <a:t>information allows the robot to navigate from one place to another.</a:t>
            </a:r>
          </a:p>
          <a:p>
            <a:pPr marL="457200" indent="-457200" algn="just">
              <a:buFont typeface="Arial" panose="020B0604020202020204" pitchFamily="34" charset="0"/>
              <a:buChar char="•"/>
            </a:pPr>
            <a:r>
              <a:rPr lang="en-US" sz="3000" dirty="0">
                <a:solidFill>
                  <a:schemeClr val="bg1">
                    <a:lumMod val="25000"/>
                  </a:schemeClr>
                </a:solidFill>
                <a:latin typeface="Times-Roman"/>
              </a:rPr>
              <a:t>However motor skills or other </a:t>
            </a:r>
            <a:r>
              <a:rPr lang="en-US" sz="3000" dirty="0" smtClean="0">
                <a:solidFill>
                  <a:schemeClr val="bg1">
                    <a:lumMod val="25000"/>
                  </a:schemeClr>
                </a:solidFill>
                <a:latin typeface="Times-Roman"/>
              </a:rPr>
              <a:t>behaviors may </a:t>
            </a:r>
            <a:r>
              <a:rPr lang="en-US" sz="3000" dirty="0">
                <a:solidFill>
                  <a:schemeClr val="bg1">
                    <a:lumMod val="25000"/>
                  </a:schemeClr>
                </a:solidFill>
                <a:latin typeface="Times-Roman"/>
              </a:rPr>
              <a:t>be necessary </a:t>
            </a:r>
            <a:r>
              <a:rPr lang="en-US" sz="3000" dirty="0" smtClean="0">
                <a:solidFill>
                  <a:schemeClr val="bg1">
                    <a:lumMod val="25000"/>
                  </a:schemeClr>
                </a:solidFill>
                <a:latin typeface="Times-Roman"/>
              </a:rPr>
              <a:t>to successfully </a:t>
            </a:r>
            <a:r>
              <a:rPr lang="en-US" sz="3000" dirty="0">
                <a:solidFill>
                  <a:schemeClr val="bg1">
                    <a:lumMod val="25000"/>
                  </a:schemeClr>
                </a:solidFill>
                <a:latin typeface="Times-Roman"/>
              </a:rPr>
              <a:t>navigate the transition from one place to another</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Consider the landscape shown in Figure </a:t>
            </a:r>
            <a:r>
              <a:rPr lang="en-US" sz="3000" dirty="0" smtClean="0">
                <a:solidFill>
                  <a:schemeClr val="bg1">
                    <a:lumMod val="25000"/>
                  </a:schemeClr>
                </a:solidFill>
                <a:latin typeface="Times-Roman"/>
              </a:rPr>
              <a:t>2.6.1(a</a:t>
            </a:r>
            <a:r>
              <a:rPr lang="en-US" sz="3000" dirty="0">
                <a:solidFill>
                  <a:schemeClr val="bg1">
                    <a:lumMod val="25000"/>
                  </a:schemeClr>
                </a:solidFill>
                <a:latin typeface="Times-Roman"/>
              </a:rPr>
              <a:t>): roads traverse the scene</a:t>
            </a:r>
            <a:r>
              <a:rPr lang="en-US" sz="3000" dirty="0" smtClean="0">
                <a:solidFill>
                  <a:schemeClr val="bg1">
                    <a:lumMod val="25000"/>
                  </a:schemeClr>
                </a:solidFill>
                <a:latin typeface="Times-Roman"/>
              </a:rPr>
              <a:t>, but </a:t>
            </a:r>
            <a:r>
              <a:rPr lang="en-US" sz="3000" dirty="0">
                <a:solidFill>
                  <a:schemeClr val="bg1">
                    <a:lumMod val="25000"/>
                  </a:schemeClr>
                </a:solidFill>
                <a:latin typeface="Times-Roman"/>
              </a:rPr>
              <a:t>at places where road intersections occur, visual landmarks are noted</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These visual landmarks are the signatures for the places at which </a:t>
            </a:r>
            <a:r>
              <a:rPr lang="en-US" sz="3000" dirty="0" smtClean="0">
                <a:solidFill>
                  <a:schemeClr val="bg1">
                    <a:lumMod val="25000"/>
                  </a:schemeClr>
                </a:solidFill>
                <a:latin typeface="Times-Roman"/>
              </a:rPr>
              <a:t>decisions need </a:t>
            </a:r>
            <a:r>
              <a:rPr lang="en-US" sz="3000" dirty="0">
                <a:solidFill>
                  <a:schemeClr val="bg1">
                    <a:lumMod val="25000"/>
                  </a:schemeClr>
                </a:solidFill>
                <a:latin typeface="Times-Roman"/>
              </a:rPr>
              <a:t>to be made.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An </a:t>
            </a:r>
            <a:r>
              <a:rPr lang="en-US" sz="3000" dirty="0">
                <a:solidFill>
                  <a:schemeClr val="bg1">
                    <a:lumMod val="25000"/>
                  </a:schemeClr>
                </a:solidFill>
                <a:latin typeface="Times-Roman"/>
              </a:rPr>
              <a:t>equivalent topological map is shown in Figure </a:t>
            </a:r>
            <a:r>
              <a:rPr lang="en-US" sz="3000" dirty="0" smtClean="0">
                <a:solidFill>
                  <a:schemeClr val="bg1">
                    <a:lumMod val="25000"/>
                  </a:schemeClr>
                </a:solidFill>
                <a:latin typeface="Times-Roman"/>
              </a:rPr>
              <a:t>2.6.1(b).</a:t>
            </a:r>
          </a:p>
        </p:txBody>
      </p:sp>
    </p:spTree>
    <p:extLst>
      <p:ext uri="{BB962C8B-B14F-4D97-AF65-F5344CB8AC3E}">
        <p14:creationId xmlns:p14="http://schemas.microsoft.com/office/powerpoint/2010/main" val="2479342979"/>
      </p:ext>
    </p:extLst>
  </p:cSld>
  <p:clrMapOvr>
    <a:masterClrMapping/>
  </p:clrMapOvr>
  <p:transition spd="med"/>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104</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566323" y="6031159"/>
            <a:ext cx="11407140" cy="523220"/>
          </a:xfrm>
          <a:prstGeom prst="rect">
            <a:avLst/>
          </a:prstGeom>
        </p:spPr>
        <p:txBody>
          <a:bodyPr wrap="square">
            <a:spAutoFit/>
          </a:bodyPr>
          <a:lstStyle/>
          <a:p>
            <a:pPr algn="just"/>
            <a:r>
              <a:rPr lang="en-US" sz="2800" b="1" dirty="0"/>
              <a:t>Figure </a:t>
            </a:r>
            <a:r>
              <a:rPr lang="en-US" sz="2800" b="1" dirty="0" smtClean="0"/>
              <a:t>2.6.1: </a:t>
            </a:r>
            <a:r>
              <a:rPr lang="en-US" sz="2800" dirty="0"/>
              <a:t>(a) Scene with landmarks, and (b) equivalent topological map.</a:t>
            </a:r>
            <a:endParaRPr lang="en-US" sz="4000" b="1" dirty="0" smtClean="0">
              <a:solidFill>
                <a:schemeClr val="bg1">
                  <a:lumMod val="25000"/>
                </a:schemeClr>
              </a:solidFill>
              <a:latin typeface="Times-Roman"/>
            </a:endParaRPr>
          </a:p>
        </p:txBody>
      </p:sp>
      <p:pic>
        <p:nvPicPr>
          <p:cNvPr id="3" name="Picture 2"/>
          <p:cNvPicPr>
            <a:picLocks noChangeAspect="1"/>
          </p:cNvPicPr>
          <p:nvPr/>
        </p:nvPicPr>
        <p:blipFill>
          <a:blip r:embed="rId2"/>
          <a:stretch>
            <a:fillRect/>
          </a:stretch>
        </p:blipFill>
        <p:spPr>
          <a:xfrm>
            <a:off x="963134" y="957601"/>
            <a:ext cx="10613517" cy="4784331"/>
          </a:xfrm>
          <a:prstGeom prst="rect">
            <a:avLst/>
          </a:prstGeom>
          <a:ln w="28575">
            <a:solidFill>
              <a:schemeClr val="tx1"/>
            </a:solidFill>
          </a:ln>
        </p:spPr>
      </p:pic>
    </p:spTree>
    <p:extLst>
      <p:ext uri="{BB962C8B-B14F-4D97-AF65-F5344CB8AC3E}">
        <p14:creationId xmlns:p14="http://schemas.microsoft.com/office/powerpoint/2010/main" val="2957122952"/>
      </p:ext>
    </p:extLst>
  </p:cSld>
  <p:clrMapOvr>
    <a:masterClrMapping/>
  </p:clrMapOvr>
  <p:transition spd="med"/>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105</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1407401"/>
            <a:ext cx="11407140" cy="470898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The places are labeled with the landmark number.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The </a:t>
            </a:r>
            <a:r>
              <a:rPr lang="en-US" sz="3000" dirty="0">
                <a:solidFill>
                  <a:schemeClr val="bg1">
                    <a:lumMod val="25000"/>
                  </a:schemeClr>
                </a:solidFill>
                <a:latin typeface="Times-Roman"/>
              </a:rPr>
              <a:t>details of the </a:t>
            </a:r>
            <a:r>
              <a:rPr lang="en-US" sz="3000" dirty="0" smtClean="0">
                <a:solidFill>
                  <a:schemeClr val="bg1">
                    <a:lumMod val="25000"/>
                  </a:schemeClr>
                </a:solidFill>
                <a:latin typeface="Times-Roman"/>
              </a:rPr>
              <a:t>routes between </a:t>
            </a:r>
            <a:r>
              <a:rPr lang="en-US" sz="3000" dirty="0">
                <a:solidFill>
                  <a:schemeClr val="bg1">
                    <a:lumMod val="25000"/>
                  </a:schemeClr>
                </a:solidFill>
                <a:latin typeface="Times-Roman"/>
              </a:rPr>
              <a:t>places are not represented, just the fact that one place is </a:t>
            </a:r>
            <a:r>
              <a:rPr lang="en-US" sz="3000" dirty="0" smtClean="0">
                <a:solidFill>
                  <a:schemeClr val="bg1">
                    <a:lumMod val="25000"/>
                  </a:schemeClr>
                </a:solidFill>
                <a:latin typeface="Times-Roman"/>
              </a:rPr>
              <a:t>reachable from </a:t>
            </a:r>
            <a:r>
              <a:rPr lang="en-US" sz="3000" dirty="0">
                <a:solidFill>
                  <a:schemeClr val="bg1">
                    <a:lumMod val="25000"/>
                  </a:schemeClr>
                </a:solidFill>
                <a:latin typeface="Times-Roman"/>
              </a:rPr>
              <a:t>another.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The </a:t>
            </a:r>
            <a:r>
              <a:rPr lang="en-US" sz="3000" dirty="0">
                <a:solidFill>
                  <a:schemeClr val="bg1">
                    <a:lumMod val="25000"/>
                  </a:schemeClr>
                </a:solidFill>
                <a:latin typeface="Times-Roman"/>
              </a:rPr>
              <a:t>map can store more detailed metric information for </a:t>
            </a:r>
            <a:r>
              <a:rPr lang="en-US" sz="3000" dirty="0" smtClean="0">
                <a:solidFill>
                  <a:schemeClr val="bg1">
                    <a:lumMod val="25000"/>
                  </a:schemeClr>
                </a:solidFill>
                <a:latin typeface="Times-Roman"/>
              </a:rPr>
              <a:t>each place</a:t>
            </a:r>
            <a:r>
              <a:rPr lang="en-US" sz="3000" dirty="0">
                <a:solidFill>
                  <a:schemeClr val="bg1">
                    <a:lumMod val="25000"/>
                  </a:schemeClr>
                </a:solidFill>
                <a:latin typeface="Times-Roman"/>
              </a:rPr>
              <a:t>.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For </a:t>
            </a:r>
            <a:r>
              <a:rPr lang="en-US" sz="3000" dirty="0">
                <a:solidFill>
                  <a:schemeClr val="bg1">
                    <a:lumMod val="25000"/>
                  </a:schemeClr>
                </a:solidFill>
                <a:latin typeface="Times-Roman"/>
              </a:rPr>
              <a:t>example, the map would have detailed information about </a:t>
            </a:r>
            <a:r>
              <a:rPr lang="en-US" sz="3000" dirty="0" smtClean="0">
                <a:solidFill>
                  <a:schemeClr val="bg1">
                    <a:lumMod val="25000"/>
                  </a:schemeClr>
                </a:solidFill>
                <a:latin typeface="Times-Roman"/>
              </a:rPr>
              <a:t>the major </a:t>
            </a:r>
            <a:r>
              <a:rPr lang="en-US" sz="3000" dirty="0">
                <a:solidFill>
                  <a:schemeClr val="bg1">
                    <a:lumMod val="25000"/>
                  </a:schemeClr>
                </a:solidFill>
                <a:latin typeface="Times-Roman"/>
              </a:rPr>
              <a:t>intersection for the place labeled 4 in Figure </a:t>
            </a:r>
            <a:r>
              <a:rPr lang="en-US" sz="3000" dirty="0" smtClean="0">
                <a:solidFill>
                  <a:schemeClr val="bg1">
                    <a:lumMod val="25000"/>
                  </a:schemeClr>
                </a:solidFill>
                <a:latin typeface="Times-Roman"/>
              </a:rPr>
              <a:t>2.6.1.</a:t>
            </a:r>
          </a:p>
          <a:p>
            <a:pPr marL="457200" indent="-457200" algn="just">
              <a:buFont typeface="Arial" panose="020B0604020202020204" pitchFamily="34" charset="0"/>
              <a:buChar char="•"/>
            </a:pPr>
            <a:r>
              <a:rPr lang="en-US" sz="3000" dirty="0">
                <a:solidFill>
                  <a:schemeClr val="bg1">
                    <a:lumMod val="25000"/>
                  </a:schemeClr>
                </a:solidFill>
                <a:latin typeface="Times-Roman"/>
              </a:rPr>
              <a:t>Although any sensory signature could be </a:t>
            </a:r>
            <a:r>
              <a:rPr lang="en-US" sz="3000" dirty="0" smtClean="0">
                <a:solidFill>
                  <a:schemeClr val="bg1">
                    <a:lumMod val="25000"/>
                  </a:schemeClr>
                </a:solidFill>
                <a:latin typeface="Times-Roman"/>
              </a:rPr>
              <a:t>involved in </a:t>
            </a:r>
            <a:r>
              <a:rPr lang="en-US" sz="3000" dirty="0">
                <a:solidFill>
                  <a:schemeClr val="bg1">
                    <a:lumMod val="25000"/>
                  </a:schemeClr>
                </a:solidFill>
                <a:latin typeface="Times-Roman"/>
              </a:rPr>
              <a:t>the identification of a place, we will restrict ourselves to looking at </a:t>
            </a:r>
            <a:r>
              <a:rPr lang="en-US" sz="3000" dirty="0" smtClean="0">
                <a:solidFill>
                  <a:schemeClr val="bg1">
                    <a:lumMod val="25000"/>
                  </a:schemeClr>
                </a:solidFill>
                <a:latin typeface="Times-Roman"/>
              </a:rPr>
              <a:t>visual signatures.</a:t>
            </a:r>
          </a:p>
        </p:txBody>
      </p:sp>
    </p:spTree>
    <p:extLst>
      <p:ext uri="{BB962C8B-B14F-4D97-AF65-F5344CB8AC3E}">
        <p14:creationId xmlns:p14="http://schemas.microsoft.com/office/powerpoint/2010/main" val="3764868386"/>
      </p:ext>
    </p:extLst>
  </p:cSld>
  <p:clrMapOvr>
    <a:masterClrMapping/>
  </p:clrMapOvr>
  <p:transition spd="med"/>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106</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904060"/>
            <a:ext cx="11407140" cy="563231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Our objective will be to take multiple measurements of each of our landmarks and build a model (the signature) for each landmark</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smtClean="0">
                <a:solidFill>
                  <a:schemeClr val="bg1">
                    <a:lumMod val="25000"/>
                  </a:schemeClr>
                </a:solidFill>
                <a:latin typeface="Times-Roman"/>
              </a:rPr>
              <a:t>When an </a:t>
            </a:r>
            <a:r>
              <a:rPr lang="en-US" sz="3000" dirty="0">
                <a:solidFill>
                  <a:schemeClr val="bg1">
                    <a:lumMod val="25000"/>
                  </a:schemeClr>
                </a:solidFill>
                <a:latin typeface="Times-Roman"/>
              </a:rPr>
              <a:t>image of an unknown landmark is presented to the robot, we </a:t>
            </a:r>
            <a:r>
              <a:rPr lang="en-US" sz="3000" dirty="0" smtClean="0">
                <a:solidFill>
                  <a:schemeClr val="bg1">
                    <a:lumMod val="25000"/>
                  </a:schemeClr>
                </a:solidFill>
                <a:latin typeface="Times-Roman"/>
              </a:rPr>
              <a:t>would like </a:t>
            </a:r>
            <a:r>
              <a:rPr lang="en-US" sz="3000" dirty="0">
                <a:solidFill>
                  <a:schemeClr val="bg1">
                    <a:lumMod val="25000"/>
                  </a:schemeClr>
                </a:solidFill>
                <a:latin typeface="Times-Roman"/>
              </a:rPr>
              <a:t>it to use its collection of landmark models to determine to which, </a:t>
            </a:r>
            <a:r>
              <a:rPr lang="en-US" sz="3000" dirty="0" smtClean="0">
                <a:solidFill>
                  <a:schemeClr val="bg1">
                    <a:lumMod val="25000"/>
                  </a:schemeClr>
                </a:solidFill>
                <a:latin typeface="Times-Roman"/>
              </a:rPr>
              <a:t>if any</a:t>
            </a:r>
            <a:r>
              <a:rPr lang="en-US" sz="3000" dirty="0">
                <a:solidFill>
                  <a:schemeClr val="bg1">
                    <a:lumMod val="25000"/>
                  </a:schemeClr>
                </a:solidFill>
                <a:latin typeface="Times-Roman"/>
              </a:rPr>
              <a:t>, of the landmarks the image corresponds</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smtClean="0">
                <a:solidFill>
                  <a:schemeClr val="bg1">
                    <a:lumMod val="25000"/>
                  </a:schemeClr>
                </a:solidFill>
                <a:latin typeface="Times-Roman"/>
              </a:rPr>
              <a:t>This problem falls into </a:t>
            </a:r>
            <a:r>
              <a:rPr lang="en-US" sz="3000" dirty="0">
                <a:solidFill>
                  <a:schemeClr val="bg1">
                    <a:lumMod val="25000"/>
                  </a:schemeClr>
                </a:solidFill>
                <a:latin typeface="Times-Roman"/>
              </a:rPr>
              <a:t>the class of machine learning problems and is an example of what is </a:t>
            </a:r>
            <a:r>
              <a:rPr lang="en-US" sz="3000" dirty="0" smtClean="0">
                <a:solidFill>
                  <a:schemeClr val="bg1">
                    <a:lumMod val="25000"/>
                  </a:schemeClr>
                </a:solidFill>
                <a:latin typeface="Times-Roman"/>
              </a:rPr>
              <a:t>called unsupervised </a:t>
            </a:r>
            <a:r>
              <a:rPr lang="en-US" sz="3000" dirty="0">
                <a:solidFill>
                  <a:schemeClr val="bg1">
                    <a:lumMod val="25000"/>
                  </a:schemeClr>
                </a:solidFill>
                <a:latin typeface="Times-Roman"/>
              </a:rPr>
              <a:t>learning</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Clustering (not to be confused with </a:t>
            </a:r>
            <a:r>
              <a:rPr lang="en-US" sz="3000" dirty="0" smtClean="0">
                <a:solidFill>
                  <a:schemeClr val="bg1">
                    <a:lumMod val="25000"/>
                  </a:schemeClr>
                </a:solidFill>
                <a:latin typeface="Times-Roman"/>
              </a:rPr>
              <a:t>computational clusters</a:t>
            </a:r>
            <a:r>
              <a:rPr lang="en-US" sz="3000" dirty="0">
                <a:solidFill>
                  <a:schemeClr val="bg1">
                    <a:lumMod val="25000"/>
                  </a:schemeClr>
                </a:solidFill>
                <a:latin typeface="Times-Roman"/>
              </a:rPr>
              <a:t>) is an approach to solving unsupervised learning problems of </a:t>
            </a:r>
            <a:r>
              <a:rPr lang="en-US" sz="3000" dirty="0" smtClean="0">
                <a:solidFill>
                  <a:schemeClr val="bg1">
                    <a:lumMod val="25000"/>
                  </a:schemeClr>
                </a:solidFill>
                <a:latin typeface="Times-Roman"/>
              </a:rPr>
              <a:t>this kind</a:t>
            </a:r>
            <a:r>
              <a:rPr lang="en-US" sz="3000" dirty="0">
                <a:solidFill>
                  <a:schemeClr val="bg1">
                    <a:lumMod val="25000"/>
                  </a:schemeClr>
                </a:solidFill>
                <a:latin typeface="Times-Roman"/>
              </a:rPr>
              <a:t>.</a:t>
            </a:r>
          </a:p>
        </p:txBody>
      </p:sp>
    </p:spTree>
    <p:extLst>
      <p:ext uri="{BB962C8B-B14F-4D97-AF65-F5344CB8AC3E}">
        <p14:creationId xmlns:p14="http://schemas.microsoft.com/office/powerpoint/2010/main" val="2300418088"/>
      </p:ext>
    </p:extLst>
  </p:cSld>
  <p:clrMapOvr>
    <a:masterClrMapping/>
  </p:clrMapOvr>
  <p:transition spd="med"/>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107</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1407401"/>
            <a:ext cx="11407140" cy="3323987"/>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The clusters refer to subsets of the collection of data points in </a:t>
            </a:r>
            <a:r>
              <a:rPr lang="en-US" sz="3000" dirty="0" smtClean="0">
                <a:solidFill>
                  <a:schemeClr val="bg1">
                    <a:lumMod val="25000"/>
                  </a:schemeClr>
                </a:solidFill>
                <a:latin typeface="Times-Roman"/>
              </a:rPr>
              <a:t>which all </a:t>
            </a:r>
            <a:r>
              <a:rPr lang="en-US" sz="3000" dirty="0">
                <a:solidFill>
                  <a:schemeClr val="bg1">
                    <a:lumMod val="25000"/>
                  </a:schemeClr>
                </a:solidFill>
                <a:latin typeface="Times-Roman"/>
              </a:rPr>
              <a:t>the members are ‘close’ to one another in some measurement space.</a:t>
            </a:r>
          </a:p>
          <a:p>
            <a:pPr marL="457200" indent="-457200" algn="just">
              <a:buFont typeface="Arial" panose="020B0604020202020204" pitchFamily="34" charset="0"/>
              <a:buChar char="•"/>
            </a:pPr>
            <a:r>
              <a:rPr lang="en-US" sz="3000" dirty="0">
                <a:solidFill>
                  <a:schemeClr val="bg1">
                    <a:lumMod val="25000"/>
                  </a:schemeClr>
                </a:solidFill>
                <a:latin typeface="Times-Roman"/>
              </a:rPr>
              <a:t>We will look at </a:t>
            </a:r>
            <a:r>
              <a:rPr lang="en-US" sz="3000" b="1" dirty="0">
                <a:solidFill>
                  <a:schemeClr val="bg1">
                    <a:lumMod val="25000"/>
                  </a:schemeClr>
                </a:solidFill>
                <a:latin typeface="Times-Roman"/>
              </a:rPr>
              <a:t>two fairly common approaches to clustering:</a:t>
            </a:r>
            <a:r>
              <a:rPr lang="en-US" sz="3000" dirty="0">
                <a:solidFill>
                  <a:schemeClr val="bg1">
                    <a:lumMod val="25000"/>
                  </a:schemeClr>
                </a:solidFill>
                <a:latin typeface="Times-Roman"/>
              </a:rPr>
              <a:t> </a:t>
            </a:r>
            <a:r>
              <a:rPr lang="en-US" sz="3000" b="1" dirty="0" smtClean="0">
                <a:solidFill>
                  <a:schemeClr val="accent6">
                    <a:lumMod val="50000"/>
                  </a:schemeClr>
                </a:solidFill>
                <a:latin typeface="Times-Roman"/>
              </a:rPr>
              <a:t>	1. K-Means clustering </a:t>
            </a:r>
          </a:p>
          <a:p>
            <a:pPr algn="just"/>
            <a:r>
              <a:rPr lang="en-US" sz="3000" b="1" dirty="0">
                <a:solidFill>
                  <a:schemeClr val="accent6">
                    <a:lumMod val="50000"/>
                  </a:schemeClr>
                </a:solidFill>
                <a:latin typeface="Times-Roman"/>
              </a:rPr>
              <a:t>	</a:t>
            </a:r>
            <a:r>
              <a:rPr lang="en-US" sz="3000" b="1" dirty="0" smtClean="0">
                <a:solidFill>
                  <a:schemeClr val="accent6">
                    <a:lumMod val="50000"/>
                  </a:schemeClr>
                </a:solidFill>
                <a:latin typeface="Times-Roman"/>
              </a:rPr>
              <a:t>2. Expectation-Maximization </a:t>
            </a:r>
            <a:r>
              <a:rPr lang="en-US" sz="3000" b="1" dirty="0">
                <a:solidFill>
                  <a:schemeClr val="accent6">
                    <a:lumMod val="50000"/>
                  </a:schemeClr>
                </a:solidFill>
                <a:latin typeface="Times-Roman"/>
              </a:rPr>
              <a:t>(EM</a:t>
            </a:r>
            <a:r>
              <a:rPr lang="en-US" sz="3000" b="1" dirty="0" smtClean="0">
                <a:solidFill>
                  <a:schemeClr val="accent6">
                    <a:lumMod val="50000"/>
                  </a:schemeClr>
                </a:solidFill>
                <a:latin typeface="Times-Roman"/>
              </a:rPr>
              <a:t>).</a:t>
            </a:r>
          </a:p>
          <a:p>
            <a:pPr algn="just"/>
            <a:endParaRPr lang="en-US" sz="3000" b="1" dirty="0" smtClean="0">
              <a:solidFill>
                <a:schemeClr val="accent6">
                  <a:lumMod val="50000"/>
                </a:schemeClr>
              </a:solidFill>
              <a:latin typeface="Times-Roman"/>
            </a:endParaRPr>
          </a:p>
        </p:txBody>
      </p:sp>
    </p:spTree>
    <p:extLst>
      <p:ext uri="{BB962C8B-B14F-4D97-AF65-F5344CB8AC3E}">
        <p14:creationId xmlns:p14="http://schemas.microsoft.com/office/powerpoint/2010/main" val="1735436940"/>
      </p:ext>
    </p:extLst>
  </p:cSld>
  <p:clrMapOvr>
    <a:masterClrMapping/>
  </p:clrMapOvr>
  <p:transition spd="med"/>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108</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2.6.1  Landmark </a:t>
            </a:r>
            <a:r>
              <a:rPr lang="en-US" sz="4000" b="1" dirty="0" err="1" smtClean="0">
                <a:latin typeface="Times New Roman" panose="02020603050405020304" pitchFamily="18" charset="0"/>
                <a:cs typeface="Times New Roman" panose="02020603050405020304" pitchFamily="18" charset="0"/>
              </a:rPr>
              <a:t>Spatiograms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1407401"/>
            <a:ext cx="11407140" cy="4247317"/>
          </a:xfrm>
          <a:prstGeom prst="rect">
            <a:avLst/>
          </a:prstGeom>
        </p:spPr>
        <p:txBody>
          <a:bodyPr wrap="square">
            <a:spAutoFit/>
          </a:bodyPr>
          <a:lstStyle/>
          <a:p>
            <a:pPr marL="457200" indent="-457200" algn="just">
              <a:buFont typeface="Arial" panose="020B0604020202020204" pitchFamily="34" charset="0"/>
              <a:buChar char="•"/>
            </a:pPr>
            <a:r>
              <a:rPr lang="en-US" sz="3000" b="1" dirty="0" err="1">
                <a:solidFill>
                  <a:schemeClr val="accent1">
                    <a:lumMod val="75000"/>
                    <a:lumOff val="25000"/>
                  </a:schemeClr>
                </a:solidFill>
                <a:latin typeface="Times-Roman"/>
              </a:rPr>
              <a:t>Spatiograms</a:t>
            </a:r>
            <a:r>
              <a:rPr lang="en-US" sz="3000" dirty="0">
                <a:solidFill>
                  <a:schemeClr val="bg1">
                    <a:lumMod val="25000"/>
                  </a:schemeClr>
                </a:solidFill>
                <a:latin typeface="Times-Roman"/>
              </a:rPr>
              <a:t> were </a:t>
            </a:r>
            <a:r>
              <a:rPr lang="en-US" sz="3000" dirty="0" smtClean="0">
                <a:solidFill>
                  <a:schemeClr val="bg1">
                    <a:lumMod val="25000"/>
                  </a:schemeClr>
                </a:solidFill>
                <a:latin typeface="Times-Roman"/>
              </a:rPr>
              <a:t>introduced to </a:t>
            </a:r>
            <a:r>
              <a:rPr lang="en-US" sz="3000" dirty="0">
                <a:solidFill>
                  <a:schemeClr val="bg1">
                    <a:lumMod val="25000"/>
                  </a:schemeClr>
                </a:solidFill>
                <a:latin typeface="Times-Roman"/>
              </a:rPr>
              <a:t>represent the visual </a:t>
            </a:r>
            <a:r>
              <a:rPr lang="en-US" sz="3000" dirty="0" smtClean="0">
                <a:solidFill>
                  <a:schemeClr val="bg1">
                    <a:lumMod val="25000"/>
                  </a:schemeClr>
                </a:solidFill>
                <a:latin typeface="Times-Roman"/>
              </a:rPr>
              <a:t>similarity between </a:t>
            </a:r>
            <a:r>
              <a:rPr lang="en-US" sz="3000" dirty="0">
                <a:solidFill>
                  <a:schemeClr val="bg1">
                    <a:lumMod val="25000"/>
                  </a:schemeClr>
                </a:solidFill>
                <a:latin typeface="Times-Roman"/>
              </a:rPr>
              <a:t>a target candidate and a target</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We can also employ </a:t>
            </a:r>
            <a:r>
              <a:rPr lang="en-US" sz="3000" dirty="0" err="1" smtClean="0">
                <a:solidFill>
                  <a:schemeClr val="bg1">
                    <a:lumMod val="25000"/>
                  </a:schemeClr>
                </a:solidFill>
                <a:latin typeface="Times-Roman"/>
              </a:rPr>
              <a:t>spatiograms</a:t>
            </a:r>
            <a:r>
              <a:rPr lang="en-US" sz="3000" dirty="0" smtClean="0">
                <a:solidFill>
                  <a:schemeClr val="bg1">
                    <a:lumMod val="25000"/>
                  </a:schemeClr>
                </a:solidFill>
                <a:latin typeface="Times-Roman"/>
              </a:rPr>
              <a:t> to </a:t>
            </a:r>
            <a:r>
              <a:rPr lang="en-US" sz="3000" dirty="0">
                <a:solidFill>
                  <a:schemeClr val="bg1">
                    <a:lumMod val="25000"/>
                  </a:schemeClr>
                </a:solidFill>
                <a:latin typeface="Times-Roman"/>
              </a:rPr>
              <a:t>recognize landmarks</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a:solidFill>
                  <a:schemeClr val="bg1">
                    <a:lumMod val="25000"/>
                  </a:schemeClr>
                </a:solidFill>
                <a:latin typeface="Times-Roman"/>
              </a:rPr>
              <a:t>Consider Figure </a:t>
            </a:r>
            <a:r>
              <a:rPr lang="en-US" sz="3000" dirty="0" smtClean="0">
                <a:solidFill>
                  <a:schemeClr val="bg1">
                    <a:lumMod val="25000"/>
                  </a:schemeClr>
                </a:solidFill>
                <a:latin typeface="Times-Roman"/>
              </a:rPr>
              <a:t>2.6.2: </a:t>
            </a:r>
            <a:r>
              <a:rPr lang="en-US" sz="3000" dirty="0">
                <a:solidFill>
                  <a:schemeClr val="bg1">
                    <a:lumMod val="25000"/>
                  </a:schemeClr>
                </a:solidFill>
                <a:latin typeface="Times-Roman"/>
              </a:rPr>
              <a:t>Figure </a:t>
            </a:r>
            <a:r>
              <a:rPr lang="en-US" sz="3000" dirty="0" smtClean="0">
                <a:solidFill>
                  <a:schemeClr val="bg1">
                    <a:lumMod val="25000"/>
                  </a:schemeClr>
                </a:solidFill>
                <a:latin typeface="Times-Roman"/>
              </a:rPr>
              <a:t>2.6.2 column (</a:t>
            </a:r>
            <a:r>
              <a:rPr lang="en-US" sz="3000" dirty="0">
                <a:solidFill>
                  <a:schemeClr val="bg1">
                    <a:lumMod val="25000"/>
                  </a:schemeClr>
                </a:solidFill>
                <a:latin typeface="Times-Roman"/>
              </a:rPr>
              <a:t>a) shows images of three landmarks: a garbage bin, a wishing-well and a tree.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The </a:t>
            </a:r>
            <a:r>
              <a:rPr lang="en-US" sz="3000" dirty="0">
                <a:solidFill>
                  <a:schemeClr val="bg1">
                    <a:lumMod val="25000"/>
                  </a:schemeClr>
                </a:solidFill>
                <a:latin typeface="Times-Roman"/>
              </a:rPr>
              <a:t>images were taken with a </a:t>
            </a:r>
            <a:r>
              <a:rPr lang="en-US" sz="3000" dirty="0" err="1" smtClean="0">
                <a:solidFill>
                  <a:schemeClr val="bg1">
                    <a:lumMod val="25000"/>
                  </a:schemeClr>
                </a:solidFill>
                <a:latin typeface="Times-Roman"/>
              </a:rPr>
              <a:t>stereocamera</a:t>
            </a:r>
            <a:r>
              <a:rPr lang="en-US" sz="3000" dirty="0" smtClean="0">
                <a:solidFill>
                  <a:schemeClr val="bg1">
                    <a:lumMod val="25000"/>
                  </a:schemeClr>
                </a:solidFill>
                <a:latin typeface="Times-Roman"/>
              </a:rPr>
              <a:t> </a:t>
            </a:r>
            <a:r>
              <a:rPr lang="en-US" sz="3000" dirty="0">
                <a:solidFill>
                  <a:schemeClr val="bg1">
                    <a:lumMod val="25000"/>
                  </a:schemeClr>
                </a:solidFill>
                <a:latin typeface="Times-Roman"/>
              </a:rPr>
              <a:t>and the </a:t>
            </a:r>
            <a:r>
              <a:rPr lang="en-US" sz="3000" dirty="0" smtClean="0">
                <a:solidFill>
                  <a:schemeClr val="bg1">
                    <a:lumMod val="25000"/>
                  </a:schemeClr>
                </a:solidFill>
                <a:latin typeface="Times-Roman"/>
              </a:rPr>
              <a:t>image foreground </a:t>
            </a:r>
            <a:r>
              <a:rPr lang="en-US" sz="3000" dirty="0">
                <a:solidFill>
                  <a:schemeClr val="bg1">
                    <a:lumMod val="25000"/>
                  </a:schemeClr>
                </a:solidFill>
                <a:latin typeface="Times-Roman"/>
              </a:rPr>
              <a:t>region identified by depth filtering</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The region is shown </a:t>
            </a:r>
            <a:r>
              <a:rPr lang="en-US" sz="3000" dirty="0" smtClean="0">
                <a:solidFill>
                  <a:schemeClr val="bg1">
                    <a:lumMod val="25000"/>
                  </a:schemeClr>
                </a:solidFill>
                <a:latin typeface="Times-Roman"/>
              </a:rPr>
              <a:t>in the </a:t>
            </a:r>
            <a:r>
              <a:rPr lang="en-US" sz="3000" dirty="0">
                <a:solidFill>
                  <a:schemeClr val="bg1">
                    <a:lumMod val="25000"/>
                  </a:schemeClr>
                </a:solidFill>
                <a:latin typeface="Times-Roman"/>
              </a:rPr>
              <a:t>figures by the irregular image boundary on a black background.</a:t>
            </a:r>
            <a:endParaRPr lang="en-US" sz="3000" dirty="0" smtClean="0">
              <a:solidFill>
                <a:schemeClr val="bg1">
                  <a:lumMod val="25000"/>
                </a:schemeClr>
              </a:solidFill>
              <a:latin typeface="Times-Roman"/>
            </a:endParaRPr>
          </a:p>
        </p:txBody>
      </p:sp>
    </p:spTree>
    <p:extLst>
      <p:ext uri="{BB962C8B-B14F-4D97-AF65-F5344CB8AC3E}">
        <p14:creationId xmlns:p14="http://schemas.microsoft.com/office/powerpoint/2010/main" val="1081813024"/>
      </p:ext>
    </p:extLst>
  </p:cSld>
  <p:clrMapOvr>
    <a:masterClrMapping/>
  </p:clrMapOvr>
  <p:transition spd="med"/>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109</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 New Roman" panose="02020603050405020304" pitchFamily="18" charset="0"/>
                <a:cs typeface="Times New Roman" panose="02020603050405020304" pitchFamily="18" charset="0"/>
              </a:rPr>
              <a:t>2.6.1  Landmark </a:t>
            </a:r>
            <a:r>
              <a:rPr lang="en-US" sz="4000" b="1" dirty="0" err="1">
                <a:latin typeface="Times New Roman" panose="02020603050405020304" pitchFamily="18" charset="0"/>
                <a:cs typeface="Times New Roman" panose="02020603050405020304" pitchFamily="18" charset="0"/>
              </a:rPr>
              <a:t>Spatiograms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4771702"/>
            <a:ext cx="11407140" cy="1015663"/>
          </a:xfrm>
          <a:prstGeom prst="rect">
            <a:avLst/>
          </a:prstGeom>
        </p:spPr>
        <p:txBody>
          <a:bodyPr wrap="square">
            <a:spAutoFit/>
          </a:bodyPr>
          <a:lstStyle/>
          <a:p>
            <a:pPr algn="ctr"/>
            <a:r>
              <a:rPr lang="en-US" sz="3000" dirty="0">
                <a:solidFill>
                  <a:schemeClr val="bg1">
                    <a:lumMod val="25000"/>
                  </a:schemeClr>
                </a:solidFill>
                <a:latin typeface="Times-Roman"/>
              </a:rPr>
              <a:t>Figure </a:t>
            </a:r>
            <a:r>
              <a:rPr lang="en-US" sz="3000" dirty="0" smtClean="0">
                <a:solidFill>
                  <a:schemeClr val="bg1">
                    <a:lumMod val="25000"/>
                  </a:schemeClr>
                </a:solidFill>
                <a:latin typeface="Times-Roman"/>
              </a:rPr>
              <a:t>2.6.2: </a:t>
            </a:r>
            <a:r>
              <a:rPr lang="en-US" sz="3000" dirty="0">
                <a:solidFill>
                  <a:schemeClr val="bg1">
                    <a:lumMod val="25000"/>
                  </a:schemeClr>
                </a:solidFill>
                <a:latin typeface="Times-Roman"/>
              </a:rPr>
              <a:t>(a) Landmark images, (b) Histograms (freq. vs. pixel values), (c) Spatial means.</a:t>
            </a:r>
            <a:endParaRPr lang="en-US" sz="3000" b="1" dirty="0" smtClean="0">
              <a:solidFill>
                <a:schemeClr val="bg1">
                  <a:lumMod val="25000"/>
                </a:schemeClr>
              </a:solidFill>
              <a:latin typeface="Times-Roman"/>
            </a:endParaRPr>
          </a:p>
        </p:txBody>
      </p:sp>
      <p:pic>
        <p:nvPicPr>
          <p:cNvPr id="3" name="Picture 2"/>
          <p:cNvPicPr>
            <a:picLocks noChangeAspect="1"/>
          </p:cNvPicPr>
          <p:nvPr/>
        </p:nvPicPr>
        <p:blipFill>
          <a:blip r:embed="rId2"/>
          <a:stretch>
            <a:fillRect/>
          </a:stretch>
        </p:blipFill>
        <p:spPr>
          <a:xfrm>
            <a:off x="938386" y="1164173"/>
            <a:ext cx="9970264" cy="3347416"/>
          </a:xfrm>
          <a:prstGeom prst="rect">
            <a:avLst/>
          </a:prstGeom>
          <a:ln w="28575">
            <a:solidFill>
              <a:schemeClr val="tx1"/>
            </a:solidFill>
          </a:ln>
        </p:spPr>
      </p:pic>
    </p:spTree>
    <p:extLst>
      <p:ext uri="{BB962C8B-B14F-4D97-AF65-F5344CB8AC3E}">
        <p14:creationId xmlns:p14="http://schemas.microsoft.com/office/powerpoint/2010/main" val="1832470857"/>
      </p:ext>
    </p:extLst>
  </p:cSld>
  <p:clrMapOvr>
    <a:masterClrMapping/>
  </p:clrMapOvr>
  <p:transition spd="med"/>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110</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 New Roman" panose="02020603050405020304" pitchFamily="18" charset="0"/>
                <a:cs typeface="Times New Roman" panose="02020603050405020304" pitchFamily="18" charset="0"/>
              </a:rPr>
              <a:t>2.6.1  Landmark </a:t>
            </a:r>
            <a:r>
              <a:rPr lang="en-US" sz="4000" b="1" dirty="0" err="1">
                <a:latin typeface="Times New Roman" panose="02020603050405020304" pitchFamily="18" charset="0"/>
                <a:cs typeface="Times New Roman" panose="02020603050405020304" pitchFamily="18" charset="0"/>
              </a:rPr>
              <a:t>Spatiograms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4766035"/>
            <a:ext cx="11407140" cy="1077218"/>
          </a:xfrm>
          <a:prstGeom prst="rect">
            <a:avLst/>
          </a:prstGeom>
        </p:spPr>
        <p:txBody>
          <a:bodyPr wrap="square">
            <a:spAutoFit/>
          </a:bodyPr>
          <a:lstStyle/>
          <a:p>
            <a:pPr algn="just"/>
            <a:r>
              <a:rPr lang="en-US" sz="3200" b="1" dirty="0"/>
              <a:t>Figure 8-2: </a:t>
            </a:r>
            <a:r>
              <a:rPr lang="en-US" sz="3200" dirty="0"/>
              <a:t>(a) Landmark images, (b) Histograms (freq. vs. pixel values), (c) Spatial means.</a:t>
            </a:r>
            <a:endParaRPr lang="en-US" sz="4400" b="1" dirty="0" smtClean="0">
              <a:solidFill>
                <a:schemeClr val="bg1">
                  <a:lumMod val="25000"/>
                </a:schemeClr>
              </a:solidFill>
              <a:latin typeface="Times-Roman"/>
            </a:endParaRPr>
          </a:p>
        </p:txBody>
      </p:sp>
      <p:pic>
        <p:nvPicPr>
          <p:cNvPr id="3" name="Picture 2"/>
          <p:cNvPicPr>
            <a:picLocks noChangeAspect="1"/>
          </p:cNvPicPr>
          <p:nvPr/>
        </p:nvPicPr>
        <p:blipFill>
          <a:blip r:embed="rId2"/>
          <a:stretch>
            <a:fillRect/>
          </a:stretch>
        </p:blipFill>
        <p:spPr>
          <a:xfrm>
            <a:off x="1216107" y="1294230"/>
            <a:ext cx="9279728" cy="3081635"/>
          </a:xfrm>
          <a:prstGeom prst="rect">
            <a:avLst/>
          </a:prstGeom>
          <a:ln w="28575">
            <a:solidFill>
              <a:schemeClr val="tx1"/>
            </a:solidFill>
          </a:ln>
        </p:spPr>
      </p:pic>
    </p:spTree>
    <p:extLst>
      <p:ext uri="{BB962C8B-B14F-4D97-AF65-F5344CB8AC3E}">
        <p14:creationId xmlns:p14="http://schemas.microsoft.com/office/powerpoint/2010/main" val="3994395711"/>
      </p:ext>
    </p:extLst>
  </p:cSld>
  <p:clrMapOvr>
    <a:masterClrMapping/>
  </p:clrMapOvr>
  <p:transition spd="med"/>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111</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 New Roman" panose="02020603050405020304" pitchFamily="18" charset="0"/>
                <a:cs typeface="Times New Roman" panose="02020603050405020304" pitchFamily="18" charset="0"/>
              </a:rPr>
              <a:t>2.6.1  Landmark </a:t>
            </a:r>
            <a:r>
              <a:rPr lang="en-US" sz="4000" b="1" dirty="0" err="1">
                <a:latin typeface="Times New Roman" panose="02020603050405020304" pitchFamily="18" charset="0"/>
                <a:cs typeface="Times New Roman" panose="02020603050405020304" pitchFamily="18" charset="0"/>
              </a:rPr>
              <a:t>Spatiograms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467682" y="5335087"/>
            <a:ext cx="11407140" cy="954107"/>
          </a:xfrm>
          <a:prstGeom prst="rect">
            <a:avLst/>
          </a:prstGeom>
        </p:spPr>
        <p:txBody>
          <a:bodyPr wrap="square">
            <a:spAutoFit/>
          </a:bodyPr>
          <a:lstStyle/>
          <a:p>
            <a:pPr algn="just"/>
            <a:r>
              <a:rPr lang="en-US" sz="2800" b="1" dirty="0"/>
              <a:t>Figure 8-2: </a:t>
            </a:r>
            <a:r>
              <a:rPr lang="en-US" sz="2800" dirty="0"/>
              <a:t>(a) Landmark images, (b) Histograms (freq. vs. pixel values), (c) Spatial means.</a:t>
            </a:r>
            <a:endParaRPr lang="en-US" sz="4000" b="1" dirty="0">
              <a:solidFill>
                <a:schemeClr val="bg1">
                  <a:lumMod val="25000"/>
                </a:schemeClr>
              </a:solidFill>
              <a:latin typeface="Times-Roman"/>
            </a:endParaRPr>
          </a:p>
        </p:txBody>
      </p:sp>
      <p:pic>
        <p:nvPicPr>
          <p:cNvPr id="3" name="Picture 2"/>
          <p:cNvPicPr>
            <a:picLocks noChangeAspect="1"/>
          </p:cNvPicPr>
          <p:nvPr/>
        </p:nvPicPr>
        <p:blipFill>
          <a:blip r:embed="rId2"/>
          <a:stretch>
            <a:fillRect/>
          </a:stretch>
        </p:blipFill>
        <p:spPr>
          <a:xfrm>
            <a:off x="1203139" y="1684400"/>
            <a:ext cx="10233700" cy="3147346"/>
          </a:xfrm>
          <a:prstGeom prst="rect">
            <a:avLst/>
          </a:prstGeom>
          <a:ln w="38100">
            <a:solidFill>
              <a:schemeClr val="tx1"/>
            </a:solidFill>
          </a:ln>
        </p:spPr>
      </p:pic>
    </p:spTree>
    <p:extLst>
      <p:ext uri="{BB962C8B-B14F-4D97-AF65-F5344CB8AC3E}">
        <p14:creationId xmlns:p14="http://schemas.microsoft.com/office/powerpoint/2010/main" val="2124508057"/>
      </p:ext>
    </p:extLst>
  </p:cSld>
  <p:clrMapOvr>
    <a:masterClrMapping/>
  </p:clrMapOvr>
  <p:transition spd="med"/>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112</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 New Roman" panose="02020603050405020304" pitchFamily="18" charset="0"/>
                <a:cs typeface="Times New Roman" panose="02020603050405020304" pitchFamily="18" charset="0"/>
              </a:rPr>
              <a:t>2.6.1  Landmark </a:t>
            </a:r>
            <a:r>
              <a:rPr lang="en-US" sz="4000" b="1" dirty="0" err="1">
                <a:latin typeface="Times New Roman" panose="02020603050405020304" pitchFamily="18" charset="0"/>
                <a:cs typeface="Times New Roman" panose="02020603050405020304" pitchFamily="18" charset="0"/>
              </a:rPr>
              <a:t>Spatiograms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1407401"/>
            <a:ext cx="11407140" cy="4708981"/>
          </a:xfrm>
          <a:prstGeom prst="rect">
            <a:avLst/>
          </a:prstGeom>
        </p:spPr>
        <p:txBody>
          <a:bodyPr wrap="square">
            <a:spAutoFit/>
          </a:bodyPr>
          <a:lstStyle/>
          <a:p>
            <a:pPr marL="457200" indent="-457200" algn="just">
              <a:buFont typeface="Arial" panose="020B0604020202020204" pitchFamily="34" charset="0"/>
              <a:buChar char="•"/>
            </a:pPr>
            <a:r>
              <a:rPr lang="en-US" sz="3000" dirty="0" err="1">
                <a:solidFill>
                  <a:schemeClr val="bg1">
                    <a:lumMod val="25000"/>
                  </a:schemeClr>
                </a:solidFill>
                <a:latin typeface="Times-Roman"/>
              </a:rPr>
              <a:t>Spatiograms</a:t>
            </a:r>
            <a:r>
              <a:rPr lang="en-US" sz="3000" dirty="0">
                <a:solidFill>
                  <a:schemeClr val="bg1">
                    <a:lumMod val="25000"/>
                  </a:schemeClr>
                </a:solidFill>
                <a:latin typeface="Times-Roman"/>
              </a:rPr>
              <a:t> were calculated for each foreground region in Figure </a:t>
            </a:r>
            <a:r>
              <a:rPr lang="en-US" sz="3000" dirty="0" smtClean="0">
                <a:solidFill>
                  <a:schemeClr val="bg1">
                    <a:lumMod val="25000"/>
                  </a:schemeClr>
                </a:solidFill>
                <a:latin typeface="Times-Roman"/>
              </a:rPr>
              <a:t>8-2 column </a:t>
            </a:r>
            <a:r>
              <a:rPr lang="en-US" sz="3000" dirty="0">
                <a:solidFill>
                  <a:schemeClr val="bg1">
                    <a:lumMod val="25000"/>
                  </a:schemeClr>
                </a:solidFill>
                <a:latin typeface="Times-Roman"/>
              </a:rPr>
              <a:t>(a), and the normalized frequency information displayed as </a:t>
            </a:r>
            <a:r>
              <a:rPr lang="en-US" sz="3000" dirty="0" smtClean="0">
                <a:solidFill>
                  <a:schemeClr val="bg1">
                    <a:lumMod val="25000"/>
                  </a:schemeClr>
                </a:solidFill>
                <a:latin typeface="Times-Roman"/>
              </a:rPr>
              <a:t>a histogram </a:t>
            </a:r>
            <a:r>
              <a:rPr lang="en-US" sz="3000" dirty="0">
                <a:solidFill>
                  <a:schemeClr val="bg1">
                    <a:lumMod val="25000"/>
                  </a:schemeClr>
                </a:solidFill>
                <a:latin typeface="Times-Roman"/>
              </a:rPr>
              <a:t>for each row in Figure 8-2 column (b</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The spatial mean </a:t>
            </a:r>
            <a:r>
              <a:rPr lang="en-US" sz="3000" dirty="0" smtClean="0">
                <a:solidFill>
                  <a:schemeClr val="bg1">
                    <a:lumMod val="25000"/>
                  </a:schemeClr>
                </a:solidFill>
                <a:latin typeface="Times-Roman"/>
              </a:rPr>
              <a:t>and variance </a:t>
            </a:r>
            <a:r>
              <a:rPr lang="en-US" sz="3000" dirty="0">
                <a:solidFill>
                  <a:schemeClr val="bg1">
                    <a:lumMod val="25000"/>
                  </a:schemeClr>
                </a:solidFill>
                <a:latin typeface="Times-Roman"/>
              </a:rPr>
              <a:t>is displayed in Figure 8-2 column (c) as an ellipse with the </a:t>
            </a:r>
            <a:r>
              <a:rPr lang="en-US" sz="3000" dirty="0" smtClean="0">
                <a:solidFill>
                  <a:schemeClr val="bg1">
                    <a:lumMod val="25000"/>
                  </a:schemeClr>
                </a:solidFill>
                <a:latin typeface="Times-Roman"/>
              </a:rPr>
              <a:t>spatial mean </a:t>
            </a:r>
            <a:r>
              <a:rPr lang="en-US" sz="3000" dirty="0">
                <a:solidFill>
                  <a:schemeClr val="bg1">
                    <a:lumMod val="25000"/>
                  </a:schemeClr>
                </a:solidFill>
                <a:latin typeface="Times-Roman"/>
              </a:rPr>
              <a:t>as center and (assumed independent) x and y variances as major </a:t>
            </a:r>
            <a:r>
              <a:rPr lang="en-US" sz="3000" dirty="0" smtClean="0">
                <a:solidFill>
                  <a:schemeClr val="bg1">
                    <a:lumMod val="25000"/>
                  </a:schemeClr>
                </a:solidFill>
                <a:latin typeface="Times-Roman"/>
              </a:rPr>
              <a:t>and minor </a:t>
            </a:r>
            <a:r>
              <a:rPr lang="en-US" sz="3000" dirty="0">
                <a:solidFill>
                  <a:schemeClr val="bg1">
                    <a:lumMod val="25000"/>
                  </a:schemeClr>
                </a:solidFill>
                <a:latin typeface="Times-Roman"/>
              </a:rPr>
              <a:t>axis</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The brighter the contour of the ellipse, the higher the </a:t>
            </a:r>
            <a:r>
              <a:rPr lang="en-US" sz="3000" dirty="0" smtClean="0">
                <a:solidFill>
                  <a:schemeClr val="bg1">
                    <a:lumMod val="25000"/>
                  </a:schemeClr>
                </a:solidFill>
                <a:latin typeface="Times-Roman"/>
              </a:rPr>
              <a:t>frequency value </a:t>
            </a:r>
            <a:r>
              <a:rPr lang="en-US" sz="3000" dirty="0">
                <a:solidFill>
                  <a:schemeClr val="bg1">
                    <a:lumMod val="25000"/>
                  </a:schemeClr>
                </a:solidFill>
                <a:latin typeface="Times-Roman"/>
              </a:rPr>
              <a:t>associated with that ellipse.</a:t>
            </a:r>
            <a:endParaRPr lang="en-US" sz="3000" dirty="0" smtClean="0">
              <a:solidFill>
                <a:schemeClr val="bg1">
                  <a:lumMod val="25000"/>
                </a:schemeClr>
              </a:solidFill>
              <a:latin typeface="Times-Roman"/>
            </a:endParaRPr>
          </a:p>
        </p:txBody>
      </p:sp>
    </p:spTree>
    <p:extLst>
      <p:ext uri="{BB962C8B-B14F-4D97-AF65-F5344CB8AC3E}">
        <p14:creationId xmlns:p14="http://schemas.microsoft.com/office/powerpoint/2010/main" val="3082791457"/>
      </p:ext>
    </p:extLst>
  </p:cSld>
  <p:clrMapOvr>
    <a:masterClrMapping/>
  </p:clrMapOvr>
  <p:transition spd="med"/>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113</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 New Roman" panose="02020603050405020304" pitchFamily="18" charset="0"/>
                <a:cs typeface="Times New Roman" panose="02020603050405020304" pitchFamily="18" charset="0"/>
              </a:rPr>
              <a:t>2.6.1  Landmark </a:t>
            </a:r>
            <a:r>
              <a:rPr lang="en-US" sz="4000" b="1" dirty="0" err="1">
                <a:latin typeface="Times New Roman" panose="02020603050405020304" pitchFamily="18" charset="0"/>
                <a:cs typeface="Times New Roman" panose="02020603050405020304" pitchFamily="18" charset="0"/>
              </a:rPr>
              <a:t>Spatiograms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1407401"/>
            <a:ext cx="11407140" cy="5170646"/>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Figure </a:t>
            </a:r>
            <a:r>
              <a:rPr lang="en-US" sz="3000" dirty="0" smtClean="0">
                <a:solidFill>
                  <a:schemeClr val="bg1">
                    <a:lumMod val="25000"/>
                  </a:schemeClr>
                </a:solidFill>
                <a:latin typeface="Times-Roman"/>
              </a:rPr>
              <a:t>2.6.3 </a:t>
            </a:r>
            <a:r>
              <a:rPr lang="en-US" sz="3000" dirty="0">
                <a:solidFill>
                  <a:schemeClr val="bg1">
                    <a:lumMod val="25000"/>
                  </a:schemeClr>
                </a:solidFill>
                <a:latin typeface="Times-Roman"/>
              </a:rPr>
              <a:t>shows three </a:t>
            </a:r>
            <a:r>
              <a:rPr lang="en-US" sz="3000" dirty="0" err="1">
                <a:solidFill>
                  <a:schemeClr val="bg1">
                    <a:lumMod val="25000"/>
                  </a:schemeClr>
                </a:solidFill>
                <a:latin typeface="Times-Roman"/>
              </a:rPr>
              <a:t>spatiograms</a:t>
            </a:r>
            <a:r>
              <a:rPr lang="en-US" sz="3000" dirty="0">
                <a:solidFill>
                  <a:schemeClr val="bg1">
                    <a:lumMod val="25000"/>
                  </a:schemeClr>
                </a:solidFill>
                <a:latin typeface="Times-Roman"/>
              </a:rPr>
              <a:t> of the same landmark from </a:t>
            </a:r>
            <a:r>
              <a:rPr lang="en-US" sz="3000" dirty="0" smtClean="0">
                <a:solidFill>
                  <a:schemeClr val="bg1">
                    <a:lumMod val="25000"/>
                  </a:schemeClr>
                </a:solidFill>
                <a:latin typeface="Times-Roman"/>
              </a:rPr>
              <a:t>slightly different </a:t>
            </a:r>
            <a:r>
              <a:rPr lang="en-US" sz="3000" dirty="0">
                <a:solidFill>
                  <a:schemeClr val="bg1">
                    <a:lumMod val="25000"/>
                  </a:schemeClr>
                </a:solidFill>
                <a:latin typeface="Times-Roman"/>
              </a:rPr>
              <a:t>views</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smtClean="0">
                <a:solidFill>
                  <a:schemeClr val="bg1">
                    <a:lumMod val="25000"/>
                  </a:schemeClr>
                </a:solidFill>
                <a:latin typeface="Times-Roman"/>
              </a:rPr>
              <a:t>There is a visible similarity between the shape of the three histograms, and also between the spatial areas that produce the highest </a:t>
            </a:r>
            <a:r>
              <a:rPr lang="en-US" sz="3000" dirty="0">
                <a:solidFill>
                  <a:schemeClr val="bg1">
                    <a:lumMod val="25000"/>
                  </a:schemeClr>
                </a:solidFill>
                <a:latin typeface="Times-Roman"/>
              </a:rPr>
              <a:t>frequency </a:t>
            </a:r>
            <a:r>
              <a:rPr lang="en-US" sz="3000" dirty="0" smtClean="0">
                <a:solidFill>
                  <a:schemeClr val="bg1">
                    <a:lumMod val="25000"/>
                  </a:schemeClr>
                </a:solidFill>
                <a:latin typeface="Times-Roman"/>
              </a:rPr>
              <a:t>information (</a:t>
            </a:r>
            <a:r>
              <a:rPr lang="en-US" sz="3000" dirty="0">
                <a:solidFill>
                  <a:schemeClr val="bg1">
                    <a:lumMod val="25000"/>
                  </a:schemeClr>
                </a:solidFill>
                <a:latin typeface="Times-Roman"/>
              </a:rPr>
              <a:t>the white ellipses around the bucket and the </a:t>
            </a:r>
            <a:r>
              <a:rPr lang="en-US" sz="3000" dirty="0" smtClean="0">
                <a:solidFill>
                  <a:schemeClr val="bg1">
                    <a:lumMod val="25000"/>
                  </a:schemeClr>
                </a:solidFill>
                <a:latin typeface="Times-Roman"/>
              </a:rPr>
              <a:t>well posts </a:t>
            </a:r>
            <a:r>
              <a:rPr lang="en-US" sz="3000" dirty="0">
                <a:solidFill>
                  <a:schemeClr val="bg1">
                    <a:lumMod val="25000"/>
                  </a:schemeClr>
                </a:solidFill>
                <a:latin typeface="Times-Roman"/>
              </a:rPr>
              <a:t>in Figure </a:t>
            </a:r>
            <a:r>
              <a:rPr lang="en-US" sz="3000" dirty="0" smtClean="0">
                <a:solidFill>
                  <a:schemeClr val="bg1">
                    <a:lumMod val="25000"/>
                  </a:schemeClr>
                </a:solidFill>
                <a:latin typeface="Times-Roman"/>
              </a:rPr>
              <a:t>2.6.2 </a:t>
            </a:r>
            <a:r>
              <a:rPr lang="en-US" sz="3000" dirty="0">
                <a:solidFill>
                  <a:schemeClr val="bg1">
                    <a:lumMod val="25000"/>
                  </a:schemeClr>
                </a:solidFill>
                <a:latin typeface="Times-Roman"/>
              </a:rPr>
              <a:t>column (c)).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a:solidFill>
                  <a:schemeClr val="bg1">
                    <a:lumMod val="25000"/>
                  </a:schemeClr>
                </a:solidFill>
                <a:latin typeface="Times-Roman"/>
              </a:rPr>
              <a:t>Our approach to learning landmarks </a:t>
            </a:r>
            <a:r>
              <a:rPr lang="en-US" sz="3000" dirty="0" smtClean="0">
                <a:solidFill>
                  <a:schemeClr val="bg1">
                    <a:lumMod val="25000"/>
                  </a:schemeClr>
                </a:solidFill>
                <a:latin typeface="Times-Roman"/>
              </a:rPr>
              <a:t>will be </a:t>
            </a:r>
            <a:r>
              <a:rPr lang="en-US" sz="3000" dirty="0">
                <a:solidFill>
                  <a:schemeClr val="bg1">
                    <a:lumMod val="25000"/>
                  </a:schemeClr>
                </a:solidFill>
                <a:latin typeface="Times-Roman"/>
              </a:rPr>
              <a:t>to take many examples of each landmark and to try to group </a:t>
            </a:r>
            <a:r>
              <a:rPr lang="en-US" sz="3000" dirty="0" smtClean="0">
                <a:solidFill>
                  <a:schemeClr val="bg1">
                    <a:lumMod val="25000"/>
                  </a:schemeClr>
                </a:solidFill>
                <a:latin typeface="Times-Roman"/>
              </a:rPr>
              <a:t>these examples </a:t>
            </a:r>
            <a:r>
              <a:rPr lang="en-US" sz="3000" dirty="0">
                <a:solidFill>
                  <a:schemeClr val="bg1">
                    <a:lumMod val="25000"/>
                  </a:schemeClr>
                </a:solidFill>
                <a:latin typeface="Times-Roman"/>
              </a:rPr>
              <a:t>into clusters that are close together based on the </a:t>
            </a:r>
            <a:r>
              <a:rPr lang="en-US" sz="3000" dirty="0" err="1" smtClean="0">
                <a:solidFill>
                  <a:schemeClr val="bg1">
                    <a:lumMod val="25000"/>
                  </a:schemeClr>
                </a:solidFill>
                <a:latin typeface="Times-Roman"/>
              </a:rPr>
              <a:t>spatiogram</a:t>
            </a:r>
            <a:r>
              <a:rPr lang="en-US" sz="3000" dirty="0" smtClean="0">
                <a:solidFill>
                  <a:schemeClr val="bg1">
                    <a:lumMod val="25000"/>
                  </a:schemeClr>
                </a:solidFill>
                <a:latin typeface="Times-Roman"/>
              </a:rPr>
              <a:t> similarity </a:t>
            </a:r>
            <a:r>
              <a:rPr lang="en-US" sz="3000" dirty="0">
                <a:solidFill>
                  <a:schemeClr val="bg1">
                    <a:lumMod val="25000"/>
                  </a:schemeClr>
                </a:solidFill>
                <a:latin typeface="Times-Roman"/>
              </a:rPr>
              <a:t>measure ρ.</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p:txBody>
      </p:sp>
    </p:spTree>
    <p:extLst>
      <p:ext uri="{BB962C8B-B14F-4D97-AF65-F5344CB8AC3E}">
        <p14:creationId xmlns:p14="http://schemas.microsoft.com/office/powerpoint/2010/main" val="1857075414"/>
      </p:ext>
    </p:extLst>
  </p:cSld>
  <p:clrMapOvr>
    <a:masterClrMapping/>
  </p:clrMapOvr>
  <p:transition spd="med"/>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114</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 New Roman" panose="02020603050405020304" pitchFamily="18" charset="0"/>
                <a:cs typeface="Times New Roman" panose="02020603050405020304" pitchFamily="18" charset="0"/>
              </a:rPr>
              <a:t>2.6.1  Landmark </a:t>
            </a:r>
            <a:r>
              <a:rPr lang="en-US" sz="4000" b="1" dirty="0" err="1">
                <a:latin typeface="Times New Roman" panose="02020603050405020304" pitchFamily="18" charset="0"/>
                <a:cs typeface="Times New Roman" panose="02020603050405020304" pitchFamily="18" charset="0"/>
              </a:rPr>
              <a:t>Spatiograms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1407401"/>
            <a:ext cx="11407140" cy="1477328"/>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When we are given candidate landmarks, we </a:t>
            </a:r>
            <a:r>
              <a:rPr lang="en-US" sz="3000" dirty="0" smtClean="0">
                <a:solidFill>
                  <a:schemeClr val="bg1">
                    <a:lumMod val="25000"/>
                  </a:schemeClr>
                </a:solidFill>
                <a:latin typeface="Times-Roman"/>
              </a:rPr>
              <a:t>will be </a:t>
            </a:r>
            <a:r>
              <a:rPr lang="en-US" sz="3000" dirty="0">
                <a:solidFill>
                  <a:schemeClr val="bg1">
                    <a:lumMod val="25000"/>
                  </a:schemeClr>
                </a:solidFill>
                <a:latin typeface="Times-Roman"/>
              </a:rPr>
              <a:t>able to identify which landmark it is by determining into which </a:t>
            </a:r>
            <a:r>
              <a:rPr lang="en-US" sz="3000" dirty="0" smtClean="0">
                <a:solidFill>
                  <a:schemeClr val="bg1">
                    <a:lumMod val="25000"/>
                  </a:schemeClr>
                </a:solidFill>
                <a:latin typeface="Times-Roman"/>
              </a:rPr>
              <a:t>cluster the </a:t>
            </a:r>
            <a:r>
              <a:rPr lang="en-US" sz="3000" dirty="0" err="1">
                <a:solidFill>
                  <a:schemeClr val="bg1">
                    <a:lumMod val="25000"/>
                  </a:schemeClr>
                </a:solidFill>
                <a:latin typeface="Times-Roman"/>
              </a:rPr>
              <a:t>spatiogram</a:t>
            </a:r>
            <a:r>
              <a:rPr lang="en-US" sz="3000" dirty="0">
                <a:solidFill>
                  <a:schemeClr val="bg1">
                    <a:lumMod val="25000"/>
                  </a:schemeClr>
                </a:solidFill>
                <a:latin typeface="Times-Roman"/>
              </a:rPr>
              <a:t> of the candidate falls.</a:t>
            </a:r>
            <a:endParaRPr lang="en-US" sz="3000" b="1" dirty="0" smtClean="0">
              <a:solidFill>
                <a:schemeClr val="bg1">
                  <a:lumMod val="25000"/>
                </a:schemeClr>
              </a:solidFill>
              <a:latin typeface="Times-Roman"/>
            </a:endParaRPr>
          </a:p>
        </p:txBody>
      </p:sp>
    </p:spTree>
    <p:extLst>
      <p:ext uri="{BB962C8B-B14F-4D97-AF65-F5344CB8AC3E}">
        <p14:creationId xmlns:p14="http://schemas.microsoft.com/office/powerpoint/2010/main" val="2136901406"/>
      </p:ext>
    </p:extLst>
  </p:cSld>
  <p:clrMapOvr>
    <a:masterClrMapping/>
  </p:clrMapOvr>
  <p:transition spd="med"/>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115</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 New Roman" panose="02020603050405020304" pitchFamily="18" charset="0"/>
                <a:cs typeface="Times New Roman" panose="02020603050405020304" pitchFamily="18" charset="0"/>
              </a:rPr>
              <a:t>2.6.1  Landmark </a:t>
            </a:r>
            <a:r>
              <a:rPr lang="en-US" sz="4000" b="1" dirty="0" err="1">
                <a:latin typeface="Times New Roman" panose="02020603050405020304" pitchFamily="18" charset="0"/>
                <a:cs typeface="Times New Roman" panose="02020603050405020304" pitchFamily="18" charset="0"/>
              </a:rPr>
              <a:t>Spatiograms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3576" y="4962145"/>
            <a:ext cx="11407140" cy="1015663"/>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Figure </a:t>
            </a:r>
            <a:r>
              <a:rPr lang="en-US" sz="3000" dirty="0" smtClean="0">
                <a:solidFill>
                  <a:schemeClr val="bg1">
                    <a:lumMod val="25000"/>
                  </a:schemeClr>
                </a:solidFill>
                <a:latin typeface="Times-Roman"/>
              </a:rPr>
              <a:t>2.6.3</a:t>
            </a:r>
            <a:r>
              <a:rPr lang="en-US" sz="3000" dirty="0">
                <a:solidFill>
                  <a:schemeClr val="bg1">
                    <a:lumMod val="25000"/>
                  </a:schemeClr>
                </a:solidFill>
                <a:latin typeface="Times-Roman"/>
              </a:rPr>
              <a:t>: (a) Landmark images, (b) Histograms, (c) Spatial means.</a:t>
            </a:r>
            <a:endParaRPr lang="en-US" sz="3000" b="1" dirty="0" smtClean="0">
              <a:solidFill>
                <a:schemeClr val="bg1">
                  <a:lumMod val="25000"/>
                </a:schemeClr>
              </a:solidFill>
              <a:latin typeface="Times-Roman"/>
            </a:endParaRPr>
          </a:p>
        </p:txBody>
      </p:sp>
      <p:pic>
        <p:nvPicPr>
          <p:cNvPr id="3" name="Picture 2"/>
          <p:cNvPicPr>
            <a:picLocks noChangeAspect="1"/>
          </p:cNvPicPr>
          <p:nvPr/>
        </p:nvPicPr>
        <p:blipFill>
          <a:blip r:embed="rId2"/>
          <a:stretch>
            <a:fillRect/>
          </a:stretch>
        </p:blipFill>
        <p:spPr>
          <a:xfrm>
            <a:off x="566323" y="1162852"/>
            <a:ext cx="11204393" cy="3540501"/>
          </a:xfrm>
          <a:prstGeom prst="rect">
            <a:avLst/>
          </a:prstGeom>
          <a:ln w="38100">
            <a:solidFill>
              <a:schemeClr val="tx1"/>
            </a:solidFill>
          </a:ln>
        </p:spPr>
      </p:pic>
    </p:spTree>
    <p:extLst>
      <p:ext uri="{BB962C8B-B14F-4D97-AF65-F5344CB8AC3E}">
        <p14:creationId xmlns:p14="http://schemas.microsoft.com/office/powerpoint/2010/main" val="2195484904"/>
      </p:ext>
    </p:extLst>
  </p:cSld>
  <p:clrMapOvr>
    <a:masterClrMapping/>
  </p:clrMapOvr>
  <p:transition spd="med"/>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116</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 New Roman" panose="02020603050405020304" pitchFamily="18" charset="0"/>
                <a:cs typeface="Times New Roman" panose="02020603050405020304" pitchFamily="18" charset="0"/>
              </a:rPr>
              <a:t>2.6.1  Landmark </a:t>
            </a:r>
            <a:r>
              <a:rPr lang="en-US" sz="4000" b="1" dirty="0" err="1">
                <a:latin typeface="Times New Roman" panose="02020603050405020304" pitchFamily="18" charset="0"/>
                <a:cs typeface="Times New Roman" panose="02020603050405020304" pitchFamily="18" charset="0"/>
              </a:rPr>
              <a:t>Spatiograms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4892473"/>
            <a:ext cx="11407140" cy="1015663"/>
          </a:xfrm>
          <a:prstGeom prst="rect">
            <a:avLst/>
          </a:prstGeom>
        </p:spPr>
        <p:txBody>
          <a:bodyPr wrap="square">
            <a:spAutoFit/>
          </a:bodyPr>
          <a:lstStyle/>
          <a:p>
            <a:pPr algn="just"/>
            <a:r>
              <a:rPr lang="en-US" sz="3000" dirty="0">
                <a:solidFill>
                  <a:schemeClr val="bg1">
                    <a:lumMod val="25000"/>
                  </a:schemeClr>
                </a:solidFill>
                <a:latin typeface="Times-Roman"/>
              </a:rPr>
              <a:t>Figure 2.6.3: (a) Landmark images, (b) Histograms, (c) Spatial means.</a:t>
            </a:r>
            <a:endParaRPr lang="en-US" sz="3000" b="1" dirty="0">
              <a:solidFill>
                <a:schemeClr val="bg1">
                  <a:lumMod val="25000"/>
                </a:schemeClr>
              </a:solidFill>
              <a:latin typeface="Times-Roman"/>
            </a:endParaRPr>
          </a:p>
        </p:txBody>
      </p:sp>
      <p:pic>
        <p:nvPicPr>
          <p:cNvPr id="3" name="Picture 2"/>
          <p:cNvPicPr>
            <a:picLocks noChangeAspect="1"/>
          </p:cNvPicPr>
          <p:nvPr/>
        </p:nvPicPr>
        <p:blipFill>
          <a:blip r:embed="rId2"/>
          <a:stretch>
            <a:fillRect/>
          </a:stretch>
        </p:blipFill>
        <p:spPr>
          <a:xfrm>
            <a:off x="695394" y="1280953"/>
            <a:ext cx="10467332" cy="3234627"/>
          </a:xfrm>
          <a:prstGeom prst="rect">
            <a:avLst/>
          </a:prstGeom>
          <a:ln w="38100">
            <a:solidFill>
              <a:schemeClr val="tx1"/>
            </a:solidFill>
          </a:ln>
        </p:spPr>
      </p:pic>
    </p:spTree>
    <p:extLst>
      <p:ext uri="{BB962C8B-B14F-4D97-AF65-F5344CB8AC3E}">
        <p14:creationId xmlns:p14="http://schemas.microsoft.com/office/powerpoint/2010/main" val="3000903777"/>
      </p:ext>
    </p:extLst>
  </p:cSld>
  <p:clrMapOvr>
    <a:masterClrMapping/>
  </p:clrMapOvr>
  <p:transition spd="med"/>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117</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 New Roman" panose="02020603050405020304" pitchFamily="18" charset="0"/>
                <a:cs typeface="Times New Roman" panose="02020603050405020304" pitchFamily="18" charset="0"/>
              </a:rPr>
              <a:t>2.6.1  Landmark </a:t>
            </a:r>
            <a:r>
              <a:rPr lang="en-US" sz="4000" b="1" dirty="0" err="1">
                <a:latin typeface="Times New Roman" panose="02020603050405020304" pitchFamily="18" charset="0"/>
                <a:cs typeface="Times New Roman" panose="02020603050405020304" pitchFamily="18" charset="0"/>
              </a:rPr>
              <a:t>Spatiograms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5208337"/>
            <a:ext cx="11407140" cy="1015663"/>
          </a:xfrm>
          <a:prstGeom prst="rect">
            <a:avLst/>
          </a:prstGeom>
        </p:spPr>
        <p:txBody>
          <a:bodyPr wrap="square">
            <a:spAutoFit/>
          </a:bodyPr>
          <a:lstStyle/>
          <a:p>
            <a:pPr algn="just"/>
            <a:r>
              <a:rPr lang="en-US" sz="3000" dirty="0">
                <a:solidFill>
                  <a:schemeClr val="bg1">
                    <a:lumMod val="25000"/>
                  </a:schemeClr>
                </a:solidFill>
                <a:latin typeface="Times-Roman"/>
              </a:rPr>
              <a:t>Figure 2.6.3: (a) Landmark images, (b) Histograms, (c) Spatial means.</a:t>
            </a:r>
            <a:endParaRPr lang="en-US" sz="3000" b="1" dirty="0">
              <a:solidFill>
                <a:schemeClr val="bg1">
                  <a:lumMod val="25000"/>
                </a:schemeClr>
              </a:solidFill>
              <a:latin typeface="Times-Roman"/>
            </a:endParaRPr>
          </a:p>
        </p:txBody>
      </p:sp>
      <p:pic>
        <p:nvPicPr>
          <p:cNvPr id="3" name="Picture 2"/>
          <p:cNvPicPr>
            <a:picLocks noChangeAspect="1"/>
          </p:cNvPicPr>
          <p:nvPr/>
        </p:nvPicPr>
        <p:blipFill>
          <a:blip r:embed="rId2"/>
          <a:stretch>
            <a:fillRect/>
          </a:stretch>
        </p:blipFill>
        <p:spPr>
          <a:xfrm>
            <a:off x="1273729" y="1323044"/>
            <a:ext cx="9861368" cy="3466309"/>
          </a:xfrm>
          <a:prstGeom prst="rect">
            <a:avLst/>
          </a:prstGeom>
          <a:ln w="38100">
            <a:solidFill>
              <a:schemeClr val="tx1"/>
            </a:solidFill>
          </a:ln>
        </p:spPr>
      </p:pic>
    </p:spTree>
    <p:extLst>
      <p:ext uri="{BB962C8B-B14F-4D97-AF65-F5344CB8AC3E}">
        <p14:creationId xmlns:p14="http://schemas.microsoft.com/office/powerpoint/2010/main" val="1859973665"/>
      </p:ext>
    </p:extLst>
  </p:cSld>
  <p:clrMapOvr>
    <a:masterClrMapping/>
  </p:clrMapOvr>
  <p:transition spd="med"/>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118</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2.6.2  K-Means Clustering</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369042" y="957601"/>
                <a:ext cx="11407140" cy="5642507"/>
              </a:xfrm>
              <a:prstGeom prst="rect">
                <a:avLst/>
              </a:prstGeom>
            </p:spPr>
            <p:txBody>
              <a:bodyPr wrap="square">
                <a:spAutoFit/>
              </a:bodyPr>
              <a:lstStyle/>
              <a:p>
                <a:pPr marL="457200" indent="-457200" algn="just">
                  <a:buFont typeface="Arial" panose="020B0604020202020204" pitchFamily="34" charset="0"/>
                  <a:buChar char="•"/>
                </a:pPr>
                <a:r>
                  <a:rPr lang="en-US" sz="3000" b="1" dirty="0" smtClean="0">
                    <a:solidFill>
                      <a:schemeClr val="accent1">
                        <a:lumMod val="75000"/>
                        <a:lumOff val="25000"/>
                      </a:schemeClr>
                    </a:solidFill>
                    <a:latin typeface="Times-Roman"/>
                  </a:rPr>
                  <a:t>K-Means</a:t>
                </a:r>
                <a:r>
                  <a:rPr lang="en-US" sz="3000" dirty="0">
                    <a:solidFill>
                      <a:schemeClr val="bg1">
                        <a:lumMod val="25000"/>
                      </a:schemeClr>
                    </a:solidFill>
                    <a:latin typeface="Times-Roman"/>
                  </a:rPr>
                  <a:t> is an algorithm for partitioning data points into clusters in </a:t>
                </a:r>
                <a:r>
                  <a:rPr lang="en-US" sz="3000" dirty="0" smtClean="0">
                    <a:solidFill>
                      <a:schemeClr val="bg1">
                        <a:lumMod val="25000"/>
                      </a:schemeClr>
                    </a:solidFill>
                    <a:latin typeface="Times-Roman"/>
                  </a:rPr>
                  <a:t>such a </a:t>
                </a:r>
                <a:r>
                  <a:rPr lang="en-US" sz="3000" dirty="0">
                    <a:solidFill>
                      <a:schemeClr val="bg1">
                        <a:lumMod val="25000"/>
                      </a:schemeClr>
                    </a:solidFill>
                    <a:latin typeface="Times-Roman"/>
                  </a:rPr>
                  <a:t>way that the sum of the distances between points in the same </a:t>
                </a:r>
                <a:r>
                  <a:rPr lang="en-US" sz="3000" dirty="0" smtClean="0">
                    <a:solidFill>
                      <a:schemeClr val="bg1">
                        <a:lumMod val="25000"/>
                      </a:schemeClr>
                    </a:solidFill>
                    <a:latin typeface="Times-Roman"/>
                  </a:rPr>
                  <a:t>cluster is </a:t>
                </a:r>
                <a:r>
                  <a:rPr lang="en-US" sz="3000" dirty="0">
                    <a:solidFill>
                      <a:schemeClr val="bg1">
                        <a:lumMod val="25000"/>
                      </a:schemeClr>
                    </a:solidFill>
                    <a:latin typeface="Times-Roman"/>
                  </a:rPr>
                  <a:t>minimized</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If there are n points, </a:t>
                </a:r>
                <a:r>
                  <a:rPr lang="en-US" sz="3000" dirty="0" err="1" smtClean="0">
                    <a:solidFill>
                      <a:schemeClr val="bg1">
                        <a:lumMod val="25000"/>
                      </a:schemeClr>
                    </a:solidFill>
                    <a:latin typeface="Times-Roman"/>
                  </a:rPr>
                  <a:t>p_i</a:t>
                </a:r>
                <a:r>
                  <a:rPr lang="en-US" sz="3000" dirty="0" smtClean="0">
                    <a:solidFill>
                      <a:schemeClr val="bg1">
                        <a:lumMod val="25000"/>
                      </a:schemeClr>
                    </a:solidFill>
                    <a:latin typeface="Times-Roman"/>
                  </a:rPr>
                  <a:t> </a:t>
                </a:r>
                <a:r>
                  <a:rPr lang="en-US" sz="3000" dirty="0">
                    <a:solidFill>
                      <a:schemeClr val="bg1">
                        <a:lumMod val="25000"/>
                      </a:schemeClr>
                    </a:solidFill>
                    <a:latin typeface="Times-Roman"/>
                  </a:rPr>
                  <a:t>for </a:t>
                </a:r>
                <a:r>
                  <a:rPr lang="en-US" sz="3000" dirty="0" err="1">
                    <a:solidFill>
                      <a:schemeClr val="bg1">
                        <a:lumMod val="25000"/>
                      </a:schemeClr>
                    </a:solidFill>
                    <a:latin typeface="Times-Roman"/>
                  </a:rPr>
                  <a:t>i</a:t>
                </a:r>
                <a:r>
                  <a:rPr lang="en-US" sz="3000" dirty="0">
                    <a:solidFill>
                      <a:schemeClr val="bg1">
                        <a:lumMod val="25000"/>
                      </a:schemeClr>
                    </a:solidFill>
                    <a:latin typeface="Times-Roman"/>
                  </a:rPr>
                  <a:t> ∈ {1, . . . , n}, and there </a:t>
                </a:r>
                <a:r>
                  <a:rPr lang="en-US" sz="3000" dirty="0" smtClean="0">
                    <a:solidFill>
                      <a:schemeClr val="bg1">
                        <a:lumMod val="25000"/>
                      </a:schemeClr>
                    </a:solidFill>
                    <a:latin typeface="Times-Roman"/>
                  </a:rPr>
                  <a:t>are m </a:t>
                </a:r>
                <a:r>
                  <a:rPr lang="en-US" sz="3000" dirty="0">
                    <a:solidFill>
                      <a:schemeClr val="bg1">
                        <a:lumMod val="25000"/>
                      </a:schemeClr>
                    </a:solidFill>
                    <a:latin typeface="Times-Roman"/>
                  </a:rPr>
                  <a:t>clusters, </a:t>
                </a:r>
                <a:r>
                  <a:rPr lang="en-US" sz="3000" dirty="0" err="1" smtClean="0">
                    <a:solidFill>
                      <a:schemeClr val="bg1">
                        <a:lumMod val="25000"/>
                      </a:schemeClr>
                    </a:solidFill>
                    <a:latin typeface="Times-Roman"/>
                  </a:rPr>
                  <a:t>c_j</a:t>
                </a:r>
                <a:r>
                  <a:rPr lang="en-US" sz="3000" dirty="0" smtClean="0">
                    <a:solidFill>
                      <a:schemeClr val="bg1">
                        <a:lumMod val="25000"/>
                      </a:schemeClr>
                    </a:solidFill>
                    <a:latin typeface="Times-Roman"/>
                  </a:rPr>
                  <a:t> </a:t>
                </a:r>
                <a:r>
                  <a:rPr lang="en-US" sz="3000" dirty="0">
                    <a:solidFill>
                      <a:schemeClr val="bg1">
                        <a:lumMod val="25000"/>
                      </a:schemeClr>
                    </a:solidFill>
                    <a:latin typeface="Times-Roman"/>
                  </a:rPr>
                  <a:t>for j ∈ {1, . . . ,m} then the K-Means algorithm </a:t>
                </a:r>
                <a:r>
                  <a:rPr lang="en-US" sz="3000" dirty="0" smtClean="0">
                    <a:solidFill>
                      <a:schemeClr val="bg1">
                        <a:lumMod val="25000"/>
                      </a:schemeClr>
                    </a:solidFill>
                    <a:latin typeface="Times-Roman"/>
                  </a:rPr>
                  <a:t>iterates two </a:t>
                </a:r>
                <a:r>
                  <a:rPr lang="en-US" sz="3000" dirty="0">
                    <a:solidFill>
                      <a:schemeClr val="bg1">
                        <a:lumMod val="25000"/>
                      </a:schemeClr>
                    </a:solidFill>
                    <a:latin typeface="Times-Roman"/>
                  </a:rPr>
                  <a:t>passes:</a:t>
                </a:r>
                <a:endParaRPr lang="en-US" sz="3000" dirty="0" smtClean="0">
                  <a:solidFill>
                    <a:schemeClr val="bg1">
                      <a:lumMod val="25000"/>
                    </a:schemeClr>
                  </a:solidFill>
                  <a:latin typeface="Times-Roman"/>
                </a:endParaRPr>
              </a:p>
              <a:p>
                <a:pPr marL="457200" indent="-457200">
                  <a:buFont typeface="Wingdings" panose="05000000000000000000" pitchFamily="2" charset="2"/>
                  <a:buChar char="Ø"/>
                </a:pPr>
                <a:r>
                  <a:rPr lang="en-US" sz="3000" dirty="0">
                    <a:solidFill>
                      <a:schemeClr val="bg1">
                        <a:lumMod val="25000"/>
                      </a:schemeClr>
                    </a:solidFill>
                    <a:latin typeface="Times-Roman"/>
                  </a:rPr>
                  <a:t>Pass 1: Assign each pi to a cluster c based </a:t>
                </a:r>
                <a:r>
                  <a:rPr lang="en-US" sz="3000" dirty="0" smtClean="0">
                    <a:solidFill>
                      <a:schemeClr val="bg1">
                        <a:lumMod val="25000"/>
                      </a:schemeClr>
                    </a:solidFill>
                    <a:latin typeface="Times-Roman"/>
                  </a:rPr>
                  <a:t>on</a:t>
                </a:r>
              </a:p>
              <a:p>
                <a:pPr/>
                <a14:m>
                  <m:oMathPara xmlns:m="http://schemas.openxmlformats.org/officeDocument/2006/math">
                    <m:oMathParaPr>
                      <m:jc m:val="centerGroup"/>
                    </m:oMathParaPr>
                    <m:oMath xmlns:m="http://schemas.openxmlformats.org/officeDocument/2006/math">
                      <m:r>
                        <a:rPr lang="en-US" sz="3000" b="0" i="1" smtClean="0">
                          <a:solidFill>
                            <a:schemeClr val="bg1">
                              <a:lumMod val="25000"/>
                            </a:schemeClr>
                          </a:solidFill>
                          <a:latin typeface="Cambria Math" panose="02040503050406030204" pitchFamily="18" charset="0"/>
                        </a:rPr>
                        <m:t>𝑐</m:t>
                      </m:r>
                      <m:r>
                        <a:rPr lang="en-US" sz="3000" b="0" i="1" smtClean="0">
                          <a:solidFill>
                            <a:schemeClr val="bg1">
                              <a:lumMod val="25000"/>
                            </a:schemeClr>
                          </a:solidFill>
                          <a:latin typeface="Cambria Math" panose="02040503050406030204" pitchFamily="18" charset="0"/>
                        </a:rPr>
                        <m:t>=</m:t>
                      </m:r>
                      <m:func>
                        <m:funcPr>
                          <m:ctrlPr>
                            <a:rPr lang="en-US" sz="3000" i="1" smtClean="0">
                              <a:solidFill>
                                <a:schemeClr val="bg1">
                                  <a:lumMod val="25000"/>
                                </a:schemeClr>
                              </a:solidFill>
                              <a:latin typeface="Cambria Math" panose="02040503050406030204" pitchFamily="18" charset="0"/>
                            </a:rPr>
                          </m:ctrlPr>
                        </m:funcPr>
                        <m:fName>
                          <m:limLow>
                            <m:limLowPr>
                              <m:ctrlPr>
                                <a:rPr lang="en-US" sz="3000" i="1" smtClean="0">
                                  <a:solidFill>
                                    <a:schemeClr val="bg1">
                                      <a:lumMod val="25000"/>
                                    </a:schemeClr>
                                  </a:solidFill>
                                  <a:latin typeface="Cambria Math" panose="02040503050406030204" pitchFamily="18" charset="0"/>
                                </a:rPr>
                              </m:ctrlPr>
                            </m:limLowPr>
                            <m:e>
                              <m:r>
                                <m:rPr>
                                  <m:sty m:val="p"/>
                                </m:rPr>
                                <a:rPr lang="en-US" sz="3000" b="0" i="0" smtClean="0">
                                  <a:solidFill>
                                    <a:schemeClr val="bg1">
                                      <a:lumMod val="25000"/>
                                    </a:schemeClr>
                                  </a:solidFill>
                                  <a:latin typeface="Cambria Math" panose="02040503050406030204" pitchFamily="18" charset="0"/>
                                </a:rPr>
                                <m:t>min</m:t>
                              </m:r>
                            </m:e>
                            <m:lim>
                              <m:r>
                                <a:rPr lang="en-US" sz="3000" b="0" i="1" smtClean="0">
                                  <a:solidFill>
                                    <a:schemeClr val="bg1">
                                      <a:lumMod val="25000"/>
                                    </a:schemeClr>
                                  </a:solidFill>
                                  <a:latin typeface="Cambria Math" panose="02040503050406030204" pitchFamily="18" charset="0"/>
                                </a:rPr>
                                <m:t>𝑗</m:t>
                              </m:r>
                            </m:lim>
                          </m:limLow>
                        </m:fName>
                        <m:e>
                          <m:r>
                            <a:rPr lang="en-US" sz="3000" b="0" i="1" smtClean="0">
                              <a:solidFill>
                                <a:schemeClr val="bg1">
                                  <a:lumMod val="25000"/>
                                </a:schemeClr>
                              </a:solidFill>
                              <a:latin typeface="Cambria Math" panose="02040503050406030204" pitchFamily="18" charset="0"/>
                            </a:rPr>
                            <m:t>𝑑𝑖𝑠𝑡</m:t>
                          </m:r>
                          <m:r>
                            <a:rPr lang="en-US" sz="3000" b="0" i="1" smtClean="0">
                              <a:solidFill>
                                <a:schemeClr val="bg1">
                                  <a:lumMod val="25000"/>
                                </a:schemeClr>
                              </a:solidFill>
                              <a:latin typeface="Cambria Math" panose="02040503050406030204" pitchFamily="18" charset="0"/>
                            </a:rPr>
                            <m:t>(</m:t>
                          </m:r>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𝑝</m:t>
                              </m:r>
                            </m:e>
                            <m:sub>
                              <m:r>
                                <a:rPr lang="en-US" sz="3000" b="0" i="1" smtClean="0">
                                  <a:solidFill>
                                    <a:schemeClr val="bg1">
                                      <a:lumMod val="25000"/>
                                    </a:schemeClr>
                                  </a:solidFill>
                                  <a:latin typeface="Cambria Math" panose="02040503050406030204" pitchFamily="18" charset="0"/>
                                </a:rPr>
                                <m:t>𝑖</m:t>
                              </m:r>
                            </m:sub>
                          </m:sSub>
                          <m:r>
                            <a:rPr lang="en-US" sz="3000" b="0" i="1" smtClean="0">
                              <a:solidFill>
                                <a:schemeClr val="bg1">
                                  <a:lumMod val="25000"/>
                                </a:schemeClr>
                              </a:solidFill>
                              <a:latin typeface="Cambria Math" panose="02040503050406030204" pitchFamily="18" charset="0"/>
                            </a:rPr>
                            <m:t>,</m:t>
                          </m:r>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𝑐</m:t>
                              </m:r>
                            </m:e>
                            <m:sub>
                              <m:r>
                                <a:rPr lang="en-US" sz="3000" b="0" i="1" smtClean="0">
                                  <a:solidFill>
                                    <a:schemeClr val="bg1">
                                      <a:lumMod val="25000"/>
                                    </a:schemeClr>
                                  </a:solidFill>
                                  <a:latin typeface="Cambria Math" panose="02040503050406030204" pitchFamily="18" charset="0"/>
                                </a:rPr>
                                <m:t>𝑗</m:t>
                              </m:r>
                            </m:sub>
                          </m:sSub>
                          <m:r>
                            <a:rPr lang="en-US" sz="3000" b="0" i="1" smtClean="0">
                              <a:solidFill>
                                <a:schemeClr val="bg1">
                                  <a:lumMod val="25000"/>
                                </a:schemeClr>
                              </a:solidFill>
                              <a:latin typeface="Cambria Math" panose="02040503050406030204" pitchFamily="18" charset="0"/>
                            </a:rPr>
                            <m:t>)</m:t>
                          </m:r>
                        </m:e>
                      </m:func>
                    </m:oMath>
                  </m:oMathPara>
                </a14:m>
                <a:endParaRPr lang="en-US" sz="3000" dirty="0" smtClean="0">
                  <a:solidFill>
                    <a:schemeClr val="bg1">
                      <a:lumMod val="25000"/>
                    </a:schemeClr>
                  </a:solidFill>
                  <a:latin typeface="Times-Roman"/>
                </a:endParaRPr>
              </a:p>
              <a:p>
                <a:pPr marL="457200" indent="-457200">
                  <a:buFont typeface="Wingdings" panose="05000000000000000000" pitchFamily="2" charset="2"/>
                  <a:buChar char="Ø"/>
                </a:pPr>
                <a:r>
                  <a:rPr lang="en-US" sz="3000" dirty="0">
                    <a:solidFill>
                      <a:schemeClr val="bg1">
                        <a:lumMod val="25000"/>
                      </a:schemeClr>
                    </a:solidFill>
                    <a:latin typeface="Times-Roman"/>
                  </a:rPr>
                  <a:t>Pass 2: Recalculate each </a:t>
                </a:r>
                <a:r>
                  <a:rPr lang="en-US" sz="3000" dirty="0" err="1" smtClean="0">
                    <a:solidFill>
                      <a:schemeClr val="bg1">
                        <a:lumMod val="25000"/>
                      </a:schemeClr>
                    </a:solidFill>
                    <a:latin typeface="Times-Roman"/>
                  </a:rPr>
                  <a:t>c_j</a:t>
                </a:r>
                <a:r>
                  <a:rPr lang="en-US" sz="3000" dirty="0" smtClean="0">
                    <a:solidFill>
                      <a:schemeClr val="bg1">
                        <a:lumMod val="25000"/>
                      </a:schemeClr>
                    </a:solidFill>
                    <a:latin typeface="Times-Roman"/>
                  </a:rPr>
                  <a:t> </a:t>
                </a:r>
                <a:r>
                  <a:rPr lang="en-US" sz="3000" dirty="0">
                    <a:solidFill>
                      <a:schemeClr val="bg1">
                        <a:lumMod val="25000"/>
                      </a:schemeClr>
                    </a:solidFill>
                    <a:latin typeface="Times-Roman"/>
                  </a:rPr>
                  <a:t>cluster center </a:t>
                </a:r>
                <a:r>
                  <a:rPr lang="en-US" sz="3000" dirty="0" smtClean="0">
                    <a:solidFill>
                      <a:schemeClr val="bg1">
                        <a:lumMod val="25000"/>
                      </a:schemeClr>
                    </a:solidFill>
                    <a:latin typeface="Times-Roman"/>
                  </a:rPr>
                  <a:t>as</a:t>
                </a:r>
              </a:p>
              <a:p>
                <a:pPr/>
                <a14:m>
                  <m:oMathPara xmlns:m="http://schemas.openxmlformats.org/officeDocument/2006/math">
                    <m:oMathParaPr>
                      <m:jc m:val="centerGroup"/>
                    </m:oMathParaPr>
                    <m:oMath xmlns:m="http://schemas.openxmlformats.org/officeDocument/2006/math">
                      <m:nary>
                        <m:naryPr>
                          <m:chr m:val="∑"/>
                          <m:supHide m:val="on"/>
                          <m:ctrlPr>
                            <a:rPr lang="en-US" sz="3000" i="1" smtClean="0">
                              <a:solidFill>
                                <a:schemeClr val="bg1">
                                  <a:lumMod val="25000"/>
                                </a:schemeClr>
                              </a:solidFill>
                              <a:latin typeface="Cambria Math" panose="02040503050406030204" pitchFamily="18" charset="0"/>
                            </a:rPr>
                          </m:ctrlPr>
                        </m:naryPr>
                        <m:sub>
                          <m:r>
                            <m:rPr>
                              <m:brk m:alnAt="7"/>
                            </m:rPr>
                            <a:rPr lang="en-US" sz="3000" b="0" i="1" smtClean="0">
                              <a:solidFill>
                                <a:schemeClr val="bg1">
                                  <a:lumMod val="25000"/>
                                </a:schemeClr>
                              </a:solidFill>
                              <a:latin typeface="Cambria Math" panose="02040503050406030204" pitchFamily="18" charset="0"/>
                            </a:rPr>
                            <m:t>𝑖</m:t>
                          </m:r>
                          <m:r>
                            <a:rPr lang="en-US" sz="3000" b="0" i="1" smtClean="0">
                              <a:solidFill>
                                <a:schemeClr val="bg1">
                                  <a:lumMod val="25000"/>
                                </a:schemeClr>
                              </a:solidFill>
                              <a:latin typeface="Cambria Math" panose="02040503050406030204" pitchFamily="18" charset="0"/>
                              <a:ea typeface="Cambria Math" panose="02040503050406030204" pitchFamily="18" charset="0"/>
                            </a:rPr>
                            <m:t>∈</m:t>
                          </m:r>
                          <m:sSub>
                            <m:sSubPr>
                              <m:ctrlPr>
                                <a:rPr lang="en-US" sz="3000" i="1" smtClean="0">
                                  <a:solidFill>
                                    <a:schemeClr val="bg1">
                                      <a:lumMod val="25000"/>
                                    </a:schemeClr>
                                  </a:solidFill>
                                  <a:latin typeface="Cambria Math" panose="02040503050406030204" pitchFamily="18" charset="0"/>
                                  <a:ea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ea typeface="Cambria Math" panose="02040503050406030204" pitchFamily="18" charset="0"/>
                                </a:rPr>
                                <m:t>𝑐</m:t>
                              </m:r>
                            </m:e>
                            <m:sub>
                              <m:r>
                                <a:rPr lang="en-US" sz="3000" b="0" i="1" smtClean="0">
                                  <a:solidFill>
                                    <a:schemeClr val="bg1">
                                      <a:lumMod val="25000"/>
                                    </a:schemeClr>
                                  </a:solidFill>
                                  <a:latin typeface="Cambria Math" panose="02040503050406030204" pitchFamily="18" charset="0"/>
                                  <a:ea typeface="Cambria Math" panose="02040503050406030204" pitchFamily="18" charset="0"/>
                                </a:rPr>
                                <m:t>𝑗</m:t>
                              </m:r>
                            </m:sub>
                          </m:sSub>
                        </m:sub>
                        <m:sup/>
                        <m:e>
                          <m:f>
                            <m:fPr>
                              <m:ctrlPr>
                                <a:rPr lang="en-US" sz="3000" i="1" smtClean="0">
                                  <a:solidFill>
                                    <a:schemeClr val="bg1">
                                      <a:lumMod val="25000"/>
                                    </a:schemeClr>
                                  </a:solidFill>
                                  <a:latin typeface="Cambria Math" panose="02040503050406030204" pitchFamily="18" charset="0"/>
                                </a:rPr>
                              </m:ctrlPr>
                            </m:fPr>
                            <m:num>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𝑝</m:t>
                                  </m:r>
                                </m:e>
                                <m:sub>
                                  <m:r>
                                    <a:rPr lang="en-US" sz="3000" b="0" i="1" smtClean="0">
                                      <a:solidFill>
                                        <a:schemeClr val="bg1">
                                          <a:lumMod val="25000"/>
                                        </a:schemeClr>
                                      </a:solidFill>
                                      <a:latin typeface="Cambria Math" panose="02040503050406030204" pitchFamily="18" charset="0"/>
                                    </a:rPr>
                                    <m:t>𝑖</m:t>
                                  </m:r>
                                </m:sub>
                              </m:sSub>
                            </m:num>
                            <m:den>
                              <m:d>
                                <m:dPr>
                                  <m:begChr m:val="|"/>
                                  <m:endChr m:val="|"/>
                                  <m:ctrlPr>
                                    <a:rPr lang="en-US" sz="3000" i="1" smtClean="0">
                                      <a:solidFill>
                                        <a:schemeClr val="bg1">
                                          <a:lumMod val="25000"/>
                                        </a:schemeClr>
                                      </a:solidFill>
                                      <a:latin typeface="Cambria Math" panose="02040503050406030204" pitchFamily="18" charset="0"/>
                                    </a:rPr>
                                  </m:ctrlPr>
                                </m:dPr>
                                <m:e>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𝑐</m:t>
                                      </m:r>
                                    </m:e>
                                    <m:sub>
                                      <m:r>
                                        <a:rPr lang="en-US" sz="3000" b="0" i="1" smtClean="0">
                                          <a:solidFill>
                                            <a:schemeClr val="bg1">
                                              <a:lumMod val="25000"/>
                                            </a:schemeClr>
                                          </a:solidFill>
                                          <a:latin typeface="Cambria Math" panose="02040503050406030204" pitchFamily="18" charset="0"/>
                                        </a:rPr>
                                        <m:t>𝑗</m:t>
                                      </m:r>
                                    </m:sub>
                                  </m:sSub>
                                </m:e>
                              </m:d>
                            </m:den>
                          </m:f>
                        </m:e>
                      </m:nary>
                    </m:oMath>
                  </m:oMathPara>
                </a14:m>
                <a:endParaRPr lang="en-US" sz="3000" dirty="0" smtClean="0">
                  <a:solidFill>
                    <a:schemeClr val="bg1">
                      <a:lumMod val="25000"/>
                    </a:schemeClr>
                  </a:solidFill>
                  <a:latin typeface="Times-Roman"/>
                </a:endParaRPr>
              </a:p>
            </p:txBody>
          </p:sp>
        </mc:Choice>
        <mc:Fallback xmlns="">
          <p:sp>
            <p:nvSpPr>
              <p:cNvPr id="9" name="Rectangle 8"/>
              <p:cNvSpPr>
                <a:spLocks noRot="1" noChangeAspect="1" noMove="1" noResize="1" noEditPoints="1" noAdjustHandles="1" noChangeArrowheads="1" noChangeShapeType="1" noTextEdit="1"/>
              </p:cNvSpPr>
              <p:nvPr/>
            </p:nvSpPr>
            <p:spPr>
              <a:xfrm>
                <a:off x="369042" y="957601"/>
                <a:ext cx="11407140" cy="5642507"/>
              </a:xfrm>
              <a:prstGeom prst="rect">
                <a:avLst/>
              </a:prstGeom>
              <a:blipFill>
                <a:blip r:embed="rId2"/>
                <a:stretch>
                  <a:fillRect l="-1122" t="-1404" r="-1229"/>
                </a:stretch>
              </a:blipFill>
            </p:spPr>
            <p:txBody>
              <a:bodyPr/>
              <a:lstStyle/>
              <a:p>
                <a:r>
                  <a:rPr lang="en-US">
                    <a:noFill/>
                  </a:rPr>
                  <a:t> </a:t>
                </a:r>
              </a:p>
            </p:txBody>
          </p:sp>
        </mc:Fallback>
      </mc:AlternateContent>
    </p:spTree>
    <p:extLst>
      <p:ext uri="{BB962C8B-B14F-4D97-AF65-F5344CB8AC3E}">
        <p14:creationId xmlns:p14="http://schemas.microsoft.com/office/powerpoint/2010/main" val="2722483508"/>
      </p:ext>
    </p:extLst>
  </p:cSld>
  <p:clrMapOvr>
    <a:masterClrMapping/>
  </p:clrMapOvr>
  <p:transition spd="med"/>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119</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2.6.2  K-Means Clustering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957601"/>
            <a:ext cx="11407140" cy="470898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tx1"/>
                </a:solidFill>
                <a:latin typeface="Times-Roman"/>
              </a:rPr>
              <a:t>The iteration can stop when the cluster centers in Pass 2 no </a:t>
            </a:r>
            <a:r>
              <a:rPr lang="en-US" sz="3000" dirty="0" smtClean="0">
                <a:solidFill>
                  <a:schemeClr val="tx1"/>
                </a:solidFill>
                <a:latin typeface="Times-Roman"/>
              </a:rPr>
              <a:t>longer change</a:t>
            </a:r>
            <a:r>
              <a:rPr lang="en-US" sz="3000" dirty="0">
                <a:solidFill>
                  <a:schemeClr val="tx1"/>
                </a:solidFill>
                <a:latin typeface="Times-Roman"/>
              </a:rPr>
              <a:t>. </a:t>
            </a:r>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smtClean="0">
                <a:solidFill>
                  <a:schemeClr val="tx1"/>
                </a:solidFill>
                <a:latin typeface="Times-Roman"/>
              </a:rPr>
              <a:t>If </a:t>
            </a:r>
            <a:r>
              <a:rPr lang="en-US" sz="3000" dirty="0">
                <a:solidFill>
                  <a:schemeClr val="tx1"/>
                </a:solidFill>
                <a:latin typeface="Times-Roman"/>
              </a:rPr>
              <a:t>each point is actually a </a:t>
            </a:r>
            <a:r>
              <a:rPr lang="en-US" sz="3000" dirty="0" err="1">
                <a:solidFill>
                  <a:schemeClr val="tx1"/>
                </a:solidFill>
                <a:latin typeface="Times-Roman"/>
              </a:rPr>
              <a:t>spatiogram</a:t>
            </a:r>
            <a:r>
              <a:rPr lang="en-US" sz="3000" dirty="0">
                <a:solidFill>
                  <a:schemeClr val="tx1"/>
                </a:solidFill>
                <a:latin typeface="Times-Roman"/>
              </a:rPr>
              <a:t>, then the distance </a:t>
            </a:r>
            <a:r>
              <a:rPr lang="en-US" sz="3000" dirty="0" smtClean="0">
                <a:solidFill>
                  <a:schemeClr val="tx1"/>
                </a:solidFill>
                <a:latin typeface="Times-Roman"/>
              </a:rPr>
              <a:t>measure that </a:t>
            </a:r>
            <a:r>
              <a:rPr lang="en-US" sz="3000" dirty="0">
                <a:solidFill>
                  <a:schemeClr val="tx1"/>
                </a:solidFill>
                <a:latin typeface="Times-Roman"/>
              </a:rPr>
              <a:t>we need to use is ρ and the recalculation of cluster centers is an </a:t>
            </a:r>
            <a:r>
              <a:rPr lang="en-US" sz="3000" dirty="0" smtClean="0">
                <a:solidFill>
                  <a:schemeClr val="tx1"/>
                </a:solidFill>
                <a:latin typeface="Times-Roman"/>
              </a:rPr>
              <a:t>averaging of </a:t>
            </a:r>
            <a:r>
              <a:rPr lang="en-US" sz="3000" dirty="0" err="1">
                <a:solidFill>
                  <a:schemeClr val="tx1"/>
                </a:solidFill>
                <a:latin typeface="Times-Roman"/>
              </a:rPr>
              <a:t>spatiograms</a:t>
            </a:r>
            <a:r>
              <a:rPr lang="en-US" sz="3000" dirty="0">
                <a:solidFill>
                  <a:schemeClr val="tx1"/>
                </a:solidFill>
                <a:latin typeface="Times-Roman"/>
              </a:rPr>
              <a:t>. </a:t>
            </a:r>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smtClean="0">
                <a:solidFill>
                  <a:schemeClr val="tx1"/>
                </a:solidFill>
                <a:latin typeface="Times-Roman"/>
              </a:rPr>
              <a:t>A </a:t>
            </a:r>
            <a:r>
              <a:rPr lang="en-US" sz="3000" dirty="0">
                <a:solidFill>
                  <a:schemeClr val="tx1"/>
                </a:solidFill>
                <a:latin typeface="Times-Roman"/>
              </a:rPr>
              <a:t>good selection of initial cluster center locations </a:t>
            </a:r>
            <a:r>
              <a:rPr lang="en-US" sz="3000" dirty="0" smtClean="0">
                <a:solidFill>
                  <a:schemeClr val="tx1"/>
                </a:solidFill>
                <a:latin typeface="Times-Roman"/>
              </a:rPr>
              <a:t>is typically </a:t>
            </a:r>
            <a:r>
              <a:rPr lang="en-US" sz="3000" dirty="0">
                <a:solidFill>
                  <a:schemeClr val="tx1"/>
                </a:solidFill>
                <a:latin typeface="Times-Roman"/>
              </a:rPr>
              <a:t>important. </a:t>
            </a:r>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smtClean="0">
                <a:solidFill>
                  <a:schemeClr val="tx1"/>
                </a:solidFill>
                <a:latin typeface="Times-Roman"/>
              </a:rPr>
              <a:t>One </a:t>
            </a:r>
            <a:r>
              <a:rPr lang="en-US" sz="3000" dirty="0">
                <a:solidFill>
                  <a:schemeClr val="tx1"/>
                </a:solidFill>
                <a:latin typeface="Times-Roman"/>
              </a:rPr>
              <a:t>approach is to select points that have the </a:t>
            </a:r>
            <a:r>
              <a:rPr lang="en-US" sz="3000" dirty="0" smtClean="0">
                <a:solidFill>
                  <a:schemeClr val="tx1"/>
                </a:solidFill>
                <a:latin typeface="Times-Roman"/>
              </a:rPr>
              <a:t>largest sum </a:t>
            </a:r>
            <a:r>
              <a:rPr lang="en-US" sz="3000" dirty="0">
                <a:solidFill>
                  <a:schemeClr val="tx1"/>
                </a:solidFill>
                <a:latin typeface="Times-Roman"/>
              </a:rPr>
              <a:t>of distances from all other points as the initial cluster center locations.</a:t>
            </a:r>
            <a:endParaRPr lang="en-US" sz="3000" dirty="0" smtClean="0">
              <a:solidFill>
                <a:schemeClr val="tx1"/>
              </a:solidFill>
              <a:latin typeface="Times-Roman"/>
            </a:endParaRPr>
          </a:p>
        </p:txBody>
      </p:sp>
    </p:spTree>
    <p:extLst>
      <p:ext uri="{BB962C8B-B14F-4D97-AF65-F5344CB8AC3E}">
        <p14:creationId xmlns:p14="http://schemas.microsoft.com/office/powerpoint/2010/main" val="3066579022"/>
      </p:ext>
    </p:extLst>
  </p:cSld>
  <p:clrMapOvr>
    <a:masterClrMapping/>
  </p:clrMapOvr>
  <p:transition spd="med"/>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120</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2.6.2  K-Means Clustering</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369042" y="957601"/>
                <a:ext cx="11407140" cy="5421228"/>
              </a:xfrm>
              <a:prstGeom prst="rect">
                <a:avLst/>
              </a:prstGeom>
            </p:spPr>
            <p:txBody>
              <a:bodyPr wrap="square">
                <a:spAutoFit/>
              </a:bodyPr>
              <a:lstStyle/>
              <a:p>
                <a:pPr marL="457200" indent="-457200" algn="just">
                  <a:buFont typeface="Arial" panose="020B0604020202020204" pitchFamily="34" charset="0"/>
                  <a:buChar char="•"/>
                </a:pPr>
                <a:r>
                  <a:rPr lang="en-US" sz="3000" dirty="0" smtClean="0">
                    <a:solidFill>
                      <a:schemeClr val="tx1"/>
                    </a:solidFill>
                    <a:latin typeface="Times-Roman"/>
                  </a:rPr>
                  <a:t>Recall that we define a </a:t>
                </a:r>
                <a:r>
                  <a:rPr lang="en-US" sz="3000" dirty="0" err="1">
                    <a:solidFill>
                      <a:schemeClr val="tx1"/>
                    </a:solidFill>
                    <a:latin typeface="Times-Roman"/>
                  </a:rPr>
                  <a:t>spatiogram</a:t>
                </a:r>
                <a:r>
                  <a:rPr lang="en-US" sz="3000" dirty="0">
                    <a:solidFill>
                      <a:schemeClr val="tx1"/>
                    </a:solidFill>
                    <a:latin typeface="Times-Roman"/>
                  </a:rPr>
                  <a:t> </a:t>
                </a:r>
                <a:r>
                  <a:rPr lang="en-US" sz="3000" dirty="0" smtClean="0">
                    <a:solidFill>
                      <a:schemeClr val="tx1"/>
                    </a:solidFill>
                    <a:latin typeface="Times-Roman"/>
                  </a:rPr>
                  <a:t>as </a:t>
                </a:r>
                <a14:m>
                  <m:oMath xmlns:m="http://schemas.openxmlformats.org/officeDocument/2006/math">
                    <m:sSub>
                      <m:sSubPr>
                        <m:ctrlPr>
                          <a:rPr lang="en-US" sz="3000" i="1" smtClean="0">
                            <a:solidFill>
                              <a:schemeClr val="tx1"/>
                            </a:solidFill>
                            <a:latin typeface="Cambria Math" panose="02040503050406030204" pitchFamily="18" charset="0"/>
                          </a:rPr>
                        </m:ctrlPr>
                      </m:sSubPr>
                      <m:e>
                        <m:r>
                          <a:rPr lang="en-US" sz="3000" b="0" i="1" smtClean="0">
                            <a:solidFill>
                              <a:schemeClr val="tx1"/>
                            </a:solidFill>
                            <a:latin typeface="Cambria Math" panose="02040503050406030204" pitchFamily="18" charset="0"/>
                          </a:rPr>
                          <m:t>h</m:t>
                        </m:r>
                      </m:e>
                      <m:sub>
                        <m:r>
                          <a:rPr lang="en-US" sz="3000" b="0" i="1" smtClean="0">
                            <a:solidFill>
                              <a:schemeClr val="tx1"/>
                            </a:solidFill>
                            <a:latin typeface="Cambria Math" panose="02040503050406030204" pitchFamily="18" charset="0"/>
                          </a:rPr>
                          <m:t>1</m:t>
                        </m:r>
                      </m:sub>
                    </m:sSub>
                    <m:d>
                      <m:dPr>
                        <m:ctrlPr>
                          <a:rPr lang="en-US" sz="3000" b="0" i="1" smtClean="0">
                            <a:solidFill>
                              <a:schemeClr val="tx1"/>
                            </a:solidFill>
                            <a:latin typeface="Cambria Math" panose="02040503050406030204" pitchFamily="18" charset="0"/>
                          </a:rPr>
                        </m:ctrlPr>
                      </m:dPr>
                      <m:e>
                        <m:r>
                          <a:rPr lang="en-US" sz="3000" b="0" i="1" smtClean="0">
                            <a:solidFill>
                              <a:schemeClr val="tx1"/>
                            </a:solidFill>
                            <a:latin typeface="Cambria Math" panose="02040503050406030204" pitchFamily="18" charset="0"/>
                          </a:rPr>
                          <m:t>𝑏</m:t>
                        </m:r>
                      </m:e>
                    </m:d>
                    <m:r>
                      <a:rPr lang="en-US" sz="3000" b="0" i="1" smtClean="0">
                        <a:solidFill>
                          <a:schemeClr val="tx1"/>
                        </a:solidFill>
                        <a:latin typeface="Cambria Math" panose="02040503050406030204" pitchFamily="18" charset="0"/>
                      </a:rPr>
                      <m:t>=</m:t>
                    </m:r>
                    <m:d>
                      <m:dPr>
                        <m:begChr m:val="⟨"/>
                        <m:endChr m:val="⟩"/>
                        <m:ctrlPr>
                          <a:rPr lang="en-US" sz="3000" b="0" i="1" smtClean="0">
                            <a:solidFill>
                              <a:schemeClr val="tx1"/>
                            </a:solidFill>
                            <a:latin typeface="Cambria Math" panose="02040503050406030204" pitchFamily="18" charset="0"/>
                          </a:rPr>
                        </m:ctrlPr>
                      </m:dPr>
                      <m:e>
                        <m:sSub>
                          <m:sSubPr>
                            <m:ctrlPr>
                              <a:rPr lang="en-US" sz="3000" b="0" i="1" smtClean="0">
                                <a:solidFill>
                                  <a:schemeClr val="tx1"/>
                                </a:solidFill>
                                <a:latin typeface="Cambria Math" panose="02040503050406030204" pitchFamily="18" charset="0"/>
                              </a:rPr>
                            </m:ctrlPr>
                          </m:sSubPr>
                          <m:e>
                            <m:r>
                              <a:rPr lang="en-US" sz="3000" b="0" i="1" smtClean="0">
                                <a:solidFill>
                                  <a:schemeClr val="tx1"/>
                                </a:solidFill>
                                <a:latin typeface="Cambria Math" panose="02040503050406030204" pitchFamily="18" charset="0"/>
                              </a:rPr>
                              <m:t>𝑛</m:t>
                            </m:r>
                          </m:e>
                          <m:sub>
                            <m:r>
                              <a:rPr lang="en-US" sz="3000" b="0" i="1" smtClean="0">
                                <a:solidFill>
                                  <a:schemeClr val="tx1"/>
                                </a:solidFill>
                                <a:latin typeface="Cambria Math" panose="02040503050406030204" pitchFamily="18" charset="0"/>
                              </a:rPr>
                              <m:t>𝑏</m:t>
                            </m:r>
                          </m:sub>
                        </m:sSub>
                        <m:r>
                          <a:rPr lang="en-US" sz="3000" b="0" i="1" smtClean="0">
                            <a:solidFill>
                              <a:schemeClr val="tx1"/>
                            </a:solidFill>
                            <a:latin typeface="Cambria Math" panose="02040503050406030204" pitchFamily="18" charset="0"/>
                          </a:rPr>
                          <m:t>,</m:t>
                        </m:r>
                        <m:sSub>
                          <m:sSubPr>
                            <m:ctrlPr>
                              <a:rPr lang="en-US" sz="3000" b="0" i="1" smtClean="0">
                                <a:solidFill>
                                  <a:schemeClr val="tx1"/>
                                </a:solidFill>
                                <a:latin typeface="Cambria Math" panose="02040503050406030204" pitchFamily="18" charset="0"/>
                              </a:rPr>
                            </m:ctrlPr>
                          </m:sSubPr>
                          <m:e>
                            <m:r>
                              <a:rPr lang="en-US" sz="3000" b="0" i="1" smtClean="0">
                                <a:solidFill>
                                  <a:schemeClr val="tx1"/>
                                </a:solidFill>
                                <a:latin typeface="Cambria Math" panose="02040503050406030204" pitchFamily="18" charset="0"/>
                                <a:ea typeface="Cambria Math" panose="02040503050406030204" pitchFamily="18" charset="0"/>
                              </a:rPr>
                              <m:t>𝜇</m:t>
                            </m:r>
                          </m:e>
                          <m:sub>
                            <m:r>
                              <a:rPr lang="en-US" sz="3000" b="0" i="1" smtClean="0">
                                <a:solidFill>
                                  <a:schemeClr val="tx1"/>
                                </a:solidFill>
                                <a:latin typeface="Cambria Math" panose="02040503050406030204" pitchFamily="18" charset="0"/>
                              </a:rPr>
                              <m:t>𝑏</m:t>
                            </m:r>
                          </m:sub>
                        </m:sSub>
                        <m:r>
                          <a:rPr lang="en-US" sz="3000" b="0" i="1" smtClean="0">
                            <a:solidFill>
                              <a:schemeClr val="tx1"/>
                            </a:solidFill>
                            <a:latin typeface="Cambria Math" panose="02040503050406030204" pitchFamily="18" charset="0"/>
                          </a:rPr>
                          <m:t>, </m:t>
                        </m:r>
                        <m:nary>
                          <m:naryPr>
                            <m:chr m:val="∑"/>
                            <m:subHide m:val="on"/>
                            <m:supHide m:val="on"/>
                            <m:ctrlPr>
                              <a:rPr lang="en-US" sz="3000" b="0" i="1" smtClean="0">
                                <a:solidFill>
                                  <a:schemeClr val="tx1"/>
                                </a:solidFill>
                                <a:latin typeface="Cambria Math" panose="02040503050406030204" pitchFamily="18" charset="0"/>
                              </a:rPr>
                            </m:ctrlPr>
                          </m:naryPr>
                          <m:sub/>
                          <m:sup/>
                          <m:e>
                            <m:r>
                              <a:rPr lang="en-US" sz="3000" b="0" i="1" smtClean="0">
                                <a:solidFill>
                                  <a:schemeClr val="tx1"/>
                                </a:solidFill>
                                <a:latin typeface="Cambria Math" panose="02040503050406030204" pitchFamily="18" charset="0"/>
                              </a:rPr>
                              <m:t>𝑏</m:t>
                            </m:r>
                          </m:e>
                        </m:nary>
                      </m:e>
                    </m:d>
                    <m:r>
                      <a:rPr lang="en-US" sz="3000" b="0" i="1" smtClean="0">
                        <a:solidFill>
                          <a:schemeClr val="tx1"/>
                        </a:solidFill>
                        <a:latin typeface="Cambria Math" panose="02040503050406030204" pitchFamily="18" charset="0"/>
                      </a:rPr>
                      <m:t>.</m:t>
                    </m:r>
                  </m:oMath>
                </a14:m>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a:solidFill>
                      <a:schemeClr val="tx1"/>
                    </a:solidFill>
                    <a:latin typeface="Times-Roman"/>
                  </a:rPr>
                  <a:t>We </a:t>
                </a:r>
                <a:r>
                  <a:rPr lang="en-US" sz="3000" dirty="0" smtClean="0">
                    <a:solidFill>
                      <a:schemeClr val="tx1"/>
                    </a:solidFill>
                    <a:latin typeface="Times-Roman"/>
                  </a:rPr>
                  <a:t>can now </a:t>
                </a:r>
                <a:r>
                  <a:rPr lang="en-US" sz="3000" dirty="0">
                    <a:solidFill>
                      <a:schemeClr val="tx1"/>
                    </a:solidFill>
                    <a:latin typeface="Times-Roman"/>
                  </a:rPr>
                  <a:t>define the average of two </a:t>
                </a:r>
                <a:r>
                  <a:rPr lang="en-US" sz="3000" dirty="0" err="1">
                    <a:solidFill>
                      <a:schemeClr val="tx1"/>
                    </a:solidFill>
                    <a:latin typeface="Times-Roman"/>
                  </a:rPr>
                  <a:t>spatiograms</a:t>
                </a:r>
                <a:r>
                  <a:rPr lang="en-US" sz="3000" dirty="0">
                    <a:solidFill>
                      <a:schemeClr val="tx1"/>
                    </a:solidFill>
                    <a:latin typeface="Times-Roman"/>
                  </a:rPr>
                  <a:t> h and </a:t>
                </a:r>
                <a14:m>
                  <m:oMath xmlns:m="http://schemas.openxmlformats.org/officeDocument/2006/math">
                    <m:sSup>
                      <m:sSupPr>
                        <m:ctrlPr>
                          <a:rPr lang="en-US" sz="3000" i="1" smtClean="0">
                            <a:solidFill>
                              <a:schemeClr val="tx1"/>
                            </a:solidFill>
                            <a:latin typeface="Cambria Math" panose="02040503050406030204" pitchFamily="18" charset="0"/>
                          </a:rPr>
                        </m:ctrlPr>
                      </m:sSupPr>
                      <m:e>
                        <m:r>
                          <a:rPr lang="en-US" sz="3000" b="0" i="1" smtClean="0">
                            <a:solidFill>
                              <a:schemeClr val="tx1"/>
                            </a:solidFill>
                            <a:latin typeface="Cambria Math" panose="02040503050406030204" pitchFamily="18" charset="0"/>
                          </a:rPr>
                          <m:t>h</m:t>
                        </m:r>
                      </m:e>
                      <m:sup>
                        <m:r>
                          <a:rPr lang="en-US" sz="3000" b="0" i="1" smtClean="0">
                            <a:solidFill>
                              <a:schemeClr val="tx1"/>
                            </a:solidFill>
                            <a:latin typeface="Cambria Math" panose="02040503050406030204" pitchFamily="18" charset="0"/>
                          </a:rPr>
                          <m:t>′</m:t>
                        </m:r>
                      </m:sup>
                    </m:sSup>
                  </m:oMath>
                </a14:m>
                <a:r>
                  <a:rPr lang="en-US" sz="3000" dirty="0" smtClean="0">
                    <a:solidFill>
                      <a:schemeClr val="tx1"/>
                    </a:solidFill>
                    <a:latin typeface="Times-Roman"/>
                  </a:rPr>
                  <a:t>as</a:t>
                </a:r>
              </a:p>
              <a:p>
                <a:pPr algn="just"/>
                <a14:m>
                  <m:oMathPara xmlns:m="http://schemas.openxmlformats.org/officeDocument/2006/math">
                    <m:oMathParaPr>
                      <m:jc m:val="centerGroup"/>
                    </m:oMathParaPr>
                    <m:oMath xmlns:m="http://schemas.openxmlformats.org/officeDocument/2006/math">
                      <m:r>
                        <a:rPr lang="en-US" sz="3000" b="0" i="1" smtClean="0">
                          <a:solidFill>
                            <a:schemeClr val="tx1"/>
                          </a:solidFill>
                          <a:latin typeface="Cambria Math" panose="02040503050406030204" pitchFamily="18" charset="0"/>
                        </a:rPr>
                        <m:t>𝑎𝑣</m:t>
                      </m:r>
                      <m:d>
                        <m:dPr>
                          <m:ctrlPr>
                            <a:rPr lang="en-US" sz="3000" b="0" i="1" smtClean="0">
                              <a:solidFill>
                                <a:schemeClr val="tx1"/>
                              </a:solidFill>
                              <a:latin typeface="Cambria Math" panose="02040503050406030204" pitchFamily="18" charset="0"/>
                            </a:rPr>
                          </m:ctrlPr>
                        </m:dPr>
                        <m:e>
                          <m:r>
                            <a:rPr lang="en-US" sz="3000" b="0" i="1" smtClean="0">
                              <a:solidFill>
                                <a:schemeClr val="tx1"/>
                              </a:solidFill>
                              <a:latin typeface="Cambria Math" panose="02040503050406030204" pitchFamily="18" charset="0"/>
                            </a:rPr>
                            <m:t>h</m:t>
                          </m:r>
                          <m:r>
                            <a:rPr lang="en-US" sz="3000" b="0" i="1" smtClean="0">
                              <a:solidFill>
                                <a:schemeClr val="tx1"/>
                              </a:solidFill>
                              <a:latin typeface="Cambria Math" panose="02040503050406030204" pitchFamily="18" charset="0"/>
                            </a:rPr>
                            <m:t>,</m:t>
                          </m:r>
                          <m:sSup>
                            <m:sSupPr>
                              <m:ctrlPr>
                                <a:rPr lang="en-US" sz="3000" b="0" i="1" smtClean="0">
                                  <a:solidFill>
                                    <a:schemeClr val="tx1"/>
                                  </a:solidFill>
                                  <a:latin typeface="Cambria Math" panose="02040503050406030204" pitchFamily="18" charset="0"/>
                                </a:rPr>
                              </m:ctrlPr>
                            </m:sSupPr>
                            <m:e>
                              <m:r>
                                <a:rPr lang="en-US" sz="3000" b="0" i="1" smtClean="0">
                                  <a:solidFill>
                                    <a:schemeClr val="tx1"/>
                                  </a:solidFill>
                                  <a:latin typeface="Cambria Math" panose="02040503050406030204" pitchFamily="18" charset="0"/>
                                </a:rPr>
                                <m:t>h</m:t>
                              </m:r>
                            </m:e>
                            <m:sup>
                              <m:r>
                                <a:rPr lang="en-US" sz="3000" b="0" i="1" smtClean="0">
                                  <a:solidFill>
                                    <a:schemeClr val="tx1"/>
                                  </a:solidFill>
                                  <a:latin typeface="Cambria Math" panose="02040503050406030204" pitchFamily="18" charset="0"/>
                                </a:rPr>
                                <m:t>′</m:t>
                              </m:r>
                            </m:sup>
                          </m:sSup>
                        </m:e>
                      </m:d>
                      <m:r>
                        <a:rPr lang="en-US" sz="3000" b="0" i="1" smtClean="0">
                          <a:solidFill>
                            <a:schemeClr val="tx1"/>
                          </a:solidFill>
                          <a:latin typeface="Cambria Math" panose="02040503050406030204" pitchFamily="18" charset="0"/>
                        </a:rPr>
                        <m:t>=</m:t>
                      </m:r>
                      <m:d>
                        <m:dPr>
                          <m:begChr m:val="⟨"/>
                          <m:endChr m:val="⟩"/>
                          <m:ctrlPr>
                            <a:rPr lang="en-US" sz="3000" b="0" i="1" smtClean="0">
                              <a:solidFill>
                                <a:schemeClr val="tx1"/>
                              </a:solidFill>
                              <a:latin typeface="Cambria Math" panose="02040503050406030204" pitchFamily="18" charset="0"/>
                            </a:rPr>
                          </m:ctrlPr>
                        </m:dPr>
                        <m:e>
                          <m:f>
                            <m:fPr>
                              <m:ctrlPr>
                                <a:rPr lang="en-US" sz="3000" b="0" i="1" smtClean="0">
                                  <a:solidFill>
                                    <a:schemeClr val="tx1"/>
                                  </a:solidFill>
                                  <a:latin typeface="Cambria Math" panose="02040503050406030204" pitchFamily="18" charset="0"/>
                                </a:rPr>
                              </m:ctrlPr>
                            </m:fPr>
                            <m:num>
                              <m:sSub>
                                <m:sSubPr>
                                  <m:ctrlPr>
                                    <a:rPr lang="en-US" sz="3000" b="0" i="1" smtClean="0">
                                      <a:solidFill>
                                        <a:schemeClr val="tx1"/>
                                      </a:solidFill>
                                      <a:latin typeface="Cambria Math" panose="02040503050406030204" pitchFamily="18" charset="0"/>
                                    </a:rPr>
                                  </m:ctrlPr>
                                </m:sSubPr>
                                <m:e>
                                  <m:r>
                                    <a:rPr lang="en-US" sz="3000" b="0" i="1" smtClean="0">
                                      <a:solidFill>
                                        <a:schemeClr val="tx1"/>
                                      </a:solidFill>
                                      <a:latin typeface="Cambria Math" panose="02040503050406030204" pitchFamily="18" charset="0"/>
                                    </a:rPr>
                                    <m:t>𝑛</m:t>
                                  </m:r>
                                </m:e>
                                <m:sub>
                                  <m:r>
                                    <a:rPr lang="en-US" sz="3000" b="0" i="1" smtClean="0">
                                      <a:solidFill>
                                        <a:schemeClr val="tx1"/>
                                      </a:solidFill>
                                      <a:latin typeface="Cambria Math" panose="02040503050406030204" pitchFamily="18" charset="0"/>
                                    </a:rPr>
                                    <m:t>𝑏</m:t>
                                  </m:r>
                                </m:sub>
                              </m:sSub>
                              <m:r>
                                <a:rPr lang="en-US" sz="3000" b="0" i="1" smtClean="0">
                                  <a:solidFill>
                                    <a:schemeClr val="tx1"/>
                                  </a:solidFill>
                                  <a:latin typeface="Cambria Math" panose="02040503050406030204" pitchFamily="18" charset="0"/>
                                </a:rPr>
                                <m:t>+</m:t>
                              </m:r>
                              <m:sSubSup>
                                <m:sSubSupPr>
                                  <m:ctrlPr>
                                    <a:rPr lang="en-US" sz="3000" b="0" i="1" smtClean="0">
                                      <a:solidFill>
                                        <a:schemeClr val="tx1"/>
                                      </a:solidFill>
                                      <a:latin typeface="Cambria Math" panose="02040503050406030204" pitchFamily="18" charset="0"/>
                                    </a:rPr>
                                  </m:ctrlPr>
                                </m:sSubSupPr>
                                <m:e>
                                  <m:r>
                                    <a:rPr lang="en-US" sz="3000" b="0" i="1" smtClean="0">
                                      <a:solidFill>
                                        <a:schemeClr val="tx1"/>
                                      </a:solidFill>
                                      <a:latin typeface="Cambria Math" panose="02040503050406030204" pitchFamily="18" charset="0"/>
                                    </a:rPr>
                                    <m:t>𝑛</m:t>
                                  </m:r>
                                </m:e>
                                <m:sub>
                                  <m:r>
                                    <a:rPr lang="en-US" sz="3000" b="0" i="1" smtClean="0">
                                      <a:solidFill>
                                        <a:schemeClr val="tx1"/>
                                      </a:solidFill>
                                      <a:latin typeface="Cambria Math" panose="02040503050406030204" pitchFamily="18" charset="0"/>
                                    </a:rPr>
                                    <m:t>𝑏</m:t>
                                  </m:r>
                                </m:sub>
                                <m:sup>
                                  <m:r>
                                    <a:rPr lang="en-US" sz="3000" b="0" i="1" smtClean="0">
                                      <a:solidFill>
                                        <a:schemeClr val="tx1"/>
                                      </a:solidFill>
                                      <a:latin typeface="Cambria Math" panose="02040503050406030204" pitchFamily="18" charset="0"/>
                                    </a:rPr>
                                    <m:t>′</m:t>
                                  </m:r>
                                </m:sup>
                              </m:sSubSup>
                            </m:num>
                            <m:den>
                              <m:r>
                                <a:rPr lang="en-US" sz="3000" b="0" i="1" smtClean="0">
                                  <a:solidFill>
                                    <a:schemeClr val="tx1"/>
                                  </a:solidFill>
                                  <a:latin typeface="Cambria Math" panose="02040503050406030204" pitchFamily="18" charset="0"/>
                                </a:rPr>
                                <m:t>2</m:t>
                              </m:r>
                            </m:den>
                          </m:f>
                          <m:r>
                            <a:rPr lang="en-US" sz="3000" b="0" i="1" smtClean="0">
                              <a:solidFill>
                                <a:schemeClr val="tx1"/>
                              </a:solidFill>
                              <a:latin typeface="Cambria Math" panose="02040503050406030204" pitchFamily="18" charset="0"/>
                            </a:rPr>
                            <m:t>,</m:t>
                          </m:r>
                          <m:f>
                            <m:fPr>
                              <m:ctrlPr>
                                <a:rPr lang="en-US" sz="3000" i="1">
                                  <a:solidFill>
                                    <a:schemeClr val="tx1"/>
                                  </a:solidFill>
                                  <a:latin typeface="Cambria Math" panose="02040503050406030204" pitchFamily="18" charset="0"/>
                                </a:rPr>
                              </m:ctrlPr>
                            </m:fPr>
                            <m:num>
                              <m:sSub>
                                <m:sSubPr>
                                  <m:ctrlPr>
                                    <a:rPr lang="en-US" sz="3000" i="1">
                                      <a:solidFill>
                                        <a:schemeClr val="tx1"/>
                                      </a:solidFill>
                                      <a:latin typeface="Cambria Math" panose="02040503050406030204" pitchFamily="18" charset="0"/>
                                    </a:rPr>
                                  </m:ctrlPr>
                                </m:sSubPr>
                                <m:e>
                                  <m:r>
                                    <a:rPr lang="en-US" sz="3000" i="1" smtClean="0">
                                      <a:solidFill>
                                        <a:schemeClr val="tx1"/>
                                      </a:solidFill>
                                      <a:latin typeface="Cambria Math" panose="02040503050406030204" pitchFamily="18" charset="0"/>
                                      <a:ea typeface="Cambria Math" panose="02040503050406030204" pitchFamily="18" charset="0"/>
                                    </a:rPr>
                                    <m:t>𝜇</m:t>
                                  </m:r>
                                </m:e>
                                <m:sub>
                                  <m:r>
                                    <a:rPr lang="en-US" sz="3000" i="1">
                                      <a:solidFill>
                                        <a:schemeClr val="tx1"/>
                                      </a:solidFill>
                                      <a:latin typeface="Cambria Math" panose="02040503050406030204" pitchFamily="18" charset="0"/>
                                    </a:rPr>
                                    <m:t>𝑏</m:t>
                                  </m:r>
                                </m:sub>
                              </m:sSub>
                              <m:r>
                                <a:rPr lang="en-US" sz="3000" i="1">
                                  <a:solidFill>
                                    <a:schemeClr val="tx1"/>
                                  </a:solidFill>
                                  <a:latin typeface="Cambria Math" panose="02040503050406030204" pitchFamily="18" charset="0"/>
                                </a:rPr>
                                <m:t>+</m:t>
                              </m:r>
                              <m:sSubSup>
                                <m:sSubSupPr>
                                  <m:ctrlPr>
                                    <a:rPr lang="en-US" sz="3000" i="1">
                                      <a:solidFill>
                                        <a:schemeClr val="tx1"/>
                                      </a:solidFill>
                                      <a:latin typeface="Cambria Math" panose="02040503050406030204" pitchFamily="18" charset="0"/>
                                    </a:rPr>
                                  </m:ctrlPr>
                                </m:sSubSupPr>
                                <m:e>
                                  <m:r>
                                    <a:rPr lang="en-US" sz="3000" i="1" smtClean="0">
                                      <a:solidFill>
                                        <a:schemeClr val="tx1"/>
                                      </a:solidFill>
                                      <a:latin typeface="Cambria Math" panose="02040503050406030204" pitchFamily="18" charset="0"/>
                                      <a:ea typeface="Cambria Math" panose="02040503050406030204" pitchFamily="18" charset="0"/>
                                    </a:rPr>
                                    <m:t>𝜇</m:t>
                                  </m:r>
                                </m:e>
                                <m:sub>
                                  <m:r>
                                    <a:rPr lang="en-US" sz="3000" i="1">
                                      <a:solidFill>
                                        <a:schemeClr val="tx1"/>
                                      </a:solidFill>
                                      <a:latin typeface="Cambria Math" panose="02040503050406030204" pitchFamily="18" charset="0"/>
                                    </a:rPr>
                                    <m:t>𝑏</m:t>
                                  </m:r>
                                </m:sub>
                                <m:sup>
                                  <m:r>
                                    <a:rPr lang="en-US" sz="3000" i="1">
                                      <a:solidFill>
                                        <a:schemeClr val="tx1"/>
                                      </a:solidFill>
                                      <a:latin typeface="Cambria Math" panose="02040503050406030204" pitchFamily="18" charset="0"/>
                                    </a:rPr>
                                    <m:t>′</m:t>
                                  </m:r>
                                </m:sup>
                              </m:sSubSup>
                            </m:num>
                            <m:den>
                              <m:r>
                                <a:rPr lang="en-US" sz="3000" i="1">
                                  <a:solidFill>
                                    <a:schemeClr val="tx1"/>
                                  </a:solidFill>
                                  <a:latin typeface="Cambria Math" panose="02040503050406030204" pitchFamily="18" charset="0"/>
                                </a:rPr>
                                <m:t>2</m:t>
                              </m:r>
                            </m:den>
                          </m:f>
                          <m:r>
                            <a:rPr lang="en-US" sz="3000" i="1">
                              <a:solidFill>
                                <a:schemeClr val="tx1"/>
                              </a:solidFill>
                              <a:latin typeface="Cambria Math" panose="02040503050406030204" pitchFamily="18" charset="0"/>
                            </a:rPr>
                            <m:t>,</m:t>
                          </m:r>
                          <m:f>
                            <m:fPr>
                              <m:ctrlPr>
                                <a:rPr lang="en-US" sz="3000" i="1">
                                  <a:solidFill>
                                    <a:schemeClr val="tx1"/>
                                  </a:solidFill>
                                  <a:latin typeface="Cambria Math" panose="02040503050406030204" pitchFamily="18" charset="0"/>
                                </a:rPr>
                              </m:ctrlPr>
                            </m:fPr>
                            <m:num>
                              <m:sSub>
                                <m:sSubPr>
                                  <m:ctrlPr>
                                    <a:rPr lang="en-US" sz="3000" i="1">
                                      <a:solidFill>
                                        <a:schemeClr val="tx1"/>
                                      </a:solidFill>
                                      <a:latin typeface="Cambria Math" panose="02040503050406030204" pitchFamily="18" charset="0"/>
                                    </a:rPr>
                                  </m:ctrlPr>
                                </m:sSubPr>
                                <m:e>
                                  <m:r>
                                    <m:rPr>
                                      <m:sty m:val="p"/>
                                    </m:rPr>
                                    <a:rPr lang="el-GR" sz="3000" i="1" smtClean="0">
                                      <a:solidFill>
                                        <a:schemeClr val="tx1"/>
                                      </a:solidFill>
                                      <a:latin typeface="Cambria Math" panose="02040503050406030204" pitchFamily="18" charset="0"/>
                                      <a:ea typeface="Cambria Math" panose="02040503050406030204" pitchFamily="18" charset="0"/>
                                    </a:rPr>
                                    <m:t>Σ</m:t>
                                  </m:r>
                                </m:e>
                                <m:sub>
                                  <m:r>
                                    <a:rPr lang="en-US" sz="3000" i="1">
                                      <a:solidFill>
                                        <a:schemeClr val="tx1"/>
                                      </a:solidFill>
                                      <a:latin typeface="Cambria Math" panose="02040503050406030204" pitchFamily="18" charset="0"/>
                                    </a:rPr>
                                    <m:t>𝑏</m:t>
                                  </m:r>
                                </m:sub>
                              </m:sSub>
                              <m:r>
                                <a:rPr lang="en-US" sz="3000" i="1">
                                  <a:solidFill>
                                    <a:schemeClr val="tx1"/>
                                  </a:solidFill>
                                  <a:latin typeface="Cambria Math" panose="02040503050406030204" pitchFamily="18" charset="0"/>
                                </a:rPr>
                                <m:t>+</m:t>
                              </m:r>
                              <m:sSubSup>
                                <m:sSubSupPr>
                                  <m:ctrlPr>
                                    <a:rPr lang="en-US" sz="3000" i="1">
                                      <a:solidFill>
                                        <a:schemeClr val="tx1"/>
                                      </a:solidFill>
                                      <a:latin typeface="Cambria Math" panose="02040503050406030204" pitchFamily="18" charset="0"/>
                                    </a:rPr>
                                  </m:ctrlPr>
                                </m:sSubSupPr>
                                <m:e>
                                  <m:r>
                                    <m:rPr>
                                      <m:sty m:val="p"/>
                                    </m:rPr>
                                    <a:rPr lang="el-GR" sz="3000" i="1" smtClean="0">
                                      <a:solidFill>
                                        <a:schemeClr val="tx1"/>
                                      </a:solidFill>
                                      <a:latin typeface="Cambria Math" panose="02040503050406030204" pitchFamily="18" charset="0"/>
                                      <a:ea typeface="Cambria Math" panose="02040503050406030204" pitchFamily="18" charset="0"/>
                                    </a:rPr>
                                    <m:t>Σ</m:t>
                                  </m:r>
                                </m:e>
                                <m:sub>
                                  <m:r>
                                    <a:rPr lang="en-US" sz="3000" i="1">
                                      <a:solidFill>
                                        <a:schemeClr val="tx1"/>
                                      </a:solidFill>
                                      <a:latin typeface="Cambria Math" panose="02040503050406030204" pitchFamily="18" charset="0"/>
                                    </a:rPr>
                                    <m:t>𝑏</m:t>
                                  </m:r>
                                </m:sub>
                                <m:sup>
                                  <m:r>
                                    <a:rPr lang="en-US" sz="3000" i="1">
                                      <a:solidFill>
                                        <a:schemeClr val="tx1"/>
                                      </a:solidFill>
                                      <a:latin typeface="Cambria Math" panose="02040503050406030204" pitchFamily="18" charset="0"/>
                                    </a:rPr>
                                    <m:t>′</m:t>
                                  </m:r>
                                </m:sup>
                              </m:sSubSup>
                            </m:num>
                            <m:den>
                              <m:r>
                                <a:rPr lang="en-US" sz="3000" b="0" i="1" smtClean="0">
                                  <a:solidFill>
                                    <a:schemeClr val="tx1"/>
                                  </a:solidFill>
                                  <a:latin typeface="Cambria Math" panose="02040503050406030204" pitchFamily="18" charset="0"/>
                                </a:rPr>
                                <m:t>4</m:t>
                              </m:r>
                            </m:den>
                          </m:f>
                        </m:e>
                      </m:d>
                    </m:oMath>
                  </m:oMathPara>
                </a14:m>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smtClean="0">
                    <a:solidFill>
                      <a:schemeClr val="tx1"/>
                    </a:solidFill>
                    <a:latin typeface="Times-Roman"/>
                  </a:rPr>
                  <a:t>Since the sum of n independent normal distributions is a normal distribution, we can generalize this average to carry out pass two of the K-Means algorithm.</a:t>
                </a:r>
              </a:p>
              <a:p>
                <a:pPr marL="457200" indent="-457200" algn="just">
                  <a:buFont typeface="Arial" panose="020B0604020202020204" pitchFamily="34" charset="0"/>
                  <a:buChar char="•"/>
                </a:pPr>
                <a:r>
                  <a:rPr lang="en-US" sz="3000" dirty="0" smtClean="0">
                    <a:solidFill>
                      <a:schemeClr val="tx1"/>
                    </a:solidFill>
                    <a:latin typeface="Times-Roman"/>
                  </a:rPr>
                  <a:t>For </a:t>
                </a:r>
                <a:r>
                  <a:rPr lang="en-US" sz="3000" dirty="0">
                    <a:solidFill>
                      <a:schemeClr val="tx1"/>
                    </a:solidFill>
                    <a:latin typeface="Times-Roman"/>
                  </a:rPr>
                  <a:t>a 32-bin single color-channel </a:t>
                </a:r>
                <a:r>
                  <a:rPr lang="en-US" sz="3000" dirty="0" err="1">
                    <a:solidFill>
                      <a:schemeClr val="tx1"/>
                    </a:solidFill>
                    <a:latin typeface="Times-Roman"/>
                  </a:rPr>
                  <a:t>spatiogram</a:t>
                </a:r>
                <a:r>
                  <a:rPr lang="en-US" sz="3000" dirty="0">
                    <a:solidFill>
                      <a:schemeClr val="tx1"/>
                    </a:solidFill>
                    <a:latin typeface="Times-Roman"/>
                  </a:rPr>
                  <a:t> with </a:t>
                </a:r>
                <a:r>
                  <a:rPr lang="en-US" sz="3000" dirty="0" smtClean="0">
                    <a:solidFill>
                      <a:schemeClr val="tx1"/>
                    </a:solidFill>
                    <a:latin typeface="Times-Roman"/>
                  </a:rPr>
                  <a:t>independent x </a:t>
                </a:r>
                <a:r>
                  <a:rPr lang="en-US" sz="3000" dirty="0">
                    <a:solidFill>
                      <a:schemeClr val="tx1"/>
                    </a:solidFill>
                    <a:latin typeface="Times-Roman"/>
                  </a:rPr>
                  <a:t>and y spatial distributions, this sum involves 5 × 32 additions</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smtClean="0">
                    <a:solidFill>
                      <a:schemeClr val="tx1"/>
                    </a:solidFill>
                    <a:latin typeface="Times-Roman"/>
                  </a:rPr>
                  <a:t>The cluster </a:t>
                </a:r>
                <a:r>
                  <a:rPr lang="en-US" sz="3000" dirty="0">
                    <a:solidFill>
                      <a:schemeClr val="tx1"/>
                    </a:solidFill>
                    <a:latin typeface="Times-Roman"/>
                  </a:rPr>
                  <a:t>centers are </a:t>
                </a:r>
                <a:r>
                  <a:rPr lang="en-US" sz="3000" dirty="0" err="1">
                    <a:solidFill>
                      <a:schemeClr val="tx1"/>
                    </a:solidFill>
                    <a:latin typeface="Times-Roman"/>
                  </a:rPr>
                  <a:t>spatiograms</a:t>
                </a:r>
                <a:r>
                  <a:rPr lang="en-US" sz="3000" dirty="0">
                    <a:solidFill>
                      <a:schemeClr val="tx1"/>
                    </a:solidFill>
                    <a:latin typeface="Times-Roman"/>
                  </a:rPr>
                  <a:t> that are ‘prototypes’ for the landmarks </a:t>
                </a:r>
                <a:r>
                  <a:rPr lang="en-US" sz="3000" dirty="0" smtClean="0">
                    <a:solidFill>
                      <a:schemeClr val="tx1"/>
                    </a:solidFill>
                    <a:latin typeface="Times-Roman"/>
                  </a:rPr>
                  <a:t>that they </a:t>
                </a:r>
                <a:r>
                  <a:rPr lang="en-US" sz="3000" dirty="0">
                    <a:solidFill>
                      <a:schemeClr val="tx1"/>
                    </a:solidFill>
                    <a:latin typeface="Times-Roman"/>
                  </a:rPr>
                  <a:t>represent.</a:t>
                </a:r>
              </a:p>
            </p:txBody>
          </p:sp>
        </mc:Choice>
        <mc:Fallback xmlns="">
          <p:sp>
            <p:nvSpPr>
              <p:cNvPr id="9" name="Rectangle 8"/>
              <p:cNvSpPr>
                <a:spLocks noRot="1" noChangeAspect="1" noMove="1" noResize="1" noEditPoints="1" noAdjustHandles="1" noChangeArrowheads="1" noChangeShapeType="1" noTextEdit="1"/>
              </p:cNvSpPr>
              <p:nvPr/>
            </p:nvSpPr>
            <p:spPr>
              <a:xfrm>
                <a:off x="369042" y="957601"/>
                <a:ext cx="11407140" cy="5421228"/>
              </a:xfrm>
              <a:prstGeom prst="rect">
                <a:avLst/>
              </a:prstGeom>
              <a:blipFill>
                <a:blip r:embed="rId2"/>
                <a:stretch>
                  <a:fillRect l="-1122" t="-1462" r="-1229" b="-2475"/>
                </a:stretch>
              </a:blipFill>
            </p:spPr>
            <p:txBody>
              <a:bodyPr/>
              <a:lstStyle/>
              <a:p>
                <a:r>
                  <a:rPr lang="en-US">
                    <a:noFill/>
                  </a:rPr>
                  <a:t> </a:t>
                </a:r>
              </a:p>
            </p:txBody>
          </p:sp>
        </mc:Fallback>
      </mc:AlternateContent>
    </p:spTree>
    <p:extLst>
      <p:ext uri="{BB962C8B-B14F-4D97-AF65-F5344CB8AC3E}">
        <p14:creationId xmlns:p14="http://schemas.microsoft.com/office/powerpoint/2010/main" val="2174370758"/>
      </p:ext>
    </p:extLst>
  </p:cSld>
  <p:clrMapOvr>
    <a:masterClrMapping/>
  </p:clrMapOvr>
  <p:transition spd="med"/>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121</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2.6.2  K-Means Clustering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957601"/>
            <a:ext cx="11407140" cy="563231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tx1"/>
                </a:solidFill>
                <a:latin typeface="Times-Roman"/>
              </a:rPr>
              <a:t>The cluster to point distances are all calculated independently in K-Means</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There is therefore the opportunity to carry out this phase in </a:t>
            </a:r>
            <a:r>
              <a:rPr lang="en-US" sz="3000" dirty="0" smtClean="0">
                <a:solidFill>
                  <a:schemeClr val="tx1"/>
                </a:solidFill>
                <a:latin typeface="Times-Roman"/>
              </a:rPr>
              <a:t>parallel.</a:t>
            </a:r>
          </a:p>
          <a:p>
            <a:pPr marL="457200" indent="-457200" algn="just">
              <a:buFont typeface="Arial" panose="020B0604020202020204" pitchFamily="34" charset="0"/>
              <a:buChar char="•"/>
            </a:pPr>
            <a:r>
              <a:rPr lang="en-US" sz="3000" dirty="0">
                <a:solidFill>
                  <a:schemeClr val="tx1"/>
                </a:solidFill>
                <a:latin typeface="Times-Roman"/>
              </a:rPr>
              <a:t>Typically </a:t>
            </a:r>
            <a:r>
              <a:rPr lang="en-US" sz="3000" dirty="0" smtClean="0">
                <a:solidFill>
                  <a:schemeClr val="tx1"/>
                </a:solidFill>
                <a:latin typeface="Times-Roman"/>
              </a:rPr>
              <a:t>m&lt;&lt;n</a:t>
            </a:r>
            <a:r>
              <a:rPr lang="en-US" sz="3000" dirty="0">
                <a:solidFill>
                  <a:schemeClr val="tx1"/>
                </a:solidFill>
                <a:latin typeface="Times-Roman"/>
              </a:rPr>
              <a:t>, that is, there will be much fewer clusters than points</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In terms of landmark clustering: we will have many example </a:t>
            </a:r>
            <a:r>
              <a:rPr lang="en-US" sz="3000" dirty="0" smtClean="0">
                <a:solidFill>
                  <a:schemeClr val="tx1"/>
                </a:solidFill>
                <a:latin typeface="Times-Roman"/>
              </a:rPr>
              <a:t>images (</a:t>
            </a:r>
            <a:r>
              <a:rPr lang="en-US" sz="3000" dirty="0">
                <a:solidFill>
                  <a:schemeClr val="tx1"/>
                </a:solidFill>
                <a:latin typeface="Times-Roman"/>
              </a:rPr>
              <a:t>image </a:t>
            </a:r>
            <a:r>
              <a:rPr lang="en-US" sz="3000" dirty="0" err="1">
                <a:solidFill>
                  <a:schemeClr val="tx1"/>
                </a:solidFill>
                <a:latin typeface="Times-Roman"/>
              </a:rPr>
              <a:t>spatiograms</a:t>
            </a:r>
            <a:r>
              <a:rPr lang="en-US" sz="3000" dirty="0">
                <a:solidFill>
                  <a:schemeClr val="tx1"/>
                </a:solidFill>
                <a:latin typeface="Times-Roman"/>
              </a:rPr>
              <a:t>) of a small number of landmarks (cluster </a:t>
            </a:r>
            <a:r>
              <a:rPr lang="en-US" sz="3000" dirty="0" err="1">
                <a:solidFill>
                  <a:schemeClr val="tx1"/>
                </a:solidFill>
                <a:latin typeface="Times-Roman"/>
              </a:rPr>
              <a:t>spatiograms</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Hence, we should broadcast the cluster </a:t>
            </a:r>
            <a:r>
              <a:rPr lang="en-US" sz="3000" dirty="0" err="1">
                <a:solidFill>
                  <a:schemeClr val="tx1"/>
                </a:solidFill>
                <a:latin typeface="Times-Roman"/>
              </a:rPr>
              <a:t>spatiograms</a:t>
            </a:r>
            <a:r>
              <a:rPr lang="en-US" sz="3000" dirty="0">
                <a:solidFill>
                  <a:schemeClr val="tx1"/>
                </a:solidFill>
                <a:latin typeface="Times-Roman"/>
              </a:rPr>
              <a:t> and scatter the </a:t>
            </a:r>
            <a:r>
              <a:rPr lang="en-US" sz="3000" dirty="0" smtClean="0">
                <a:solidFill>
                  <a:schemeClr val="tx1"/>
                </a:solidFill>
                <a:latin typeface="Times-Roman"/>
              </a:rPr>
              <a:t>image </a:t>
            </a:r>
            <a:r>
              <a:rPr lang="en-US" sz="3000" dirty="0" err="1" smtClean="0">
                <a:solidFill>
                  <a:schemeClr val="tx1"/>
                </a:solidFill>
                <a:latin typeface="Times-Roman"/>
              </a:rPr>
              <a:t>spatiograms</a:t>
            </a:r>
            <a:r>
              <a:rPr lang="en-US" sz="3000" dirty="0" smtClean="0">
                <a:solidFill>
                  <a:schemeClr val="tx1"/>
                </a:solidFill>
                <a:latin typeface="Times-Roman"/>
              </a:rPr>
              <a:t>.</a:t>
            </a:r>
          </a:p>
          <a:p>
            <a:pPr marL="457200" indent="-457200" algn="just">
              <a:buFont typeface="Arial" panose="020B0604020202020204" pitchFamily="34" charset="0"/>
              <a:buChar char="•"/>
            </a:pPr>
            <a:endParaRPr lang="en-US" sz="3000" dirty="0">
              <a:solidFill>
                <a:schemeClr val="tx1"/>
              </a:solidFill>
              <a:latin typeface="Times-Roman"/>
            </a:endParaRPr>
          </a:p>
        </p:txBody>
      </p:sp>
    </p:spTree>
    <p:extLst>
      <p:ext uri="{BB962C8B-B14F-4D97-AF65-F5344CB8AC3E}">
        <p14:creationId xmlns:p14="http://schemas.microsoft.com/office/powerpoint/2010/main" val="3113442547"/>
      </p:ext>
    </p:extLst>
  </p:cSld>
  <p:clrMapOvr>
    <a:masterClrMapping/>
  </p:clrMapOvr>
  <p:transition spd="med"/>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122</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2.6.2  K-Means Clustering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957601"/>
            <a:ext cx="11407140" cy="563231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tx1"/>
                </a:solidFill>
                <a:latin typeface="Times-Roman"/>
              </a:rPr>
              <a:t>The image </a:t>
            </a:r>
            <a:r>
              <a:rPr lang="en-US" sz="3000" dirty="0" err="1">
                <a:solidFill>
                  <a:schemeClr val="tx1"/>
                </a:solidFill>
                <a:latin typeface="Times-Roman"/>
              </a:rPr>
              <a:t>spatiograms</a:t>
            </a:r>
            <a:r>
              <a:rPr lang="en-US" sz="3000" dirty="0">
                <a:solidFill>
                  <a:schemeClr val="tx1"/>
                </a:solidFill>
                <a:latin typeface="Times-Roman"/>
              </a:rPr>
              <a:t> only have to be scattered once (</a:t>
            </a:r>
            <a:r>
              <a:rPr lang="en-US" sz="3000" dirty="0" smtClean="0">
                <a:solidFill>
                  <a:schemeClr val="tx1"/>
                </a:solidFill>
                <a:latin typeface="Times-Roman"/>
              </a:rPr>
              <a:t>before the </a:t>
            </a:r>
            <a:r>
              <a:rPr lang="en-US" sz="3000" dirty="0">
                <a:solidFill>
                  <a:schemeClr val="tx1"/>
                </a:solidFill>
                <a:latin typeface="Times-Roman"/>
              </a:rPr>
              <a:t>first iteration); the cluster </a:t>
            </a:r>
            <a:r>
              <a:rPr lang="en-US" sz="3000" dirty="0" err="1">
                <a:solidFill>
                  <a:schemeClr val="tx1"/>
                </a:solidFill>
                <a:latin typeface="Times-Roman"/>
              </a:rPr>
              <a:t>spatiograms</a:t>
            </a:r>
            <a:r>
              <a:rPr lang="en-US" sz="3000" dirty="0">
                <a:solidFill>
                  <a:schemeClr val="tx1"/>
                </a:solidFill>
                <a:latin typeface="Times-Roman"/>
              </a:rPr>
              <a:t> need to be rebroadcast on </a:t>
            </a:r>
            <a:r>
              <a:rPr lang="en-US" sz="3000" dirty="0" smtClean="0">
                <a:solidFill>
                  <a:schemeClr val="tx1"/>
                </a:solidFill>
                <a:latin typeface="Times-Roman"/>
              </a:rPr>
              <a:t>every iteration </a:t>
            </a:r>
            <a:r>
              <a:rPr lang="en-US" sz="3000" dirty="0">
                <a:solidFill>
                  <a:schemeClr val="tx1"/>
                </a:solidFill>
                <a:latin typeface="Times-Roman"/>
              </a:rPr>
              <a:t>(since the cluster centers may move on every iteration</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Each processor will calculate the m distances for its n/p </a:t>
            </a:r>
            <a:r>
              <a:rPr lang="en-US" sz="3000" dirty="0" smtClean="0">
                <a:solidFill>
                  <a:schemeClr val="tx1"/>
                </a:solidFill>
                <a:latin typeface="Times-Roman"/>
              </a:rPr>
              <a:t>image </a:t>
            </a:r>
            <a:r>
              <a:rPr lang="en-US" sz="3000" dirty="0" err="1" smtClean="0">
                <a:solidFill>
                  <a:schemeClr val="tx1"/>
                </a:solidFill>
                <a:latin typeface="Times-Roman"/>
              </a:rPr>
              <a:t>spatiograms</a:t>
            </a:r>
            <a:r>
              <a:rPr lang="en-US" sz="3000" dirty="0" smtClean="0">
                <a:solidFill>
                  <a:schemeClr val="tx1"/>
                </a:solidFill>
                <a:latin typeface="Times-Roman"/>
              </a:rPr>
              <a:t> </a:t>
            </a:r>
            <a:r>
              <a:rPr lang="en-US" sz="3000" dirty="0">
                <a:solidFill>
                  <a:schemeClr val="tx1"/>
                </a:solidFill>
                <a:latin typeface="Times-Roman"/>
              </a:rPr>
              <a:t>and record the cluster chosen for each image </a:t>
            </a:r>
            <a:r>
              <a:rPr lang="en-US" sz="3000" dirty="0" err="1">
                <a:solidFill>
                  <a:schemeClr val="tx1"/>
                </a:solidFill>
                <a:latin typeface="Times-Roman"/>
              </a:rPr>
              <a:t>spatiogram</a:t>
            </a:r>
            <a:r>
              <a:rPr lang="en-US" sz="3000" dirty="0">
                <a:solidFill>
                  <a:schemeClr val="tx1"/>
                </a:solidFill>
                <a:latin typeface="Times-Roman"/>
              </a:rPr>
              <a:t> </a:t>
            </a:r>
            <a:r>
              <a:rPr lang="en-US" sz="3000" dirty="0" smtClean="0">
                <a:solidFill>
                  <a:schemeClr val="tx1"/>
                </a:solidFill>
                <a:latin typeface="Times-Roman"/>
              </a:rPr>
              <a:t>— concluding </a:t>
            </a:r>
            <a:r>
              <a:rPr lang="en-US" sz="3000" dirty="0">
                <a:solidFill>
                  <a:schemeClr val="tx1"/>
                </a:solidFill>
                <a:latin typeface="Times-Roman"/>
              </a:rPr>
              <a:t>the first pass</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Each processor will then sum all the </a:t>
            </a:r>
            <a:r>
              <a:rPr lang="en-US" sz="3000" dirty="0" smtClean="0">
                <a:solidFill>
                  <a:schemeClr val="tx1"/>
                </a:solidFill>
                <a:latin typeface="Times-Roman"/>
              </a:rPr>
              <a:t>image histograms </a:t>
            </a:r>
            <a:r>
              <a:rPr lang="en-US" sz="3000" dirty="0">
                <a:solidFill>
                  <a:schemeClr val="tx1"/>
                </a:solidFill>
                <a:latin typeface="Times-Roman"/>
              </a:rPr>
              <a:t>for each cluster and participate in a reduction by sum on </a:t>
            </a:r>
            <a:r>
              <a:rPr lang="en-US" sz="3000" dirty="0" smtClean="0">
                <a:solidFill>
                  <a:schemeClr val="tx1"/>
                </a:solidFill>
                <a:latin typeface="Times-Roman"/>
              </a:rPr>
              <a:t>each cluster </a:t>
            </a:r>
            <a:r>
              <a:rPr lang="en-US" sz="3000" dirty="0" err="1">
                <a:solidFill>
                  <a:schemeClr val="tx1"/>
                </a:solidFill>
                <a:latin typeface="Times-Roman"/>
              </a:rPr>
              <a:t>spatiogram</a:t>
            </a:r>
            <a:r>
              <a:rPr lang="en-US" sz="3000" dirty="0">
                <a:solidFill>
                  <a:schemeClr val="tx1"/>
                </a:solidFill>
                <a:latin typeface="Times-Roman"/>
              </a:rPr>
              <a:t>. </a:t>
            </a:r>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smtClean="0">
                <a:solidFill>
                  <a:schemeClr val="tx1"/>
                </a:solidFill>
                <a:latin typeface="Times-Roman"/>
              </a:rPr>
              <a:t>The </a:t>
            </a:r>
            <a:r>
              <a:rPr lang="en-US" sz="3000" dirty="0">
                <a:solidFill>
                  <a:schemeClr val="tx1"/>
                </a:solidFill>
                <a:latin typeface="Times-Roman"/>
              </a:rPr>
              <a:t>root completes the averaging for all clusters </a:t>
            </a:r>
            <a:r>
              <a:rPr lang="en-US" sz="3000" dirty="0" smtClean="0">
                <a:solidFill>
                  <a:schemeClr val="tx1"/>
                </a:solidFill>
                <a:latin typeface="Times-Roman"/>
              </a:rPr>
              <a:t>and rebroadcasts </a:t>
            </a:r>
            <a:r>
              <a:rPr lang="en-US" sz="3000" dirty="0">
                <a:solidFill>
                  <a:schemeClr val="tx1"/>
                </a:solidFill>
                <a:latin typeface="Times-Roman"/>
              </a:rPr>
              <a:t>the results.</a:t>
            </a:r>
          </a:p>
        </p:txBody>
      </p:sp>
    </p:spTree>
    <p:extLst>
      <p:ext uri="{BB962C8B-B14F-4D97-AF65-F5344CB8AC3E}">
        <p14:creationId xmlns:p14="http://schemas.microsoft.com/office/powerpoint/2010/main" val="1088626741"/>
      </p:ext>
    </p:extLst>
  </p:cSld>
  <p:clrMapOvr>
    <a:masterClrMapping/>
  </p:clrMapOvr>
  <p:transition spd="med"/>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123</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2.6.2  K-Means Clustering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957601"/>
            <a:ext cx="11407140" cy="563231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tx1"/>
                </a:solidFill>
                <a:latin typeface="Times-Roman"/>
              </a:rPr>
              <a:t>The serial implementation of K-Means carries out the </a:t>
            </a:r>
            <a:r>
              <a:rPr lang="en-US" sz="3000" dirty="0" err="1">
                <a:solidFill>
                  <a:schemeClr val="tx1"/>
                </a:solidFill>
                <a:latin typeface="Times-Roman"/>
              </a:rPr>
              <a:t>averagePoints</a:t>
            </a:r>
            <a:r>
              <a:rPr lang="en-US" sz="3000" dirty="0">
                <a:solidFill>
                  <a:schemeClr val="tx1"/>
                </a:solidFill>
                <a:latin typeface="Times-Roman"/>
              </a:rPr>
              <a:t> </a:t>
            </a:r>
            <a:r>
              <a:rPr lang="en-US" sz="3000" dirty="0" smtClean="0">
                <a:solidFill>
                  <a:schemeClr val="tx1"/>
                </a:solidFill>
                <a:latin typeface="Times-Roman"/>
              </a:rPr>
              <a:t>and </a:t>
            </a:r>
            <a:r>
              <a:rPr lang="en-US" sz="3000" dirty="0" err="1" smtClean="0">
                <a:solidFill>
                  <a:schemeClr val="tx1"/>
                </a:solidFill>
                <a:latin typeface="Times-Roman"/>
              </a:rPr>
              <a:t>averageClusters</a:t>
            </a:r>
            <a:r>
              <a:rPr lang="en-US" sz="3000" dirty="0" smtClean="0">
                <a:solidFill>
                  <a:schemeClr val="tx1"/>
                </a:solidFill>
                <a:latin typeface="Times-Roman"/>
              </a:rPr>
              <a:t> </a:t>
            </a:r>
            <a:r>
              <a:rPr lang="en-US" sz="3000" dirty="0">
                <a:solidFill>
                  <a:schemeClr val="tx1"/>
                </a:solidFill>
                <a:latin typeface="Times-Roman"/>
              </a:rPr>
              <a:t>routines for all the data points on each iteration</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If </a:t>
            </a:r>
            <a:r>
              <a:rPr lang="en-US" sz="3000" dirty="0" smtClean="0">
                <a:solidFill>
                  <a:schemeClr val="tx1"/>
                </a:solidFill>
                <a:latin typeface="Times-Roman"/>
              </a:rPr>
              <a:t>the time </a:t>
            </a:r>
            <a:r>
              <a:rPr lang="en-US" sz="3000" dirty="0">
                <a:solidFill>
                  <a:schemeClr val="tx1"/>
                </a:solidFill>
                <a:latin typeface="Times-Roman"/>
              </a:rPr>
              <a:t>to carry out the </a:t>
            </a:r>
            <a:r>
              <a:rPr lang="en-US" sz="3000" dirty="0" err="1">
                <a:solidFill>
                  <a:schemeClr val="tx1"/>
                </a:solidFill>
                <a:latin typeface="Times-Roman"/>
              </a:rPr>
              <a:t>spatiogram</a:t>
            </a:r>
            <a:r>
              <a:rPr lang="en-US" sz="3000" dirty="0">
                <a:solidFill>
                  <a:schemeClr val="tx1"/>
                </a:solidFill>
                <a:latin typeface="Times-Roman"/>
              </a:rPr>
              <a:t> comparison is χ1 then assigning </a:t>
            </a:r>
            <a:r>
              <a:rPr lang="en-US" sz="3000" dirty="0" smtClean="0">
                <a:solidFill>
                  <a:schemeClr val="tx1"/>
                </a:solidFill>
                <a:latin typeface="Times-Roman"/>
              </a:rPr>
              <a:t>points takes </a:t>
            </a:r>
            <a:r>
              <a:rPr lang="en-US" sz="3000" dirty="0">
                <a:solidFill>
                  <a:schemeClr val="tx1"/>
                </a:solidFill>
                <a:latin typeface="Times-Roman"/>
              </a:rPr>
              <a:t>time nmχ1</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If the time to add </a:t>
            </a:r>
            <a:r>
              <a:rPr lang="en-US" sz="3000" dirty="0" err="1">
                <a:solidFill>
                  <a:schemeClr val="tx1"/>
                </a:solidFill>
                <a:latin typeface="Times-Roman"/>
              </a:rPr>
              <a:t>spatiograms</a:t>
            </a:r>
            <a:r>
              <a:rPr lang="en-US" sz="3000" dirty="0">
                <a:solidFill>
                  <a:schemeClr val="tx1"/>
                </a:solidFill>
                <a:latin typeface="Times-Roman"/>
              </a:rPr>
              <a:t> is χ2 then the time </a:t>
            </a:r>
            <a:r>
              <a:rPr lang="en-US" sz="3000" dirty="0" smtClean="0">
                <a:solidFill>
                  <a:schemeClr val="tx1"/>
                </a:solidFill>
                <a:latin typeface="Times-Roman"/>
              </a:rPr>
              <a:t>to average </a:t>
            </a:r>
            <a:r>
              <a:rPr lang="en-US" sz="3000" dirty="0">
                <a:solidFill>
                  <a:schemeClr val="tx1"/>
                </a:solidFill>
                <a:latin typeface="Times-Roman"/>
              </a:rPr>
              <a:t>the clusters is m(n/m)χ2 assuming an average of n/m points </a:t>
            </a:r>
            <a:r>
              <a:rPr lang="en-US" sz="3000" dirty="0" smtClean="0">
                <a:solidFill>
                  <a:schemeClr val="tx1"/>
                </a:solidFill>
                <a:latin typeface="Times-Roman"/>
              </a:rPr>
              <a:t>per cluster</a:t>
            </a:r>
            <a:r>
              <a:rPr lang="en-US" sz="3000" dirty="0">
                <a:solidFill>
                  <a:schemeClr val="tx1"/>
                </a:solidFill>
                <a:latin typeface="Times-Roman"/>
              </a:rPr>
              <a:t>. </a:t>
            </a:r>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smtClean="0">
                <a:solidFill>
                  <a:schemeClr val="tx1"/>
                </a:solidFill>
                <a:latin typeface="Times-Roman"/>
              </a:rPr>
              <a:t>The </a:t>
            </a:r>
            <a:r>
              <a:rPr lang="en-US" sz="3000" dirty="0">
                <a:solidFill>
                  <a:schemeClr val="tx1"/>
                </a:solidFill>
                <a:latin typeface="Times-Roman"/>
              </a:rPr>
              <a:t>serial time is given by </a:t>
            </a:r>
            <a:r>
              <a:rPr lang="en-US" sz="3000" dirty="0" err="1">
                <a:solidFill>
                  <a:schemeClr val="tx1"/>
                </a:solidFill>
                <a:latin typeface="Times-Roman"/>
              </a:rPr>
              <a:t>Tser</a:t>
            </a:r>
            <a:r>
              <a:rPr lang="en-US" sz="3000" dirty="0">
                <a:solidFill>
                  <a:schemeClr val="tx1"/>
                </a:solidFill>
                <a:latin typeface="Times-Roman"/>
              </a:rPr>
              <a:t> = n(mχ1 + χ2</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In the parallel implementation, the same calculations need to be</a:t>
            </a:r>
          </a:p>
          <a:p>
            <a:pPr marL="457200" indent="-457200" algn="just">
              <a:buFont typeface="Arial" panose="020B0604020202020204" pitchFamily="34" charset="0"/>
              <a:buChar char="•"/>
            </a:pPr>
            <a:r>
              <a:rPr lang="en-US" sz="3000" dirty="0">
                <a:solidFill>
                  <a:schemeClr val="tx1"/>
                </a:solidFill>
                <a:latin typeface="Times-Roman"/>
              </a:rPr>
              <a:t>performed for n/p points (simplifying to the case where p divides </a:t>
            </a:r>
            <a:r>
              <a:rPr lang="en-US" sz="3000" dirty="0" smtClean="0">
                <a:solidFill>
                  <a:schemeClr val="tx1"/>
                </a:solidFill>
                <a:latin typeface="Times-Roman"/>
              </a:rPr>
              <a:t>n evenly</a:t>
            </a:r>
            <a:r>
              <a:rPr lang="en-US" sz="3000" dirty="0">
                <a:solidFill>
                  <a:schemeClr val="tx1"/>
                </a:solidFill>
                <a:latin typeface="Times-Roman"/>
              </a:rPr>
              <a:t>).</a:t>
            </a:r>
          </a:p>
        </p:txBody>
      </p:sp>
    </p:spTree>
    <p:extLst>
      <p:ext uri="{BB962C8B-B14F-4D97-AF65-F5344CB8AC3E}">
        <p14:creationId xmlns:p14="http://schemas.microsoft.com/office/powerpoint/2010/main" val="3443930654"/>
      </p:ext>
    </p:extLst>
  </p:cSld>
  <p:clrMapOvr>
    <a:masterClrMapping/>
  </p:clrMapOvr>
  <p:transition spd="med"/>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124</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2.6.2  K-Means Clustering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957601"/>
            <a:ext cx="11407140" cy="3785652"/>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tx1"/>
                </a:solidFill>
                <a:latin typeface="Times-Roman"/>
              </a:rPr>
              <a:t>The calculation time is </a:t>
            </a:r>
            <a:r>
              <a:rPr lang="en-US" sz="3000" dirty="0" err="1">
                <a:solidFill>
                  <a:schemeClr val="tx1"/>
                </a:solidFill>
                <a:latin typeface="Times-Roman"/>
              </a:rPr>
              <a:t>Tcal</a:t>
            </a:r>
            <a:r>
              <a:rPr lang="en-US" sz="3000" dirty="0">
                <a:solidFill>
                  <a:schemeClr val="tx1"/>
                </a:solidFill>
                <a:latin typeface="Times-Roman"/>
              </a:rPr>
              <a:t> = n(mχ1 + χ2)/p</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The </a:t>
            </a:r>
            <a:r>
              <a:rPr lang="en-US" sz="3000" dirty="0" smtClean="0">
                <a:solidFill>
                  <a:schemeClr val="tx1"/>
                </a:solidFill>
                <a:latin typeface="Times-Roman"/>
              </a:rPr>
              <a:t>scattering is </a:t>
            </a:r>
            <a:r>
              <a:rPr lang="en-US" sz="3000" dirty="0">
                <a:solidFill>
                  <a:schemeClr val="tx1"/>
                </a:solidFill>
                <a:latin typeface="Times-Roman"/>
              </a:rPr>
              <a:t>just done once, when K-Means initializes, so we will not count </a:t>
            </a:r>
            <a:r>
              <a:rPr lang="en-US" sz="3000" dirty="0" smtClean="0">
                <a:solidFill>
                  <a:schemeClr val="tx1"/>
                </a:solidFill>
                <a:latin typeface="Times-Roman"/>
              </a:rPr>
              <a:t>its contribution </a:t>
            </a:r>
            <a:r>
              <a:rPr lang="en-US" sz="3000" dirty="0">
                <a:solidFill>
                  <a:schemeClr val="tx1"/>
                </a:solidFill>
                <a:latin typeface="Times-Roman"/>
              </a:rPr>
              <a:t>to the parallel time. </a:t>
            </a:r>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smtClean="0">
                <a:solidFill>
                  <a:schemeClr val="tx1"/>
                </a:solidFill>
                <a:latin typeface="Times-Roman"/>
              </a:rPr>
              <a:t>However</a:t>
            </a:r>
            <a:r>
              <a:rPr lang="en-US" sz="3000" dirty="0">
                <a:solidFill>
                  <a:schemeClr val="tx1"/>
                </a:solidFill>
                <a:latin typeface="Times-Roman"/>
              </a:rPr>
              <a:t>, in each iteration, the </a:t>
            </a:r>
            <a:r>
              <a:rPr lang="en-US" sz="3000" dirty="0" smtClean="0">
                <a:solidFill>
                  <a:schemeClr val="tx1"/>
                </a:solidFill>
                <a:latin typeface="Times-Roman"/>
              </a:rPr>
              <a:t>broadcast and </a:t>
            </a:r>
            <a:r>
              <a:rPr lang="en-US" sz="3000" dirty="0">
                <a:solidFill>
                  <a:schemeClr val="tx1"/>
                </a:solidFill>
                <a:latin typeface="Times-Roman"/>
              </a:rPr>
              <a:t>the reduce operations need to be performed for all clusters. </a:t>
            </a:r>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smtClean="0">
                <a:solidFill>
                  <a:schemeClr val="tx1"/>
                </a:solidFill>
                <a:latin typeface="Times-Roman"/>
              </a:rPr>
              <a:t>The communication </a:t>
            </a:r>
            <a:r>
              <a:rPr lang="en-US" sz="3000" dirty="0">
                <a:solidFill>
                  <a:schemeClr val="tx1"/>
                </a:solidFill>
                <a:latin typeface="Times-Roman"/>
              </a:rPr>
              <a:t>time is </a:t>
            </a:r>
            <a:r>
              <a:rPr lang="en-US" sz="3000" dirty="0" err="1">
                <a:solidFill>
                  <a:schemeClr val="tx1"/>
                </a:solidFill>
                <a:latin typeface="Times-Roman"/>
              </a:rPr>
              <a:t>Tcom</a:t>
            </a:r>
            <a:r>
              <a:rPr lang="en-US" sz="3000" dirty="0">
                <a:solidFill>
                  <a:schemeClr val="tx1"/>
                </a:solidFill>
                <a:latin typeface="Times-Roman"/>
              </a:rPr>
              <a:t> = 2(</a:t>
            </a:r>
            <a:r>
              <a:rPr lang="en-US" sz="3000" dirty="0" err="1">
                <a:solidFill>
                  <a:schemeClr val="tx1"/>
                </a:solidFill>
                <a:latin typeface="Times-Roman"/>
              </a:rPr>
              <a:t>λ+ms</a:t>
            </a:r>
            <a:r>
              <a:rPr lang="en-US" sz="3000" dirty="0">
                <a:solidFill>
                  <a:schemeClr val="tx1"/>
                </a:solidFill>
                <a:latin typeface="Times-Roman"/>
              </a:rPr>
              <a:t>/β) log p. </a:t>
            </a:r>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smtClean="0">
                <a:solidFill>
                  <a:schemeClr val="tx1"/>
                </a:solidFill>
                <a:latin typeface="Times-Roman"/>
              </a:rPr>
              <a:t>Hence</a:t>
            </a:r>
            <a:r>
              <a:rPr lang="en-US" sz="3000" dirty="0">
                <a:solidFill>
                  <a:schemeClr val="tx1"/>
                </a:solidFill>
                <a:latin typeface="Times-Roman"/>
              </a:rPr>
              <a:t>, the total </a:t>
            </a:r>
            <a:r>
              <a:rPr lang="en-US" sz="3000" dirty="0" smtClean="0">
                <a:solidFill>
                  <a:schemeClr val="tx1"/>
                </a:solidFill>
                <a:latin typeface="Times-Roman"/>
              </a:rPr>
              <a:t>parallel time is,</a:t>
            </a:r>
          </a:p>
          <a:p>
            <a:pPr marL="457200" indent="-457200" algn="just">
              <a:buFont typeface="Arial" panose="020B0604020202020204" pitchFamily="34" charset="0"/>
              <a:buChar char="•"/>
            </a:pPr>
            <a:endParaRPr lang="en-US" sz="3000" dirty="0">
              <a:solidFill>
                <a:schemeClr val="tx1"/>
              </a:solidFill>
              <a:latin typeface="Times-Roman"/>
            </a:endParaRPr>
          </a:p>
        </p:txBody>
      </p:sp>
      <p:pic>
        <p:nvPicPr>
          <p:cNvPr id="3" name="Picture 2"/>
          <p:cNvPicPr>
            <a:picLocks noChangeAspect="1"/>
          </p:cNvPicPr>
          <p:nvPr/>
        </p:nvPicPr>
        <p:blipFill>
          <a:blip r:embed="rId2"/>
          <a:stretch>
            <a:fillRect/>
          </a:stretch>
        </p:blipFill>
        <p:spPr>
          <a:xfrm>
            <a:off x="2360879" y="4451230"/>
            <a:ext cx="6813163" cy="1160483"/>
          </a:xfrm>
          <a:prstGeom prst="rect">
            <a:avLst/>
          </a:prstGeom>
          <a:ln w="38100">
            <a:solidFill>
              <a:schemeClr val="tx1"/>
            </a:solidFill>
          </a:ln>
        </p:spPr>
      </p:pic>
    </p:spTree>
    <p:extLst>
      <p:ext uri="{BB962C8B-B14F-4D97-AF65-F5344CB8AC3E}">
        <p14:creationId xmlns:p14="http://schemas.microsoft.com/office/powerpoint/2010/main" val="3378820643"/>
      </p:ext>
    </p:extLst>
  </p:cSld>
  <p:clrMapOvr>
    <a:masterClrMapping/>
  </p:clrMapOvr>
  <p:transition spd="med"/>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125</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2.6.2  K-Means Clustering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957601"/>
            <a:ext cx="11407140" cy="4247317"/>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tx1"/>
                </a:solidFill>
                <a:latin typeface="Times-Roman"/>
              </a:rPr>
              <a:t>Let the serial time be c and the parallel communication time be k. </a:t>
            </a:r>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smtClean="0">
                <a:solidFill>
                  <a:schemeClr val="tx1"/>
                </a:solidFill>
                <a:latin typeface="Times-Roman"/>
              </a:rPr>
              <a:t>In that case</a:t>
            </a:r>
            <a:r>
              <a:rPr lang="en-US" sz="3000" dirty="0">
                <a:solidFill>
                  <a:schemeClr val="tx1"/>
                </a:solidFill>
                <a:latin typeface="Times-Roman"/>
              </a:rPr>
              <a:t>, the speedup can be written </a:t>
            </a:r>
            <a:r>
              <a:rPr lang="en-US" sz="3000" dirty="0" smtClean="0">
                <a:solidFill>
                  <a:schemeClr val="tx1"/>
                </a:solidFill>
                <a:latin typeface="Times-Roman"/>
              </a:rPr>
              <a:t>as,</a:t>
            </a:r>
          </a:p>
          <a:p>
            <a:pPr marL="457200" indent="-457200" algn="just">
              <a:buFont typeface="Arial" panose="020B0604020202020204" pitchFamily="34" charset="0"/>
              <a:buChar char="•"/>
            </a:pPr>
            <a:endParaRPr lang="en-US" sz="3000" dirty="0">
              <a:solidFill>
                <a:schemeClr val="tx1"/>
              </a:solidFill>
              <a:latin typeface="Times-Roman"/>
            </a:endParaRPr>
          </a:p>
          <a:p>
            <a:pPr marL="457200" indent="-457200" algn="just">
              <a:buFont typeface="Arial" panose="020B0604020202020204" pitchFamily="34" charset="0"/>
              <a:buChar char="•"/>
            </a:pPr>
            <a:endParaRPr lang="en-US" sz="3000" dirty="0" smtClean="0">
              <a:solidFill>
                <a:schemeClr val="tx1"/>
              </a:solidFill>
              <a:latin typeface="Times-Roman"/>
            </a:endParaRPr>
          </a:p>
          <a:p>
            <a:pPr marL="457200" indent="-457200" algn="just">
              <a:buFont typeface="Arial" panose="020B0604020202020204" pitchFamily="34" charset="0"/>
              <a:buChar char="•"/>
            </a:pPr>
            <a:endParaRPr lang="en-US" sz="3000" dirty="0">
              <a:solidFill>
                <a:schemeClr val="tx1"/>
              </a:solidFill>
              <a:latin typeface="Times-Roman"/>
            </a:endParaRPr>
          </a:p>
          <a:p>
            <a:pPr marL="457200" indent="-457200" algn="just">
              <a:buFont typeface="Arial" panose="020B0604020202020204" pitchFamily="34" charset="0"/>
              <a:buChar char="•"/>
            </a:pPr>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a:solidFill>
                  <a:schemeClr val="tx1"/>
                </a:solidFill>
                <a:latin typeface="Times-Roman"/>
              </a:rPr>
              <a:t>If the ratio k/c &gt; 0 then the speedup is less than linear ψ &lt; p; the </a:t>
            </a:r>
            <a:r>
              <a:rPr lang="en-US" sz="3000" dirty="0" smtClean="0">
                <a:solidFill>
                  <a:schemeClr val="tx1"/>
                </a:solidFill>
                <a:latin typeface="Times-Roman"/>
              </a:rPr>
              <a:t>smaller the </a:t>
            </a:r>
            <a:r>
              <a:rPr lang="en-US" sz="3000" dirty="0">
                <a:solidFill>
                  <a:schemeClr val="tx1"/>
                </a:solidFill>
                <a:latin typeface="Times-Roman"/>
              </a:rPr>
              <a:t>k/c ratio the closer the speedup is to linear.</a:t>
            </a:r>
          </a:p>
        </p:txBody>
      </p:sp>
      <p:pic>
        <p:nvPicPr>
          <p:cNvPr id="3" name="Picture 2"/>
          <p:cNvPicPr>
            <a:picLocks noChangeAspect="1"/>
          </p:cNvPicPr>
          <p:nvPr/>
        </p:nvPicPr>
        <p:blipFill>
          <a:blip r:embed="rId2"/>
          <a:stretch>
            <a:fillRect/>
          </a:stretch>
        </p:blipFill>
        <p:spPr>
          <a:xfrm>
            <a:off x="3864635" y="2522661"/>
            <a:ext cx="5099917" cy="1440868"/>
          </a:xfrm>
          <a:prstGeom prst="rect">
            <a:avLst/>
          </a:prstGeom>
          <a:ln w="38100">
            <a:solidFill>
              <a:schemeClr val="accent1"/>
            </a:solidFill>
          </a:ln>
        </p:spPr>
      </p:pic>
    </p:spTree>
    <p:extLst>
      <p:ext uri="{BB962C8B-B14F-4D97-AF65-F5344CB8AC3E}">
        <p14:creationId xmlns:p14="http://schemas.microsoft.com/office/powerpoint/2010/main" val="3626064384"/>
      </p:ext>
    </p:extLst>
  </p:cSld>
  <p:clrMapOvr>
    <a:masterClrMapping/>
  </p:clrMapOvr>
  <p:transition spd="med"/>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126</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2.6.2  K-Means Clustering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957601"/>
            <a:ext cx="11407140" cy="4247317"/>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tx1"/>
                </a:solidFill>
                <a:latin typeface="Times-Roman"/>
              </a:rPr>
              <a:t>Looking at the k/c </a:t>
            </a:r>
            <a:r>
              <a:rPr lang="en-US" sz="3000" dirty="0" smtClean="0">
                <a:solidFill>
                  <a:schemeClr val="tx1"/>
                </a:solidFill>
                <a:latin typeface="Times-Roman"/>
              </a:rPr>
              <a:t>ratio for </a:t>
            </a:r>
            <a:r>
              <a:rPr lang="en-US" sz="3000" dirty="0">
                <a:solidFill>
                  <a:schemeClr val="tx1"/>
                </a:solidFill>
                <a:latin typeface="Times-Roman"/>
              </a:rPr>
              <a:t>this problem, we </a:t>
            </a:r>
            <a:r>
              <a:rPr lang="en-US" sz="3000" dirty="0" smtClean="0">
                <a:solidFill>
                  <a:schemeClr val="tx1"/>
                </a:solidFill>
                <a:latin typeface="Times-Roman"/>
              </a:rPr>
              <a:t>have,</a:t>
            </a:r>
          </a:p>
          <a:p>
            <a:pPr marL="457200" indent="-457200" algn="just">
              <a:buFont typeface="Arial" panose="020B0604020202020204" pitchFamily="34" charset="0"/>
              <a:buChar char="•"/>
            </a:pPr>
            <a:endParaRPr lang="en-US" sz="3000" dirty="0">
              <a:solidFill>
                <a:schemeClr val="tx1"/>
              </a:solidFill>
              <a:latin typeface="Times-Roman"/>
            </a:endParaRPr>
          </a:p>
          <a:p>
            <a:pPr marL="457200" indent="-457200" algn="just">
              <a:buFont typeface="Arial" panose="020B0604020202020204" pitchFamily="34" charset="0"/>
              <a:buChar char="•"/>
            </a:pPr>
            <a:endParaRPr lang="en-US" sz="3000" dirty="0" smtClean="0">
              <a:solidFill>
                <a:schemeClr val="tx1"/>
              </a:solidFill>
              <a:latin typeface="Times-Roman"/>
            </a:endParaRPr>
          </a:p>
          <a:p>
            <a:pPr marL="457200" indent="-457200" algn="just">
              <a:buFont typeface="Arial" panose="020B0604020202020204" pitchFamily="34" charset="0"/>
              <a:buChar char="•"/>
            </a:pPr>
            <a:endParaRPr lang="en-US" sz="3000" dirty="0">
              <a:solidFill>
                <a:schemeClr val="tx1"/>
              </a:solidFill>
              <a:latin typeface="Times-Roman"/>
            </a:endParaRPr>
          </a:p>
          <a:p>
            <a:pPr marL="457200" indent="-457200" algn="just">
              <a:buFont typeface="Arial" panose="020B0604020202020204" pitchFamily="34" charset="0"/>
              <a:buChar char="•"/>
            </a:pPr>
            <a:r>
              <a:rPr lang="en-US" sz="3000" dirty="0">
                <a:solidFill>
                  <a:schemeClr val="tx1"/>
                </a:solidFill>
                <a:latin typeface="Times-Roman"/>
              </a:rPr>
              <a:t>Surprisingly the number of clusters is not as significant to the speedup </a:t>
            </a:r>
            <a:r>
              <a:rPr lang="en-US" sz="3000" dirty="0" smtClean="0">
                <a:solidFill>
                  <a:schemeClr val="tx1"/>
                </a:solidFill>
                <a:latin typeface="Times-Roman"/>
              </a:rPr>
              <a:t>as the </a:t>
            </a:r>
            <a:r>
              <a:rPr lang="en-US" sz="3000" dirty="0">
                <a:solidFill>
                  <a:schemeClr val="tx1"/>
                </a:solidFill>
                <a:latin typeface="Times-Roman"/>
              </a:rPr>
              <a:t>number of data points. </a:t>
            </a:r>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smtClean="0">
                <a:solidFill>
                  <a:schemeClr val="tx1"/>
                </a:solidFill>
                <a:latin typeface="Times-Roman"/>
              </a:rPr>
              <a:t>This </a:t>
            </a:r>
            <a:r>
              <a:rPr lang="en-US" sz="3000" dirty="0">
                <a:solidFill>
                  <a:schemeClr val="tx1"/>
                </a:solidFill>
                <a:latin typeface="Times-Roman"/>
              </a:rPr>
              <a:t>ratio tells us that speedup will improve </a:t>
            </a:r>
            <a:r>
              <a:rPr lang="en-US" sz="3000" dirty="0" smtClean="0">
                <a:solidFill>
                  <a:schemeClr val="tx1"/>
                </a:solidFill>
                <a:latin typeface="Times-Roman"/>
              </a:rPr>
              <a:t>as the </a:t>
            </a:r>
            <a:r>
              <a:rPr lang="en-US" sz="3000" dirty="0">
                <a:solidFill>
                  <a:schemeClr val="tx1"/>
                </a:solidFill>
                <a:latin typeface="Times-Roman"/>
              </a:rPr>
              <a:t>number of points increases.</a:t>
            </a:r>
            <a:endParaRPr lang="en-US" sz="3000" dirty="0" smtClean="0">
              <a:solidFill>
                <a:schemeClr val="tx1"/>
              </a:solidFill>
              <a:latin typeface="Times-Roman"/>
            </a:endParaRPr>
          </a:p>
          <a:p>
            <a:pPr marL="457200" indent="-457200" algn="just">
              <a:buFont typeface="Arial" panose="020B0604020202020204" pitchFamily="34" charset="0"/>
              <a:buChar char="•"/>
            </a:pPr>
            <a:endParaRPr lang="en-US" sz="3000" dirty="0">
              <a:solidFill>
                <a:schemeClr val="tx1"/>
              </a:solidFill>
              <a:latin typeface="Times-Roman"/>
            </a:endParaRPr>
          </a:p>
        </p:txBody>
      </p:sp>
      <p:pic>
        <p:nvPicPr>
          <p:cNvPr id="3" name="Picture 2"/>
          <p:cNvPicPr>
            <a:picLocks noChangeAspect="1"/>
          </p:cNvPicPr>
          <p:nvPr/>
        </p:nvPicPr>
        <p:blipFill>
          <a:blip r:embed="rId2"/>
          <a:stretch>
            <a:fillRect/>
          </a:stretch>
        </p:blipFill>
        <p:spPr>
          <a:xfrm>
            <a:off x="3208056" y="1604513"/>
            <a:ext cx="6216196" cy="1259597"/>
          </a:xfrm>
          <a:prstGeom prst="rect">
            <a:avLst/>
          </a:prstGeom>
          <a:ln w="38100">
            <a:solidFill>
              <a:schemeClr val="tx1"/>
            </a:solidFill>
          </a:ln>
        </p:spPr>
      </p:pic>
    </p:spTree>
    <p:extLst>
      <p:ext uri="{BB962C8B-B14F-4D97-AF65-F5344CB8AC3E}">
        <p14:creationId xmlns:p14="http://schemas.microsoft.com/office/powerpoint/2010/main" val="3278749794"/>
      </p:ext>
    </p:extLst>
  </p:cSld>
  <p:clrMapOvr>
    <a:masterClrMapping/>
  </p:clrMapOvr>
  <p:transition spd="med"/>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127</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2.6.3  EM </a:t>
            </a:r>
            <a:r>
              <a:rPr lang="en-US" sz="4000" b="1" dirty="0" smtClean="0">
                <a:latin typeface="Times New Roman" panose="02020603050405020304" pitchFamily="18" charset="0"/>
                <a:cs typeface="Times New Roman" panose="02020603050405020304" pitchFamily="18" charset="0"/>
              </a:rPr>
              <a:t>Clustering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957601"/>
            <a:ext cx="11407140" cy="563231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tx1"/>
                </a:solidFill>
                <a:latin typeface="Times-Roman"/>
              </a:rPr>
              <a:t>A second common algorithm used to assign points to clusters </a:t>
            </a:r>
            <a:r>
              <a:rPr lang="en-US" sz="3000" dirty="0" smtClean="0">
                <a:solidFill>
                  <a:schemeClr val="tx1"/>
                </a:solidFill>
                <a:latin typeface="Times-Roman"/>
              </a:rPr>
              <a:t>is Expectation-Maximization </a:t>
            </a:r>
            <a:r>
              <a:rPr lang="en-US" sz="3000" dirty="0">
                <a:solidFill>
                  <a:schemeClr val="tx1"/>
                </a:solidFill>
                <a:latin typeface="Times-Roman"/>
              </a:rPr>
              <a:t>or </a:t>
            </a:r>
            <a:r>
              <a:rPr lang="en-US" sz="3000" dirty="0" smtClean="0">
                <a:solidFill>
                  <a:schemeClr val="tx1"/>
                </a:solidFill>
                <a:latin typeface="Times-Roman"/>
              </a:rPr>
              <a:t>EM.</a:t>
            </a:r>
          </a:p>
          <a:p>
            <a:pPr marL="457200" indent="-457200" algn="just">
              <a:buFont typeface="Arial" panose="020B0604020202020204" pitchFamily="34" charset="0"/>
              <a:buChar char="•"/>
            </a:pPr>
            <a:r>
              <a:rPr lang="en-US" sz="3000" dirty="0">
                <a:solidFill>
                  <a:schemeClr val="tx1"/>
                </a:solidFill>
                <a:latin typeface="Times-Roman"/>
              </a:rPr>
              <a:t>EM tries to find a mixture </a:t>
            </a:r>
            <a:r>
              <a:rPr lang="en-US" sz="3000" dirty="0" smtClean="0">
                <a:solidFill>
                  <a:schemeClr val="tx1"/>
                </a:solidFill>
                <a:latin typeface="Times-Roman"/>
              </a:rPr>
              <a:t>of Gaussian </a:t>
            </a:r>
            <a:r>
              <a:rPr lang="en-US" sz="3000" dirty="0">
                <a:solidFill>
                  <a:schemeClr val="tx1"/>
                </a:solidFill>
                <a:latin typeface="Times-Roman"/>
              </a:rPr>
              <a:t>functions that cluster the data points</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It differs from </a:t>
            </a:r>
            <a:r>
              <a:rPr lang="en-US" sz="3000" dirty="0" smtClean="0">
                <a:solidFill>
                  <a:schemeClr val="tx1"/>
                </a:solidFill>
                <a:latin typeface="Times-Roman"/>
              </a:rPr>
              <a:t>K-Means in </a:t>
            </a:r>
            <a:r>
              <a:rPr lang="en-US" sz="3000" dirty="0">
                <a:solidFill>
                  <a:schemeClr val="tx1"/>
                </a:solidFill>
                <a:latin typeface="Times-Roman"/>
              </a:rPr>
              <a:t>that it doesn’t make a ‘hard’ assignment of each data point to a cluster</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Instead, data points can have degrees of membership in every cluster</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smtClean="0">
                <a:solidFill>
                  <a:schemeClr val="tx1"/>
                </a:solidFill>
                <a:latin typeface="Times-Roman"/>
              </a:rPr>
              <a:t>Since each </a:t>
            </a:r>
            <a:r>
              <a:rPr lang="en-US" sz="3000" dirty="0">
                <a:solidFill>
                  <a:schemeClr val="tx1"/>
                </a:solidFill>
                <a:latin typeface="Times-Roman"/>
              </a:rPr>
              <a:t>cluster is a Gaussian, it is characterized not just by a center (the mean</a:t>
            </a:r>
            <a:r>
              <a:rPr lang="en-US" sz="3000" dirty="0" smtClean="0">
                <a:solidFill>
                  <a:schemeClr val="tx1"/>
                </a:solidFill>
                <a:latin typeface="Times-Roman"/>
              </a:rPr>
              <a:t>) by </a:t>
            </a:r>
            <a:r>
              <a:rPr lang="en-US" sz="3000" dirty="0">
                <a:solidFill>
                  <a:schemeClr val="tx1"/>
                </a:solidFill>
                <a:latin typeface="Times-Roman"/>
              </a:rPr>
              <a:t>also by a variance</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EM can also be described as a </a:t>
            </a:r>
            <a:r>
              <a:rPr lang="en-US" sz="3000" b="1" dirty="0">
                <a:solidFill>
                  <a:srgbClr val="FF0000"/>
                </a:solidFill>
                <a:latin typeface="Times-Roman"/>
              </a:rPr>
              <a:t>two-pass iterative method</a:t>
            </a:r>
            <a:r>
              <a:rPr lang="en-US" sz="3000" dirty="0">
                <a:solidFill>
                  <a:schemeClr val="tx1"/>
                </a:solidFill>
                <a:latin typeface="Times-Roman"/>
              </a:rPr>
              <a:t> and it </a:t>
            </a:r>
            <a:r>
              <a:rPr lang="en-US" sz="3000" dirty="0" smtClean="0">
                <a:solidFill>
                  <a:schemeClr val="tx1"/>
                </a:solidFill>
                <a:latin typeface="Times-Roman"/>
              </a:rPr>
              <a:t>is quite </a:t>
            </a:r>
            <a:r>
              <a:rPr lang="en-US" sz="3000" dirty="0">
                <a:solidFill>
                  <a:schemeClr val="tx1"/>
                </a:solidFill>
                <a:latin typeface="Times-Roman"/>
              </a:rPr>
              <a:t>similar to K-Means in structure.</a:t>
            </a:r>
            <a:endParaRPr lang="en-US" sz="3000" dirty="0">
              <a:solidFill>
                <a:schemeClr val="tx1"/>
              </a:solidFill>
              <a:latin typeface="Times-Roman"/>
            </a:endParaRPr>
          </a:p>
        </p:txBody>
      </p:sp>
    </p:spTree>
    <p:extLst>
      <p:ext uri="{BB962C8B-B14F-4D97-AF65-F5344CB8AC3E}">
        <p14:creationId xmlns:p14="http://schemas.microsoft.com/office/powerpoint/2010/main" val="2477911319"/>
      </p:ext>
    </p:extLst>
  </p:cSld>
  <p:clrMapOvr>
    <a:masterClrMapping/>
  </p:clrMapOvr>
  <p:transition spd="med"/>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128</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2.6.3  EM </a:t>
            </a:r>
            <a:r>
              <a:rPr lang="en-US" sz="4000" b="1" dirty="0" smtClean="0">
                <a:latin typeface="Times New Roman" panose="02020603050405020304" pitchFamily="18" charset="0"/>
                <a:cs typeface="Times New Roman" panose="02020603050405020304" pitchFamily="18" charset="0"/>
              </a:rPr>
              <a:t>Clustering</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Rectangle 8"/>
              <p:cNvSpPr/>
              <p:nvPr/>
            </p:nvSpPr>
            <p:spPr>
              <a:xfrm>
                <a:off x="369042" y="957601"/>
                <a:ext cx="11407140" cy="5630067"/>
              </a:xfrm>
              <a:prstGeom prst="rect">
                <a:avLst/>
              </a:prstGeom>
            </p:spPr>
            <p:txBody>
              <a:bodyPr wrap="square">
                <a:spAutoFit/>
              </a:bodyPr>
              <a:lstStyle/>
              <a:p>
                <a:pPr marL="457200" indent="-457200" algn="just">
                  <a:buFont typeface="Arial" panose="020B0604020202020204" pitchFamily="34" charset="0"/>
                  <a:buChar char="•"/>
                </a:pPr>
                <a:r>
                  <a:rPr lang="en-US" sz="3000" dirty="0" smtClean="0">
                    <a:solidFill>
                      <a:schemeClr val="tx1"/>
                    </a:solidFill>
                    <a:latin typeface="Times-Roman"/>
                  </a:rPr>
                  <a:t>The goal of EM is to find the maximum </a:t>
                </a:r>
                <a:r>
                  <a:rPr lang="en-US" sz="3000" dirty="0">
                    <a:solidFill>
                      <a:schemeClr val="tx1"/>
                    </a:solidFill>
                    <a:latin typeface="Times-Roman"/>
                  </a:rPr>
                  <a:t>likelihood solution for clustering the data points</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The </a:t>
                </a:r>
                <a:r>
                  <a:rPr lang="en-US" sz="3000" dirty="0" smtClean="0">
                    <a:solidFill>
                      <a:schemeClr val="tx1"/>
                    </a:solidFill>
                    <a:latin typeface="Times-Roman"/>
                  </a:rPr>
                  <a:t>algorithm iterates </a:t>
                </a:r>
                <a:r>
                  <a:rPr lang="en-US" sz="3000" dirty="0">
                    <a:solidFill>
                      <a:schemeClr val="tx1"/>
                    </a:solidFill>
                    <a:latin typeface="Times-Roman"/>
                  </a:rPr>
                  <a:t>through an </a:t>
                </a:r>
                <a:r>
                  <a:rPr lang="en-US" sz="3000" b="1" dirty="0">
                    <a:solidFill>
                      <a:srgbClr val="0070C0"/>
                    </a:solidFill>
                    <a:latin typeface="Times-Roman"/>
                  </a:rPr>
                  <a:t>Expectation step</a:t>
                </a:r>
                <a:r>
                  <a:rPr lang="en-US" sz="3000" dirty="0">
                    <a:solidFill>
                      <a:schemeClr val="tx1"/>
                    </a:solidFill>
                    <a:latin typeface="Times-Roman"/>
                  </a:rPr>
                  <a:t>, where the </a:t>
                </a:r>
                <a:r>
                  <a:rPr lang="en-US" sz="3000" b="1" dirty="0">
                    <a:solidFill>
                      <a:schemeClr val="tx1"/>
                    </a:solidFill>
                    <a:latin typeface="Times-Roman"/>
                  </a:rPr>
                  <a:t>data point associations </a:t>
                </a:r>
                <a:r>
                  <a:rPr lang="en-US" sz="3000" b="1" dirty="0" smtClean="0">
                    <a:solidFill>
                      <a:schemeClr val="tx1"/>
                    </a:solidFill>
                    <a:latin typeface="Times-Roman"/>
                  </a:rPr>
                  <a:t>with the </a:t>
                </a:r>
                <a:r>
                  <a:rPr lang="en-US" sz="3000" b="1" dirty="0">
                    <a:solidFill>
                      <a:schemeClr val="tx1"/>
                    </a:solidFill>
                    <a:latin typeface="Times-Roman"/>
                  </a:rPr>
                  <a:t>Gaussian clusters </a:t>
                </a:r>
                <a:r>
                  <a:rPr lang="en-US" sz="3000" dirty="0">
                    <a:solidFill>
                      <a:schemeClr val="tx1"/>
                    </a:solidFill>
                    <a:latin typeface="Times-Roman"/>
                  </a:rPr>
                  <a:t>are calculated, and a </a:t>
                </a:r>
                <a:r>
                  <a:rPr lang="en-US" sz="3000" b="1" dirty="0">
                    <a:solidFill>
                      <a:srgbClr val="0070C0"/>
                    </a:solidFill>
                    <a:latin typeface="Times-Roman"/>
                  </a:rPr>
                  <a:t>Maximization step</a:t>
                </a:r>
                <a:r>
                  <a:rPr lang="en-US" sz="3000" dirty="0">
                    <a:solidFill>
                      <a:schemeClr val="tx1"/>
                    </a:solidFill>
                    <a:latin typeface="Times-Roman"/>
                  </a:rPr>
                  <a:t>, where </a:t>
                </a:r>
                <a:r>
                  <a:rPr lang="en-US" sz="3000" dirty="0" smtClean="0">
                    <a:solidFill>
                      <a:schemeClr val="tx1"/>
                    </a:solidFill>
                    <a:latin typeface="Times-Roman"/>
                  </a:rPr>
                  <a:t>the </a:t>
                </a:r>
                <a:r>
                  <a:rPr lang="en-US" sz="3000" b="1" dirty="0" smtClean="0">
                    <a:solidFill>
                      <a:schemeClr val="tx1"/>
                    </a:solidFill>
                    <a:latin typeface="Times-Roman"/>
                  </a:rPr>
                  <a:t>cluster </a:t>
                </a:r>
                <a:r>
                  <a:rPr lang="en-US" sz="3000" b="1" dirty="0">
                    <a:solidFill>
                      <a:schemeClr val="tx1"/>
                    </a:solidFill>
                    <a:latin typeface="Times-Roman"/>
                  </a:rPr>
                  <a:t>Gaussians are redefined based on the data point associations</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smtClean="0">
                    <a:solidFill>
                      <a:schemeClr val="tx1"/>
                    </a:solidFill>
                    <a:latin typeface="Times-Roman"/>
                  </a:rPr>
                  <a:t>The probability of a point belonging to a cluster is described as a mixture of Gaussians </a:t>
                </a:r>
                <a14:m>
                  <m:oMath xmlns:m="http://schemas.openxmlformats.org/officeDocument/2006/math">
                    <m:r>
                      <a:rPr lang="en-US" sz="3000" b="0" i="1" smtClean="0">
                        <a:solidFill>
                          <a:schemeClr val="tx1"/>
                        </a:solidFill>
                        <a:latin typeface="Cambria Math" panose="02040503050406030204" pitchFamily="18" charset="0"/>
                      </a:rPr>
                      <m:t>𝑁</m:t>
                    </m:r>
                    <m:d>
                      <m:dPr>
                        <m:ctrlPr>
                          <a:rPr lang="en-US" sz="3000" b="0" i="1" smtClean="0">
                            <a:solidFill>
                              <a:schemeClr val="tx1"/>
                            </a:solidFill>
                            <a:latin typeface="Cambria Math" panose="02040503050406030204" pitchFamily="18" charset="0"/>
                          </a:rPr>
                        </m:ctrlPr>
                      </m:dPr>
                      <m:e>
                        <m:sSub>
                          <m:sSubPr>
                            <m:ctrlPr>
                              <a:rPr lang="en-US" sz="3000" b="0" i="1" smtClean="0">
                                <a:solidFill>
                                  <a:schemeClr val="tx1"/>
                                </a:solidFill>
                                <a:latin typeface="Cambria Math" panose="02040503050406030204" pitchFamily="18" charset="0"/>
                              </a:rPr>
                            </m:ctrlPr>
                          </m:sSubPr>
                          <m:e>
                            <m:r>
                              <a:rPr lang="en-US" sz="3000" b="0" i="1" smtClean="0">
                                <a:solidFill>
                                  <a:schemeClr val="tx1"/>
                                </a:solidFill>
                                <a:latin typeface="Cambria Math" panose="02040503050406030204" pitchFamily="18" charset="0"/>
                                <a:ea typeface="Cambria Math" panose="02040503050406030204" pitchFamily="18" charset="0"/>
                              </a:rPr>
                              <m:t>𝜇</m:t>
                            </m:r>
                          </m:e>
                          <m:sub>
                            <m:r>
                              <a:rPr lang="en-US" sz="3000" b="0" i="1" smtClean="0">
                                <a:solidFill>
                                  <a:schemeClr val="tx1"/>
                                </a:solidFill>
                                <a:latin typeface="Cambria Math" panose="02040503050406030204" pitchFamily="18" charset="0"/>
                              </a:rPr>
                              <m:t>𝑗</m:t>
                            </m:r>
                          </m:sub>
                        </m:sSub>
                        <m:r>
                          <a:rPr lang="en-US" sz="3000" b="0" i="1" smtClean="0">
                            <a:solidFill>
                              <a:schemeClr val="tx1"/>
                            </a:solidFill>
                            <a:latin typeface="Cambria Math" panose="02040503050406030204" pitchFamily="18" charset="0"/>
                          </a:rPr>
                          <m:t>,</m:t>
                        </m:r>
                        <m:sSub>
                          <m:sSubPr>
                            <m:ctrlPr>
                              <a:rPr lang="en-US" sz="3000" b="0" i="1" smtClean="0">
                                <a:solidFill>
                                  <a:schemeClr val="tx1"/>
                                </a:solidFill>
                                <a:latin typeface="Cambria Math" panose="02040503050406030204" pitchFamily="18" charset="0"/>
                              </a:rPr>
                            </m:ctrlPr>
                          </m:sSubPr>
                          <m:e>
                            <m:r>
                              <m:rPr>
                                <m:sty m:val="p"/>
                              </m:rPr>
                              <a:rPr lang="el-GR" sz="3000" b="0" i="1" smtClean="0">
                                <a:solidFill>
                                  <a:schemeClr val="tx1"/>
                                </a:solidFill>
                                <a:latin typeface="Cambria Math" panose="02040503050406030204" pitchFamily="18" charset="0"/>
                                <a:ea typeface="Cambria Math" panose="02040503050406030204" pitchFamily="18" charset="0"/>
                              </a:rPr>
                              <m:t>Σ</m:t>
                            </m:r>
                          </m:e>
                          <m:sub>
                            <m:r>
                              <a:rPr lang="en-US" sz="3000" b="0" i="1" smtClean="0">
                                <a:solidFill>
                                  <a:schemeClr val="tx1"/>
                                </a:solidFill>
                                <a:latin typeface="Cambria Math" panose="02040503050406030204" pitchFamily="18" charset="0"/>
                              </a:rPr>
                              <m:t>𝑗</m:t>
                            </m:r>
                          </m:sub>
                        </m:sSub>
                      </m:e>
                    </m:d>
                    <m:r>
                      <a:rPr lang="en-US" sz="3000" b="0" i="1" smtClean="0">
                        <a:solidFill>
                          <a:schemeClr val="tx1"/>
                        </a:solidFill>
                        <a:latin typeface="Cambria Math" panose="02040503050406030204" pitchFamily="18" charset="0"/>
                      </a:rPr>
                      <m:t>𝑓𝑜𝑟</m:t>
                    </m:r>
                    <m:r>
                      <a:rPr lang="en-US" sz="3000" b="0" i="1" smtClean="0">
                        <a:solidFill>
                          <a:schemeClr val="tx1"/>
                        </a:solidFill>
                        <a:latin typeface="Cambria Math" panose="02040503050406030204" pitchFamily="18" charset="0"/>
                      </a:rPr>
                      <m:t> </m:t>
                    </m:r>
                    <m:r>
                      <a:rPr lang="en-US" sz="3000" b="0" i="1" smtClean="0">
                        <a:solidFill>
                          <a:schemeClr val="tx1"/>
                        </a:solidFill>
                        <a:latin typeface="Cambria Math" panose="02040503050406030204" pitchFamily="18" charset="0"/>
                      </a:rPr>
                      <m:t>𝑗</m:t>
                    </m:r>
                    <m:r>
                      <a:rPr lang="en-US" sz="3000" b="0" i="1" smtClean="0">
                        <a:solidFill>
                          <a:schemeClr val="tx1"/>
                        </a:solidFill>
                        <a:latin typeface="Cambria Math" panose="02040503050406030204" pitchFamily="18" charset="0"/>
                        <a:ea typeface="Cambria Math" panose="02040503050406030204" pitchFamily="18" charset="0"/>
                      </a:rPr>
                      <m:t>𝜖</m:t>
                    </m:r>
                    <m:d>
                      <m:dPr>
                        <m:begChr m:val="{"/>
                        <m:endChr m:val="}"/>
                        <m:ctrlPr>
                          <a:rPr lang="en-US" sz="3000" b="0" i="1" smtClean="0">
                            <a:solidFill>
                              <a:schemeClr val="tx1"/>
                            </a:solidFill>
                            <a:latin typeface="Cambria Math" panose="02040503050406030204" pitchFamily="18" charset="0"/>
                            <a:ea typeface="Cambria Math" panose="02040503050406030204" pitchFamily="18" charset="0"/>
                          </a:rPr>
                        </m:ctrlPr>
                      </m:dPr>
                      <m:e>
                        <m:r>
                          <a:rPr lang="en-US" sz="3000" b="0" i="1" smtClean="0">
                            <a:solidFill>
                              <a:schemeClr val="tx1"/>
                            </a:solidFill>
                            <a:latin typeface="Cambria Math" panose="02040503050406030204" pitchFamily="18" charset="0"/>
                            <a:ea typeface="Cambria Math" panose="02040503050406030204" pitchFamily="18" charset="0"/>
                          </a:rPr>
                          <m:t>1,…,</m:t>
                        </m:r>
                        <m:r>
                          <a:rPr lang="en-US" sz="3000" b="0" i="1" smtClean="0">
                            <a:solidFill>
                              <a:schemeClr val="tx1"/>
                            </a:solidFill>
                            <a:latin typeface="Cambria Math" panose="02040503050406030204" pitchFamily="18" charset="0"/>
                            <a:ea typeface="Cambria Math" panose="02040503050406030204" pitchFamily="18" charset="0"/>
                          </a:rPr>
                          <m:t>𝑚</m:t>
                        </m:r>
                      </m:e>
                    </m:d>
                    <m:r>
                      <a:rPr lang="en-US" sz="3000" b="0" i="1" smtClean="0">
                        <a:solidFill>
                          <a:schemeClr val="tx1"/>
                        </a:solidFill>
                        <a:latin typeface="Cambria Math" panose="02040503050406030204" pitchFamily="18" charset="0"/>
                        <a:ea typeface="Cambria Math" panose="02040503050406030204" pitchFamily="18" charset="0"/>
                      </a:rPr>
                      <m:t>:</m:t>
                    </m:r>
                  </m:oMath>
                </a14:m>
                <a:endParaRPr lang="en-US" sz="3000" b="0" dirty="0" smtClean="0">
                  <a:solidFill>
                    <a:schemeClr val="tx1"/>
                  </a:solidFill>
                  <a:latin typeface="Times-Roman"/>
                  <a:ea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r>
                        <a:rPr lang="en-US" sz="3000" b="0" i="1" smtClean="0">
                          <a:solidFill>
                            <a:schemeClr val="tx1"/>
                          </a:solidFill>
                          <a:latin typeface="Cambria Math" panose="02040503050406030204" pitchFamily="18" charset="0"/>
                        </a:rPr>
                        <m:t>𝑝</m:t>
                      </m:r>
                      <m:d>
                        <m:dPr>
                          <m:ctrlPr>
                            <a:rPr lang="en-US" sz="3000" b="0" i="1" smtClean="0">
                              <a:solidFill>
                                <a:schemeClr val="tx1"/>
                              </a:solidFill>
                              <a:latin typeface="Cambria Math" panose="02040503050406030204" pitchFamily="18" charset="0"/>
                            </a:rPr>
                          </m:ctrlPr>
                        </m:dPr>
                        <m:e>
                          <m:r>
                            <a:rPr lang="en-US" sz="3000" b="0" i="1" smtClean="0">
                              <a:solidFill>
                                <a:schemeClr val="tx1"/>
                              </a:solidFill>
                              <a:latin typeface="Cambria Math" panose="02040503050406030204" pitchFamily="18" charset="0"/>
                            </a:rPr>
                            <m:t>𝑥</m:t>
                          </m:r>
                        </m:e>
                      </m:d>
                      <m:r>
                        <a:rPr lang="en-US" sz="3000" b="0" i="1" smtClean="0">
                          <a:solidFill>
                            <a:schemeClr val="tx1"/>
                          </a:solidFill>
                          <a:latin typeface="Cambria Math" panose="02040503050406030204" pitchFamily="18" charset="0"/>
                        </a:rPr>
                        <m:t>=</m:t>
                      </m:r>
                      <m:nary>
                        <m:naryPr>
                          <m:chr m:val="∑"/>
                          <m:ctrlPr>
                            <a:rPr lang="en-US" sz="3000" b="0" i="1" smtClean="0">
                              <a:solidFill>
                                <a:schemeClr val="tx1"/>
                              </a:solidFill>
                              <a:latin typeface="Cambria Math" panose="02040503050406030204" pitchFamily="18" charset="0"/>
                            </a:rPr>
                          </m:ctrlPr>
                        </m:naryPr>
                        <m:sub>
                          <m:r>
                            <m:rPr>
                              <m:brk m:alnAt="23"/>
                            </m:rPr>
                            <a:rPr lang="en-US" sz="3000" b="0" i="1" smtClean="0">
                              <a:solidFill>
                                <a:schemeClr val="tx1"/>
                              </a:solidFill>
                              <a:latin typeface="Cambria Math" panose="02040503050406030204" pitchFamily="18" charset="0"/>
                            </a:rPr>
                            <m:t>𝑗</m:t>
                          </m:r>
                          <m:r>
                            <a:rPr lang="en-US" sz="3000" b="0" i="1" smtClean="0">
                              <a:solidFill>
                                <a:schemeClr val="tx1"/>
                              </a:solidFill>
                              <a:latin typeface="Cambria Math" panose="02040503050406030204" pitchFamily="18" charset="0"/>
                            </a:rPr>
                            <m:t>=0</m:t>
                          </m:r>
                        </m:sub>
                        <m:sup>
                          <m:r>
                            <a:rPr lang="en-US" sz="3000" b="0" i="1" smtClean="0">
                              <a:solidFill>
                                <a:schemeClr val="tx1"/>
                              </a:solidFill>
                              <a:latin typeface="Cambria Math" panose="02040503050406030204" pitchFamily="18" charset="0"/>
                            </a:rPr>
                            <m:t>𝑚</m:t>
                          </m:r>
                        </m:sup>
                        <m:e>
                          <m:sSub>
                            <m:sSubPr>
                              <m:ctrlPr>
                                <a:rPr lang="en-US" sz="3000" b="0" i="1" smtClean="0">
                                  <a:solidFill>
                                    <a:schemeClr val="tx1"/>
                                  </a:solidFill>
                                  <a:latin typeface="Cambria Math" panose="02040503050406030204" pitchFamily="18" charset="0"/>
                                </a:rPr>
                              </m:ctrlPr>
                            </m:sSubPr>
                            <m:e>
                              <m:r>
                                <a:rPr lang="en-US" sz="3000" b="0" i="1" smtClean="0">
                                  <a:solidFill>
                                    <a:schemeClr val="tx1"/>
                                  </a:solidFill>
                                  <a:latin typeface="Cambria Math" panose="02040503050406030204" pitchFamily="18" charset="0"/>
                                </a:rPr>
                                <m:t>𝑤</m:t>
                              </m:r>
                            </m:e>
                            <m:sub>
                              <m:r>
                                <a:rPr lang="en-US" sz="3000" b="0" i="1" smtClean="0">
                                  <a:solidFill>
                                    <a:schemeClr val="tx1"/>
                                  </a:solidFill>
                                  <a:latin typeface="Cambria Math" panose="02040503050406030204" pitchFamily="18" charset="0"/>
                                </a:rPr>
                                <m:t>𝑗</m:t>
                              </m:r>
                            </m:sub>
                          </m:sSub>
                        </m:e>
                      </m:nary>
                      <m:r>
                        <a:rPr lang="en-US" sz="3000" b="0" i="1" smtClean="0">
                          <a:solidFill>
                            <a:schemeClr val="tx1"/>
                          </a:solidFill>
                          <a:latin typeface="Cambria Math" panose="02040503050406030204" pitchFamily="18" charset="0"/>
                        </a:rPr>
                        <m:t>𝑁</m:t>
                      </m:r>
                      <m:r>
                        <a:rPr lang="en-US" sz="3000" b="0" i="1" smtClean="0">
                          <a:solidFill>
                            <a:schemeClr val="tx1"/>
                          </a:solidFill>
                          <a:latin typeface="Cambria Math" panose="02040503050406030204" pitchFamily="18" charset="0"/>
                        </a:rPr>
                        <m:t>(</m:t>
                      </m:r>
                      <m:r>
                        <a:rPr lang="en-US" sz="3000" b="0" i="1" smtClean="0">
                          <a:solidFill>
                            <a:schemeClr val="tx1"/>
                          </a:solidFill>
                          <a:latin typeface="Cambria Math" panose="02040503050406030204" pitchFamily="18" charset="0"/>
                        </a:rPr>
                        <m:t>𝑥</m:t>
                      </m:r>
                      <m:r>
                        <a:rPr lang="en-US" sz="3000" b="0" i="1" smtClean="0">
                          <a:solidFill>
                            <a:schemeClr val="tx1"/>
                          </a:solidFill>
                          <a:latin typeface="Cambria Math" panose="02040503050406030204" pitchFamily="18" charset="0"/>
                        </a:rPr>
                        <m:t>;</m:t>
                      </m:r>
                      <m:sSub>
                        <m:sSubPr>
                          <m:ctrlPr>
                            <a:rPr lang="en-US" sz="3000" i="1">
                              <a:solidFill>
                                <a:schemeClr val="tx1"/>
                              </a:solidFill>
                              <a:latin typeface="Cambria Math" panose="02040503050406030204" pitchFamily="18" charset="0"/>
                            </a:rPr>
                          </m:ctrlPr>
                        </m:sSubPr>
                        <m:e>
                          <m:r>
                            <a:rPr lang="en-US" sz="3000" i="1">
                              <a:solidFill>
                                <a:schemeClr val="tx1"/>
                              </a:solidFill>
                              <a:latin typeface="Cambria Math" panose="02040503050406030204" pitchFamily="18" charset="0"/>
                              <a:ea typeface="Cambria Math" panose="02040503050406030204" pitchFamily="18" charset="0"/>
                            </a:rPr>
                            <m:t>𝜇</m:t>
                          </m:r>
                        </m:e>
                        <m:sub>
                          <m:r>
                            <a:rPr lang="en-US" sz="3000" i="1">
                              <a:solidFill>
                                <a:schemeClr val="tx1"/>
                              </a:solidFill>
                              <a:latin typeface="Cambria Math" panose="02040503050406030204" pitchFamily="18" charset="0"/>
                            </a:rPr>
                            <m:t>𝑗</m:t>
                          </m:r>
                        </m:sub>
                      </m:sSub>
                      <m:r>
                        <a:rPr lang="en-US" sz="3000" b="0" i="1" smtClean="0">
                          <a:solidFill>
                            <a:schemeClr val="tx1"/>
                          </a:solidFill>
                          <a:latin typeface="Cambria Math" panose="02040503050406030204" pitchFamily="18" charset="0"/>
                        </a:rPr>
                        <m:t>,</m:t>
                      </m:r>
                      <m:sSub>
                        <m:sSubPr>
                          <m:ctrlPr>
                            <a:rPr lang="en-US" sz="3000" i="1">
                              <a:solidFill>
                                <a:schemeClr val="tx1"/>
                              </a:solidFill>
                              <a:latin typeface="Cambria Math" panose="02040503050406030204" pitchFamily="18" charset="0"/>
                            </a:rPr>
                          </m:ctrlPr>
                        </m:sSubPr>
                        <m:e>
                          <m:r>
                            <m:rPr>
                              <m:sty m:val="p"/>
                            </m:rPr>
                            <a:rPr lang="el-GR" sz="3000" i="1">
                              <a:solidFill>
                                <a:schemeClr val="tx1"/>
                              </a:solidFill>
                              <a:latin typeface="Cambria Math" panose="02040503050406030204" pitchFamily="18" charset="0"/>
                              <a:ea typeface="Cambria Math" panose="02040503050406030204" pitchFamily="18" charset="0"/>
                            </a:rPr>
                            <m:t>Σ</m:t>
                          </m:r>
                        </m:e>
                        <m:sub>
                          <m:r>
                            <a:rPr lang="en-US" sz="3000" i="1">
                              <a:solidFill>
                                <a:schemeClr val="tx1"/>
                              </a:solidFill>
                              <a:latin typeface="Cambria Math" panose="02040503050406030204" pitchFamily="18" charset="0"/>
                            </a:rPr>
                            <m:t>𝑗</m:t>
                          </m:r>
                        </m:sub>
                      </m:sSub>
                      <m:r>
                        <a:rPr lang="en-US" sz="3000" b="0" i="1" smtClean="0">
                          <a:solidFill>
                            <a:schemeClr val="tx1"/>
                          </a:solidFill>
                          <a:latin typeface="Cambria Math" panose="02040503050406030204" pitchFamily="18" charset="0"/>
                        </a:rPr>
                        <m:t>)</m:t>
                      </m:r>
                    </m:oMath>
                  </m:oMathPara>
                </a14:m>
                <a:endParaRPr lang="en-US" sz="3000" dirty="0">
                  <a:solidFill>
                    <a:schemeClr val="tx1"/>
                  </a:solidFill>
                  <a:latin typeface="Times-Roman"/>
                </a:endParaRPr>
              </a:p>
            </p:txBody>
          </p:sp>
        </mc:Choice>
        <mc:Fallback>
          <p:sp>
            <p:nvSpPr>
              <p:cNvPr id="9" name="Rectangle 8"/>
              <p:cNvSpPr>
                <a:spLocks noRot="1" noChangeAspect="1" noMove="1" noResize="1" noEditPoints="1" noAdjustHandles="1" noChangeArrowheads="1" noChangeShapeType="1" noTextEdit="1"/>
              </p:cNvSpPr>
              <p:nvPr/>
            </p:nvSpPr>
            <p:spPr>
              <a:xfrm>
                <a:off x="369042" y="957601"/>
                <a:ext cx="11407140" cy="5630067"/>
              </a:xfrm>
              <a:prstGeom prst="rect">
                <a:avLst/>
              </a:prstGeom>
              <a:blipFill>
                <a:blip r:embed="rId2"/>
                <a:stretch>
                  <a:fillRect l="-1122" t="-1407" r="-1229"/>
                </a:stretch>
              </a:blipFill>
            </p:spPr>
            <p:txBody>
              <a:bodyPr/>
              <a:lstStyle/>
              <a:p>
                <a:r>
                  <a:rPr lang="en-US">
                    <a:noFill/>
                  </a:rPr>
                  <a:t> </a:t>
                </a:r>
              </a:p>
            </p:txBody>
          </p:sp>
        </mc:Fallback>
      </mc:AlternateContent>
    </p:spTree>
    <p:extLst>
      <p:ext uri="{BB962C8B-B14F-4D97-AF65-F5344CB8AC3E}">
        <p14:creationId xmlns:p14="http://schemas.microsoft.com/office/powerpoint/2010/main" val="1999897648"/>
      </p:ext>
    </p:extLst>
  </p:cSld>
  <p:clrMapOvr>
    <a:masterClrMapping/>
  </p:clrMapOvr>
  <p:transition spd="med"/>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129</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2.6.3  EM </a:t>
            </a:r>
            <a:r>
              <a:rPr lang="en-US" sz="4000" b="1" dirty="0" smtClean="0">
                <a:latin typeface="Times New Roman" panose="02020603050405020304" pitchFamily="18" charset="0"/>
                <a:cs typeface="Times New Roman" panose="02020603050405020304" pitchFamily="18" charset="0"/>
              </a:rPr>
              <a:t>Clustering</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Rectangle 8"/>
              <p:cNvSpPr/>
              <p:nvPr/>
            </p:nvSpPr>
            <p:spPr>
              <a:xfrm>
                <a:off x="369042" y="957601"/>
                <a:ext cx="11407140" cy="4820359"/>
              </a:xfrm>
              <a:prstGeom prst="rect">
                <a:avLst/>
              </a:prstGeom>
            </p:spPr>
            <p:txBody>
              <a:bodyPr wrap="square">
                <a:spAutoFit/>
              </a:bodyPr>
              <a:lstStyle/>
              <a:p>
                <a:pPr marL="457200" indent="-457200" algn="just">
                  <a:buFont typeface="Arial" panose="020B0604020202020204" pitchFamily="34" charset="0"/>
                  <a:buChar char="•"/>
                </a:pPr>
                <a:r>
                  <a:rPr lang="en-US" sz="3000" dirty="0" smtClean="0">
                    <a:solidFill>
                      <a:schemeClr val="tx1"/>
                    </a:solidFill>
                    <a:latin typeface="Times-Roman"/>
                  </a:rPr>
                  <a:t>In the Expectation step, the matrix of probabilities is calculated:</a:t>
                </a:r>
              </a:p>
              <a:p>
                <a:pPr marL="457200" indent="-457200" algn="just">
                  <a:buFont typeface="Arial" panose="020B0604020202020204" pitchFamily="34" charset="0"/>
                  <a:buChar char="•"/>
                </a:pPr>
                <a14:m>
                  <m:oMath xmlns:m="http://schemas.openxmlformats.org/officeDocument/2006/math">
                    <m:r>
                      <a:rPr lang="en-US" sz="3000" b="0" i="1" smtClean="0">
                        <a:solidFill>
                          <a:schemeClr val="tx1"/>
                        </a:solidFill>
                        <a:latin typeface="Cambria Math" panose="02040503050406030204" pitchFamily="18" charset="0"/>
                      </a:rPr>
                      <m:t>𝑄</m:t>
                    </m:r>
                    <m:r>
                      <a:rPr lang="en-US" sz="3000" b="0" i="1" smtClean="0">
                        <a:solidFill>
                          <a:schemeClr val="tx1"/>
                        </a:solidFill>
                        <a:latin typeface="Cambria Math" panose="02040503050406030204" pitchFamily="18" charset="0"/>
                      </a:rPr>
                      <m:t>=</m:t>
                    </m:r>
                    <m:sSub>
                      <m:sSubPr>
                        <m:ctrlPr>
                          <a:rPr lang="en-US" sz="3000" b="0" i="1" smtClean="0">
                            <a:solidFill>
                              <a:schemeClr val="tx1"/>
                            </a:solidFill>
                            <a:latin typeface="Cambria Math" panose="02040503050406030204" pitchFamily="18" charset="0"/>
                          </a:rPr>
                        </m:ctrlPr>
                      </m:sSubPr>
                      <m:e>
                        <m:r>
                          <a:rPr lang="en-US" sz="3000" i="1">
                            <a:solidFill>
                              <a:schemeClr val="tx1"/>
                            </a:solidFill>
                            <a:latin typeface="Cambria Math" panose="02040503050406030204" pitchFamily="18" charset="0"/>
                          </a:rPr>
                          <m:t>[</m:t>
                        </m:r>
                        <m:r>
                          <a:rPr lang="en-US" sz="3000" i="1">
                            <a:solidFill>
                              <a:schemeClr val="tx1"/>
                            </a:solidFill>
                            <a:latin typeface="Cambria Math" panose="02040503050406030204" pitchFamily="18" charset="0"/>
                          </a:rPr>
                          <m:t>𝑁</m:t>
                        </m:r>
                        <m:r>
                          <a:rPr lang="en-US" sz="3000" i="1">
                            <a:solidFill>
                              <a:schemeClr val="tx1"/>
                            </a:solidFill>
                            <a:latin typeface="Cambria Math" panose="02040503050406030204" pitchFamily="18" charset="0"/>
                          </a:rPr>
                          <m:t>(</m:t>
                        </m:r>
                        <m:sSub>
                          <m:sSubPr>
                            <m:ctrlPr>
                              <a:rPr lang="en-US" sz="3000" i="1">
                                <a:solidFill>
                                  <a:schemeClr val="tx1"/>
                                </a:solidFill>
                                <a:latin typeface="Cambria Math" panose="02040503050406030204" pitchFamily="18" charset="0"/>
                              </a:rPr>
                            </m:ctrlPr>
                          </m:sSubPr>
                          <m:e>
                            <m:r>
                              <a:rPr lang="en-US" sz="3000" i="1">
                                <a:solidFill>
                                  <a:schemeClr val="tx1"/>
                                </a:solidFill>
                                <a:latin typeface="Cambria Math" panose="02040503050406030204" pitchFamily="18" charset="0"/>
                              </a:rPr>
                              <m:t>𝑥</m:t>
                            </m:r>
                          </m:e>
                          <m:sub>
                            <m:r>
                              <a:rPr lang="en-US" sz="3000" i="1">
                                <a:solidFill>
                                  <a:schemeClr val="tx1"/>
                                </a:solidFill>
                                <a:latin typeface="Cambria Math" panose="02040503050406030204" pitchFamily="18" charset="0"/>
                              </a:rPr>
                              <m:t>𝑖</m:t>
                            </m:r>
                          </m:sub>
                        </m:sSub>
                        <m:r>
                          <a:rPr lang="en-US" sz="3000" i="1">
                            <a:solidFill>
                              <a:schemeClr val="tx1"/>
                            </a:solidFill>
                            <a:latin typeface="Cambria Math" panose="02040503050406030204" pitchFamily="18" charset="0"/>
                          </a:rPr>
                          <m:t>;</m:t>
                        </m:r>
                        <m:sSub>
                          <m:sSubPr>
                            <m:ctrlPr>
                              <a:rPr lang="en-US" sz="3000" i="1">
                                <a:solidFill>
                                  <a:schemeClr val="tx1"/>
                                </a:solidFill>
                                <a:latin typeface="Cambria Math" panose="02040503050406030204" pitchFamily="18" charset="0"/>
                              </a:rPr>
                            </m:ctrlPr>
                          </m:sSubPr>
                          <m:e>
                            <m:r>
                              <a:rPr lang="en-US" sz="3000" i="1">
                                <a:solidFill>
                                  <a:schemeClr val="tx1"/>
                                </a:solidFill>
                                <a:latin typeface="Cambria Math" panose="02040503050406030204" pitchFamily="18" charset="0"/>
                                <a:ea typeface="Cambria Math" panose="02040503050406030204" pitchFamily="18" charset="0"/>
                              </a:rPr>
                              <m:t>𝜇</m:t>
                            </m:r>
                          </m:e>
                          <m:sub>
                            <m:r>
                              <a:rPr lang="en-US" sz="3000" i="1">
                                <a:solidFill>
                                  <a:schemeClr val="tx1"/>
                                </a:solidFill>
                                <a:latin typeface="Cambria Math" panose="02040503050406030204" pitchFamily="18" charset="0"/>
                              </a:rPr>
                              <m:t>𝑗</m:t>
                            </m:r>
                          </m:sub>
                        </m:sSub>
                        <m:r>
                          <a:rPr lang="en-US" sz="3000" i="1">
                            <a:solidFill>
                              <a:schemeClr val="tx1"/>
                            </a:solidFill>
                            <a:latin typeface="Cambria Math" panose="02040503050406030204" pitchFamily="18" charset="0"/>
                          </a:rPr>
                          <m:t>,</m:t>
                        </m:r>
                        <m:sSub>
                          <m:sSubPr>
                            <m:ctrlPr>
                              <a:rPr lang="en-US" sz="3000" i="1">
                                <a:solidFill>
                                  <a:schemeClr val="tx1"/>
                                </a:solidFill>
                                <a:latin typeface="Cambria Math" panose="02040503050406030204" pitchFamily="18" charset="0"/>
                              </a:rPr>
                            </m:ctrlPr>
                          </m:sSubPr>
                          <m:e>
                            <m:r>
                              <m:rPr>
                                <m:sty m:val="p"/>
                              </m:rPr>
                              <a:rPr lang="el-GR" sz="3000" i="1">
                                <a:solidFill>
                                  <a:schemeClr val="tx1"/>
                                </a:solidFill>
                                <a:latin typeface="Cambria Math" panose="02040503050406030204" pitchFamily="18" charset="0"/>
                                <a:ea typeface="Cambria Math" panose="02040503050406030204" pitchFamily="18" charset="0"/>
                              </a:rPr>
                              <m:t>Σ</m:t>
                            </m:r>
                          </m:e>
                          <m:sub>
                            <m:r>
                              <a:rPr lang="en-US" sz="3000" i="1">
                                <a:solidFill>
                                  <a:schemeClr val="tx1"/>
                                </a:solidFill>
                                <a:latin typeface="Cambria Math" panose="02040503050406030204" pitchFamily="18" charset="0"/>
                              </a:rPr>
                              <m:t>𝑗</m:t>
                            </m:r>
                          </m:sub>
                        </m:sSub>
                        <m:r>
                          <a:rPr lang="en-US" sz="3000" i="1">
                            <a:solidFill>
                              <a:schemeClr val="tx1"/>
                            </a:solidFill>
                            <a:latin typeface="Cambria Math" panose="02040503050406030204" pitchFamily="18" charset="0"/>
                          </a:rPr>
                          <m:t>)]</m:t>
                        </m:r>
                        <m:r>
                          <m:rPr>
                            <m:nor/>
                          </m:rPr>
                          <a:rPr lang="en-US" sz="3000" dirty="0">
                            <a:solidFill>
                              <a:schemeClr val="tx1"/>
                            </a:solidFill>
                            <a:latin typeface="Times-Roman"/>
                          </a:rPr>
                          <m:t> </m:t>
                        </m:r>
                      </m:e>
                      <m:sub>
                        <m:r>
                          <a:rPr lang="en-US" sz="3000" b="0" i="1" smtClean="0">
                            <a:solidFill>
                              <a:schemeClr val="tx1"/>
                            </a:solidFill>
                            <a:latin typeface="Cambria Math" panose="02040503050406030204" pitchFamily="18" charset="0"/>
                          </a:rPr>
                          <m:t>𝑖</m:t>
                        </m:r>
                        <m:r>
                          <a:rPr lang="en-US" sz="3000" b="0" i="1" smtClean="0">
                            <a:solidFill>
                              <a:schemeClr val="tx1"/>
                            </a:solidFill>
                            <a:latin typeface="Cambria Math" panose="02040503050406030204" pitchFamily="18" charset="0"/>
                          </a:rPr>
                          <m:t>=1,…,</m:t>
                        </m:r>
                        <m:r>
                          <a:rPr lang="en-US" sz="3000" b="0" i="1" smtClean="0">
                            <a:solidFill>
                              <a:schemeClr val="tx1"/>
                            </a:solidFill>
                            <a:latin typeface="Cambria Math" panose="02040503050406030204" pitchFamily="18" charset="0"/>
                          </a:rPr>
                          <m:t>𝑛</m:t>
                        </m:r>
                        <m:r>
                          <a:rPr lang="en-US" sz="3000" b="0" i="1" smtClean="0">
                            <a:solidFill>
                              <a:schemeClr val="tx1"/>
                            </a:solidFill>
                            <a:latin typeface="Cambria Math" panose="02040503050406030204" pitchFamily="18" charset="0"/>
                          </a:rPr>
                          <m:t>, </m:t>
                        </m:r>
                        <m:r>
                          <a:rPr lang="en-US" sz="3000" b="0" i="1" smtClean="0">
                            <a:solidFill>
                              <a:schemeClr val="tx1"/>
                            </a:solidFill>
                            <a:latin typeface="Cambria Math" panose="02040503050406030204" pitchFamily="18" charset="0"/>
                          </a:rPr>
                          <m:t>𝑗</m:t>
                        </m:r>
                        <m:r>
                          <a:rPr lang="en-US" sz="3000" b="0" i="1" smtClean="0">
                            <a:solidFill>
                              <a:schemeClr val="tx1"/>
                            </a:solidFill>
                            <a:latin typeface="Cambria Math" panose="02040503050406030204" pitchFamily="18" charset="0"/>
                          </a:rPr>
                          <m:t>=1,…,</m:t>
                        </m:r>
                        <m:r>
                          <a:rPr lang="en-US" sz="3000" b="0" i="1" smtClean="0">
                            <a:solidFill>
                              <a:schemeClr val="tx1"/>
                            </a:solidFill>
                            <a:latin typeface="Cambria Math" panose="02040503050406030204" pitchFamily="18" charset="0"/>
                          </a:rPr>
                          <m:t>𝑚</m:t>
                        </m:r>
                      </m:sub>
                    </m:sSub>
                  </m:oMath>
                </a14:m>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a:solidFill>
                      <a:schemeClr val="tx1"/>
                    </a:solidFill>
                    <a:latin typeface="Times-Roman"/>
                  </a:rPr>
                  <a:t>From this table we can calculate matrix R, where</a:t>
                </a:r>
                <a:r>
                  <a:rPr lang="en-US" sz="3000" dirty="0" smtClean="0">
                    <a:solidFill>
                      <a:schemeClr val="tx1"/>
                    </a:solidFill>
                    <a:latin typeface="Times-Roman"/>
                  </a:rPr>
                  <a:t>:</a:t>
                </a:r>
              </a:p>
              <a:p>
                <a:pPr marL="457200" indent="-457200" algn="just">
                  <a:buFont typeface="Arial" panose="020B0604020202020204" pitchFamily="34" charset="0"/>
                  <a:buChar char="•"/>
                </a:pPr>
                <a:endParaRPr lang="en-US" sz="3000" dirty="0" smtClean="0">
                  <a:solidFill>
                    <a:schemeClr val="tx1"/>
                  </a:solidFill>
                  <a:latin typeface="Times-Roman"/>
                </a:endParaRPr>
              </a:p>
              <a:p>
                <a:pPr marL="457200" indent="-457200" algn="just">
                  <a:buFont typeface="Arial" panose="020B0604020202020204" pitchFamily="34" charset="0"/>
                  <a:buChar char="•"/>
                </a:pPr>
                <a:endParaRPr lang="en-US" sz="3000" dirty="0">
                  <a:solidFill>
                    <a:schemeClr val="tx1"/>
                  </a:solidFill>
                  <a:latin typeface="Times-Roman"/>
                </a:endParaRPr>
              </a:p>
              <a:p>
                <a:pPr marL="457200" indent="-457200" algn="just">
                  <a:buFont typeface="Arial" panose="020B0604020202020204" pitchFamily="34" charset="0"/>
                  <a:buChar char="•"/>
                </a:pPr>
                <a:endParaRPr lang="en-US" sz="3000" dirty="0" smtClean="0">
                  <a:solidFill>
                    <a:schemeClr val="tx1"/>
                  </a:solidFill>
                  <a:latin typeface="Times-Roman"/>
                </a:endParaRPr>
              </a:p>
              <a:p>
                <a:pPr marL="457200" indent="-457200" algn="just">
                  <a:buFont typeface="Arial" panose="020B0604020202020204" pitchFamily="34" charset="0"/>
                  <a:buChar char="•"/>
                </a:pPr>
                <a:endParaRPr lang="en-US" sz="3000" dirty="0">
                  <a:solidFill>
                    <a:schemeClr val="tx1"/>
                  </a:solidFill>
                  <a:latin typeface="Times-Roman"/>
                </a:endParaRPr>
              </a:p>
              <a:p>
                <a:pPr marL="457200" indent="-457200" algn="just">
                  <a:buFont typeface="Arial" panose="020B0604020202020204" pitchFamily="34" charset="0"/>
                  <a:buChar char="•"/>
                </a:pPr>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a:solidFill>
                      <a:schemeClr val="tx1"/>
                    </a:solidFill>
                    <a:latin typeface="Times-Roman"/>
                  </a:rPr>
                  <a:t>In the Maximization step, the means </a:t>
                </a:r>
                <a14:m>
                  <m:oMath xmlns:m="http://schemas.openxmlformats.org/officeDocument/2006/math">
                    <m:sSub>
                      <m:sSubPr>
                        <m:ctrlPr>
                          <a:rPr lang="en-US" sz="3000" i="1">
                            <a:solidFill>
                              <a:schemeClr val="tx1"/>
                            </a:solidFill>
                            <a:latin typeface="Cambria Math" panose="02040503050406030204" pitchFamily="18" charset="0"/>
                          </a:rPr>
                        </m:ctrlPr>
                      </m:sSubPr>
                      <m:e>
                        <m:r>
                          <a:rPr lang="en-US" sz="3000" i="1">
                            <a:solidFill>
                              <a:schemeClr val="tx1"/>
                            </a:solidFill>
                            <a:latin typeface="Cambria Math" panose="02040503050406030204" pitchFamily="18" charset="0"/>
                            <a:ea typeface="Cambria Math" panose="02040503050406030204" pitchFamily="18" charset="0"/>
                          </a:rPr>
                          <m:t>𝜇</m:t>
                        </m:r>
                      </m:e>
                      <m:sub>
                        <m:r>
                          <a:rPr lang="en-US" sz="3000" i="1">
                            <a:solidFill>
                              <a:schemeClr val="tx1"/>
                            </a:solidFill>
                            <a:latin typeface="Cambria Math" panose="02040503050406030204" pitchFamily="18" charset="0"/>
                          </a:rPr>
                          <m:t>𝑗</m:t>
                        </m:r>
                      </m:sub>
                    </m:sSub>
                  </m:oMath>
                </a14:m>
                <a:r>
                  <a:rPr lang="en-US" sz="3000" dirty="0">
                    <a:solidFill>
                      <a:schemeClr val="tx1"/>
                    </a:solidFill>
                    <a:latin typeface="Times-Roman"/>
                  </a:rPr>
                  <a:t> , </a:t>
                </a:r>
                <a:r>
                  <a:rPr lang="en-US" sz="3000" dirty="0" smtClean="0">
                    <a:solidFill>
                      <a:schemeClr val="tx1"/>
                    </a:solidFill>
                    <a:latin typeface="Times-Roman"/>
                  </a:rPr>
                  <a:t>variances </a:t>
                </a:r>
                <a14:m>
                  <m:oMath xmlns:m="http://schemas.openxmlformats.org/officeDocument/2006/math">
                    <m:sSub>
                      <m:sSubPr>
                        <m:ctrlPr>
                          <a:rPr lang="en-US" sz="3000" i="1">
                            <a:solidFill>
                              <a:schemeClr val="tx1"/>
                            </a:solidFill>
                            <a:latin typeface="Cambria Math" panose="02040503050406030204" pitchFamily="18" charset="0"/>
                          </a:rPr>
                        </m:ctrlPr>
                      </m:sSubPr>
                      <m:e>
                        <m:r>
                          <m:rPr>
                            <m:sty m:val="p"/>
                          </m:rPr>
                          <a:rPr lang="el-GR" sz="3000" i="1">
                            <a:solidFill>
                              <a:schemeClr val="tx1"/>
                            </a:solidFill>
                            <a:latin typeface="Cambria Math" panose="02040503050406030204" pitchFamily="18" charset="0"/>
                            <a:ea typeface="Cambria Math" panose="02040503050406030204" pitchFamily="18" charset="0"/>
                          </a:rPr>
                          <m:t>Σ</m:t>
                        </m:r>
                      </m:e>
                      <m:sub>
                        <m:r>
                          <a:rPr lang="en-US" sz="3000" i="1">
                            <a:solidFill>
                              <a:schemeClr val="tx1"/>
                            </a:solidFill>
                            <a:latin typeface="Cambria Math" panose="02040503050406030204" pitchFamily="18" charset="0"/>
                          </a:rPr>
                          <m:t>𝑗</m:t>
                        </m:r>
                      </m:sub>
                    </m:sSub>
                  </m:oMath>
                </a14:m>
                <a:r>
                  <a:rPr lang="en-US" sz="3000" dirty="0" smtClean="0">
                    <a:solidFill>
                      <a:schemeClr val="tx1"/>
                    </a:solidFill>
                    <a:latin typeface="Times-Roman"/>
                  </a:rPr>
                  <a:t> and </a:t>
                </a:r>
                <a:r>
                  <a:rPr lang="en-US" sz="3000" dirty="0">
                    <a:solidFill>
                      <a:schemeClr val="tx1"/>
                    </a:solidFill>
                    <a:latin typeface="Times-Roman"/>
                  </a:rPr>
                  <a:t>weights </a:t>
                </a:r>
                <a14:m>
                  <m:oMath xmlns:m="http://schemas.openxmlformats.org/officeDocument/2006/math">
                    <m:sSub>
                      <m:sSubPr>
                        <m:ctrlPr>
                          <a:rPr lang="en-US" sz="3000" i="1">
                            <a:solidFill>
                              <a:schemeClr val="tx1"/>
                            </a:solidFill>
                            <a:latin typeface="Cambria Math" panose="02040503050406030204" pitchFamily="18" charset="0"/>
                          </a:rPr>
                        </m:ctrlPr>
                      </m:sSubPr>
                      <m:e>
                        <m:r>
                          <a:rPr lang="en-US" sz="3000" i="1">
                            <a:solidFill>
                              <a:schemeClr val="tx1"/>
                            </a:solidFill>
                            <a:latin typeface="Cambria Math" panose="02040503050406030204" pitchFamily="18" charset="0"/>
                          </a:rPr>
                          <m:t>𝑤</m:t>
                        </m:r>
                      </m:e>
                      <m:sub>
                        <m:r>
                          <a:rPr lang="en-US" sz="3000" i="1">
                            <a:solidFill>
                              <a:schemeClr val="tx1"/>
                            </a:solidFill>
                            <a:latin typeface="Cambria Math" panose="02040503050406030204" pitchFamily="18" charset="0"/>
                          </a:rPr>
                          <m:t>𝑗</m:t>
                        </m:r>
                      </m:sub>
                    </m:sSub>
                  </m:oMath>
                </a14:m>
                <a:r>
                  <a:rPr lang="en-US" sz="3000" dirty="0">
                    <a:solidFill>
                      <a:schemeClr val="tx1"/>
                    </a:solidFill>
                    <a:latin typeface="Times-Roman"/>
                  </a:rPr>
                  <a:t> </a:t>
                </a:r>
                <a:r>
                  <a:rPr lang="en-US" sz="3000" dirty="0" smtClean="0">
                    <a:solidFill>
                      <a:schemeClr val="tx1"/>
                    </a:solidFill>
                    <a:latin typeface="Times-Roman"/>
                  </a:rPr>
                  <a:t>are recalculated</a:t>
                </a:r>
                <a:r>
                  <a:rPr lang="en-US" sz="3000" dirty="0">
                    <a:solidFill>
                      <a:schemeClr val="tx1"/>
                    </a:solidFill>
                    <a:latin typeface="Times-Roman"/>
                  </a:rPr>
                  <a:t>:</a:t>
                </a:r>
                <a:endParaRPr lang="en-US" sz="3000" dirty="0">
                  <a:solidFill>
                    <a:schemeClr val="tx1"/>
                  </a:solidFill>
                  <a:latin typeface="Times-Roman"/>
                </a:endParaRPr>
              </a:p>
            </p:txBody>
          </p:sp>
        </mc:Choice>
        <mc:Fallback>
          <p:sp>
            <p:nvSpPr>
              <p:cNvPr id="9" name="Rectangle 8"/>
              <p:cNvSpPr>
                <a:spLocks noRot="1" noChangeAspect="1" noMove="1" noResize="1" noEditPoints="1" noAdjustHandles="1" noChangeArrowheads="1" noChangeShapeType="1" noTextEdit="1"/>
              </p:cNvSpPr>
              <p:nvPr/>
            </p:nvSpPr>
            <p:spPr>
              <a:xfrm>
                <a:off x="369042" y="957601"/>
                <a:ext cx="11407140" cy="4820359"/>
              </a:xfrm>
              <a:prstGeom prst="rect">
                <a:avLst/>
              </a:prstGeom>
              <a:blipFill>
                <a:blip r:embed="rId2"/>
                <a:stretch>
                  <a:fillRect l="-1122" t="-1643" r="-1229" b="-2023"/>
                </a:stretch>
              </a:blipFill>
            </p:spPr>
            <p:txBody>
              <a:bodyPr/>
              <a:lstStyle/>
              <a:p>
                <a:r>
                  <a:rPr lang="en-US">
                    <a:noFill/>
                  </a:rPr>
                  <a:t> </a:t>
                </a:r>
              </a:p>
            </p:txBody>
          </p:sp>
        </mc:Fallback>
      </mc:AlternateContent>
      <p:pic>
        <p:nvPicPr>
          <p:cNvPr id="3" name="Picture 2"/>
          <p:cNvPicPr>
            <a:picLocks noChangeAspect="1"/>
          </p:cNvPicPr>
          <p:nvPr/>
        </p:nvPicPr>
        <p:blipFill>
          <a:blip r:embed="rId3"/>
          <a:stretch>
            <a:fillRect/>
          </a:stretch>
        </p:blipFill>
        <p:spPr>
          <a:xfrm>
            <a:off x="3105510" y="2536166"/>
            <a:ext cx="5938612" cy="1951257"/>
          </a:xfrm>
          <a:prstGeom prst="rect">
            <a:avLst/>
          </a:prstGeom>
          <a:ln w="28575">
            <a:solidFill>
              <a:schemeClr val="tx1"/>
            </a:solidFill>
          </a:ln>
        </p:spPr>
      </p:pic>
    </p:spTree>
    <p:extLst>
      <p:ext uri="{BB962C8B-B14F-4D97-AF65-F5344CB8AC3E}">
        <p14:creationId xmlns:p14="http://schemas.microsoft.com/office/powerpoint/2010/main" val="3694358093"/>
      </p:ext>
    </p:extLst>
  </p:cSld>
  <p:clrMapOvr>
    <a:masterClrMapping/>
  </p:clrMapOvr>
  <p:transition spd="med"/>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130</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2.6.3  EM </a:t>
            </a:r>
            <a:r>
              <a:rPr lang="en-US" sz="4000" b="1" dirty="0" smtClean="0">
                <a:latin typeface="Times New Roman" panose="02020603050405020304" pitchFamily="18" charset="0"/>
                <a:cs typeface="Times New Roman" panose="02020603050405020304" pitchFamily="18" charset="0"/>
              </a:rPr>
              <a:t>Clustering</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Rectangle 8"/>
              <p:cNvSpPr/>
              <p:nvPr/>
            </p:nvSpPr>
            <p:spPr>
              <a:xfrm>
                <a:off x="152401" y="4728873"/>
                <a:ext cx="11407140" cy="1547540"/>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tx1"/>
                    </a:solidFill>
                    <a:latin typeface="Times-Roman"/>
                  </a:rPr>
                  <a:t>We can apply this algorithm to cluster histograms (but not </a:t>
                </a:r>
                <a:r>
                  <a:rPr lang="en-US" sz="3000" dirty="0" err="1">
                    <a:solidFill>
                      <a:schemeClr val="tx1"/>
                    </a:solidFill>
                    <a:latin typeface="Times-Roman"/>
                  </a:rPr>
                  <a:t>spatiograms</a:t>
                </a:r>
                <a:r>
                  <a:rPr lang="en-US" sz="3000" dirty="0">
                    <a:solidFill>
                      <a:schemeClr val="tx1"/>
                    </a:solidFill>
                    <a:latin typeface="Times-Roman"/>
                  </a:rPr>
                  <a:t>) </a:t>
                </a:r>
                <a:r>
                  <a:rPr lang="en-US" sz="3000" dirty="0" smtClean="0">
                    <a:solidFill>
                      <a:schemeClr val="tx1"/>
                    </a:solidFill>
                    <a:latin typeface="Times-Roman"/>
                  </a:rPr>
                  <a:t>by considering </a:t>
                </a:r>
                <a:r>
                  <a:rPr lang="en-US" sz="3000" dirty="0">
                    <a:solidFill>
                      <a:schemeClr val="tx1"/>
                    </a:solidFill>
                    <a:latin typeface="Times-Roman"/>
                  </a:rPr>
                  <a:t>a histogram as a vector and </a:t>
                </a:r>
                <a14:m>
                  <m:oMath xmlns:m="http://schemas.openxmlformats.org/officeDocument/2006/math">
                    <m:r>
                      <a:rPr lang="en-US" sz="3000" i="1">
                        <a:solidFill>
                          <a:schemeClr val="tx1"/>
                        </a:solidFill>
                        <a:latin typeface="Cambria Math" panose="02040503050406030204" pitchFamily="18" charset="0"/>
                      </a:rPr>
                      <m:t>𝑁</m:t>
                    </m:r>
                    <m:d>
                      <m:dPr>
                        <m:ctrlPr>
                          <a:rPr lang="en-US" sz="3000" i="1">
                            <a:solidFill>
                              <a:schemeClr val="tx1"/>
                            </a:solidFill>
                            <a:latin typeface="Cambria Math" panose="02040503050406030204" pitchFamily="18" charset="0"/>
                          </a:rPr>
                        </m:ctrlPr>
                      </m:dPr>
                      <m:e>
                        <m:sSub>
                          <m:sSubPr>
                            <m:ctrlPr>
                              <a:rPr lang="en-US" sz="3000" i="1">
                                <a:solidFill>
                                  <a:schemeClr val="tx1"/>
                                </a:solidFill>
                                <a:latin typeface="Cambria Math" panose="02040503050406030204" pitchFamily="18" charset="0"/>
                              </a:rPr>
                            </m:ctrlPr>
                          </m:sSubPr>
                          <m:e>
                            <m:r>
                              <a:rPr lang="en-US" sz="3000" i="1">
                                <a:solidFill>
                                  <a:schemeClr val="tx1"/>
                                </a:solidFill>
                                <a:latin typeface="Cambria Math" panose="02040503050406030204" pitchFamily="18" charset="0"/>
                                <a:ea typeface="Cambria Math" panose="02040503050406030204" pitchFamily="18" charset="0"/>
                              </a:rPr>
                              <m:t>𝜇</m:t>
                            </m:r>
                          </m:e>
                          <m:sub>
                            <m:r>
                              <a:rPr lang="en-US" sz="3000" i="1">
                                <a:solidFill>
                                  <a:schemeClr val="tx1"/>
                                </a:solidFill>
                                <a:latin typeface="Cambria Math" panose="02040503050406030204" pitchFamily="18" charset="0"/>
                              </a:rPr>
                              <m:t>𝑗</m:t>
                            </m:r>
                          </m:sub>
                        </m:sSub>
                        <m:r>
                          <a:rPr lang="en-US" sz="3000" i="1">
                            <a:solidFill>
                              <a:schemeClr val="tx1"/>
                            </a:solidFill>
                            <a:latin typeface="Cambria Math" panose="02040503050406030204" pitchFamily="18" charset="0"/>
                          </a:rPr>
                          <m:t>,</m:t>
                        </m:r>
                        <m:sSub>
                          <m:sSubPr>
                            <m:ctrlPr>
                              <a:rPr lang="en-US" sz="3000" i="1">
                                <a:solidFill>
                                  <a:schemeClr val="tx1"/>
                                </a:solidFill>
                                <a:latin typeface="Cambria Math" panose="02040503050406030204" pitchFamily="18" charset="0"/>
                              </a:rPr>
                            </m:ctrlPr>
                          </m:sSubPr>
                          <m:e>
                            <m:r>
                              <m:rPr>
                                <m:sty m:val="p"/>
                              </m:rPr>
                              <a:rPr lang="el-GR" sz="3000" i="1">
                                <a:solidFill>
                                  <a:schemeClr val="tx1"/>
                                </a:solidFill>
                                <a:latin typeface="Cambria Math" panose="02040503050406030204" pitchFamily="18" charset="0"/>
                                <a:ea typeface="Cambria Math" panose="02040503050406030204" pitchFamily="18" charset="0"/>
                              </a:rPr>
                              <m:t>Σ</m:t>
                            </m:r>
                          </m:e>
                          <m:sub>
                            <m:r>
                              <a:rPr lang="en-US" sz="3000" i="1">
                                <a:solidFill>
                                  <a:schemeClr val="tx1"/>
                                </a:solidFill>
                                <a:latin typeface="Cambria Math" panose="02040503050406030204" pitchFamily="18" charset="0"/>
                              </a:rPr>
                              <m:t>𝑗</m:t>
                            </m:r>
                          </m:sub>
                        </m:sSub>
                      </m:e>
                    </m:d>
                  </m:oMath>
                </a14:m>
                <a:r>
                  <a:rPr lang="en-US" sz="3000" dirty="0" smtClean="0">
                    <a:solidFill>
                      <a:schemeClr val="tx1"/>
                    </a:solidFill>
                    <a:latin typeface="Times-Roman"/>
                  </a:rPr>
                  <a:t> </a:t>
                </a:r>
                <a:r>
                  <a:rPr lang="en-US" sz="3000" dirty="0">
                    <a:solidFill>
                      <a:schemeClr val="tx1"/>
                    </a:solidFill>
                    <a:latin typeface="Times-Roman"/>
                  </a:rPr>
                  <a:t>as a Gaussian </a:t>
                </a:r>
                <a:r>
                  <a:rPr lang="en-US" sz="3000" dirty="0" smtClean="0">
                    <a:solidFill>
                      <a:schemeClr val="tx1"/>
                    </a:solidFill>
                    <a:latin typeface="Times-Roman"/>
                  </a:rPr>
                  <a:t>function of </a:t>
                </a:r>
                <a:r>
                  <a:rPr lang="en-US" sz="3000" dirty="0">
                    <a:solidFill>
                      <a:schemeClr val="tx1"/>
                    </a:solidFill>
                    <a:latin typeface="Times-Roman"/>
                  </a:rPr>
                  <a:t>that vector.</a:t>
                </a:r>
                <a:endParaRPr lang="en-US" sz="3000" dirty="0">
                  <a:solidFill>
                    <a:schemeClr val="tx1"/>
                  </a:solidFill>
                  <a:latin typeface="Times-Roman"/>
                </a:endParaRPr>
              </a:p>
            </p:txBody>
          </p:sp>
        </mc:Choice>
        <mc:Fallback>
          <p:sp>
            <p:nvSpPr>
              <p:cNvPr id="9" name="Rectangle 8"/>
              <p:cNvSpPr>
                <a:spLocks noRot="1" noChangeAspect="1" noMove="1" noResize="1" noEditPoints="1" noAdjustHandles="1" noChangeArrowheads="1" noChangeShapeType="1" noTextEdit="1"/>
              </p:cNvSpPr>
              <p:nvPr/>
            </p:nvSpPr>
            <p:spPr>
              <a:xfrm>
                <a:off x="152401" y="4728873"/>
                <a:ext cx="11407140" cy="1547540"/>
              </a:xfrm>
              <a:prstGeom prst="rect">
                <a:avLst/>
              </a:prstGeom>
              <a:blipFill>
                <a:blip r:embed="rId2"/>
                <a:stretch>
                  <a:fillRect l="-1069" t="-5118" r="-1229" b="-8268"/>
                </a:stretch>
              </a:blipFill>
            </p:spPr>
            <p:txBody>
              <a:bodyPr/>
              <a:lstStyle/>
              <a:p>
                <a:r>
                  <a:rPr lang="en-US">
                    <a:noFill/>
                  </a:rPr>
                  <a:t> </a:t>
                </a:r>
              </a:p>
            </p:txBody>
          </p:sp>
        </mc:Fallback>
      </mc:AlternateContent>
      <p:pic>
        <p:nvPicPr>
          <p:cNvPr id="3" name="Picture 2"/>
          <p:cNvPicPr>
            <a:picLocks noChangeAspect="1"/>
          </p:cNvPicPr>
          <p:nvPr/>
        </p:nvPicPr>
        <p:blipFill>
          <a:blip r:embed="rId3"/>
          <a:stretch>
            <a:fillRect/>
          </a:stretch>
        </p:blipFill>
        <p:spPr>
          <a:xfrm>
            <a:off x="1966824" y="904060"/>
            <a:ext cx="7032078" cy="3824813"/>
          </a:xfrm>
          <a:prstGeom prst="rect">
            <a:avLst/>
          </a:prstGeom>
          <a:ln w="28575">
            <a:solidFill>
              <a:schemeClr val="tx1"/>
            </a:solidFill>
          </a:ln>
        </p:spPr>
      </p:pic>
    </p:spTree>
    <p:extLst>
      <p:ext uri="{BB962C8B-B14F-4D97-AF65-F5344CB8AC3E}">
        <p14:creationId xmlns:p14="http://schemas.microsoft.com/office/powerpoint/2010/main" val="2845152909"/>
      </p:ext>
    </p:extLst>
  </p:cSld>
  <p:clrMapOvr>
    <a:masterClrMapping/>
  </p:clrMapOvr>
  <p:transition spd="med"/>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131</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2.6.3  EM </a:t>
            </a:r>
            <a:r>
              <a:rPr lang="en-US" sz="4000" b="1" dirty="0" smtClean="0">
                <a:latin typeface="Times New Roman" panose="02020603050405020304" pitchFamily="18" charset="0"/>
                <a:cs typeface="Times New Roman" panose="02020603050405020304" pitchFamily="18" charset="0"/>
              </a:rPr>
              <a:t>Clustering</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Rectangle 8"/>
              <p:cNvSpPr/>
              <p:nvPr/>
            </p:nvSpPr>
            <p:spPr>
              <a:xfrm>
                <a:off x="369042" y="957601"/>
                <a:ext cx="11407140" cy="5207772"/>
              </a:xfrm>
              <a:prstGeom prst="rect">
                <a:avLst/>
              </a:prstGeom>
            </p:spPr>
            <p:txBody>
              <a:bodyPr wrap="square">
                <a:spAutoFit/>
              </a:bodyPr>
              <a:lstStyle/>
              <a:p>
                <a:pPr marL="457200" indent="-457200" algn="just">
                  <a:buFont typeface="Arial" panose="020B0604020202020204" pitchFamily="34" charset="0"/>
                  <a:buChar char="•"/>
                </a:pPr>
                <a:r>
                  <a:rPr lang="en-US" sz="3000" dirty="0" smtClean="0">
                    <a:solidFill>
                      <a:schemeClr val="tx1"/>
                    </a:solidFill>
                    <a:latin typeface="Times-Roman"/>
                  </a:rPr>
                  <a:t>The expectation maximization phase of EM, </a:t>
                </a:r>
                <a:r>
                  <a:rPr lang="en-US" sz="3000" b="1" dirty="0">
                    <a:solidFill>
                      <a:schemeClr val="tx1"/>
                    </a:solidFill>
                    <a:latin typeface="Times-Roman"/>
                  </a:rPr>
                  <a:t>generating Q</a:t>
                </a:r>
                <a:r>
                  <a:rPr lang="en-US" sz="3000" dirty="0">
                    <a:solidFill>
                      <a:schemeClr val="tx1"/>
                    </a:solidFill>
                    <a:latin typeface="Times-Roman"/>
                  </a:rPr>
                  <a:t>, can be </a:t>
                </a:r>
                <a:r>
                  <a:rPr lang="en-US" sz="3000" dirty="0" smtClean="0">
                    <a:solidFill>
                      <a:schemeClr val="tx1"/>
                    </a:solidFill>
                    <a:latin typeface="Times-Roman"/>
                  </a:rPr>
                  <a:t>partitioned among </a:t>
                </a:r>
                <a:r>
                  <a:rPr lang="en-US" sz="3000" dirty="0">
                    <a:solidFill>
                      <a:schemeClr val="tx1"/>
                    </a:solidFill>
                    <a:latin typeface="Times-Roman"/>
                  </a:rPr>
                  <a:t>processors by </a:t>
                </a:r>
                <a:r>
                  <a:rPr lang="en-US" sz="3000" b="1" dirty="0">
                    <a:solidFill>
                      <a:schemeClr val="tx1"/>
                    </a:solidFill>
                    <a:latin typeface="Times-Roman"/>
                  </a:rPr>
                  <a:t>broadcasting the cluster </a:t>
                </a:r>
                <a:r>
                  <a:rPr lang="en-US" sz="3000" dirty="0">
                    <a:solidFill>
                      <a:schemeClr val="tx1"/>
                    </a:solidFill>
                    <a:latin typeface="Times-Roman"/>
                  </a:rPr>
                  <a:t>information for the </a:t>
                </a:r>
                <a:r>
                  <a:rPr lang="en-US" sz="3000" b="1" dirty="0" smtClean="0">
                    <a:solidFill>
                      <a:schemeClr val="tx1"/>
                    </a:solidFill>
                    <a:latin typeface="Times-Roman"/>
                  </a:rPr>
                  <a:t>m clusters</a:t>
                </a:r>
                <a:r>
                  <a:rPr lang="en-US" sz="3000" dirty="0">
                    <a:solidFill>
                      <a:schemeClr val="tx1"/>
                    </a:solidFill>
                    <a:latin typeface="Times-Roman"/>
                  </a:rPr>
                  <a:t>, and </a:t>
                </a:r>
                <a:r>
                  <a:rPr lang="en-US" sz="3000" b="1" dirty="0">
                    <a:solidFill>
                      <a:schemeClr val="tx1"/>
                    </a:solidFill>
                    <a:latin typeface="Times-Roman"/>
                  </a:rPr>
                  <a:t>scattering the n data points </a:t>
                </a:r>
                <a:r>
                  <a:rPr lang="en-US" sz="3000" dirty="0">
                    <a:solidFill>
                      <a:schemeClr val="tx1"/>
                    </a:solidFill>
                    <a:latin typeface="Times-Roman"/>
                  </a:rPr>
                  <a:t>among the </a:t>
                </a:r>
                <a:r>
                  <a:rPr lang="en-US" sz="3000" b="1" dirty="0">
                    <a:solidFill>
                      <a:schemeClr val="tx1"/>
                    </a:solidFill>
                    <a:latin typeface="Times-Roman"/>
                  </a:rPr>
                  <a:t>p processors</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We </a:t>
                </a:r>
                <a:r>
                  <a:rPr lang="en-US" sz="3000" dirty="0" smtClean="0">
                    <a:solidFill>
                      <a:schemeClr val="tx1"/>
                    </a:solidFill>
                    <a:latin typeface="Times-Roman"/>
                  </a:rPr>
                  <a:t>expect again </a:t>
                </a:r>
                <a:r>
                  <a:rPr lang="en-US" sz="3000" dirty="0">
                    <a:solidFill>
                      <a:schemeClr val="tx1"/>
                    </a:solidFill>
                    <a:latin typeface="Times-Roman"/>
                  </a:rPr>
                  <a:t>that </a:t>
                </a:r>
                <a:r>
                  <a:rPr lang="en-US" sz="3000" dirty="0" smtClean="0">
                    <a:solidFill>
                      <a:schemeClr val="tx1"/>
                    </a:solidFill>
                    <a:latin typeface="Times-Roman"/>
                  </a:rPr>
                  <a:t>m&lt;&lt;n.</a:t>
                </a:r>
              </a:p>
              <a:p>
                <a:pPr marL="457200" indent="-457200" algn="just">
                  <a:buFont typeface="Arial" panose="020B0604020202020204" pitchFamily="34" charset="0"/>
                  <a:buChar char="•"/>
                </a:pPr>
                <a:r>
                  <a:rPr lang="en-US" sz="3000" dirty="0">
                    <a:solidFill>
                      <a:schemeClr val="tx1"/>
                    </a:solidFill>
                    <a:latin typeface="Times-Roman"/>
                  </a:rPr>
                  <a:t>Each processor can generate all the </a:t>
                </a:r>
                <a:r>
                  <a:rPr lang="en-US" sz="3000" b="1" dirty="0">
                    <a:solidFill>
                      <a:schemeClr val="tx1"/>
                    </a:solidFill>
                    <a:latin typeface="Times-Roman"/>
                  </a:rPr>
                  <a:t>cluster </a:t>
                </a:r>
                <a:r>
                  <a:rPr lang="en-US" sz="3000" b="1" dirty="0" smtClean="0">
                    <a:solidFill>
                      <a:schemeClr val="tx1"/>
                    </a:solidFill>
                    <a:latin typeface="Times-Roman"/>
                  </a:rPr>
                  <a:t>probabilities for </a:t>
                </a:r>
                <a:r>
                  <a:rPr lang="en-US" sz="3000" b="1" dirty="0">
                    <a:solidFill>
                      <a:schemeClr val="tx1"/>
                    </a:solidFill>
                    <a:latin typeface="Times-Roman"/>
                  </a:rPr>
                  <a:t>each data point completely independently </a:t>
                </a:r>
                <a:r>
                  <a:rPr lang="en-US" sz="3000" dirty="0">
                    <a:solidFill>
                      <a:schemeClr val="tx1"/>
                    </a:solidFill>
                    <a:latin typeface="Times-Roman"/>
                  </a:rPr>
                  <a:t>and the  </a:t>
                </a:r>
                <a14:m>
                  <m:oMath xmlns:m="http://schemas.openxmlformats.org/officeDocument/2006/math">
                    <m:sSub>
                      <m:sSubPr>
                        <m:ctrlPr>
                          <a:rPr lang="en-US" sz="3000" i="1" smtClean="0">
                            <a:solidFill>
                              <a:schemeClr val="tx1"/>
                            </a:solidFill>
                            <a:latin typeface="Cambria Math" panose="02040503050406030204" pitchFamily="18" charset="0"/>
                          </a:rPr>
                        </m:ctrlPr>
                      </m:sSubPr>
                      <m:e>
                        <m:r>
                          <a:rPr lang="en-US" sz="3000" b="0" i="1" smtClean="0">
                            <a:solidFill>
                              <a:schemeClr val="tx1"/>
                            </a:solidFill>
                            <a:latin typeface="Cambria Math" panose="02040503050406030204" pitchFamily="18" charset="0"/>
                          </a:rPr>
                          <m:t>𝑟</m:t>
                        </m:r>
                      </m:e>
                      <m:sub>
                        <m:r>
                          <a:rPr lang="en-US" sz="3000" b="0" i="1" smtClean="0">
                            <a:solidFill>
                              <a:schemeClr val="tx1"/>
                            </a:solidFill>
                            <a:latin typeface="Cambria Math" panose="02040503050406030204" pitchFamily="18" charset="0"/>
                          </a:rPr>
                          <m:t>𝑗</m:t>
                        </m:r>
                      </m:sub>
                    </m:sSub>
                    <m:r>
                      <a:rPr lang="en-US" sz="3000" b="0" i="1" smtClean="0">
                        <a:solidFill>
                          <a:schemeClr val="tx1"/>
                        </a:solidFill>
                        <a:latin typeface="Cambria Math" panose="02040503050406030204" pitchFamily="18" charset="0"/>
                      </a:rPr>
                      <m:t> </m:t>
                    </m:r>
                  </m:oMath>
                </a14:m>
                <a:r>
                  <a:rPr lang="en-US" sz="3000" dirty="0" smtClean="0">
                    <a:solidFill>
                      <a:schemeClr val="tx1"/>
                    </a:solidFill>
                    <a:latin typeface="Times-Roman"/>
                  </a:rPr>
                  <a:t>values </a:t>
                </a:r>
                <a:r>
                  <a:rPr lang="en-US" sz="3000" dirty="0">
                    <a:solidFill>
                      <a:schemeClr val="tx1"/>
                    </a:solidFill>
                    <a:latin typeface="Times-Roman"/>
                  </a:rPr>
                  <a:t>just </a:t>
                </a:r>
                <a:r>
                  <a:rPr lang="en-US" sz="3000" dirty="0" smtClean="0">
                    <a:solidFill>
                      <a:schemeClr val="tx1"/>
                    </a:solidFill>
                    <a:latin typeface="Times-Roman"/>
                  </a:rPr>
                  <a:t>for its </a:t>
                </a:r>
                <a:r>
                  <a:rPr lang="en-US" sz="3000" dirty="0">
                    <a:solidFill>
                      <a:schemeClr val="tx1"/>
                    </a:solidFill>
                    <a:latin typeface="Times-Roman"/>
                  </a:rPr>
                  <a:t>share of the data points</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In the maximization phase, the local sum of </a:t>
                </a:r>
                <a:r>
                  <a:rPr lang="en-US" sz="3000" dirty="0" err="1">
                    <a:solidFill>
                      <a:schemeClr val="tx1"/>
                    </a:solidFill>
                    <a:latin typeface="Times-Roman"/>
                  </a:rPr>
                  <a:t>rj</a:t>
                </a:r>
                <a:r>
                  <a:rPr lang="en-US" sz="3000" dirty="0">
                    <a:solidFill>
                      <a:schemeClr val="tx1"/>
                    </a:solidFill>
                    <a:latin typeface="Times-Roman"/>
                  </a:rPr>
                  <a:t>(x) and </a:t>
                </a:r>
                <a:r>
                  <a:rPr lang="en-US" sz="3000" dirty="0" err="1">
                    <a:solidFill>
                      <a:schemeClr val="tx1"/>
                    </a:solidFill>
                    <a:latin typeface="Times-Roman"/>
                  </a:rPr>
                  <a:t>xrj</a:t>
                </a:r>
                <a:r>
                  <a:rPr lang="en-US" sz="3000" dirty="0">
                    <a:solidFill>
                      <a:schemeClr val="tx1"/>
                    </a:solidFill>
                    <a:latin typeface="Times-Roman"/>
                  </a:rPr>
                  <a:t>(x) </a:t>
                </a:r>
                <a:r>
                  <a:rPr lang="en-US" sz="3000" dirty="0" smtClean="0">
                    <a:solidFill>
                      <a:schemeClr val="tx1"/>
                    </a:solidFill>
                    <a:latin typeface="Times-Roman"/>
                  </a:rPr>
                  <a:t>values can </a:t>
                </a:r>
                <a:r>
                  <a:rPr lang="en-US" sz="3000" dirty="0">
                    <a:solidFill>
                      <a:schemeClr val="tx1"/>
                    </a:solidFill>
                    <a:latin typeface="Times-Roman"/>
                  </a:rPr>
                  <a:t>be subtotaled locally on each processor.</a:t>
                </a:r>
                <a:endParaRPr lang="en-US" sz="3000" dirty="0" smtClean="0">
                  <a:solidFill>
                    <a:schemeClr val="tx1"/>
                  </a:solidFill>
                  <a:latin typeface="Times-Roman"/>
                </a:endParaRPr>
              </a:p>
              <a:p>
                <a:pPr marL="457200" indent="-457200" algn="just">
                  <a:buFont typeface="Arial" panose="020B0604020202020204" pitchFamily="34" charset="0"/>
                  <a:buChar char="•"/>
                </a:pPr>
                <a:endParaRPr lang="en-US" sz="3000" dirty="0">
                  <a:solidFill>
                    <a:schemeClr val="tx1"/>
                  </a:solidFill>
                  <a:latin typeface="Times-Roman"/>
                </a:endParaRPr>
              </a:p>
            </p:txBody>
          </p:sp>
        </mc:Choice>
        <mc:Fallback>
          <p:sp>
            <p:nvSpPr>
              <p:cNvPr id="9" name="Rectangle 8"/>
              <p:cNvSpPr>
                <a:spLocks noRot="1" noChangeAspect="1" noMove="1" noResize="1" noEditPoints="1" noAdjustHandles="1" noChangeArrowheads="1" noChangeShapeType="1" noTextEdit="1"/>
              </p:cNvSpPr>
              <p:nvPr/>
            </p:nvSpPr>
            <p:spPr>
              <a:xfrm>
                <a:off x="369042" y="957601"/>
                <a:ext cx="11407140" cy="5207772"/>
              </a:xfrm>
              <a:prstGeom prst="rect">
                <a:avLst/>
              </a:prstGeom>
              <a:blipFill>
                <a:blip r:embed="rId2"/>
                <a:stretch>
                  <a:fillRect l="-1122" t="-1522" r="-1229"/>
                </a:stretch>
              </a:blipFill>
            </p:spPr>
            <p:txBody>
              <a:bodyPr/>
              <a:lstStyle/>
              <a:p>
                <a:r>
                  <a:rPr lang="en-US">
                    <a:noFill/>
                  </a:rPr>
                  <a:t> </a:t>
                </a:r>
              </a:p>
            </p:txBody>
          </p:sp>
        </mc:Fallback>
      </mc:AlternateContent>
    </p:spTree>
    <p:extLst>
      <p:ext uri="{BB962C8B-B14F-4D97-AF65-F5344CB8AC3E}">
        <p14:creationId xmlns:p14="http://schemas.microsoft.com/office/powerpoint/2010/main" val="3770981127"/>
      </p:ext>
    </p:extLst>
  </p:cSld>
  <p:clrMapOvr>
    <a:masterClrMapping/>
  </p:clrMapOvr>
  <p:transition spd="med"/>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132</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2.6.3  EM </a:t>
            </a:r>
            <a:r>
              <a:rPr lang="en-US" sz="4000" b="1" dirty="0" smtClean="0">
                <a:latin typeface="Times New Roman" panose="02020603050405020304" pitchFamily="18" charset="0"/>
                <a:cs typeface="Times New Roman" panose="02020603050405020304" pitchFamily="18" charset="0"/>
              </a:rPr>
              <a:t>Clustering</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Rectangle 8"/>
              <p:cNvSpPr/>
              <p:nvPr/>
            </p:nvSpPr>
            <p:spPr>
              <a:xfrm>
                <a:off x="369042" y="957601"/>
                <a:ext cx="11407140" cy="3370666"/>
              </a:xfrm>
              <a:prstGeom prst="rect">
                <a:avLst/>
              </a:prstGeom>
            </p:spPr>
            <p:txBody>
              <a:bodyPr wrap="square">
                <a:spAutoFit/>
              </a:bodyPr>
              <a:lstStyle/>
              <a:p>
                <a:pPr marL="457200" indent="-457200" algn="just">
                  <a:buFont typeface="Arial" panose="020B0604020202020204" pitchFamily="34" charset="0"/>
                  <a:buChar char="•"/>
                </a:pPr>
                <a:r>
                  <a:rPr lang="en-US" sz="3000" dirty="0" smtClean="0">
                    <a:solidFill>
                      <a:schemeClr val="tx1"/>
                    </a:solidFill>
                    <a:latin typeface="Times-Roman"/>
                  </a:rPr>
                  <a:t>They are then reduced to </a:t>
                </a:r>
                <a:r>
                  <a:rPr lang="en-US" sz="3000" dirty="0">
                    <a:solidFill>
                      <a:schemeClr val="tx1"/>
                    </a:solidFill>
                    <a:latin typeface="Times-Roman"/>
                  </a:rPr>
                  <a:t>the root to get the new weight and mean values. </a:t>
                </a:r>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smtClean="0">
                    <a:solidFill>
                      <a:schemeClr val="tx1"/>
                    </a:solidFill>
                    <a:latin typeface="Times-Roman"/>
                  </a:rPr>
                  <a:t>Finally</a:t>
                </a:r>
                <a:r>
                  <a:rPr lang="en-US" sz="3000" dirty="0">
                    <a:solidFill>
                      <a:schemeClr val="tx1"/>
                    </a:solidFill>
                    <a:latin typeface="Times-Roman"/>
                  </a:rPr>
                  <a:t>, the </a:t>
                </a:r>
                <a:r>
                  <a:rPr lang="en-US" sz="3000" dirty="0" smtClean="0">
                    <a:solidFill>
                      <a:schemeClr val="tx1"/>
                    </a:solidFill>
                    <a:latin typeface="Times-Roman"/>
                  </a:rPr>
                  <a:t>local calculations for </a:t>
                </a:r>
                <a14:m>
                  <m:oMath xmlns:m="http://schemas.openxmlformats.org/officeDocument/2006/math">
                    <m:sSub>
                      <m:sSubPr>
                        <m:ctrlPr>
                          <a:rPr lang="en-US" sz="3000" i="1" smtClean="0">
                            <a:solidFill>
                              <a:schemeClr val="tx1"/>
                            </a:solidFill>
                            <a:latin typeface="Cambria Math" panose="02040503050406030204" pitchFamily="18" charset="0"/>
                          </a:rPr>
                        </m:ctrlPr>
                      </m:sSubPr>
                      <m:e>
                        <m:r>
                          <a:rPr lang="en-US" sz="3000" b="0" i="1" smtClean="0">
                            <a:solidFill>
                              <a:schemeClr val="tx1"/>
                            </a:solidFill>
                            <a:latin typeface="Cambria Math" panose="02040503050406030204" pitchFamily="18" charset="0"/>
                          </a:rPr>
                          <m:t>𝑟</m:t>
                        </m:r>
                      </m:e>
                      <m:sub>
                        <m:r>
                          <a:rPr lang="en-US" sz="3000" b="0" i="1" smtClean="0">
                            <a:solidFill>
                              <a:schemeClr val="tx1"/>
                            </a:solidFill>
                            <a:latin typeface="Cambria Math" panose="02040503050406030204" pitchFamily="18" charset="0"/>
                          </a:rPr>
                          <m:t>𝑗</m:t>
                        </m:r>
                      </m:sub>
                    </m:sSub>
                    <m:d>
                      <m:dPr>
                        <m:ctrlPr>
                          <a:rPr lang="en-US" sz="3000" b="0" i="1" smtClean="0">
                            <a:solidFill>
                              <a:schemeClr val="tx1"/>
                            </a:solidFill>
                            <a:latin typeface="Cambria Math" panose="02040503050406030204" pitchFamily="18" charset="0"/>
                          </a:rPr>
                        </m:ctrlPr>
                      </m:dPr>
                      <m:e>
                        <m:r>
                          <a:rPr lang="en-US" sz="3000" b="0" i="1" smtClean="0">
                            <a:solidFill>
                              <a:schemeClr val="tx1"/>
                            </a:solidFill>
                            <a:latin typeface="Cambria Math" panose="02040503050406030204" pitchFamily="18" charset="0"/>
                          </a:rPr>
                          <m:t>𝑥</m:t>
                        </m:r>
                      </m:e>
                    </m:d>
                    <m:r>
                      <a:rPr lang="en-US" sz="3000" b="0" i="1" smtClean="0">
                        <a:solidFill>
                          <a:schemeClr val="tx1"/>
                        </a:solidFill>
                        <a:latin typeface="Cambria Math" panose="02040503050406030204" pitchFamily="18" charset="0"/>
                      </a:rPr>
                      <m:t>(</m:t>
                    </m:r>
                    <m:r>
                      <a:rPr lang="en-US" sz="3000" b="0" i="1" smtClean="0">
                        <a:solidFill>
                          <a:schemeClr val="tx1"/>
                        </a:solidFill>
                        <a:latin typeface="Cambria Math" panose="02040503050406030204" pitchFamily="18" charset="0"/>
                      </a:rPr>
                      <m:t>𝑥</m:t>
                    </m:r>
                    <m:r>
                      <a:rPr lang="en-US" sz="3000" b="0" i="1" smtClean="0">
                        <a:solidFill>
                          <a:schemeClr val="tx1"/>
                        </a:solidFill>
                        <a:latin typeface="Cambria Math" panose="02040503050406030204" pitchFamily="18" charset="0"/>
                      </a:rPr>
                      <m:t>−</m:t>
                    </m:r>
                    <m:r>
                      <a:rPr lang="en-US" sz="3000" b="0" i="1" smtClean="0">
                        <a:solidFill>
                          <a:schemeClr val="tx1"/>
                        </a:solidFill>
                        <a:latin typeface="Cambria Math" panose="02040503050406030204" pitchFamily="18" charset="0"/>
                        <a:ea typeface="Cambria Math" panose="02040503050406030204" pitchFamily="18" charset="0"/>
                      </a:rPr>
                      <m:t>𝜇</m:t>
                    </m:r>
                    <m:r>
                      <a:rPr lang="en-US" sz="3000" b="0" i="1" smtClean="0">
                        <a:solidFill>
                          <a:schemeClr val="tx1"/>
                        </a:solidFill>
                        <a:latin typeface="Cambria Math" panose="02040503050406030204" pitchFamily="18" charset="0"/>
                      </a:rPr>
                      <m:t>)</m:t>
                    </m:r>
                    <m:sSup>
                      <m:sSupPr>
                        <m:ctrlPr>
                          <a:rPr lang="en-US" sz="3000" b="0" i="1" smtClean="0">
                            <a:solidFill>
                              <a:schemeClr val="tx1"/>
                            </a:solidFill>
                            <a:latin typeface="Cambria Math" panose="02040503050406030204" pitchFamily="18" charset="0"/>
                          </a:rPr>
                        </m:ctrlPr>
                      </m:sSupPr>
                      <m:e>
                        <m:r>
                          <a:rPr lang="en-US" sz="3000" b="0" i="1" smtClean="0">
                            <a:solidFill>
                              <a:schemeClr val="tx1"/>
                            </a:solidFill>
                            <a:latin typeface="Cambria Math" panose="02040503050406030204" pitchFamily="18" charset="0"/>
                          </a:rPr>
                          <m:t>(</m:t>
                        </m:r>
                        <m:r>
                          <a:rPr lang="en-US" sz="3000" b="0" i="1" smtClean="0">
                            <a:solidFill>
                              <a:schemeClr val="tx1"/>
                            </a:solidFill>
                            <a:latin typeface="Cambria Math" panose="02040503050406030204" pitchFamily="18" charset="0"/>
                          </a:rPr>
                          <m:t>𝑥</m:t>
                        </m:r>
                        <m:r>
                          <a:rPr lang="en-US" sz="3000" b="0" i="1" smtClean="0">
                            <a:solidFill>
                              <a:schemeClr val="tx1"/>
                            </a:solidFill>
                            <a:latin typeface="Cambria Math" panose="02040503050406030204" pitchFamily="18" charset="0"/>
                          </a:rPr>
                          <m:t>−</m:t>
                        </m:r>
                        <m:r>
                          <a:rPr lang="en-US" sz="3000" b="0" i="1" smtClean="0">
                            <a:solidFill>
                              <a:schemeClr val="tx1"/>
                            </a:solidFill>
                            <a:latin typeface="Cambria Math" panose="02040503050406030204" pitchFamily="18" charset="0"/>
                            <a:ea typeface="Cambria Math" panose="02040503050406030204" pitchFamily="18" charset="0"/>
                          </a:rPr>
                          <m:t>𝜇</m:t>
                        </m:r>
                        <m:r>
                          <a:rPr lang="en-US" sz="3000" b="0" i="1" smtClean="0">
                            <a:solidFill>
                              <a:schemeClr val="tx1"/>
                            </a:solidFill>
                            <a:latin typeface="Cambria Math" panose="02040503050406030204" pitchFamily="18" charset="0"/>
                          </a:rPr>
                          <m:t>)</m:t>
                        </m:r>
                      </m:e>
                      <m:sup>
                        <m:r>
                          <a:rPr lang="en-US" sz="3000" b="0" i="1" smtClean="0">
                            <a:solidFill>
                              <a:schemeClr val="tx1"/>
                            </a:solidFill>
                            <a:latin typeface="Cambria Math" panose="02040503050406030204" pitchFamily="18" charset="0"/>
                          </a:rPr>
                          <m:t>𝑇</m:t>
                        </m:r>
                      </m:sup>
                    </m:sSup>
                  </m:oMath>
                </a14:m>
                <a:r>
                  <a:rPr lang="en-US" sz="3000" dirty="0">
                    <a:solidFill>
                      <a:schemeClr val="tx1"/>
                    </a:solidFill>
                    <a:latin typeface="Times-Roman"/>
                  </a:rPr>
                  <a:t> are completed and reduced to </a:t>
                </a:r>
                <a:r>
                  <a:rPr lang="en-US" sz="3000" dirty="0" smtClean="0">
                    <a:solidFill>
                      <a:schemeClr val="tx1"/>
                    </a:solidFill>
                    <a:latin typeface="Times-Roman"/>
                  </a:rPr>
                  <a:t>the root.</a:t>
                </a:r>
              </a:p>
              <a:p>
                <a:pPr marL="457200" indent="-457200" algn="just">
                  <a:buFont typeface="Arial" panose="020B0604020202020204" pitchFamily="34" charset="0"/>
                  <a:buChar char="•"/>
                </a:pPr>
                <a:r>
                  <a:rPr lang="en-US" sz="3000" dirty="0">
                    <a:solidFill>
                      <a:schemeClr val="tx1"/>
                    </a:solidFill>
                    <a:latin typeface="Times-Roman"/>
                  </a:rPr>
                  <a:t>If m is large enough (m &gt;p at least) then it can make sense to </a:t>
                </a:r>
                <a:r>
                  <a:rPr lang="en-US" sz="3000" dirty="0" smtClean="0">
                    <a:solidFill>
                      <a:schemeClr val="tx1"/>
                    </a:solidFill>
                    <a:latin typeface="Times-Roman"/>
                  </a:rPr>
                  <a:t>partition the </a:t>
                </a:r>
                <a:r>
                  <a:rPr lang="en-US" sz="3000" dirty="0">
                    <a:solidFill>
                      <a:schemeClr val="tx1"/>
                    </a:solidFill>
                    <a:latin typeface="Times-Roman"/>
                  </a:rPr>
                  <a:t>clusters among processors for the maximization step</a:t>
                </a:r>
                <a:endParaRPr lang="en-US" sz="3000" dirty="0">
                  <a:solidFill>
                    <a:schemeClr val="tx1"/>
                  </a:solidFill>
                  <a:latin typeface="Times-Roman"/>
                </a:endParaRPr>
              </a:p>
            </p:txBody>
          </p:sp>
        </mc:Choice>
        <mc:Fallback>
          <p:sp>
            <p:nvSpPr>
              <p:cNvPr id="9" name="Rectangle 8"/>
              <p:cNvSpPr>
                <a:spLocks noRot="1" noChangeAspect="1" noMove="1" noResize="1" noEditPoints="1" noAdjustHandles="1" noChangeArrowheads="1" noChangeShapeType="1" noTextEdit="1"/>
              </p:cNvSpPr>
              <p:nvPr/>
            </p:nvSpPr>
            <p:spPr>
              <a:xfrm>
                <a:off x="369042" y="957601"/>
                <a:ext cx="11407140" cy="3370666"/>
              </a:xfrm>
              <a:prstGeom prst="rect">
                <a:avLst/>
              </a:prstGeom>
              <a:blipFill>
                <a:blip r:embed="rId2"/>
                <a:stretch>
                  <a:fillRect l="-1122" t="-2351" r="-1229" b="-4521"/>
                </a:stretch>
              </a:blipFill>
            </p:spPr>
            <p:txBody>
              <a:bodyPr/>
              <a:lstStyle/>
              <a:p>
                <a:r>
                  <a:rPr lang="en-US">
                    <a:noFill/>
                  </a:rPr>
                  <a:t> </a:t>
                </a:r>
              </a:p>
            </p:txBody>
          </p:sp>
        </mc:Fallback>
      </mc:AlternateContent>
    </p:spTree>
    <p:extLst>
      <p:ext uri="{BB962C8B-B14F-4D97-AF65-F5344CB8AC3E}">
        <p14:creationId xmlns:p14="http://schemas.microsoft.com/office/powerpoint/2010/main" val="3439165815"/>
      </p:ext>
    </p:extLst>
  </p:cSld>
  <p:clrMapOvr>
    <a:masterClrMapping/>
  </p:clrMapOvr>
  <p:transition spd="med"/>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133</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2.6.3  EM </a:t>
            </a:r>
            <a:r>
              <a:rPr lang="en-US" sz="4000" b="1" dirty="0" smtClean="0">
                <a:latin typeface="Times New Roman" panose="02020603050405020304" pitchFamily="18" charset="0"/>
                <a:cs typeface="Times New Roman" panose="02020603050405020304" pitchFamily="18" charset="0"/>
              </a:rPr>
              <a:t>Clustering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957601"/>
            <a:ext cx="11407140" cy="6093976"/>
          </a:xfrm>
          <a:prstGeom prst="rect">
            <a:avLst/>
          </a:prstGeom>
        </p:spPr>
        <p:txBody>
          <a:bodyPr wrap="square">
            <a:spAutoFit/>
          </a:bodyPr>
          <a:lstStyle/>
          <a:p>
            <a:pPr marL="457200" indent="-457200" algn="just">
              <a:buFont typeface="Arial" panose="020B0604020202020204" pitchFamily="34" charset="0"/>
              <a:buChar char="•"/>
            </a:pPr>
            <a:r>
              <a:rPr lang="en-US" sz="3000" dirty="0" smtClean="0">
                <a:solidFill>
                  <a:schemeClr val="tx1"/>
                </a:solidFill>
                <a:latin typeface="Times-Roman"/>
              </a:rPr>
              <a:t>Analysis:</a:t>
            </a:r>
          </a:p>
          <a:p>
            <a:pPr marL="457200" indent="-457200" algn="just">
              <a:buFont typeface="Arial" panose="020B0604020202020204" pitchFamily="34" charset="0"/>
              <a:buChar char="•"/>
            </a:pPr>
            <a:r>
              <a:rPr lang="en-US" sz="3000" dirty="0">
                <a:solidFill>
                  <a:schemeClr val="tx1"/>
                </a:solidFill>
                <a:latin typeface="Times-Roman"/>
              </a:rPr>
              <a:t>The time performance of EM has a similar form to that of K-Means. </a:t>
            </a:r>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smtClean="0">
                <a:solidFill>
                  <a:schemeClr val="tx1"/>
                </a:solidFill>
                <a:latin typeface="Times-Roman"/>
              </a:rPr>
              <a:t>The serial </a:t>
            </a:r>
            <a:r>
              <a:rPr lang="en-US" sz="3000" dirty="0">
                <a:solidFill>
                  <a:schemeClr val="tx1"/>
                </a:solidFill>
                <a:latin typeface="Times-Roman"/>
              </a:rPr>
              <a:t>time is given by</a:t>
            </a:r>
            <a:r>
              <a:rPr lang="en-US" sz="3000" dirty="0" smtClean="0">
                <a:solidFill>
                  <a:schemeClr val="tx1"/>
                </a:solidFill>
                <a:latin typeface="Times-Roman"/>
              </a:rPr>
              <a:t>:</a:t>
            </a:r>
          </a:p>
          <a:p>
            <a:pPr marL="457200" indent="-457200" algn="just">
              <a:buFont typeface="Arial" panose="020B0604020202020204" pitchFamily="34" charset="0"/>
              <a:buChar char="•"/>
            </a:pPr>
            <a:endParaRPr lang="en-US" sz="3000" dirty="0">
              <a:solidFill>
                <a:schemeClr val="tx1"/>
              </a:solidFill>
              <a:latin typeface="Times-Roman"/>
            </a:endParaRPr>
          </a:p>
          <a:p>
            <a:pPr marL="457200" indent="-457200" algn="just">
              <a:buFont typeface="Arial" panose="020B0604020202020204" pitchFamily="34" charset="0"/>
              <a:buChar char="•"/>
            </a:pPr>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a:solidFill>
                  <a:schemeClr val="tx1"/>
                </a:solidFill>
                <a:latin typeface="Times-Roman"/>
              </a:rPr>
              <a:t>where nmχ1 is the time to calculate the Q matrix while mnχ2 is the </a:t>
            </a:r>
            <a:r>
              <a:rPr lang="en-US" sz="3000" dirty="0" smtClean="0">
                <a:solidFill>
                  <a:schemeClr val="tx1"/>
                </a:solidFill>
                <a:latin typeface="Times-Roman"/>
              </a:rPr>
              <a:t>time to </a:t>
            </a:r>
            <a:r>
              <a:rPr lang="en-US" sz="3000" dirty="0">
                <a:solidFill>
                  <a:schemeClr val="tx1"/>
                </a:solidFill>
                <a:latin typeface="Times-Roman"/>
              </a:rPr>
              <a:t>sum the R matrix columns and calculate the new weights, means </a:t>
            </a:r>
            <a:r>
              <a:rPr lang="en-US" sz="3000" dirty="0" smtClean="0">
                <a:solidFill>
                  <a:schemeClr val="tx1"/>
                </a:solidFill>
                <a:latin typeface="Times-Roman"/>
              </a:rPr>
              <a:t>and variances.</a:t>
            </a:r>
          </a:p>
          <a:p>
            <a:pPr marL="457200" indent="-457200" algn="just">
              <a:buFont typeface="Arial" panose="020B0604020202020204" pitchFamily="34" charset="0"/>
              <a:buChar char="•"/>
            </a:pPr>
            <a:r>
              <a:rPr lang="en-US" sz="3000" dirty="0">
                <a:solidFill>
                  <a:schemeClr val="tx1"/>
                </a:solidFill>
                <a:latin typeface="Times-Roman"/>
              </a:rPr>
              <a:t>The expectation step has no communication needs. Hence, this can </a:t>
            </a:r>
            <a:r>
              <a:rPr lang="en-US" sz="3000" dirty="0" smtClean="0">
                <a:solidFill>
                  <a:schemeClr val="tx1"/>
                </a:solidFill>
                <a:latin typeface="Times-Roman"/>
              </a:rPr>
              <a:t>be partitioned </a:t>
            </a:r>
            <a:r>
              <a:rPr lang="en-US" sz="3000" dirty="0">
                <a:solidFill>
                  <a:schemeClr val="tx1"/>
                </a:solidFill>
                <a:latin typeface="Times-Roman"/>
              </a:rPr>
              <a:t>among the cluster processors with (in the case p divides </a:t>
            </a:r>
            <a:r>
              <a:rPr lang="en-US" sz="3000" dirty="0" smtClean="0">
                <a:solidFill>
                  <a:schemeClr val="tx1"/>
                </a:solidFill>
                <a:latin typeface="Times-Roman"/>
              </a:rPr>
              <a:t>n evenly</a:t>
            </a:r>
            <a:r>
              <a:rPr lang="en-US" sz="3000" dirty="0">
                <a:solidFill>
                  <a:schemeClr val="tx1"/>
                </a:solidFill>
                <a:latin typeface="Times-Roman"/>
              </a:rPr>
              <a:t>) nχ1/p time.</a:t>
            </a:r>
            <a:endParaRPr lang="en-US" sz="3000" dirty="0" smtClean="0">
              <a:solidFill>
                <a:schemeClr val="tx1"/>
              </a:solidFill>
              <a:latin typeface="Times-Roman"/>
            </a:endParaRPr>
          </a:p>
          <a:p>
            <a:pPr marL="457200" indent="-457200" algn="just">
              <a:buFont typeface="Arial" panose="020B0604020202020204" pitchFamily="34" charset="0"/>
              <a:buChar char="•"/>
            </a:pPr>
            <a:endParaRPr lang="en-US" sz="3000" dirty="0">
              <a:solidFill>
                <a:schemeClr val="tx1"/>
              </a:solidFill>
              <a:latin typeface="Times-Roman"/>
            </a:endParaRPr>
          </a:p>
        </p:txBody>
      </p:sp>
      <p:pic>
        <p:nvPicPr>
          <p:cNvPr id="3" name="Picture 2"/>
          <p:cNvPicPr>
            <a:picLocks noChangeAspect="1"/>
          </p:cNvPicPr>
          <p:nvPr/>
        </p:nvPicPr>
        <p:blipFill>
          <a:blip r:embed="rId2"/>
          <a:stretch>
            <a:fillRect/>
          </a:stretch>
        </p:blipFill>
        <p:spPr>
          <a:xfrm>
            <a:off x="3985404" y="3035314"/>
            <a:ext cx="3029887" cy="565160"/>
          </a:xfrm>
          <a:prstGeom prst="rect">
            <a:avLst/>
          </a:prstGeom>
          <a:ln w="28575">
            <a:solidFill>
              <a:schemeClr val="tx1"/>
            </a:solidFill>
          </a:ln>
        </p:spPr>
      </p:pic>
    </p:spTree>
    <p:extLst>
      <p:ext uri="{BB962C8B-B14F-4D97-AF65-F5344CB8AC3E}">
        <p14:creationId xmlns:p14="http://schemas.microsoft.com/office/powerpoint/2010/main" val="2851461178"/>
      </p:ext>
    </p:extLst>
  </p:cSld>
  <p:clrMapOvr>
    <a:masterClrMapping/>
  </p:clrMapOvr>
  <p:transition spd="med"/>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134</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2.6.3  EM </a:t>
            </a:r>
            <a:r>
              <a:rPr lang="en-US" sz="4000" b="1" dirty="0" smtClean="0">
                <a:latin typeface="Times New Roman" panose="02020603050405020304" pitchFamily="18" charset="0"/>
                <a:cs typeface="Times New Roman" panose="02020603050405020304" pitchFamily="18" charset="0"/>
              </a:rPr>
              <a:t>Clustering</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Rectangle 8"/>
              <p:cNvSpPr/>
              <p:nvPr/>
            </p:nvSpPr>
            <p:spPr>
              <a:xfrm>
                <a:off x="369042" y="957601"/>
                <a:ext cx="11407140" cy="5217326"/>
              </a:xfrm>
              <a:prstGeom prst="rect">
                <a:avLst/>
              </a:prstGeom>
            </p:spPr>
            <p:txBody>
              <a:bodyPr wrap="square">
                <a:spAutoFit/>
              </a:bodyPr>
              <a:lstStyle/>
              <a:p>
                <a:pPr marL="457200" indent="-457200" algn="just">
                  <a:buFont typeface="Arial" panose="020B0604020202020204" pitchFamily="34" charset="0"/>
                  <a:buChar char="•"/>
                </a:pPr>
                <a:r>
                  <a:rPr lang="en-US" sz="3000" dirty="0" smtClean="0">
                    <a:solidFill>
                      <a:schemeClr val="tx1"/>
                    </a:solidFill>
                    <a:latin typeface="Times-Roman"/>
                  </a:rPr>
                  <a:t>Part of the maximization can be done in parallel: the partial sums </a:t>
                </a:r>
                <a14:m>
                  <m:oMath xmlns:m="http://schemas.openxmlformats.org/officeDocument/2006/math">
                    <m:sSub>
                      <m:sSubPr>
                        <m:ctrlPr>
                          <a:rPr lang="en-US" sz="3000" i="1" smtClean="0">
                            <a:solidFill>
                              <a:schemeClr val="tx1"/>
                            </a:solidFill>
                            <a:latin typeface="Cambria Math" panose="02040503050406030204" pitchFamily="18" charset="0"/>
                          </a:rPr>
                        </m:ctrlPr>
                      </m:sSubPr>
                      <m:e>
                        <m:r>
                          <a:rPr lang="en-US" sz="3000" b="0" i="1" smtClean="0">
                            <a:solidFill>
                              <a:schemeClr val="tx1"/>
                            </a:solidFill>
                            <a:latin typeface="Cambria Math" panose="02040503050406030204" pitchFamily="18" charset="0"/>
                          </a:rPr>
                          <m:t>𝑟</m:t>
                        </m:r>
                      </m:e>
                      <m:sub>
                        <m:r>
                          <a:rPr lang="en-US" sz="3000" b="0" i="1" smtClean="0">
                            <a:solidFill>
                              <a:schemeClr val="tx1"/>
                            </a:solidFill>
                            <a:latin typeface="Cambria Math" panose="02040503050406030204" pitchFamily="18" charset="0"/>
                          </a:rPr>
                          <m:t>𝑗</m:t>
                        </m:r>
                      </m:sub>
                    </m:sSub>
                    <m:d>
                      <m:dPr>
                        <m:ctrlPr>
                          <a:rPr lang="en-US" sz="3000" b="0" i="1" smtClean="0">
                            <a:solidFill>
                              <a:schemeClr val="tx1"/>
                            </a:solidFill>
                            <a:latin typeface="Cambria Math" panose="02040503050406030204" pitchFamily="18" charset="0"/>
                          </a:rPr>
                        </m:ctrlPr>
                      </m:dPr>
                      <m:e>
                        <m:sSub>
                          <m:sSubPr>
                            <m:ctrlPr>
                              <a:rPr lang="en-US" sz="3000" b="0" i="1" smtClean="0">
                                <a:solidFill>
                                  <a:schemeClr val="tx1"/>
                                </a:solidFill>
                                <a:latin typeface="Cambria Math" panose="02040503050406030204" pitchFamily="18" charset="0"/>
                              </a:rPr>
                            </m:ctrlPr>
                          </m:sSubPr>
                          <m:e>
                            <m:r>
                              <a:rPr lang="en-US" sz="3000" b="0" i="1" smtClean="0">
                                <a:solidFill>
                                  <a:schemeClr val="tx1"/>
                                </a:solidFill>
                                <a:latin typeface="Cambria Math" panose="02040503050406030204" pitchFamily="18" charset="0"/>
                              </a:rPr>
                              <m:t>𝑥</m:t>
                            </m:r>
                          </m:e>
                          <m:sub>
                            <m:r>
                              <a:rPr lang="en-US" sz="3000" b="0" i="1" smtClean="0">
                                <a:solidFill>
                                  <a:schemeClr val="tx1"/>
                                </a:solidFill>
                                <a:latin typeface="Cambria Math" panose="02040503050406030204" pitchFamily="18" charset="0"/>
                              </a:rPr>
                              <m:t>𝑖</m:t>
                            </m:r>
                          </m:sub>
                        </m:sSub>
                      </m:e>
                    </m:d>
                    <m:r>
                      <a:rPr lang="en-US" sz="3000" b="0" i="1" smtClean="0">
                        <a:solidFill>
                          <a:schemeClr val="tx1"/>
                        </a:solidFill>
                        <a:latin typeface="Cambria Math" panose="02040503050406030204" pitchFamily="18" charset="0"/>
                      </a:rPr>
                      <m:t>,</m:t>
                    </m:r>
                  </m:oMath>
                </a14:m>
                <a:r>
                  <a:rPr lang="en-US" sz="3000" dirty="0" smtClean="0">
                    <a:solidFill>
                      <a:schemeClr val="tx1"/>
                    </a:solidFill>
                    <a:latin typeface="Times-Roman"/>
                  </a:rPr>
                  <a:t> </a:t>
                </a:r>
                <a14:m>
                  <m:oMath xmlns:m="http://schemas.openxmlformats.org/officeDocument/2006/math">
                    <m:sSub>
                      <m:sSubPr>
                        <m:ctrlPr>
                          <a:rPr lang="en-US" sz="3000" i="1">
                            <a:solidFill>
                              <a:schemeClr val="tx1"/>
                            </a:solidFill>
                            <a:latin typeface="Cambria Math" panose="02040503050406030204" pitchFamily="18" charset="0"/>
                          </a:rPr>
                        </m:ctrlPr>
                      </m:sSubPr>
                      <m:e>
                        <m:r>
                          <a:rPr lang="en-US" sz="3000" i="1">
                            <a:solidFill>
                              <a:schemeClr val="tx1"/>
                            </a:solidFill>
                            <a:latin typeface="Cambria Math" panose="02040503050406030204" pitchFamily="18" charset="0"/>
                          </a:rPr>
                          <m:t>𝑥</m:t>
                        </m:r>
                      </m:e>
                      <m:sub>
                        <m:r>
                          <a:rPr lang="en-US" sz="3000" i="1">
                            <a:solidFill>
                              <a:schemeClr val="tx1"/>
                            </a:solidFill>
                            <a:latin typeface="Cambria Math" panose="02040503050406030204" pitchFamily="18" charset="0"/>
                          </a:rPr>
                          <m:t>𝑖</m:t>
                        </m:r>
                      </m:sub>
                    </m:sSub>
                    <m:sSub>
                      <m:sSubPr>
                        <m:ctrlPr>
                          <a:rPr lang="en-US" sz="3000" i="1">
                            <a:solidFill>
                              <a:schemeClr val="tx1"/>
                            </a:solidFill>
                            <a:latin typeface="Cambria Math" panose="02040503050406030204" pitchFamily="18" charset="0"/>
                          </a:rPr>
                        </m:ctrlPr>
                      </m:sSubPr>
                      <m:e>
                        <m:r>
                          <a:rPr lang="en-US" sz="3000" i="1">
                            <a:solidFill>
                              <a:schemeClr val="tx1"/>
                            </a:solidFill>
                            <a:latin typeface="Cambria Math" panose="02040503050406030204" pitchFamily="18" charset="0"/>
                          </a:rPr>
                          <m:t>𝑟</m:t>
                        </m:r>
                      </m:e>
                      <m:sub>
                        <m:r>
                          <a:rPr lang="en-US" sz="3000" i="1">
                            <a:solidFill>
                              <a:schemeClr val="tx1"/>
                            </a:solidFill>
                            <a:latin typeface="Cambria Math" panose="02040503050406030204" pitchFamily="18" charset="0"/>
                          </a:rPr>
                          <m:t>𝑗</m:t>
                        </m:r>
                      </m:sub>
                    </m:sSub>
                    <m:d>
                      <m:dPr>
                        <m:ctrlPr>
                          <a:rPr lang="en-US" sz="3000" i="1">
                            <a:solidFill>
                              <a:schemeClr val="tx1"/>
                            </a:solidFill>
                            <a:latin typeface="Cambria Math" panose="02040503050406030204" pitchFamily="18" charset="0"/>
                          </a:rPr>
                        </m:ctrlPr>
                      </m:dPr>
                      <m:e>
                        <m:sSub>
                          <m:sSubPr>
                            <m:ctrlPr>
                              <a:rPr lang="en-US" sz="3000" i="1">
                                <a:solidFill>
                                  <a:schemeClr val="tx1"/>
                                </a:solidFill>
                                <a:latin typeface="Cambria Math" panose="02040503050406030204" pitchFamily="18" charset="0"/>
                              </a:rPr>
                            </m:ctrlPr>
                          </m:sSubPr>
                          <m:e>
                            <m:r>
                              <a:rPr lang="en-US" sz="3000" i="1">
                                <a:solidFill>
                                  <a:schemeClr val="tx1"/>
                                </a:solidFill>
                                <a:latin typeface="Cambria Math" panose="02040503050406030204" pitchFamily="18" charset="0"/>
                              </a:rPr>
                              <m:t>𝑥</m:t>
                            </m:r>
                          </m:e>
                          <m:sub>
                            <m:r>
                              <a:rPr lang="en-US" sz="3000" i="1">
                                <a:solidFill>
                                  <a:schemeClr val="tx1"/>
                                </a:solidFill>
                                <a:latin typeface="Cambria Math" panose="02040503050406030204" pitchFamily="18" charset="0"/>
                              </a:rPr>
                              <m:t>𝑖</m:t>
                            </m:r>
                          </m:sub>
                        </m:sSub>
                      </m:e>
                    </m:d>
                  </m:oMath>
                </a14:m>
                <a:r>
                  <a:rPr lang="en-US" sz="3000" dirty="0" smtClean="0">
                    <a:solidFill>
                      <a:schemeClr val="tx1"/>
                    </a:solidFill>
                    <a:latin typeface="Times-Roman"/>
                  </a:rPr>
                  <a:t> and </a:t>
                </a:r>
                <a14:m>
                  <m:oMath xmlns:m="http://schemas.openxmlformats.org/officeDocument/2006/math">
                    <m:sSub>
                      <m:sSubPr>
                        <m:ctrlPr>
                          <a:rPr lang="en-US" sz="3000" i="1">
                            <a:solidFill>
                              <a:schemeClr val="tx1"/>
                            </a:solidFill>
                            <a:latin typeface="Cambria Math" panose="02040503050406030204" pitchFamily="18" charset="0"/>
                          </a:rPr>
                        </m:ctrlPr>
                      </m:sSubPr>
                      <m:e>
                        <m:r>
                          <a:rPr lang="en-US" sz="3000" i="1">
                            <a:solidFill>
                              <a:schemeClr val="tx1"/>
                            </a:solidFill>
                            <a:latin typeface="Cambria Math" panose="02040503050406030204" pitchFamily="18" charset="0"/>
                          </a:rPr>
                          <m:t>𝑟</m:t>
                        </m:r>
                      </m:e>
                      <m:sub>
                        <m:r>
                          <a:rPr lang="en-US" sz="3000" i="1">
                            <a:solidFill>
                              <a:schemeClr val="tx1"/>
                            </a:solidFill>
                            <a:latin typeface="Cambria Math" panose="02040503050406030204" pitchFamily="18" charset="0"/>
                          </a:rPr>
                          <m:t>𝑗</m:t>
                        </m:r>
                      </m:sub>
                    </m:sSub>
                    <m:d>
                      <m:dPr>
                        <m:ctrlPr>
                          <a:rPr lang="en-US" sz="3000" i="1">
                            <a:solidFill>
                              <a:schemeClr val="tx1"/>
                            </a:solidFill>
                            <a:latin typeface="Cambria Math" panose="02040503050406030204" pitchFamily="18" charset="0"/>
                          </a:rPr>
                        </m:ctrlPr>
                      </m:dPr>
                      <m:e>
                        <m:sSub>
                          <m:sSubPr>
                            <m:ctrlPr>
                              <a:rPr lang="en-US" sz="3000" i="1">
                                <a:solidFill>
                                  <a:schemeClr val="tx1"/>
                                </a:solidFill>
                                <a:latin typeface="Cambria Math" panose="02040503050406030204" pitchFamily="18" charset="0"/>
                              </a:rPr>
                            </m:ctrlPr>
                          </m:sSubPr>
                          <m:e>
                            <m:r>
                              <a:rPr lang="en-US" sz="3000" i="1">
                                <a:solidFill>
                                  <a:schemeClr val="tx1"/>
                                </a:solidFill>
                                <a:latin typeface="Cambria Math" panose="02040503050406030204" pitchFamily="18" charset="0"/>
                              </a:rPr>
                              <m:t>𝑥</m:t>
                            </m:r>
                          </m:e>
                          <m:sub>
                            <m:r>
                              <a:rPr lang="en-US" sz="3000" i="1">
                                <a:solidFill>
                                  <a:schemeClr val="tx1"/>
                                </a:solidFill>
                                <a:latin typeface="Cambria Math" panose="02040503050406030204" pitchFamily="18" charset="0"/>
                              </a:rPr>
                              <m:t>𝑖</m:t>
                            </m:r>
                          </m:sub>
                        </m:sSub>
                      </m:e>
                    </m:d>
                    <m:r>
                      <a:rPr lang="en-US" sz="3000" i="1">
                        <a:solidFill>
                          <a:schemeClr val="tx1"/>
                        </a:solidFill>
                        <a:latin typeface="Cambria Math" panose="02040503050406030204" pitchFamily="18" charset="0"/>
                      </a:rPr>
                      <m:t>(</m:t>
                    </m:r>
                    <m:sSub>
                      <m:sSubPr>
                        <m:ctrlPr>
                          <a:rPr lang="en-US" sz="3000" i="1">
                            <a:solidFill>
                              <a:schemeClr val="tx1"/>
                            </a:solidFill>
                            <a:latin typeface="Cambria Math" panose="02040503050406030204" pitchFamily="18" charset="0"/>
                          </a:rPr>
                        </m:ctrlPr>
                      </m:sSubPr>
                      <m:e>
                        <m:r>
                          <a:rPr lang="en-US" sz="3000" i="1">
                            <a:solidFill>
                              <a:schemeClr val="tx1"/>
                            </a:solidFill>
                            <a:latin typeface="Cambria Math" panose="02040503050406030204" pitchFamily="18" charset="0"/>
                          </a:rPr>
                          <m:t>𝑥</m:t>
                        </m:r>
                      </m:e>
                      <m:sub>
                        <m:r>
                          <a:rPr lang="en-US" sz="3000" i="1">
                            <a:solidFill>
                              <a:schemeClr val="tx1"/>
                            </a:solidFill>
                            <a:latin typeface="Cambria Math" panose="02040503050406030204" pitchFamily="18" charset="0"/>
                          </a:rPr>
                          <m:t>𝑖</m:t>
                        </m:r>
                      </m:sub>
                    </m:sSub>
                    <m:r>
                      <a:rPr lang="en-US" sz="3000" i="1">
                        <a:solidFill>
                          <a:schemeClr val="tx1"/>
                        </a:solidFill>
                        <a:latin typeface="Cambria Math" panose="02040503050406030204" pitchFamily="18" charset="0"/>
                      </a:rPr>
                      <m:t>−</m:t>
                    </m:r>
                    <m:sSub>
                      <m:sSubPr>
                        <m:ctrlPr>
                          <a:rPr lang="en-US" sz="3000" i="1">
                            <a:solidFill>
                              <a:schemeClr val="tx1"/>
                            </a:solidFill>
                            <a:latin typeface="Cambria Math" panose="02040503050406030204" pitchFamily="18" charset="0"/>
                          </a:rPr>
                        </m:ctrlPr>
                      </m:sSubPr>
                      <m:e>
                        <m:r>
                          <a:rPr lang="en-US" sz="3000" i="1">
                            <a:solidFill>
                              <a:schemeClr val="tx1"/>
                            </a:solidFill>
                            <a:latin typeface="Cambria Math" panose="02040503050406030204" pitchFamily="18" charset="0"/>
                            <a:ea typeface="Cambria Math" panose="02040503050406030204" pitchFamily="18" charset="0"/>
                          </a:rPr>
                          <m:t>𝜇</m:t>
                        </m:r>
                      </m:e>
                      <m:sub>
                        <m:r>
                          <a:rPr lang="en-US" sz="3000" i="1">
                            <a:solidFill>
                              <a:schemeClr val="tx1"/>
                            </a:solidFill>
                            <a:latin typeface="Cambria Math" panose="02040503050406030204" pitchFamily="18" charset="0"/>
                          </a:rPr>
                          <m:t>𝑗</m:t>
                        </m:r>
                      </m:sub>
                    </m:sSub>
                    <m:r>
                      <a:rPr lang="en-US" sz="3000" i="1">
                        <a:solidFill>
                          <a:schemeClr val="tx1"/>
                        </a:solidFill>
                        <a:latin typeface="Cambria Math" panose="02040503050406030204" pitchFamily="18" charset="0"/>
                      </a:rPr>
                      <m:t>)</m:t>
                    </m:r>
                    <m:sSup>
                      <m:sSupPr>
                        <m:ctrlPr>
                          <a:rPr lang="en-US" sz="3000" i="1">
                            <a:solidFill>
                              <a:schemeClr val="tx1"/>
                            </a:solidFill>
                            <a:latin typeface="Cambria Math" panose="02040503050406030204" pitchFamily="18" charset="0"/>
                          </a:rPr>
                        </m:ctrlPr>
                      </m:sSupPr>
                      <m:e>
                        <m:r>
                          <a:rPr lang="en-US" sz="3000" i="1">
                            <a:solidFill>
                              <a:schemeClr val="tx1"/>
                            </a:solidFill>
                            <a:latin typeface="Cambria Math" panose="02040503050406030204" pitchFamily="18" charset="0"/>
                          </a:rPr>
                          <m:t>(</m:t>
                        </m:r>
                        <m:sSub>
                          <m:sSubPr>
                            <m:ctrlPr>
                              <a:rPr lang="en-US" sz="3000" i="1">
                                <a:solidFill>
                                  <a:schemeClr val="tx1"/>
                                </a:solidFill>
                                <a:latin typeface="Cambria Math" panose="02040503050406030204" pitchFamily="18" charset="0"/>
                              </a:rPr>
                            </m:ctrlPr>
                          </m:sSubPr>
                          <m:e>
                            <m:r>
                              <a:rPr lang="en-US" sz="3000" i="1">
                                <a:solidFill>
                                  <a:schemeClr val="tx1"/>
                                </a:solidFill>
                                <a:latin typeface="Cambria Math" panose="02040503050406030204" pitchFamily="18" charset="0"/>
                              </a:rPr>
                              <m:t>𝑥</m:t>
                            </m:r>
                          </m:e>
                          <m:sub>
                            <m:r>
                              <a:rPr lang="en-US" sz="3000" i="1">
                                <a:solidFill>
                                  <a:schemeClr val="tx1"/>
                                </a:solidFill>
                                <a:latin typeface="Cambria Math" panose="02040503050406030204" pitchFamily="18" charset="0"/>
                              </a:rPr>
                              <m:t>𝑖</m:t>
                            </m:r>
                          </m:sub>
                        </m:sSub>
                        <m:r>
                          <a:rPr lang="en-US" sz="3000" i="1">
                            <a:solidFill>
                              <a:schemeClr val="tx1"/>
                            </a:solidFill>
                            <a:latin typeface="Cambria Math" panose="02040503050406030204" pitchFamily="18" charset="0"/>
                          </a:rPr>
                          <m:t>−</m:t>
                        </m:r>
                        <m:sSub>
                          <m:sSubPr>
                            <m:ctrlPr>
                              <a:rPr lang="en-US" sz="3000" i="1">
                                <a:solidFill>
                                  <a:schemeClr val="tx1"/>
                                </a:solidFill>
                                <a:latin typeface="Cambria Math" panose="02040503050406030204" pitchFamily="18" charset="0"/>
                              </a:rPr>
                            </m:ctrlPr>
                          </m:sSubPr>
                          <m:e>
                            <m:r>
                              <a:rPr lang="en-US" sz="3000" i="1">
                                <a:solidFill>
                                  <a:schemeClr val="tx1"/>
                                </a:solidFill>
                                <a:latin typeface="Cambria Math" panose="02040503050406030204" pitchFamily="18" charset="0"/>
                                <a:ea typeface="Cambria Math" panose="02040503050406030204" pitchFamily="18" charset="0"/>
                              </a:rPr>
                              <m:t>𝜇</m:t>
                            </m:r>
                          </m:e>
                          <m:sub>
                            <m:r>
                              <a:rPr lang="en-US" sz="3000" i="1">
                                <a:solidFill>
                                  <a:schemeClr val="tx1"/>
                                </a:solidFill>
                                <a:latin typeface="Cambria Math" panose="02040503050406030204" pitchFamily="18" charset="0"/>
                              </a:rPr>
                              <m:t>𝑗</m:t>
                            </m:r>
                          </m:sub>
                        </m:sSub>
                        <m:r>
                          <a:rPr lang="en-US" sz="3000" i="1">
                            <a:solidFill>
                              <a:schemeClr val="tx1"/>
                            </a:solidFill>
                            <a:latin typeface="Cambria Math" panose="02040503050406030204" pitchFamily="18" charset="0"/>
                          </a:rPr>
                          <m:t>)</m:t>
                        </m:r>
                      </m:e>
                      <m:sup>
                        <m:r>
                          <a:rPr lang="en-US" sz="3000" i="1">
                            <a:solidFill>
                              <a:schemeClr val="tx1"/>
                            </a:solidFill>
                            <a:latin typeface="Cambria Math" panose="02040503050406030204" pitchFamily="18" charset="0"/>
                          </a:rPr>
                          <m:t>𝑇</m:t>
                        </m:r>
                      </m:sup>
                    </m:sSup>
                  </m:oMath>
                </a14:m>
                <a:r>
                  <a:rPr lang="en-US" sz="3000" dirty="0">
                    <a:solidFill>
                      <a:schemeClr val="tx1"/>
                    </a:solidFill>
                    <a:latin typeface="Times-Roman"/>
                  </a:rPr>
                  <a:t>for a </a:t>
                </a:r>
                <a:r>
                  <a:rPr lang="en-US" sz="3000" dirty="0" smtClean="0">
                    <a:solidFill>
                      <a:schemeClr val="tx1"/>
                    </a:solidFill>
                    <a:latin typeface="Times-Roman"/>
                  </a:rPr>
                  <a:t>time </a:t>
                </a:r>
                <a:r>
                  <a:rPr lang="en-US" sz="3000" dirty="0" err="1" smtClean="0">
                    <a:solidFill>
                      <a:schemeClr val="tx1"/>
                    </a:solidFill>
                    <a:latin typeface="Times-Roman"/>
                  </a:rPr>
                  <a:t>mn</a:t>
                </a:r>
                <a:r>
                  <a:rPr lang="el-GR" sz="3000" dirty="0">
                    <a:solidFill>
                      <a:schemeClr val="tx1"/>
                    </a:solidFill>
                    <a:latin typeface="Times-Roman"/>
                  </a:rPr>
                  <a:t>χ2/</a:t>
                </a:r>
                <a:r>
                  <a:rPr lang="en-US" sz="3000" dirty="0">
                    <a:solidFill>
                      <a:schemeClr val="tx1"/>
                    </a:solidFill>
                    <a:latin typeface="Times-Roman"/>
                  </a:rPr>
                  <a:t>p</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However, three </a:t>
                </a:r>
                <a:r>
                  <a:rPr lang="en-US" sz="3000" dirty="0" err="1">
                    <a:solidFill>
                      <a:schemeClr val="tx1"/>
                    </a:solidFill>
                    <a:latin typeface="Times-Roman"/>
                  </a:rPr>
                  <a:t>allreductions</a:t>
                </a:r>
                <a:r>
                  <a:rPr lang="en-US" sz="3000" dirty="0">
                    <a:solidFill>
                      <a:schemeClr val="tx1"/>
                    </a:solidFill>
                    <a:latin typeface="Times-Roman"/>
                  </a:rPr>
                  <a:t> need to be performed to </a:t>
                </a:r>
                <a:r>
                  <a:rPr lang="en-US" sz="3000" dirty="0" smtClean="0">
                    <a:solidFill>
                      <a:schemeClr val="tx1"/>
                    </a:solidFill>
                    <a:latin typeface="Times-Roman"/>
                  </a:rPr>
                  <a:t>complete the </a:t>
                </a:r>
                <a:r>
                  <a:rPr lang="en-US" sz="3000" dirty="0">
                    <a:solidFill>
                      <a:schemeClr val="tx1"/>
                    </a:solidFill>
                    <a:latin typeface="Times-Roman"/>
                  </a:rPr>
                  <a:t>maximization step, so the total time is (where χ = χ1 + χ2</a:t>
                </a:r>
                <a:r>
                  <a:rPr lang="en-US" sz="3000" dirty="0" smtClean="0">
                    <a:solidFill>
                      <a:schemeClr val="tx1"/>
                    </a:solidFill>
                    <a:latin typeface="Times-Roman"/>
                  </a:rPr>
                  <a:t>):</a:t>
                </a:r>
              </a:p>
              <a:p>
                <a:pPr marL="457200" indent="-457200" algn="just">
                  <a:buFont typeface="Arial" panose="020B0604020202020204" pitchFamily="34" charset="0"/>
                  <a:buChar char="•"/>
                </a:pPr>
                <a:endParaRPr lang="en-US" sz="3000" dirty="0">
                  <a:solidFill>
                    <a:schemeClr val="tx1"/>
                  </a:solidFill>
                  <a:latin typeface="Times-Roman"/>
                </a:endParaRPr>
              </a:p>
              <a:p>
                <a:pPr marL="457200" indent="-457200" algn="just">
                  <a:buFont typeface="Arial" panose="020B0604020202020204" pitchFamily="34" charset="0"/>
                  <a:buChar char="•"/>
                </a:pPr>
                <a:endParaRPr lang="en-US" sz="3000" dirty="0" smtClean="0">
                  <a:solidFill>
                    <a:schemeClr val="tx1"/>
                  </a:solidFill>
                  <a:latin typeface="Times-Roman"/>
                </a:endParaRPr>
              </a:p>
              <a:p>
                <a:pPr marL="457200" indent="-457200" algn="just">
                  <a:buFont typeface="Arial" panose="020B0604020202020204" pitchFamily="34" charset="0"/>
                  <a:buChar char="•"/>
                </a:pPr>
                <a:endParaRPr lang="en-US" sz="3000" dirty="0">
                  <a:solidFill>
                    <a:schemeClr val="tx1"/>
                  </a:solidFill>
                  <a:latin typeface="Times-Roman"/>
                </a:endParaRPr>
              </a:p>
              <a:p>
                <a:pPr marL="457200" indent="-457200" algn="just">
                  <a:buFont typeface="Arial" panose="020B0604020202020204" pitchFamily="34" charset="0"/>
                  <a:buChar char="•"/>
                </a:pPr>
                <a:r>
                  <a:rPr lang="en-US" sz="3000" dirty="0" smtClean="0">
                    <a:solidFill>
                      <a:schemeClr val="tx1"/>
                    </a:solidFill>
                    <a:latin typeface="Times-Roman"/>
                  </a:rPr>
                  <a:t>In K-means: the </a:t>
                </a:r>
                <a:r>
                  <a:rPr lang="en-US" sz="3000" dirty="0">
                    <a:solidFill>
                      <a:schemeClr val="tx1"/>
                    </a:solidFill>
                    <a:latin typeface="Times-Roman"/>
                  </a:rPr>
                  <a:t>number of clusters has less effect on the speedup that the </a:t>
                </a:r>
                <a:r>
                  <a:rPr lang="en-US" sz="3000" dirty="0" smtClean="0">
                    <a:solidFill>
                      <a:schemeClr val="tx1"/>
                    </a:solidFill>
                    <a:latin typeface="Times-Roman"/>
                  </a:rPr>
                  <a:t>number of </a:t>
                </a:r>
                <a:r>
                  <a:rPr lang="en-US" sz="3000" dirty="0">
                    <a:solidFill>
                      <a:schemeClr val="tx1"/>
                    </a:solidFill>
                    <a:latin typeface="Times-Roman"/>
                  </a:rPr>
                  <a:t>points.</a:t>
                </a:r>
                <a:endParaRPr lang="en-US" sz="3000" dirty="0" smtClean="0">
                  <a:solidFill>
                    <a:schemeClr val="tx1"/>
                  </a:solidFill>
                  <a:latin typeface="Times-Roman"/>
                </a:endParaRPr>
              </a:p>
              <a:p>
                <a:pPr marL="457200" indent="-457200" algn="just">
                  <a:buFont typeface="Arial" panose="020B0604020202020204" pitchFamily="34" charset="0"/>
                  <a:buChar char="•"/>
                </a:pPr>
                <a:endParaRPr lang="en-US" sz="3000" dirty="0">
                  <a:solidFill>
                    <a:schemeClr val="tx1"/>
                  </a:solidFill>
                  <a:latin typeface="Times-Roman"/>
                </a:endParaRPr>
              </a:p>
            </p:txBody>
          </p:sp>
        </mc:Choice>
        <mc:Fallback>
          <p:sp>
            <p:nvSpPr>
              <p:cNvPr id="9" name="Rectangle 8"/>
              <p:cNvSpPr>
                <a:spLocks noRot="1" noChangeAspect="1" noMove="1" noResize="1" noEditPoints="1" noAdjustHandles="1" noChangeArrowheads="1" noChangeShapeType="1" noTextEdit="1"/>
              </p:cNvSpPr>
              <p:nvPr/>
            </p:nvSpPr>
            <p:spPr>
              <a:xfrm>
                <a:off x="369042" y="957601"/>
                <a:ext cx="11407140" cy="5217326"/>
              </a:xfrm>
              <a:prstGeom prst="rect">
                <a:avLst/>
              </a:prstGeom>
              <a:blipFill>
                <a:blip r:embed="rId2"/>
                <a:stretch>
                  <a:fillRect l="-1122" t="-1519" r="-1229"/>
                </a:stretch>
              </a:blipFill>
            </p:spPr>
            <p:txBody>
              <a:bodyPr/>
              <a:lstStyle/>
              <a:p>
                <a:r>
                  <a:rPr lang="en-US">
                    <a:noFill/>
                  </a:rPr>
                  <a:t> </a:t>
                </a:r>
              </a:p>
            </p:txBody>
          </p:sp>
        </mc:Fallback>
      </mc:AlternateContent>
      <p:pic>
        <p:nvPicPr>
          <p:cNvPr id="3" name="Picture 2"/>
          <p:cNvPicPr>
            <a:picLocks noChangeAspect="1"/>
          </p:cNvPicPr>
          <p:nvPr/>
        </p:nvPicPr>
        <p:blipFill>
          <a:blip r:embed="rId3"/>
          <a:stretch>
            <a:fillRect/>
          </a:stretch>
        </p:blipFill>
        <p:spPr>
          <a:xfrm>
            <a:off x="3605842" y="3599348"/>
            <a:ext cx="5126706" cy="841224"/>
          </a:xfrm>
          <a:prstGeom prst="rect">
            <a:avLst/>
          </a:prstGeom>
          <a:ln w="28575">
            <a:solidFill>
              <a:schemeClr val="tx1"/>
            </a:solidFill>
          </a:ln>
        </p:spPr>
      </p:pic>
    </p:spTree>
    <p:extLst>
      <p:ext uri="{BB962C8B-B14F-4D97-AF65-F5344CB8AC3E}">
        <p14:creationId xmlns:p14="http://schemas.microsoft.com/office/powerpoint/2010/main" val="1644083125"/>
      </p:ext>
    </p:extLst>
  </p:cSld>
  <p:clrMapOvr>
    <a:masterClrMapping/>
  </p:clrMapOvr>
  <p:transition spd="med"/>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135</a:t>
            </a:fld>
            <a:endParaRPr dirty="0"/>
          </a:p>
        </p:txBody>
      </p:sp>
      <p:sp>
        <p:nvSpPr>
          <p:cNvPr id="4" name="TextBox 3"/>
          <p:cNvSpPr txBox="1"/>
          <p:nvPr/>
        </p:nvSpPr>
        <p:spPr>
          <a:xfrm>
            <a:off x="282778" y="2922123"/>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Module 2: The End</a:t>
            </a:r>
            <a:endParaRPr 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9985068"/>
      </p:ext>
    </p:extLst>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rgbClr val="000000"/>
      </a:dk1>
      <a:lt1>
        <a:srgbClr val="F2F2F2"/>
      </a:lt1>
      <a:dk2>
        <a:srgbClr val="A7A7A7"/>
      </a:dk2>
      <a:lt2>
        <a:srgbClr val="535353"/>
      </a:lt2>
      <a:accent1>
        <a:srgbClr val="012347"/>
      </a:accent1>
      <a:accent2>
        <a:srgbClr val="003466"/>
      </a:accent2>
      <a:accent3>
        <a:srgbClr val="003F7D"/>
      </a:accent3>
      <a:accent4>
        <a:srgbClr val="FC8C01"/>
      </a:accent4>
      <a:accent5>
        <a:srgbClr val="FE7702"/>
      </a:accent5>
      <a:accent6>
        <a:srgbClr val="FF5004"/>
      </a:accent6>
      <a:hlink>
        <a:srgbClr val="0000FF"/>
      </a:hlink>
      <a:folHlink>
        <a:srgbClr val="FF00FF"/>
      </a:folHlink>
    </a:clrScheme>
    <a:fontScheme name="Custom 1">
      <a:majorFont>
        <a:latin typeface="Helvetica"/>
        <a:ea typeface="Helvetica"/>
        <a:cs typeface="Helvetica"/>
      </a:majorFont>
      <a:minorFont>
        <a:latin typeface="Calibri"/>
        <a:ea typeface="Segoe UI"/>
        <a:cs typeface="Segoe U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012347"/>
      </a:accent1>
      <a:accent2>
        <a:srgbClr val="003466"/>
      </a:accent2>
      <a:accent3>
        <a:srgbClr val="003F7D"/>
      </a:accent3>
      <a:accent4>
        <a:srgbClr val="FC8C01"/>
      </a:accent4>
      <a:accent5>
        <a:srgbClr val="FE7702"/>
      </a:accent5>
      <a:accent6>
        <a:srgbClr val="FF5004"/>
      </a:accent6>
      <a:hlink>
        <a:srgbClr val="0000FF"/>
      </a:hlink>
      <a:folHlink>
        <a:srgbClr val="FF00FF"/>
      </a:folHlink>
    </a:clrScheme>
    <a:fontScheme name="Office Theme">
      <a:majorFont>
        <a:latin typeface="Helvetica"/>
        <a:ea typeface="Helvetica"/>
        <a:cs typeface="Helvetica"/>
      </a:majorFont>
      <a:minorFont>
        <a:latin typeface="Segoe UI"/>
        <a:ea typeface="Segoe UI"/>
        <a:cs typeface="Segoe U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25332</TotalTime>
  <Words>8653</Words>
  <Application>Microsoft Office PowerPoint</Application>
  <PresentationFormat>Widescreen</PresentationFormat>
  <Paragraphs>778</Paragraphs>
  <Slides>135</Slides>
  <Notes>0</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135</vt:i4>
      </vt:variant>
    </vt:vector>
  </HeadingPairs>
  <TitlesOfParts>
    <vt:vector size="155" baseType="lpstr">
      <vt:lpstr>Arial</vt:lpstr>
      <vt:lpstr>Calibri</vt:lpstr>
      <vt:lpstr>Cambria Math</vt:lpstr>
      <vt:lpstr>CMMI10</vt:lpstr>
      <vt:lpstr>CMMI8</vt:lpstr>
      <vt:lpstr>CMR10</vt:lpstr>
      <vt:lpstr>CMR8</vt:lpstr>
      <vt:lpstr>CMSY10</vt:lpstr>
      <vt:lpstr>CMSY8</vt:lpstr>
      <vt:lpstr>Helvetica</vt:lpstr>
      <vt:lpstr>Lato</vt:lpstr>
      <vt:lpstr>Manrope ExtraBold</vt:lpstr>
      <vt:lpstr>Roboto</vt:lpstr>
      <vt:lpstr>Segoe UI</vt:lpstr>
      <vt:lpstr>Times New Roman</vt:lpstr>
      <vt:lpstr>Times-Bold</vt:lpstr>
      <vt:lpstr>Times-Italic</vt:lpstr>
      <vt:lpstr>Times-Roman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ngopa</dc:creator>
  <cp:lastModifiedBy>admin</cp:lastModifiedBy>
  <cp:revision>977</cp:revision>
  <dcterms:modified xsi:type="dcterms:W3CDTF">2026-03-30T15:57:59Z</dcterms:modified>
</cp:coreProperties>
</file>